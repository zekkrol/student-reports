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334" r:id="rId6"/>
    <p:sldId id="335" r:id="rId7"/>
    <p:sldId id="336" r:id="rId8"/>
    <p:sldId id="338" r:id="rId9"/>
    <p:sldId id="339" r:id="rId10"/>
    <p:sldId id="340" r:id="rId11"/>
    <p:sldId id="341" r:id="rId12"/>
    <p:sldId id="337" r:id="rId13"/>
    <p:sldId id="333" r:id="rId14"/>
  </p:sldIdLst>
  <p:sldSz cx="12954000" cy="68326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8" y="288"/>
      </p:cViewPr>
      <p:guideLst>
        <p:guide orient="horz" pos="2152"/>
        <p:guide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741d0dff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3741d0dffc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986F224B-BE72-65AE-F2F4-6999ECAD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3B60FEA-B766-B970-38A7-6DFC7FE0F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E8BF97C1-C784-1C96-6B2F-C488142AB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5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7929EEB-7CE0-6433-30C8-16E0C8B3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8E1FF49-EEF7-474C-ADAC-96F09BF70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C3FE695-8D0C-B129-2D6B-F509A8FBD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316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E501755E-78FF-737E-C114-A2210AC3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0EEE487B-3D63-9441-7F48-D56EF5008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1B7DEF33-1126-55C4-CD8E-BDFCB35DA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605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741A860-6350-EAA2-624A-312A3EBE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AE90A30-6518-51A1-7D9F-F62471B5D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4F31CCC2-8504-028A-9EDE-3490F471F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580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48261AD-0DC4-8A41-E69E-191413859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3A01EEA-C034-0032-7DA6-B966B7EB9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D6A255F9-0AE2-15E7-C824-192DB166C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051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45F7D4F-E8C4-0DED-9B57-84079A7E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4FE260A1-3903-770D-5496-5DEE00F30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428DF0BE-1BFA-C7B1-89F9-D2E74FF43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358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5AA646E1-9F61-79DA-7E91-FF5A932C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5A775316-A3AA-382A-F211-F335482EC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C5454912-1D32-75E2-D25C-151F053BD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69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BE4E3CA5-36B8-6DE9-DAA9-A3461DD5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2422FB2F-C3A3-8A4A-330B-3530A51C8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91D08035-153A-95B7-D8D1-E7DF40A13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30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TITLE_AND_BODY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827525" y="1257075"/>
            <a:ext cx="105774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dirty="0"/>
              <a:t>Low Code / No Code</a:t>
            </a:r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Выполнил</a:t>
            </a:r>
            <a:r>
              <a:rPr lang="ru-RU" sz="1400" dirty="0"/>
              <a:t>и</a:t>
            </a:r>
            <a:r>
              <a:rPr lang="en-US" sz="1400" dirty="0"/>
              <a:t>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Лапшов Артем</a:t>
            </a:r>
            <a:r>
              <a:rPr lang="ru-RU" sz="1400" dirty="0"/>
              <a:t>,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ru-RU" sz="1400" dirty="0"/>
              <a:t>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1223475" y="3539500"/>
            <a:ext cx="750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en-US" dirty="0" err="1">
                <a:highlight>
                  <a:srgbClr val="FFFFFF"/>
                </a:highlight>
              </a:rPr>
              <a:t>Что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такое</a:t>
            </a:r>
            <a:r>
              <a:rPr lang="en-US" dirty="0">
                <a:highlight>
                  <a:srgbClr val="FFFFFF"/>
                </a:highlight>
              </a:rPr>
              <a:t> Low Code / No Code?</a:t>
            </a:r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1"/>
          </p:nvPr>
        </p:nvSpPr>
        <p:spPr>
          <a:xfrm>
            <a:off x="258299" y="1706661"/>
            <a:ext cx="11369271" cy="2386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2800" b="1" dirty="0"/>
              <a:t>	</a:t>
            </a:r>
            <a:r>
              <a:rPr lang="ru-RU" sz="2800" b="1" dirty="0" err="1"/>
              <a:t>Low</a:t>
            </a:r>
            <a:r>
              <a:rPr lang="ru-RU" sz="2800" b="1" dirty="0"/>
              <a:t> Code/No Code (LC/NC) </a:t>
            </a:r>
            <a:r>
              <a:rPr lang="ru-RU" sz="2800" dirty="0"/>
              <a:t>— это среда разработки с графическим интерфейсом, позволяющая создавать ПО с минимальным ручным написанием кода или вовсе без него, используя визуальные блоки и модели.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EFBDCC-19CE-D5E3-904B-5CC2638A7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271384"/>
            <a:ext cx="45720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869350" y="38570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dirty="0"/>
              <a:t>Идеальные сценарии (Когда использовать)</a:t>
            </a:r>
          </a:p>
        </p:txBody>
      </p:sp>
      <p:sp>
        <p:nvSpPr>
          <p:cNvPr id="304" name="Google Shape;304;p37"/>
          <p:cNvSpPr txBox="1"/>
          <p:nvPr/>
        </p:nvSpPr>
        <p:spPr>
          <a:xfrm>
            <a:off x="584425" y="1713968"/>
            <a:ext cx="11563663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/>
              <a:t>1. 🚀 Быстрое прототипирование:</a:t>
            </a:r>
            <a:r>
              <a:rPr lang="ru-RU" sz="2800" dirty="0"/>
              <a:t> MVP за дни, проверка гипотез.</a:t>
            </a:r>
          </a:p>
          <a:p>
            <a:r>
              <a:rPr lang="ru-RU" sz="2800" b="1" dirty="0"/>
              <a:t>2. 🏢 Автоматизация внутренних процессов (Citizen Development):</a:t>
            </a:r>
            <a:r>
              <a:rPr lang="ru-RU" sz="2800" dirty="0"/>
              <a:t> Решение     задач HR, маркетинга без участия IT.</a:t>
            </a:r>
          </a:p>
          <a:p>
            <a:r>
              <a:rPr lang="ru-RU" sz="2800" b="1" dirty="0"/>
              <a:t>3 .📅 Временные решения:</a:t>
            </a:r>
            <a:r>
              <a:rPr lang="ru-RU" sz="2800" dirty="0"/>
              <a:t> Приложения для мероприятий, акций, сбора данных.</a:t>
            </a:r>
          </a:p>
          <a:p>
            <a:r>
              <a:rPr lang="ru-RU" sz="2800" b="1" dirty="0"/>
              <a:t>4. 📊 Надстройки над БД:</a:t>
            </a:r>
            <a:r>
              <a:rPr lang="ru-RU" sz="2800" dirty="0"/>
              <a:t> Удобные формы и интерфейсы для работы с данными.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696999" y="1439365"/>
            <a:ext cx="10659101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/>
              <a:t>1. 👤 Теневое IT (Shadow IT):</a:t>
            </a:r>
            <a:r>
              <a:rPr lang="ru-RU" sz="2800" dirty="0"/>
              <a:t> Потеря контроля над данными и безопасностью. Уволен сотрудник — потеряно приложение.</a:t>
            </a:r>
          </a:p>
          <a:p>
            <a:r>
              <a:rPr lang="ru-RU" sz="2800" b="1" dirty="0"/>
              <a:t>2. ⚙️ Сложные </a:t>
            </a:r>
            <a:r>
              <a:rPr lang="ru-RU" sz="2800" b="1" dirty="0" err="1"/>
              <a:t>Highload</a:t>
            </a:r>
            <a:r>
              <a:rPr lang="ru-RU" sz="2800" b="1" dirty="0"/>
              <a:t>-системы:</a:t>
            </a:r>
            <a:r>
              <a:rPr lang="ru-RU" sz="2800" dirty="0"/>
              <a:t> Не подходит для биржевых движков или сложной логики.</a:t>
            </a:r>
          </a:p>
          <a:p>
            <a:r>
              <a:rPr lang="ru-RU" sz="2800" b="1" dirty="0"/>
              <a:t>3. 🐢 Проблемы масштабирования:</a:t>
            </a:r>
            <a:r>
              <a:rPr lang="ru-RU" sz="2800" dirty="0"/>
              <a:t> То, что работает на 50 человек, "ляжет" на 50 000.</a:t>
            </a:r>
          </a:p>
          <a:p>
            <a:r>
              <a:rPr lang="ru-RU" sz="2800" b="1" dirty="0"/>
              <a:t>5. 🔒 </a:t>
            </a:r>
            <a:r>
              <a:rPr lang="ru-RU" sz="2800" b="1" dirty="0" err="1"/>
              <a:t>Vendor</a:t>
            </a:r>
            <a:r>
              <a:rPr lang="ru-RU" sz="2800" b="1" dirty="0"/>
              <a:t> </a:t>
            </a:r>
            <a:r>
              <a:rPr lang="ru-RU" sz="2800" b="1" dirty="0" err="1"/>
              <a:t>lock</a:t>
            </a:r>
            <a:r>
              <a:rPr lang="ru-RU" sz="2800" b="1" dirty="0"/>
              <a:t>:</a:t>
            </a:r>
            <a:r>
              <a:rPr lang="ru-RU" sz="2800" dirty="0"/>
              <a:t> Зависимость от платформы. Миграция невозможна без переписывания с нуля.</a:t>
            </a:r>
          </a:p>
        </p:txBody>
      </p:sp>
      <p:sp>
        <p:nvSpPr>
          <p:cNvPr id="312" name="Google Shape;312;p38"/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Зоны риска (Когда НЕ использовать)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BE3129B-6552-951F-DB73-1E718D1B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BAAAA87-DFAC-BF9E-9359-9D81425DF257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549F4E3A-A66D-25A8-6208-E2380057EFB4}"/>
              </a:ext>
            </a:extLst>
          </p:cNvPr>
          <p:cNvSpPr txBox="1"/>
          <p:nvPr/>
        </p:nvSpPr>
        <p:spPr>
          <a:xfrm>
            <a:off x="386197" y="1402099"/>
            <a:ext cx="12208574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dirty="0"/>
              <a:t> </a:t>
            </a:r>
            <a:r>
              <a:rPr lang="ru-RU" sz="2800" b="1" dirty="0"/>
              <a:t>1. </a:t>
            </a:r>
            <a:r>
              <a:rPr lang="ru-RU" sz="2800" dirty="0"/>
              <a:t>Гибридная модель: Не замена, а симбиоз с традиционной разработкой</a:t>
            </a:r>
          </a:p>
          <a:p>
            <a:r>
              <a:rPr lang="ru-RU" sz="2800" b="1" dirty="0"/>
              <a:t>2. </a:t>
            </a:r>
            <a:r>
              <a:rPr lang="ru-RU" sz="2800" dirty="0" err="1"/>
              <a:t>Low</a:t>
            </a:r>
            <a:r>
              <a:rPr lang="ru-RU" sz="2800" dirty="0"/>
              <a:t> Code не существует в вакууме. Его сила — в интеграции с профессиональным кодом.</a:t>
            </a:r>
            <a:endParaRPr lang="ru-RU" sz="2800" b="1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52482002-65CF-8C14-7A6E-26486F18C94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Ключ к успеху: Интеграция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5AA98DD-3E2E-AA5D-D774-8ABA37F43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828" y="3983718"/>
            <a:ext cx="4572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1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B5E5F83-1020-EBD1-44A3-698881FD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1962C14D-8EE4-B2E4-6727-AD67FD6009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BACE70EC-AB21-0BC0-8BF2-0153A76509F6}"/>
              </a:ext>
            </a:extLst>
          </p:cNvPr>
          <p:cNvSpPr txBox="1"/>
          <p:nvPr/>
        </p:nvSpPr>
        <p:spPr>
          <a:xfrm>
            <a:off x="584425" y="1469414"/>
            <a:ext cx="9538631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1. 🔌 API-интеграция (Самый популярный способ):</a:t>
            </a:r>
            <a:endParaRPr lang="ru-RU" sz="2000" dirty="0"/>
          </a:p>
          <a:p>
            <a:pPr lvl="1"/>
            <a:r>
              <a:rPr lang="ru-RU" sz="2000" dirty="0"/>
              <a:t>	LC/NC как </a:t>
            </a:r>
            <a:r>
              <a:rPr lang="ru-RU" sz="2000" i="1" dirty="0"/>
              <a:t>клиент</a:t>
            </a:r>
            <a:r>
              <a:rPr lang="ru-RU" sz="2000" dirty="0"/>
              <a:t>: Интерфейс на Power </a:t>
            </a:r>
            <a:r>
              <a:rPr lang="ru-RU" sz="2000" dirty="0" err="1"/>
              <a:t>Apps</a:t>
            </a:r>
            <a:r>
              <a:rPr lang="ru-RU" sz="2000" dirty="0"/>
              <a:t>, сложная логика и 	расчеты — в ERP через API.</a:t>
            </a:r>
          </a:p>
          <a:p>
            <a:pPr lvl="1"/>
            <a:r>
              <a:rPr lang="ru-RU" sz="2000" dirty="0"/>
              <a:t>	LC/NC как </a:t>
            </a:r>
            <a:r>
              <a:rPr lang="ru-RU" sz="2000" i="1" dirty="0"/>
              <a:t>провайдер</a:t>
            </a:r>
            <a:r>
              <a:rPr lang="ru-RU" sz="2000" dirty="0"/>
              <a:t>: Традиционные системы забирают данные из 	</a:t>
            </a:r>
            <a:r>
              <a:rPr lang="ru-RU" sz="2000" dirty="0" err="1"/>
              <a:t>Low</a:t>
            </a:r>
            <a:r>
              <a:rPr lang="ru-RU" sz="2000" dirty="0"/>
              <a:t> Code-приложений.</a:t>
            </a:r>
          </a:p>
          <a:p>
            <a:r>
              <a:rPr lang="ru-RU" sz="2000" b="1" dirty="0"/>
              <a:t>2. 🧩 Расширение функциональности через код (</a:t>
            </a:r>
            <a:r>
              <a:rPr lang="ru-RU" sz="2000" b="1" dirty="0" err="1"/>
              <a:t>Extensibility</a:t>
            </a:r>
            <a:r>
              <a:rPr lang="ru-RU" sz="2000" b="1" dirty="0"/>
              <a:t>):</a:t>
            </a:r>
            <a:endParaRPr lang="ru-RU" sz="2000" dirty="0"/>
          </a:p>
          <a:p>
            <a:pPr lvl="1"/>
            <a:r>
              <a:rPr lang="ru-RU" sz="2000" dirty="0"/>
              <a:t>	Про-разработчики пишут модули на Java/C#/JS, которые бизнес-	пользователи перетаскивают мышкой.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0B74F2F5-DA2F-9425-4170-4E27512FF145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Как это работает на практике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117D051-A527-2C85-847C-E9E674300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543" y="3057072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11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5F2472A1-C171-AD9B-9C57-8A22B7B1A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2ED3E9AC-1256-E652-AA3E-38E8E4D05B49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8FB41316-125E-8CEF-2C21-CE68919FE916}"/>
              </a:ext>
            </a:extLst>
          </p:cNvPr>
          <p:cNvSpPr txBox="1"/>
          <p:nvPr/>
        </p:nvSpPr>
        <p:spPr>
          <a:xfrm>
            <a:off x="875425" y="1862776"/>
            <a:ext cx="11625942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57200">
              <a:buAutoNum type="arabicPeriod"/>
            </a:pPr>
            <a:r>
              <a:rPr lang="ru-RU" sz="2000" b="1" dirty="0"/>
              <a:t>🔄 Общий </a:t>
            </a:r>
            <a:r>
              <a:rPr lang="ru-RU" sz="2000" b="1" dirty="0" err="1"/>
              <a:t>DevOps</a:t>
            </a:r>
            <a:r>
              <a:rPr lang="ru-RU" sz="2000" b="1" dirty="0"/>
              <a:t>:</a:t>
            </a:r>
            <a:r>
              <a:rPr lang="ru-RU" sz="2000" dirty="0"/>
              <a:t> </a:t>
            </a:r>
          </a:p>
          <a:p>
            <a:r>
              <a:rPr lang="ru-RU" sz="2000" dirty="0"/>
              <a:t>   - LC/NC конфигурации в </a:t>
            </a:r>
            <a:r>
              <a:rPr lang="ru-RU" sz="2000" dirty="0" err="1"/>
              <a:t>Git</a:t>
            </a:r>
            <a:r>
              <a:rPr lang="ru-RU" sz="2000" dirty="0"/>
              <a:t>, общие CI/CD </a:t>
            </a:r>
            <a:r>
              <a:rPr lang="ru-RU" sz="2000" dirty="0" err="1"/>
              <a:t>пайплайны</a:t>
            </a:r>
            <a:r>
              <a:rPr lang="ru-RU" sz="2000" dirty="0"/>
              <a:t> для контроля качества.</a:t>
            </a:r>
          </a:p>
          <a:p>
            <a:r>
              <a:rPr lang="ru-RU" sz="2000" b="1" dirty="0"/>
              <a:t>2. 👥 Гибридные команды (Citizen + Pro </a:t>
            </a:r>
            <a:r>
              <a:rPr lang="ru-RU" sz="2000" b="1" dirty="0" err="1"/>
              <a:t>Developers</a:t>
            </a:r>
            <a:r>
              <a:rPr lang="ru-RU" sz="2000" b="1" dirty="0"/>
              <a:t>):</a:t>
            </a:r>
            <a:endParaRPr lang="ru-RU" sz="2000" dirty="0"/>
          </a:p>
          <a:p>
            <a:pPr lvl="1"/>
            <a:r>
              <a:rPr lang="ru-RU" sz="2000" i="1" dirty="0"/>
              <a:t>   -Гражданский разработчик:</a:t>
            </a:r>
            <a:r>
              <a:rPr lang="ru-RU" sz="2000" dirty="0"/>
              <a:t> Создает макет и простую логику.</a:t>
            </a:r>
          </a:p>
          <a:p>
            <a:pPr lvl="1"/>
            <a:r>
              <a:rPr lang="ru-RU" sz="2000" i="1" dirty="0"/>
              <a:t>   -Про-разработчик:</a:t>
            </a:r>
            <a:r>
              <a:rPr lang="ru-RU" sz="2000" dirty="0"/>
              <a:t> Обеспечивает безопасность, интеграцию, архитектуру и     производительность. </a:t>
            </a:r>
          </a:p>
          <a:p>
            <a:br>
              <a:rPr lang="ru-RU" sz="2000" dirty="0"/>
            </a:br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181AF40-C534-FE4E-F651-212C49CC0BB6}"/>
              </a:ext>
            </a:extLst>
          </p:cNvPr>
          <p:cNvSpPr txBox="1"/>
          <p:nvPr/>
        </p:nvSpPr>
        <p:spPr>
          <a:xfrm>
            <a:off x="875425" y="655622"/>
            <a:ext cx="10428514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Единая инфраструктура и распределение ролей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94E1C99-4BBE-59B3-F785-B989C330F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7" y="34940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0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82FE7D9-99CC-01B7-4644-633279BF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F500162E-3317-2B02-3553-2A0FBCCFA176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078A40A2-5829-8E9F-24C4-6E96FF931622}"/>
              </a:ext>
            </a:extLst>
          </p:cNvPr>
          <p:cNvSpPr txBox="1"/>
          <p:nvPr/>
        </p:nvSpPr>
        <p:spPr>
          <a:xfrm>
            <a:off x="584425" y="1710376"/>
            <a:ext cx="11625942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/>
              <a:t>1. Тип:</a:t>
            </a:r>
            <a:r>
              <a:rPr lang="ru-RU" sz="2800" dirty="0"/>
              <a:t> </a:t>
            </a:r>
            <a:r>
              <a:rPr lang="ru-RU" sz="2800" dirty="0" err="1"/>
              <a:t>Low</a:t>
            </a:r>
            <a:r>
              <a:rPr lang="ru-RU" sz="2800" dirty="0"/>
              <a:t> Code для команды бизнес-аналитиков и разработчиков.</a:t>
            </a:r>
          </a:p>
          <a:p>
            <a:r>
              <a:rPr lang="ru-RU" sz="2800" b="1" dirty="0"/>
              <a:t>2. Фишка:</a:t>
            </a:r>
            <a:r>
              <a:rPr lang="ru-RU" sz="2800" dirty="0"/>
              <a:t> Моделирование процессов с последующим превращением в код.</a:t>
            </a:r>
          </a:p>
          <a:p>
            <a:r>
              <a:rPr lang="ru-RU" sz="2800" b="1" dirty="0"/>
              <a:t>3. Интеграция:</a:t>
            </a:r>
            <a:r>
              <a:rPr lang="ru-RU" sz="2800" dirty="0"/>
              <a:t> Глубокая интеграция с SAP, возможность писать Java/SQL код.</a:t>
            </a:r>
          </a:p>
          <a:p>
            <a:r>
              <a:rPr lang="ru-RU" sz="2800" b="1" dirty="0"/>
              <a:t>4. Для кого:</a:t>
            </a:r>
            <a:r>
              <a:rPr lang="ru-RU" sz="2800" dirty="0"/>
              <a:t> Крупный и средний бизнес со сложными процессами.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011998DC-564B-0555-8AF5-77EE5414DA3F}"/>
              </a:ext>
            </a:extLst>
          </p:cNvPr>
          <p:cNvSpPr txBox="1"/>
          <p:nvPr/>
        </p:nvSpPr>
        <p:spPr>
          <a:xfrm>
            <a:off x="875425" y="655622"/>
            <a:ext cx="10428514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 err="1"/>
              <a:t>Mendix</a:t>
            </a:r>
            <a:r>
              <a:rPr lang="ru-RU" sz="4000" b="1" dirty="0"/>
              <a:t> (Siemens) — Фокус на коллаборацию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6154D1-BB3D-5628-2D13-5E9DD553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705" y="4480334"/>
            <a:ext cx="2216465" cy="221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037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631E1F3-C1C1-2E6F-1A92-D55587B2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77FB59D7-6A10-D5D3-0929-66AEE719398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ED8D8A93-ED47-6A90-8C06-FB8D5A432CCF}"/>
              </a:ext>
            </a:extLst>
          </p:cNvPr>
          <p:cNvSpPr txBox="1"/>
          <p:nvPr/>
        </p:nvSpPr>
        <p:spPr>
          <a:xfrm>
            <a:off x="584425" y="1710376"/>
            <a:ext cx="11625942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/>
              <a:t>1. Тип:</a:t>
            </a:r>
            <a:r>
              <a:rPr lang="ru-RU" sz="2800" dirty="0"/>
              <a:t> High-Performance </a:t>
            </a:r>
            <a:r>
              <a:rPr lang="ru-RU" sz="2800" dirty="0" err="1"/>
              <a:t>Low</a:t>
            </a:r>
            <a:r>
              <a:rPr lang="ru-RU" sz="2800" dirty="0"/>
              <a:t> Code.</a:t>
            </a:r>
          </a:p>
          <a:p>
            <a:r>
              <a:rPr lang="ru-RU" sz="2800" b="1" dirty="0"/>
              <a:t>2. Фишка:</a:t>
            </a:r>
            <a:r>
              <a:rPr lang="ru-RU" sz="2800" dirty="0"/>
              <a:t> Генерирует "чистый" код (C#, JS), который можно выгружать и править вручную.</a:t>
            </a:r>
          </a:p>
          <a:p>
            <a:r>
              <a:rPr lang="ru-RU" sz="2800" b="1" dirty="0"/>
              <a:t>3. Интеграция:</a:t>
            </a:r>
            <a:r>
              <a:rPr lang="ru-RU" sz="2800" dirty="0"/>
              <a:t> Глубокая поддержка SOAP/REST, инструменты управления качеством.</a:t>
            </a:r>
          </a:p>
          <a:p>
            <a:r>
              <a:rPr lang="ru-RU" sz="2800" b="1" dirty="0"/>
              <a:t>4. Для кого:</a:t>
            </a:r>
            <a:r>
              <a:rPr lang="ru-RU" sz="2800" dirty="0"/>
              <a:t> Крупные корпорации, которым нужны масштабируемые </a:t>
            </a:r>
            <a:r>
              <a:rPr lang="ru-RU" sz="2800" dirty="0" err="1"/>
              <a:t>mission-critical</a:t>
            </a:r>
            <a:r>
              <a:rPr lang="ru-RU" sz="2800" dirty="0"/>
              <a:t> приложения.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294F089-737B-F260-029D-7B9C64222967}"/>
              </a:ext>
            </a:extLst>
          </p:cNvPr>
          <p:cNvSpPr txBox="1"/>
          <p:nvPr/>
        </p:nvSpPr>
        <p:spPr>
          <a:xfrm>
            <a:off x="875425" y="655622"/>
            <a:ext cx="10428514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4000" b="1" dirty="0" err="1"/>
              <a:t>OutSystems</a:t>
            </a:r>
            <a:r>
              <a:rPr lang="en-US" sz="4000" b="1" dirty="0"/>
              <a:t> — </a:t>
            </a:r>
            <a:r>
              <a:rPr lang="ru-RU" sz="4000" b="1" dirty="0"/>
              <a:t>Фокус на производительность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5901CC0-48FA-C974-7439-869C10C9D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496525"/>
            <a:ext cx="41910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2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EAE8668A-C7C4-7A54-AD73-E6A9ED16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EBB2F864-F7AD-6D05-379A-21BF94B238F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F9509AE5-4715-A45C-B1AC-A5379EB6A46B}"/>
              </a:ext>
            </a:extLst>
          </p:cNvPr>
          <p:cNvSpPr txBox="1"/>
          <p:nvPr/>
        </p:nvSpPr>
        <p:spPr>
          <a:xfrm>
            <a:off x="584425" y="1710376"/>
            <a:ext cx="11625942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/>
              <a:t>1. Тип:</a:t>
            </a:r>
            <a:r>
              <a:rPr lang="ru-RU" sz="2800" dirty="0"/>
              <a:t> </a:t>
            </a:r>
            <a:r>
              <a:rPr lang="en-US" sz="2800" dirty="0"/>
              <a:t>LC/NC </a:t>
            </a:r>
            <a:r>
              <a:rPr lang="ru-RU" sz="2800" dirty="0"/>
              <a:t>в составе </a:t>
            </a:r>
            <a:r>
              <a:rPr lang="en-US" sz="2800" dirty="0"/>
              <a:t>Microsoft Power Platform.</a:t>
            </a:r>
          </a:p>
          <a:p>
            <a:r>
              <a:rPr lang="ru-RU" sz="2800" b="1" dirty="0"/>
              <a:t>3. Фишка:</a:t>
            </a:r>
            <a:r>
              <a:rPr lang="ru-RU" sz="2800" dirty="0"/>
              <a:t> Теснейшая интеграция с </a:t>
            </a:r>
            <a:r>
              <a:rPr lang="en-US" sz="2800" dirty="0"/>
              <a:t>Excel, SharePoint, Teams.</a:t>
            </a:r>
          </a:p>
          <a:p>
            <a:r>
              <a:rPr lang="ru-RU" sz="2800" b="1" dirty="0"/>
              <a:t>4. Интеграция:</a:t>
            </a:r>
            <a:r>
              <a:rPr lang="ru-RU" sz="2800" dirty="0"/>
              <a:t> Сотни готовых коннекторов к </a:t>
            </a:r>
            <a:r>
              <a:rPr lang="en-US" sz="2800" dirty="0"/>
              <a:t>Salesforce, Adobe, SAP. Power Automate </a:t>
            </a:r>
            <a:r>
              <a:rPr lang="ru-RU" sz="2800" dirty="0"/>
              <a:t>для сложной логики.</a:t>
            </a:r>
          </a:p>
          <a:p>
            <a:r>
              <a:rPr lang="ru-RU" sz="2800" b="1" dirty="0"/>
              <a:t>5. Для кого:</a:t>
            </a:r>
            <a:r>
              <a:rPr lang="ru-RU" sz="2800" dirty="0"/>
              <a:t> Компании на </a:t>
            </a:r>
            <a:r>
              <a:rPr lang="en-US" sz="2800" dirty="0"/>
              <a:t>Microsoft-</a:t>
            </a:r>
            <a:r>
              <a:rPr lang="ru-RU" sz="2800" dirty="0"/>
              <a:t>стеке. Быстрые решения для отделов и среднего бизнеса.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25D61556-800B-EDF8-5548-6112482C4B75}"/>
              </a:ext>
            </a:extLst>
          </p:cNvPr>
          <p:cNvSpPr txBox="1"/>
          <p:nvPr/>
        </p:nvSpPr>
        <p:spPr>
          <a:xfrm>
            <a:off x="875425" y="655622"/>
            <a:ext cx="10428514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Power </a:t>
            </a:r>
            <a:r>
              <a:rPr lang="ru-RU" sz="4000" b="1" dirty="0" err="1"/>
              <a:t>Apps</a:t>
            </a:r>
            <a:r>
              <a:rPr lang="ru-RU" sz="4000" b="1" dirty="0"/>
              <a:t> — Фокус на экосистему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511D802-6F41-0CC7-F6B5-2A0D50735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9" y="4038285"/>
            <a:ext cx="2503715" cy="250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55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D04CF9F-9693-2724-7A4F-3E8E86A5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066FCCBF-271B-401F-86F3-E3D7C2D54BE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E3121C3C-7F46-CA4A-91F9-62AFA4A6A32D}"/>
              </a:ext>
            </a:extLst>
          </p:cNvPr>
          <p:cNvSpPr txBox="1"/>
          <p:nvPr/>
        </p:nvSpPr>
        <p:spPr>
          <a:xfrm>
            <a:off x="584425" y="1710376"/>
            <a:ext cx="11625942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b="1" dirty="0" err="1"/>
              <a:t>Low</a:t>
            </a:r>
            <a:r>
              <a:rPr lang="ru-RU" sz="2800" b="1" dirty="0"/>
              <a:t> Code/No Code платформы </a:t>
            </a:r>
            <a:r>
              <a:rPr lang="ru-RU" sz="2800" dirty="0"/>
              <a:t>— мощный инструмент, но бесконтрольное использование ведет к "зоопарку" приложений и рискам.</a:t>
            </a:r>
            <a:br>
              <a:rPr lang="ru-RU" sz="2800" dirty="0"/>
            </a:br>
            <a:r>
              <a:rPr lang="ru-RU" sz="2800" b="1" dirty="0"/>
              <a:t>Решение:</a:t>
            </a:r>
            <a:r>
              <a:rPr lang="ru-RU" sz="2800" dirty="0"/>
              <a:t> Создание </a:t>
            </a:r>
            <a:r>
              <a:rPr lang="ru-RU" sz="2800" b="1" dirty="0"/>
              <a:t>Center </a:t>
            </a:r>
            <a:r>
              <a:rPr lang="ru-RU" sz="2800" b="1" dirty="0" err="1"/>
              <a:t>of</a:t>
            </a:r>
            <a:r>
              <a:rPr lang="ru-RU" sz="2800" b="1" dirty="0"/>
              <a:t> </a:t>
            </a:r>
            <a:r>
              <a:rPr lang="ru-RU" sz="2800" b="1" dirty="0" err="1"/>
              <a:t>Excellence</a:t>
            </a:r>
            <a:r>
              <a:rPr lang="ru-RU" sz="2800" b="1" dirty="0"/>
              <a:t> (</a:t>
            </a:r>
            <a:r>
              <a:rPr lang="ru-RU" sz="2800" b="1" dirty="0" err="1"/>
              <a:t>CoE</a:t>
            </a:r>
            <a:r>
              <a:rPr lang="ru-RU" sz="2800" b="1" dirty="0"/>
              <a:t>)</a:t>
            </a:r>
            <a:r>
              <a:rPr lang="ru-RU" sz="2800" dirty="0"/>
              <a:t>.</a:t>
            </a:r>
          </a:p>
          <a:p>
            <a:r>
              <a:rPr lang="ru-RU" sz="2800" b="1" dirty="0"/>
              <a:t>Задачи </a:t>
            </a:r>
            <a:r>
              <a:rPr lang="ru-RU" sz="2800" b="1" dirty="0" err="1"/>
              <a:t>CoE</a:t>
            </a:r>
            <a:r>
              <a:rPr lang="ru-RU" sz="2800" b="1" dirty="0"/>
              <a:t>:</a:t>
            </a:r>
            <a:endParaRPr lang="ru-RU" sz="2800" dirty="0"/>
          </a:p>
          <a:p>
            <a:r>
              <a:rPr lang="ru-RU" sz="2800" dirty="0"/>
              <a:t>-Устанавливает правила и стандарты.</a:t>
            </a:r>
          </a:p>
          <a:p>
            <a:r>
              <a:rPr lang="ru-RU" sz="2800" dirty="0"/>
              <a:t>-Обеспечивает интеграцию и безопасность под контролем IT.</a:t>
            </a:r>
          </a:p>
          <a:p>
            <a:r>
              <a:rPr lang="ru-RU" sz="2800" dirty="0"/>
              <a:t>-Позволяет бизнесу быстро творить в рамках утвержденной архитектуры.</a:t>
            </a:r>
          </a:p>
          <a:p>
            <a:endParaRPr lang="ru-RU" sz="28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5943A185-8BDC-B8FF-D5D9-2950BCE87D97}"/>
              </a:ext>
            </a:extLst>
          </p:cNvPr>
          <p:cNvSpPr txBox="1"/>
          <p:nvPr/>
        </p:nvSpPr>
        <p:spPr>
          <a:xfrm>
            <a:off x="875425" y="655622"/>
            <a:ext cx="10428514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Управление: Центр компетенции (Center </a:t>
            </a:r>
            <a:r>
              <a:rPr lang="ru-RU" sz="3200" b="1" dirty="0" err="1"/>
              <a:t>of</a:t>
            </a:r>
            <a:r>
              <a:rPr lang="ru-RU" sz="3200" b="1" dirty="0"/>
              <a:t> </a:t>
            </a:r>
            <a:r>
              <a:rPr lang="ru-RU" sz="3200" b="1" dirty="0" err="1"/>
              <a:t>Excellence</a:t>
            </a:r>
            <a:r>
              <a:rPr lang="ru-RU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8003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A86776D4-D68E-BD22-4E81-8278D204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B520659E-CB55-85CD-3595-B8EAC64CEC55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760296F6-AC06-AF7C-CC1A-359A2C5650A9}"/>
              </a:ext>
            </a:extLst>
          </p:cNvPr>
          <p:cNvSpPr txBox="1"/>
          <p:nvPr/>
        </p:nvSpPr>
        <p:spPr>
          <a:xfrm>
            <a:off x="2282193" y="42338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5400" b="1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FFD01-E7C2-40DD-62FC-00A21FCADCBC}"/>
              </a:ext>
            </a:extLst>
          </p:cNvPr>
          <p:cNvSpPr txBox="1"/>
          <p:nvPr/>
        </p:nvSpPr>
        <p:spPr>
          <a:xfrm>
            <a:off x="326571" y="1431141"/>
            <a:ext cx="120722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/>
              <a:t>Low</a:t>
            </a:r>
            <a:r>
              <a:rPr lang="ru-RU" sz="2800" dirty="0"/>
              <a:t> Code — это не игрушка, а стратегический инструмент для ускорения цифровизации.</a:t>
            </a:r>
          </a:p>
          <a:p>
            <a:r>
              <a:rPr lang="ru-RU" sz="2800" dirty="0"/>
              <a:t>Наибольшая эффективность достигается в </a:t>
            </a:r>
            <a:r>
              <a:rPr lang="ru-RU" sz="2800" b="1" dirty="0"/>
              <a:t>гибридной модели</a:t>
            </a:r>
            <a:r>
              <a:rPr lang="ru-RU" sz="2800" dirty="0"/>
              <a:t> (</a:t>
            </a:r>
            <a:r>
              <a:rPr lang="ru-RU" sz="2800" dirty="0" err="1"/>
              <a:t>Low</a:t>
            </a:r>
            <a:r>
              <a:rPr lang="ru-RU" sz="2800" dirty="0"/>
              <a:t> Code + Pro Code).</a:t>
            </a:r>
          </a:p>
          <a:p>
            <a:r>
              <a:rPr lang="ru-RU" sz="2800" dirty="0"/>
              <a:t>Интеграция через API и общий </a:t>
            </a:r>
            <a:r>
              <a:rPr lang="ru-RU" sz="2800" dirty="0" err="1"/>
              <a:t>DevOps</a:t>
            </a:r>
            <a:r>
              <a:rPr lang="ru-RU" sz="2800" dirty="0"/>
              <a:t> — обязательное условие.</a:t>
            </a:r>
          </a:p>
          <a:p>
            <a:r>
              <a:rPr lang="ru-RU" sz="2800" dirty="0"/>
              <a:t>Контроль через </a:t>
            </a:r>
            <a:r>
              <a:rPr lang="ru-RU" sz="2800" b="1" dirty="0"/>
              <a:t>Center </a:t>
            </a:r>
            <a:r>
              <a:rPr lang="ru-RU" sz="2800" b="1" dirty="0" err="1"/>
              <a:t>of</a:t>
            </a:r>
            <a:r>
              <a:rPr lang="ru-RU" sz="2800" b="1" dirty="0"/>
              <a:t> </a:t>
            </a:r>
            <a:r>
              <a:rPr lang="ru-RU" sz="2800" b="1" dirty="0" err="1"/>
              <a:t>Excellence</a:t>
            </a:r>
            <a:r>
              <a:rPr lang="ru-RU" sz="2800" dirty="0"/>
              <a:t> превращает риски (Shadow IT) в возможности (быстрое решение задач бизнеса).</a:t>
            </a:r>
          </a:p>
          <a:p>
            <a:br>
              <a:rPr lang="ru-RU" sz="2800" dirty="0"/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1868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751</Words>
  <Application>Microsoft Office PowerPoint</Application>
  <PresentationFormat>Произвольный</PresentationFormat>
  <Paragraphs>75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Helvetica Neue</vt:lpstr>
      <vt:lpstr>Times New Roman</vt:lpstr>
      <vt:lpstr>Arial</vt:lpstr>
      <vt:lpstr>Calibri</vt:lpstr>
      <vt:lpstr>Тема Office</vt:lpstr>
      <vt:lpstr>Low Code / No Code</vt:lpstr>
      <vt:lpstr>Что такое Low Code / No Code?</vt:lpstr>
      <vt:lpstr>Идеальные сценарии (Когда использовать)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Arti</dc:creator>
  <cp:lastModifiedBy>Arti</cp:lastModifiedBy>
  <cp:revision>7</cp:revision>
  <dcterms:modified xsi:type="dcterms:W3CDTF">2026-02-25T19:22:03Z</dcterms:modified>
</cp:coreProperties>
</file>