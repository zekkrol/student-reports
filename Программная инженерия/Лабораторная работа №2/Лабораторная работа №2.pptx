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0" r:id="rId1"/>
  </p:sldMasterIdLst>
  <p:notesMasterIdLst>
    <p:notesMasterId r:id="rId24"/>
  </p:notesMasterIdLst>
  <p:sldIdLst>
    <p:sldId id="256" r:id="rId2"/>
    <p:sldId id="258" r:id="rId3"/>
    <p:sldId id="257" r:id="rId4"/>
    <p:sldId id="356" r:id="rId5"/>
    <p:sldId id="259" r:id="rId6"/>
    <p:sldId id="334" r:id="rId7"/>
    <p:sldId id="335" r:id="rId8"/>
    <p:sldId id="342" r:id="rId9"/>
    <p:sldId id="343" r:id="rId10"/>
    <p:sldId id="353" r:id="rId11"/>
    <p:sldId id="354" r:id="rId12"/>
    <p:sldId id="355" r:id="rId13"/>
    <p:sldId id="352" r:id="rId14"/>
    <p:sldId id="344" r:id="rId15"/>
    <p:sldId id="345" r:id="rId16"/>
    <p:sldId id="346" r:id="rId17"/>
    <p:sldId id="347" r:id="rId18"/>
    <p:sldId id="348" r:id="rId19"/>
    <p:sldId id="349" r:id="rId20"/>
    <p:sldId id="350" r:id="rId21"/>
    <p:sldId id="351" r:id="rId22"/>
    <p:sldId id="333" r:id="rId23"/>
  </p:sldIdLst>
  <p:sldSz cx="12954000" cy="6832600"/>
  <p:notesSz cx="6858000" cy="9144000"/>
  <p:embeddedFontLst>
    <p:embeddedFont>
      <p:font typeface="Helvetica Neue" panose="020B0604020202020204" charset="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52">
          <p15:clr>
            <a:srgbClr val="A4A3A4"/>
          </p15:clr>
        </p15:guide>
        <p15:guide id="2" pos="40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E7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53" autoAdjust="0"/>
    <p:restoredTop sz="94660"/>
  </p:normalViewPr>
  <p:slideViewPr>
    <p:cSldViewPr snapToGrid="0">
      <p:cViewPr varScale="1">
        <p:scale>
          <a:sx n="121" d="100"/>
          <a:sy n="121" d="100"/>
        </p:scale>
        <p:origin x="168" y="91"/>
      </p:cViewPr>
      <p:guideLst>
        <p:guide orient="horz" pos="2152"/>
        <p:guide pos="40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79388" y="685800"/>
            <a:ext cx="6499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3741d0dffc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79388" y="685800"/>
            <a:ext cx="6499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33741d0dffc_0_1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3741d0dffc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79388" y="685800"/>
            <a:ext cx="6499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33741d0dffc_0_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>
          <a:extLst>
            <a:ext uri="{FF2B5EF4-FFF2-40B4-BE49-F238E27FC236}">
              <a16:creationId xmlns:a16="http://schemas.microsoft.com/office/drawing/2014/main" id="{F17E6FB7-3752-D23F-9542-3AD8F5E5C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3741d0dffc_0_3:notes">
            <a:extLst>
              <a:ext uri="{FF2B5EF4-FFF2-40B4-BE49-F238E27FC236}">
                <a16:creationId xmlns:a16="http://schemas.microsoft.com/office/drawing/2014/main" id="{213E50E7-CC5D-B16C-FBA2-3ADA98320E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79388" y="685800"/>
            <a:ext cx="6499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33741d0dffc_0_3:notes">
            <a:extLst>
              <a:ext uri="{FF2B5EF4-FFF2-40B4-BE49-F238E27FC236}">
                <a16:creationId xmlns:a16="http://schemas.microsoft.com/office/drawing/2014/main" id="{C374E57D-9DF1-C2CC-35C0-2303E3EF433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707785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3741d0dffc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79388" y="685800"/>
            <a:ext cx="6499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33741d0dffc_0_2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>
          <a:extLst>
            <a:ext uri="{FF2B5EF4-FFF2-40B4-BE49-F238E27FC236}">
              <a16:creationId xmlns:a16="http://schemas.microsoft.com/office/drawing/2014/main" id="{986F224B-BE72-65AE-F2F4-6999ECAD3E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3741d0dffc_0_27:notes">
            <a:extLst>
              <a:ext uri="{FF2B5EF4-FFF2-40B4-BE49-F238E27FC236}">
                <a16:creationId xmlns:a16="http://schemas.microsoft.com/office/drawing/2014/main" id="{93B60FEA-B766-B970-38A7-6DFC7FE0F4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79388" y="685800"/>
            <a:ext cx="6499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33741d0dffc_0_27:notes">
            <a:extLst>
              <a:ext uri="{FF2B5EF4-FFF2-40B4-BE49-F238E27FC236}">
                <a16:creationId xmlns:a16="http://schemas.microsoft.com/office/drawing/2014/main" id="{E8BF97C1-C784-1C96-6B2F-C488142ABC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9550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>
          <a:extLst>
            <a:ext uri="{FF2B5EF4-FFF2-40B4-BE49-F238E27FC236}">
              <a16:creationId xmlns:a16="http://schemas.microsoft.com/office/drawing/2014/main" id="{17929EEB-7CE0-6433-30C8-16E0C8B353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3741d0dffc_0_27:notes">
            <a:extLst>
              <a:ext uri="{FF2B5EF4-FFF2-40B4-BE49-F238E27FC236}">
                <a16:creationId xmlns:a16="http://schemas.microsoft.com/office/drawing/2014/main" id="{C8E1FF49-EEF7-474C-ADAC-96F09BF7025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79388" y="685800"/>
            <a:ext cx="6499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33741d0dffc_0_27:notes">
            <a:extLst>
              <a:ext uri="{FF2B5EF4-FFF2-40B4-BE49-F238E27FC236}">
                <a16:creationId xmlns:a16="http://schemas.microsoft.com/office/drawing/2014/main" id="{5C3FE695-8D0C-B129-2D6B-F509A8FBD6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313165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>
          <a:extLst>
            <a:ext uri="{FF2B5EF4-FFF2-40B4-BE49-F238E27FC236}">
              <a16:creationId xmlns:a16="http://schemas.microsoft.com/office/drawing/2014/main" id="{D24FF6DA-683B-01FA-0DA1-17C56AB21B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3741d0dffc_0_27:notes">
            <a:extLst>
              <a:ext uri="{FF2B5EF4-FFF2-40B4-BE49-F238E27FC236}">
                <a16:creationId xmlns:a16="http://schemas.microsoft.com/office/drawing/2014/main" id="{69C382BD-DA5B-8B39-5508-31ADD1E1467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79388" y="685800"/>
            <a:ext cx="6499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33741d0dffc_0_27:notes">
            <a:extLst>
              <a:ext uri="{FF2B5EF4-FFF2-40B4-BE49-F238E27FC236}">
                <a16:creationId xmlns:a16="http://schemas.microsoft.com/office/drawing/2014/main" id="{5F5FAC8D-3E62-6428-5006-6B8F444C61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931603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>
          <a:extLst>
            <a:ext uri="{FF2B5EF4-FFF2-40B4-BE49-F238E27FC236}">
              <a16:creationId xmlns:a16="http://schemas.microsoft.com/office/drawing/2014/main" id="{624283D9-02CA-23E8-04A3-75C4ABB5C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3741d0dffc_0_27:notes">
            <a:extLst>
              <a:ext uri="{FF2B5EF4-FFF2-40B4-BE49-F238E27FC236}">
                <a16:creationId xmlns:a16="http://schemas.microsoft.com/office/drawing/2014/main" id="{77FC03AA-1274-6DA9-E749-F15A14BCE98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79388" y="685800"/>
            <a:ext cx="6499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33741d0dffc_0_27:notes">
            <a:extLst>
              <a:ext uri="{FF2B5EF4-FFF2-40B4-BE49-F238E27FC236}">
                <a16:creationId xmlns:a16="http://schemas.microsoft.com/office/drawing/2014/main" id="{FD9FAC77-4477-BCA2-E804-574EBE4F17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355626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>
          <a:extLst>
            <a:ext uri="{FF2B5EF4-FFF2-40B4-BE49-F238E27FC236}">
              <a16:creationId xmlns:a16="http://schemas.microsoft.com/office/drawing/2014/main" id="{205C462B-9924-8427-71F0-55B8980401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3741d0dffc_0_27:notes">
            <a:extLst>
              <a:ext uri="{FF2B5EF4-FFF2-40B4-BE49-F238E27FC236}">
                <a16:creationId xmlns:a16="http://schemas.microsoft.com/office/drawing/2014/main" id="{501F60A5-A9AF-C07B-685E-F1ADD0E98A7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79388" y="685800"/>
            <a:ext cx="6499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33741d0dffc_0_27:notes">
            <a:extLst>
              <a:ext uri="{FF2B5EF4-FFF2-40B4-BE49-F238E27FC236}">
                <a16:creationId xmlns:a16="http://schemas.microsoft.com/office/drawing/2014/main" id="{7985A891-3CB6-E1C2-4D43-6CBD1531F7E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213995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>
          <a:extLst>
            <a:ext uri="{FF2B5EF4-FFF2-40B4-BE49-F238E27FC236}">
              <a16:creationId xmlns:a16="http://schemas.microsoft.com/office/drawing/2014/main" id="{CA4191DD-37F7-7EB2-513A-93F220666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3741d0dffc_0_27:notes">
            <a:extLst>
              <a:ext uri="{FF2B5EF4-FFF2-40B4-BE49-F238E27FC236}">
                <a16:creationId xmlns:a16="http://schemas.microsoft.com/office/drawing/2014/main" id="{81975263-5AE0-0ECE-71EE-6C4A8F916D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79388" y="685800"/>
            <a:ext cx="6499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33741d0dffc_0_27:notes">
            <a:extLst>
              <a:ext uri="{FF2B5EF4-FFF2-40B4-BE49-F238E27FC236}">
                <a16:creationId xmlns:a16="http://schemas.microsoft.com/office/drawing/2014/main" id="{AC1F0F90-2CEE-2D08-CC12-91B92643EF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219377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>
          <a:extLst>
            <a:ext uri="{FF2B5EF4-FFF2-40B4-BE49-F238E27FC236}">
              <a16:creationId xmlns:a16="http://schemas.microsoft.com/office/drawing/2014/main" id="{1E1F578F-81AE-F192-1163-347193D20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3741d0dffc_0_27:notes">
            <a:extLst>
              <a:ext uri="{FF2B5EF4-FFF2-40B4-BE49-F238E27FC236}">
                <a16:creationId xmlns:a16="http://schemas.microsoft.com/office/drawing/2014/main" id="{D2D77003-D5B6-DFEB-F5E4-ABA9A7610F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79388" y="685800"/>
            <a:ext cx="6499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33741d0dffc_0_27:notes">
            <a:extLst>
              <a:ext uri="{FF2B5EF4-FFF2-40B4-BE49-F238E27FC236}">
                <a16:creationId xmlns:a16="http://schemas.microsoft.com/office/drawing/2014/main" id="{DB9D88DE-7EA5-B77A-489E-1A4AA007744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389047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>
          <a:extLst>
            <a:ext uri="{FF2B5EF4-FFF2-40B4-BE49-F238E27FC236}">
              <a16:creationId xmlns:a16="http://schemas.microsoft.com/office/drawing/2014/main" id="{C6C0288D-709B-AE37-3F02-D29D36D64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3741d0dffc_0_27:notes">
            <a:extLst>
              <a:ext uri="{FF2B5EF4-FFF2-40B4-BE49-F238E27FC236}">
                <a16:creationId xmlns:a16="http://schemas.microsoft.com/office/drawing/2014/main" id="{1CB0FDA9-872D-C584-9CFF-B2F4D7C0206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79388" y="685800"/>
            <a:ext cx="6499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33741d0dffc_0_27:notes">
            <a:extLst>
              <a:ext uri="{FF2B5EF4-FFF2-40B4-BE49-F238E27FC236}">
                <a16:creationId xmlns:a16="http://schemas.microsoft.com/office/drawing/2014/main" id="{A589866D-F17F-E18E-5C48-2F585C2937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2224028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>
          <a:extLst>
            <a:ext uri="{FF2B5EF4-FFF2-40B4-BE49-F238E27FC236}">
              <a16:creationId xmlns:a16="http://schemas.microsoft.com/office/drawing/2014/main" id="{20A78A38-50C3-5059-F8B8-C618A6DC89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3741d0dffc_0_27:notes">
            <a:extLst>
              <a:ext uri="{FF2B5EF4-FFF2-40B4-BE49-F238E27FC236}">
                <a16:creationId xmlns:a16="http://schemas.microsoft.com/office/drawing/2014/main" id="{4A22ABAC-DD6F-AF8A-F79C-1EE61C616F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79388" y="685800"/>
            <a:ext cx="6499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33741d0dffc_0_27:notes">
            <a:extLst>
              <a:ext uri="{FF2B5EF4-FFF2-40B4-BE49-F238E27FC236}">
                <a16:creationId xmlns:a16="http://schemas.microsoft.com/office/drawing/2014/main" id="{7AC169C9-AAB0-AECA-1531-5C209C71A9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8201972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>
          <a:extLst>
            <a:ext uri="{FF2B5EF4-FFF2-40B4-BE49-F238E27FC236}">
              <a16:creationId xmlns:a16="http://schemas.microsoft.com/office/drawing/2014/main" id="{06749E4E-991C-A70F-00CF-25F498A161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3741d0dffc_0_27:notes">
            <a:extLst>
              <a:ext uri="{FF2B5EF4-FFF2-40B4-BE49-F238E27FC236}">
                <a16:creationId xmlns:a16="http://schemas.microsoft.com/office/drawing/2014/main" id="{7CAE870D-866F-3642-994D-8A2C6EDE08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79388" y="685800"/>
            <a:ext cx="6499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33741d0dffc_0_27:notes">
            <a:extLst>
              <a:ext uri="{FF2B5EF4-FFF2-40B4-BE49-F238E27FC236}">
                <a16:creationId xmlns:a16="http://schemas.microsoft.com/office/drawing/2014/main" id="{15CA9D88-AD06-289E-39B4-88B5798A1F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6543434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>
          <a:extLst>
            <a:ext uri="{FF2B5EF4-FFF2-40B4-BE49-F238E27FC236}">
              <a16:creationId xmlns:a16="http://schemas.microsoft.com/office/drawing/2014/main" id="{C8B963AC-A9C2-87C2-D951-AB1E16B41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3741d0dffc_0_27:notes">
            <a:extLst>
              <a:ext uri="{FF2B5EF4-FFF2-40B4-BE49-F238E27FC236}">
                <a16:creationId xmlns:a16="http://schemas.microsoft.com/office/drawing/2014/main" id="{C94E05F6-A2F8-E42A-94B3-AD8E401F63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79388" y="685800"/>
            <a:ext cx="6499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33741d0dffc_0_27:notes">
            <a:extLst>
              <a:ext uri="{FF2B5EF4-FFF2-40B4-BE49-F238E27FC236}">
                <a16:creationId xmlns:a16="http://schemas.microsoft.com/office/drawing/2014/main" id="{A3CBD03C-C2E5-3CBB-ABCC-C451E87AF5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0619117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>
          <a:extLst>
            <a:ext uri="{FF2B5EF4-FFF2-40B4-BE49-F238E27FC236}">
              <a16:creationId xmlns:a16="http://schemas.microsoft.com/office/drawing/2014/main" id="{DDCEB8B6-DA7F-AD69-4ACA-DD84033EF0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3741d0dffc_0_27:notes">
            <a:extLst>
              <a:ext uri="{FF2B5EF4-FFF2-40B4-BE49-F238E27FC236}">
                <a16:creationId xmlns:a16="http://schemas.microsoft.com/office/drawing/2014/main" id="{6AF8206B-42D1-0567-6BD4-7484FD8355B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79388" y="685800"/>
            <a:ext cx="6499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33741d0dffc_0_27:notes">
            <a:extLst>
              <a:ext uri="{FF2B5EF4-FFF2-40B4-BE49-F238E27FC236}">
                <a16:creationId xmlns:a16="http://schemas.microsoft.com/office/drawing/2014/main" id="{F6B639E1-F839-71BD-C008-BA64CA75C1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7756872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>
          <a:extLst>
            <a:ext uri="{FF2B5EF4-FFF2-40B4-BE49-F238E27FC236}">
              <a16:creationId xmlns:a16="http://schemas.microsoft.com/office/drawing/2014/main" id="{1A6536DA-A0F3-B34B-F44B-37372D5D8D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3741d0dffc_0_27:notes">
            <a:extLst>
              <a:ext uri="{FF2B5EF4-FFF2-40B4-BE49-F238E27FC236}">
                <a16:creationId xmlns:a16="http://schemas.microsoft.com/office/drawing/2014/main" id="{06B9B822-26F7-B262-0277-CD0D3C64D41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79388" y="685800"/>
            <a:ext cx="6499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33741d0dffc_0_27:notes">
            <a:extLst>
              <a:ext uri="{FF2B5EF4-FFF2-40B4-BE49-F238E27FC236}">
                <a16:creationId xmlns:a16="http://schemas.microsoft.com/office/drawing/2014/main" id="{33F54BBF-9955-F0E2-1CDB-81889176BF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7141989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>
          <a:extLst>
            <a:ext uri="{FF2B5EF4-FFF2-40B4-BE49-F238E27FC236}">
              <a16:creationId xmlns:a16="http://schemas.microsoft.com/office/drawing/2014/main" id="{41FEF11E-AB24-4D48-FF83-0644E1302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3741d0dffc_0_27:notes">
            <a:extLst>
              <a:ext uri="{FF2B5EF4-FFF2-40B4-BE49-F238E27FC236}">
                <a16:creationId xmlns:a16="http://schemas.microsoft.com/office/drawing/2014/main" id="{8D2FB45F-75C3-D684-3040-72151A4689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79388" y="685800"/>
            <a:ext cx="6499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33741d0dffc_0_27:notes">
            <a:extLst>
              <a:ext uri="{FF2B5EF4-FFF2-40B4-BE49-F238E27FC236}">
                <a16:creationId xmlns:a16="http://schemas.microsoft.com/office/drawing/2014/main" id="{124B8BE7-A9F2-B212-48EB-9B0C00B6D7A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9425030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>
          <a:extLst>
            <a:ext uri="{FF2B5EF4-FFF2-40B4-BE49-F238E27FC236}">
              <a16:creationId xmlns:a16="http://schemas.microsoft.com/office/drawing/2014/main" id="{7AE22793-DAEC-4569-7E83-2FE5D0E93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3741d0dffc_0_27:notes">
            <a:extLst>
              <a:ext uri="{FF2B5EF4-FFF2-40B4-BE49-F238E27FC236}">
                <a16:creationId xmlns:a16="http://schemas.microsoft.com/office/drawing/2014/main" id="{91DB378B-E369-D52D-82E7-B0DEB4CF5BA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79388" y="685800"/>
            <a:ext cx="6499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33741d0dffc_0_27:notes">
            <a:extLst>
              <a:ext uri="{FF2B5EF4-FFF2-40B4-BE49-F238E27FC236}">
                <a16:creationId xmlns:a16="http://schemas.microsoft.com/office/drawing/2014/main" id="{9F8882CC-521E-27FE-5111-1F6E3F6226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1886146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>
          <a:extLst>
            <a:ext uri="{FF2B5EF4-FFF2-40B4-BE49-F238E27FC236}">
              <a16:creationId xmlns:a16="http://schemas.microsoft.com/office/drawing/2014/main" id="{0386E8B1-829F-4F4F-D04B-2B03B6E72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3741d0dffc_0_27:notes">
            <a:extLst>
              <a:ext uri="{FF2B5EF4-FFF2-40B4-BE49-F238E27FC236}">
                <a16:creationId xmlns:a16="http://schemas.microsoft.com/office/drawing/2014/main" id="{E462917C-926C-70EC-4B1D-259BED06F54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79388" y="685800"/>
            <a:ext cx="6499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33741d0dffc_0_27:notes">
            <a:extLst>
              <a:ext uri="{FF2B5EF4-FFF2-40B4-BE49-F238E27FC236}">
                <a16:creationId xmlns:a16="http://schemas.microsoft.com/office/drawing/2014/main" id="{8529EC1C-56AE-801F-760A-3F18AFD7DC5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3186371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p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9" name="Google Shape;93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79388" y="685800"/>
            <a:ext cx="6499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3_Титульный слайд" type="tx">
  <p:cSld name="TITLE_AND_BODY">
    <p:bg>
      <p:bgPr>
        <a:solidFill>
          <a:schemeClr val="accent1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 txBox="1">
            <a:spLocks noGrp="1"/>
          </p:cNvSpPr>
          <p:nvPr>
            <p:ph type="title"/>
          </p:nvPr>
        </p:nvSpPr>
        <p:spPr>
          <a:xfrm>
            <a:off x="916863" y="1616633"/>
            <a:ext cx="10423444" cy="2200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900"/>
              <a:buFont typeface="Times New Roman"/>
              <a:buNone/>
              <a:defRPr sz="69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body" idx="1"/>
          </p:nvPr>
        </p:nvSpPr>
        <p:spPr>
          <a:xfrm>
            <a:off x="916863" y="3971147"/>
            <a:ext cx="10423444" cy="8196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Arial"/>
              <a:buNone/>
              <a:defRPr sz="230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Arial"/>
              <a:buNone/>
              <a:defRPr sz="2300">
                <a:solidFill>
                  <a:srgbClr val="FFFFFF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Arial"/>
              <a:buNone/>
              <a:defRPr sz="2300">
                <a:solidFill>
                  <a:srgbClr val="FFFFFF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Arial"/>
              <a:buNone/>
              <a:defRPr sz="2300">
                <a:solidFill>
                  <a:srgbClr val="FFFFFF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Arial"/>
              <a:buNone/>
              <a:defRPr sz="2300">
                <a:solidFill>
                  <a:srgbClr val="FFFFFF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7" name="Google Shape;17;p2" descr="Рисунок 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770519" y="0"/>
            <a:ext cx="4189831" cy="68405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2" descr="Рисунок 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3759" y="329337"/>
            <a:ext cx="1862897" cy="819676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2"/>
          <p:cNvSpPr txBox="1"/>
          <p:nvPr/>
        </p:nvSpPr>
        <p:spPr>
          <a:xfrm rot="-5400000">
            <a:off x="11737005" y="954870"/>
            <a:ext cx="690615" cy="259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2024</a:t>
            </a:r>
            <a:endParaRPr/>
          </a:p>
        </p:txBody>
      </p:sp>
      <p:cxnSp>
        <p:nvCxnSpPr>
          <p:cNvPr id="20" name="Google Shape;20;p2"/>
          <p:cNvCxnSpPr/>
          <p:nvPr/>
        </p:nvCxnSpPr>
        <p:spPr>
          <a:xfrm>
            <a:off x="12128268" y="1404850"/>
            <a:ext cx="1" cy="2302626"/>
          </a:xfrm>
          <a:prstGeom prst="straightConnector1">
            <a:avLst/>
          </a:prstGeom>
          <a:noFill/>
          <a:ln w="25400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21" name="Google Shape;21;p2"/>
          <p:cNvSpPr txBox="1"/>
          <p:nvPr/>
        </p:nvSpPr>
        <p:spPr>
          <a:xfrm rot="-5400000">
            <a:off x="11531872" y="5633390"/>
            <a:ext cx="1097103" cy="2219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РАНХиГС</a:t>
            </a:r>
            <a:endParaRPr/>
          </a:p>
        </p:txBody>
      </p:sp>
      <p:sp>
        <p:nvSpPr>
          <p:cNvPr id="22" name="Google Shape;22;p2"/>
          <p:cNvSpPr txBox="1">
            <a:spLocks noGrp="1"/>
          </p:cNvSpPr>
          <p:nvPr>
            <p:ph type="sldNum" idx="12"/>
          </p:nvPr>
        </p:nvSpPr>
        <p:spPr>
          <a:xfrm>
            <a:off x="6261100" y="6148658"/>
            <a:ext cx="3022600" cy="368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Рисунок с подписью">
  <p:cSld name="Рисунок с подписью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oogle Shape;24;p3" descr="Рисунок 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856487" y="124476"/>
            <a:ext cx="1574790" cy="687183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3"/>
          <p:cNvSpPr/>
          <p:nvPr/>
        </p:nvSpPr>
        <p:spPr>
          <a:xfrm>
            <a:off x="-3244" y="288565"/>
            <a:ext cx="894269" cy="3198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3"/>
          <p:cNvSpPr txBox="1"/>
          <p:nvPr/>
        </p:nvSpPr>
        <p:spPr>
          <a:xfrm>
            <a:off x="600118" y="6407915"/>
            <a:ext cx="524201" cy="28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2023</a:t>
            </a:r>
            <a:endParaRPr/>
          </a:p>
        </p:txBody>
      </p:sp>
      <p:cxnSp>
        <p:nvCxnSpPr>
          <p:cNvPr id="27" name="Google Shape;27;p3"/>
          <p:cNvCxnSpPr/>
          <p:nvPr/>
        </p:nvCxnSpPr>
        <p:spPr>
          <a:xfrm>
            <a:off x="1258528" y="6571636"/>
            <a:ext cx="2303435" cy="1"/>
          </a:xfrm>
          <a:prstGeom prst="straightConnector1">
            <a:avLst/>
          </a:prstGeom>
          <a:noFill/>
          <a:ln w="19050" cap="flat" cmpd="sng">
            <a:solidFill>
              <a:srgbClr val="80808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28" name="Google Shape;28;p3"/>
          <p:cNvSpPr txBox="1">
            <a:spLocks noGrp="1"/>
          </p:cNvSpPr>
          <p:nvPr>
            <p:ph type="title"/>
          </p:nvPr>
        </p:nvSpPr>
        <p:spPr>
          <a:xfrm>
            <a:off x="900000" y="900000"/>
            <a:ext cx="9627700" cy="7405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3"/>
          <p:cNvSpPr>
            <a:spLocks noGrp="1"/>
          </p:cNvSpPr>
          <p:nvPr>
            <p:ph type="pic" idx="2"/>
          </p:nvPr>
        </p:nvSpPr>
        <p:spPr>
          <a:xfrm>
            <a:off x="4340995" y="1674796"/>
            <a:ext cx="7726643" cy="4254366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ru-RU"/>
          </a:p>
        </p:txBody>
      </p:sp>
      <p:sp>
        <p:nvSpPr>
          <p:cNvPr id="30" name="Google Shape;30;p3"/>
          <p:cNvSpPr txBox="1">
            <a:spLocks noGrp="1"/>
          </p:cNvSpPr>
          <p:nvPr>
            <p:ph type="body" idx="1"/>
          </p:nvPr>
        </p:nvSpPr>
        <p:spPr>
          <a:xfrm>
            <a:off x="900112" y="1625000"/>
            <a:ext cx="2916080" cy="4304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/>
            </a:lvl1pPr>
            <a:lvl2pPr marL="914400" lvl="1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/>
            </a:lvl2pPr>
            <a:lvl3pPr marL="1371600" lvl="2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/>
            </a:lvl3pPr>
            <a:lvl4pPr marL="1828800" lvl="3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/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/>
            </a:lvl5pPr>
            <a:lvl6pPr marL="2743200" lvl="5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3"/>
          <p:cNvSpPr txBox="1">
            <a:spLocks noGrp="1"/>
          </p:cNvSpPr>
          <p:nvPr>
            <p:ph type="sldNum" idx="12"/>
          </p:nvPr>
        </p:nvSpPr>
        <p:spPr>
          <a:xfrm>
            <a:off x="601687" y="304062"/>
            <a:ext cx="301908" cy="28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title">
  <p:cSld name="TITLE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>
            <a:spLocks noGrp="1"/>
          </p:cNvSpPr>
          <p:nvPr>
            <p:ph type="sldNum" idx="12"/>
          </p:nvPr>
        </p:nvSpPr>
        <p:spPr>
          <a:xfrm>
            <a:off x="601687" y="304062"/>
            <a:ext cx="301908" cy="28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Пустой слайд">
  <p:cSld name="1_Пустой слайд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5" descr="Рисунок 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856487" y="124476"/>
            <a:ext cx="1574790" cy="687183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5"/>
          <p:cNvSpPr/>
          <p:nvPr/>
        </p:nvSpPr>
        <p:spPr>
          <a:xfrm>
            <a:off x="-3244" y="288565"/>
            <a:ext cx="894269" cy="3198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5"/>
          <p:cNvSpPr txBox="1"/>
          <p:nvPr/>
        </p:nvSpPr>
        <p:spPr>
          <a:xfrm>
            <a:off x="600118" y="6407915"/>
            <a:ext cx="524201" cy="28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2023</a:t>
            </a:r>
            <a:endParaRPr/>
          </a:p>
        </p:txBody>
      </p:sp>
      <p:cxnSp>
        <p:nvCxnSpPr>
          <p:cNvPr id="38" name="Google Shape;38;p5"/>
          <p:cNvCxnSpPr/>
          <p:nvPr/>
        </p:nvCxnSpPr>
        <p:spPr>
          <a:xfrm>
            <a:off x="1258528" y="6571636"/>
            <a:ext cx="2303435" cy="1"/>
          </a:xfrm>
          <a:prstGeom prst="straightConnector1">
            <a:avLst/>
          </a:prstGeom>
          <a:noFill/>
          <a:ln w="19050" cap="flat" cmpd="sng">
            <a:solidFill>
              <a:srgbClr val="80808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601687" y="304062"/>
            <a:ext cx="301908" cy="28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Титульный слайд">
  <p:cSld name="Титульный слайд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6" descr="Рисунок 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856487" y="124476"/>
            <a:ext cx="1574790" cy="687183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6"/>
          <p:cNvSpPr/>
          <p:nvPr/>
        </p:nvSpPr>
        <p:spPr>
          <a:xfrm>
            <a:off x="-3244" y="288565"/>
            <a:ext cx="894269" cy="3198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6"/>
          <p:cNvSpPr txBox="1"/>
          <p:nvPr/>
        </p:nvSpPr>
        <p:spPr>
          <a:xfrm>
            <a:off x="600118" y="6407915"/>
            <a:ext cx="524201" cy="28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2023</a:t>
            </a:r>
            <a:endParaRPr/>
          </a:p>
        </p:txBody>
      </p:sp>
      <p:cxnSp>
        <p:nvCxnSpPr>
          <p:cNvPr id="44" name="Google Shape;44;p6"/>
          <p:cNvCxnSpPr/>
          <p:nvPr/>
        </p:nvCxnSpPr>
        <p:spPr>
          <a:xfrm>
            <a:off x="1258528" y="6571636"/>
            <a:ext cx="2303435" cy="1"/>
          </a:xfrm>
          <a:prstGeom prst="straightConnector1">
            <a:avLst/>
          </a:prstGeom>
          <a:noFill/>
          <a:ln w="19050" cap="flat" cmpd="sng">
            <a:solidFill>
              <a:srgbClr val="80808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1620044" y="1119505"/>
            <a:ext cx="9720264" cy="2381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body" idx="1"/>
          </p:nvPr>
        </p:nvSpPr>
        <p:spPr>
          <a:xfrm>
            <a:off x="1620044" y="3592865"/>
            <a:ext cx="9720264" cy="16515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/>
            </a:lvl2pPr>
            <a:lvl3pPr marL="1371600" lvl="2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/>
            </a:lvl3pPr>
            <a:lvl4pPr marL="1828800" lvl="3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/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/>
            </a:lvl5pPr>
            <a:lvl6pPr marL="2743200" lvl="5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sldNum" idx="12"/>
          </p:nvPr>
        </p:nvSpPr>
        <p:spPr>
          <a:xfrm>
            <a:off x="601687" y="304062"/>
            <a:ext cx="301908" cy="28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Титульный слайд">
  <p:cSld name="1_Титульный слайд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49;p7" descr="Рисунок 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856487" y="124476"/>
            <a:ext cx="1574790" cy="687183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7"/>
          <p:cNvSpPr/>
          <p:nvPr/>
        </p:nvSpPr>
        <p:spPr>
          <a:xfrm>
            <a:off x="-3244" y="288565"/>
            <a:ext cx="894269" cy="3198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7"/>
          <p:cNvSpPr txBox="1"/>
          <p:nvPr/>
        </p:nvSpPr>
        <p:spPr>
          <a:xfrm>
            <a:off x="600118" y="6407915"/>
            <a:ext cx="524201" cy="28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2023</a:t>
            </a:r>
            <a:endParaRPr/>
          </a:p>
        </p:txBody>
      </p:sp>
      <p:cxnSp>
        <p:nvCxnSpPr>
          <p:cNvPr id="52" name="Google Shape;52;p7"/>
          <p:cNvCxnSpPr/>
          <p:nvPr/>
        </p:nvCxnSpPr>
        <p:spPr>
          <a:xfrm>
            <a:off x="1258528" y="6571636"/>
            <a:ext cx="2303435" cy="1"/>
          </a:xfrm>
          <a:prstGeom prst="straightConnector1">
            <a:avLst/>
          </a:prstGeom>
          <a:noFill/>
          <a:ln w="19050" cap="flat" cmpd="sng">
            <a:solidFill>
              <a:srgbClr val="80808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53" name="Google Shape;53;p7"/>
          <p:cNvSpPr txBox="1">
            <a:spLocks noGrp="1"/>
          </p:cNvSpPr>
          <p:nvPr>
            <p:ph type="title"/>
          </p:nvPr>
        </p:nvSpPr>
        <p:spPr>
          <a:xfrm>
            <a:off x="900000" y="919196"/>
            <a:ext cx="8649708" cy="53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body" idx="1"/>
          </p:nvPr>
        </p:nvSpPr>
        <p:spPr>
          <a:xfrm>
            <a:off x="4981302" y="2751908"/>
            <a:ext cx="6696893" cy="2492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sz="3600" b="1">
                <a:solidFill>
                  <a:schemeClr val="accen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sz="3600" b="1">
                <a:solidFill>
                  <a:schemeClr val="accen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sz="3600" b="1">
                <a:solidFill>
                  <a:schemeClr val="accen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sz="3600" b="1">
                <a:solidFill>
                  <a:schemeClr val="accen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sz="3600" b="1">
                <a:solidFill>
                  <a:schemeClr val="accent1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5" name="Google Shape;55;p7"/>
          <p:cNvSpPr txBox="1">
            <a:spLocks noGrp="1"/>
          </p:cNvSpPr>
          <p:nvPr>
            <p:ph type="sldNum" idx="12"/>
          </p:nvPr>
        </p:nvSpPr>
        <p:spPr>
          <a:xfrm>
            <a:off x="601687" y="304062"/>
            <a:ext cx="301908" cy="28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6" name="Google Shape;56;p7"/>
          <p:cNvSpPr txBox="1">
            <a:spLocks noGrp="1"/>
          </p:cNvSpPr>
          <p:nvPr>
            <p:ph type="body" idx="2"/>
          </p:nvPr>
        </p:nvSpPr>
        <p:spPr>
          <a:xfrm>
            <a:off x="900112" y="1625000"/>
            <a:ext cx="2916080" cy="4304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marL="2743200" lvl="5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2_Титульный слайд">
  <p:cSld name="2_Титульный слайд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8"/>
          <p:cNvSpPr/>
          <p:nvPr/>
        </p:nvSpPr>
        <p:spPr>
          <a:xfrm>
            <a:off x="0" y="0"/>
            <a:ext cx="12960350" cy="6840538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rgbClr val="770127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8"/>
          <p:cNvSpPr txBox="1">
            <a:spLocks noGrp="1"/>
          </p:cNvSpPr>
          <p:nvPr>
            <p:ph type="body" idx="1"/>
          </p:nvPr>
        </p:nvSpPr>
        <p:spPr>
          <a:xfrm>
            <a:off x="3300546" y="2269023"/>
            <a:ext cx="6871064" cy="2492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  <a:defRPr sz="3600" b="1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  <a:defRPr sz="3600" b="1">
                <a:solidFill>
                  <a:srgbClr val="FFFFFF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  <a:defRPr sz="3600" b="1">
                <a:solidFill>
                  <a:srgbClr val="FFFFFF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  <a:defRPr sz="3600" b="1">
                <a:solidFill>
                  <a:srgbClr val="FFFFFF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  <a:defRPr sz="3600" b="1">
                <a:solidFill>
                  <a:srgbClr val="FFFFFF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0" name="Google Shape;60;p8"/>
          <p:cNvSpPr/>
          <p:nvPr/>
        </p:nvSpPr>
        <p:spPr>
          <a:xfrm>
            <a:off x="-3244" y="288565"/>
            <a:ext cx="894269" cy="3198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8"/>
          <p:cNvSpPr txBox="1">
            <a:spLocks noGrp="1"/>
          </p:cNvSpPr>
          <p:nvPr>
            <p:ph type="sldNum" idx="12"/>
          </p:nvPr>
        </p:nvSpPr>
        <p:spPr>
          <a:xfrm>
            <a:off x="601687" y="304062"/>
            <a:ext cx="301908" cy="28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E003E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BE003E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E003E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BE003E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E003E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BE003E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E003E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BE003E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E003E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BE003E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E003E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BE003E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E003E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BE003E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E003E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BE003E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E003E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BE003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2" name="Google Shape;62;p8" descr="Picture 16"/>
          <p:cNvPicPr preferRelativeResize="0"/>
          <p:nvPr/>
        </p:nvPicPr>
        <p:blipFill rotWithShape="1">
          <a:blip r:embed="rId2">
            <a:alphaModFix/>
          </a:blip>
          <a:srcRect t="4828"/>
          <a:stretch/>
        </p:blipFill>
        <p:spPr>
          <a:xfrm>
            <a:off x="10684389" y="-1"/>
            <a:ext cx="1950722" cy="97615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8"/>
          <p:cNvSpPr txBox="1"/>
          <p:nvPr/>
        </p:nvSpPr>
        <p:spPr>
          <a:xfrm>
            <a:off x="600118" y="6407915"/>
            <a:ext cx="524201" cy="28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2024</a:t>
            </a:r>
            <a:endParaRPr/>
          </a:p>
        </p:txBody>
      </p:sp>
      <p:cxnSp>
        <p:nvCxnSpPr>
          <p:cNvPr id="64" name="Google Shape;64;p8"/>
          <p:cNvCxnSpPr/>
          <p:nvPr/>
        </p:nvCxnSpPr>
        <p:spPr>
          <a:xfrm>
            <a:off x="1258528" y="6571636"/>
            <a:ext cx="2303435" cy="1"/>
          </a:xfrm>
          <a:prstGeom prst="straightConnector1">
            <a:avLst/>
          </a:prstGeom>
          <a:noFill/>
          <a:ln w="19050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Заголовок и объект">
  <p:cSld name="Заголовок и объект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9" descr="Рисунок 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856487" y="124476"/>
            <a:ext cx="1574790" cy="687183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9"/>
          <p:cNvSpPr/>
          <p:nvPr/>
        </p:nvSpPr>
        <p:spPr>
          <a:xfrm>
            <a:off x="-3244" y="288565"/>
            <a:ext cx="894269" cy="3198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9"/>
          <p:cNvSpPr txBox="1"/>
          <p:nvPr/>
        </p:nvSpPr>
        <p:spPr>
          <a:xfrm>
            <a:off x="600118" y="6407915"/>
            <a:ext cx="524201" cy="28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2023</a:t>
            </a:r>
            <a:endParaRPr/>
          </a:p>
        </p:txBody>
      </p:sp>
      <p:cxnSp>
        <p:nvCxnSpPr>
          <p:cNvPr id="69" name="Google Shape;69;p9"/>
          <p:cNvCxnSpPr/>
          <p:nvPr/>
        </p:nvCxnSpPr>
        <p:spPr>
          <a:xfrm>
            <a:off x="1258528" y="6571636"/>
            <a:ext cx="2303435" cy="1"/>
          </a:xfrm>
          <a:prstGeom prst="straightConnector1">
            <a:avLst/>
          </a:prstGeom>
          <a:noFill/>
          <a:ln w="19050" cap="flat" cmpd="sng">
            <a:solidFill>
              <a:srgbClr val="80808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70" name="Google Shape;70;p9"/>
          <p:cNvSpPr txBox="1">
            <a:spLocks noGrp="1"/>
          </p:cNvSpPr>
          <p:nvPr>
            <p:ph type="title"/>
          </p:nvPr>
        </p:nvSpPr>
        <p:spPr>
          <a:xfrm>
            <a:off x="900000" y="900000"/>
            <a:ext cx="9576680" cy="714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9"/>
          <p:cNvSpPr txBox="1">
            <a:spLocks noGrp="1"/>
          </p:cNvSpPr>
          <p:nvPr>
            <p:ph type="body" idx="1"/>
          </p:nvPr>
        </p:nvSpPr>
        <p:spPr>
          <a:xfrm>
            <a:off x="891024" y="1820976"/>
            <a:ext cx="11205727" cy="4340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marL="2743200" lvl="5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2" name="Google Shape;72;p9"/>
          <p:cNvSpPr txBox="1">
            <a:spLocks noGrp="1"/>
          </p:cNvSpPr>
          <p:nvPr>
            <p:ph type="sldNum" idx="12"/>
          </p:nvPr>
        </p:nvSpPr>
        <p:spPr>
          <a:xfrm>
            <a:off x="601687" y="304062"/>
            <a:ext cx="301908" cy="28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Рисунок с подписью">
  <p:cSld name="1_Рисунок с подписью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0" descr="Рисунок 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856487" y="124476"/>
            <a:ext cx="1574790" cy="687183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0"/>
          <p:cNvSpPr/>
          <p:nvPr/>
        </p:nvSpPr>
        <p:spPr>
          <a:xfrm>
            <a:off x="-3244" y="288565"/>
            <a:ext cx="894269" cy="3198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0"/>
          <p:cNvSpPr txBox="1"/>
          <p:nvPr/>
        </p:nvSpPr>
        <p:spPr>
          <a:xfrm>
            <a:off x="600118" y="6407915"/>
            <a:ext cx="524201" cy="28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2023</a:t>
            </a:r>
            <a:endParaRPr/>
          </a:p>
        </p:txBody>
      </p:sp>
      <p:cxnSp>
        <p:nvCxnSpPr>
          <p:cNvPr id="77" name="Google Shape;77;p10"/>
          <p:cNvCxnSpPr/>
          <p:nvPr/>
        </p:nvCxnSpPr>
        <p:spPr>
          <a:xfrm>
            <a:off x="1258528" y="6571636"/>
            <a:ext cx="2303435" cy="1"/>
          </a:xfrm>
          <a:prstGeom prst="straightConnector1">
            <a:avLst/>
          </a:prstGeom>
          <a:noFill/>
          <a:ln w="19050" cap="flat" cmpd="sng">
            <a:solidFill>
              <a:srgbClr val="80808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78" name="Google Shape;78;p10"/>
          <p:cNvSpPr txBox="1">
            <a:spLocks noGrp="1"/>
          </p:cNvSpPr>
          <p:nvPr>
            <p:ph type="title"/>
          </p:nvPr>
        </p:nvSpPr>
        <p:spPr>
          <a:xfrm>
            <a:off x="900000" y="863999"/>
            <a:ext cx="9627700" cy="7405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0"/>
          <p:cNvSpPr>
            <a:spLocks noGrp="1"/>
          </p:cNvSpPr>
          <p:nvPr>
            <p:ph type="pic" idx="2"/>
          </p:nvPr>
        </p:nvSpPr>
        <p:spPr>
          <a:xfrm>
            <a:off x="4340995" y="1674796"/>
            <a:ext cx="3638349" cy="4254366"/>
          </a:xfrm>
          <a:prstGeom prst="rect">
            <a:avLst/>
          </a:prstGeom>
          <a:noFill/>
          <a:ln>
            <a:noFill/>
          </a:ln>
        </p:spPr>
      </p:sp>
      <p:sp>
        <p:nvSpPr>
          <p:cNvPr id="80" name="Google Shape;80;p10"/>
          <p:cNvSpPr txBox="1">
            <a:spLocks noGrp="1"/>
          </p:cNvSpPr>
          <p:nvPr>
            <p:ph type="body" idx="1"/>
          </p:nvPr>
        </p:nvSpPr>
        <p:spPr>
          <a:xfrm>
            <a:off x="900112" y="1625000"/>
            <a:ext cx="2916080" cy="4304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/>
            </a:lvl1pPr>
            <a:lvl2pPr marL="914400" lvl="1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/>
            </a:lvl2pPr>
            <a:lvl3pPr marL="1371600" lvl="2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/>
            </a:lvl3pPr>
            <a:lvl4pPr marL="1828800" lvl="3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/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/>
            </a:lvl5pPr>
            <a:lvl6pPr marL="2743200" lvl="5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0"/>
          <p:cNvSpPr txBox="1">
            <a:spLocks noGrp="1"/>
          </p:cNvSpPr>
          <p:nvPr>
            <p:ph type="sldNum" idx="12"/>
          </p:nvPr>
        </p:nvSpPr>
        <p:spPr>
          <a:xfrm>
            <a:off x="601687" y="304062"/>
            <a:ext cx="301908" cy="28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2" name="Google Shape;82;p10"/>
          <p:cNvSpPr>
            <a:spLocks noGrp="1"/>
          </p:cNvSpPr>
          <p:nvPr>
            <p:ph type="pic" idx="3"/>
          </p:nvPr>
        </p:nvSpPr>
        <p:spPr>
          <a:xfrm>
            <a:off x="8383605" y="1674796"/>
            <a:ext cx="3638349" cy="4254366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2_Рисунок с подписью">
  <p:cSld name="2_Рисунок с подписью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1" descr="Рисунок 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856487" y="124476"/>
            <a:ext cx="1574790" cy="687183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1"/>
          <p:cNvSpPr/>
          <p:nvPr/>
        </p:nvSpPr>
        <p:spPr>
          <a:xfrm>
            <a:off x="-3244" y="288565"/>
            <a:ext cx="894269" cy="3198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1"/>
          <p:cNvSpPr txBox="1"/>
          <p:nvPr/>
        </p:nvSpPr>
        <p:spPr>
          <a:xfrm>
            <a:off x="600118" y="6407915"/>
            <a:ext cx="524201" cy="28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2023</a:t>
            </a:r>
            <a:endParaRPr/>
          </a:p>
        </p:txBody>
      </p:sp>
      <p:cxnSp>
        <p:nvCxnSpPr>
          <p:cNvPr id="87" name="Google Shape;87;p11"/>
          <p:cNvCxnSpPr/>
          <p:nvPr/>
        </p:nvCxnSpPr>
        <p:spPr>
          <a:xfrm>
            <a:off x="1258528" y="6571636"/>
            <a:ext cx="2303435" cy="1"/>
          </a:xfrm>
          <a:prstGeom prst="straightConnector1">
            <a:avLst/>
          </a:prstGeom>
          <a:noFill/>
          <a:ln w="19050" cap="flat" cmpd="sng">
            <a:solidFill>
              <a:srgbClr val="80808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88" name="Google Shape;88;p11"/>
          <p:cNvSpPr txBox="1">
            <a:spLocks noGrp="1"/>
          </p:cNvSpPr>
          <p:nvPr>
            <p:ph type="title"/>
          </p:nvPr>
        </p:nvSpPr>
        <p:spPr>
          <a:xfrm>
            <a:off x="892712" y="900000"/>
            <a:ext cx="9627701" cy="7405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1"/>
          <p:cNvSpPr>
            <a:spLocks noGrp="1"/>
          </p:cNvSpPr>
          <p:nvPr>
            <p:ph type="pic" idx="2"/>
          </p:nvPr>
        </p:nvSpPr>
        <p:spPr>
          <a:xfrm>
            <a:off x="4340995" y="1674796"/>
            <a:ext cx="2321063" cy="4254366"/>
          </a:xfrm>
          <a:prstGeom prst="rect">
            <a:avLst/>
          </a:prstGeom>
          <a:noFill/>
          <a:ln>
            <a:noFill/>
          </a:ln>
        </p:spPr>
      </p:sp>
      <p:sp>
        <p:nvSpPr>
          <p:cNvPr id="90" name="Google Shape;90;p11"/>
          <p:cNvSpPr txBox="1">
            <a:spLocks noGrp="1"/>
          </p:cNvSpPr>
          <p:nvPr>
            <p:ph type="body" idx="1"/>
          </p:nvPr>
        </p:nvSpPr>
        <p:spPr>
          <a:xfrm>
            <a:off x="900112" y="1625000"/>
            <a:ext cx="2916080" cy="4304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/>
            </a:lvl1pPr>
            <a:lvl2pPr marL="914400" lvl="1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/>
            </a:lvl2pPr>
            <a:lvl3pPr marL="1371600" lvl="2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/>
            </a:lvl3pPr>
            <a:lvl4pPr marL="1828800" lvl="3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/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/>
            </a:lvl5pPr>
            <a:lvl6pPr marL="2743200" lvl="5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1"/>
          <p:cNvSpPr txBox="1">
            <a:spLocks noGrp="1"/>
          </p:cNvSpPr>
          <p:nvPr>
            <p:ph type="sldNum" idx="12"/>
          </p:nvPr>
        </p:nvSpPr>
        <p:spPr>
          <a:xfrm>
            <a:off x="601687" y="304062"/>
            <a:ext cx="301908" cy="28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2" name="Google Shape;92;p11"/>
          <p:cNvSpPr>
            <a:spLocks noGrp="1"/>
          </p:cNvSpPr>
          <p:nvPr>
            <p:ph type="pic" idx="3"/>
          </p:nvPr>
        </p:nvSpPr>
        <p:spPr>
          <a:xfrm>
            <a:off x="7019108" y="1674796"/>
            <a:ext cx="2321063" cy="4254366"/>
          </a:xfrm>
          <a:prstGeom prst="rect">
            <a:avLst/>
          </a:prstGeom>
          <a:noFill/>
          <a:ln>
            <a:noFill/>
          </a:ln>
        </p:spPr>
      </p:sp>
      <p:sp>
        <p:nvSpPr>
          <p:cNvPr id="93" name="Google Shape;93;p11"/>
          <p:cNvSpPr>
            <a:spLocks noGrp="1"/>
          </p:cNvSpPr>
          <p:nvPr>
            <p:ph type="pic" idx="4"/>
          </p:nvPr>
        </p:nvSpPr>
        <p:spPr>
          <a:xfrm>
            <a:off x="9701348" y="1674796"/>
            <a:ext cx="2321063" cy="4254366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3_Рисунок с подписью">
  <p:cSld name="3_Рисунок с подписью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2" descr="Рисунок 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856487" y="124476"/>
            <a:ext cx="1574790" cy="687183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2"/>
          <p:cNvSpPr/>
          <p:nvPr/>
        </p:nvSpPr>
        <p:spPr>
          <a:xfrm>
            <a:off x="-3244" y="288565"/>
            <a:ext cx="894269" cy="3198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600118" y="6407915"/>
            <a:ext cx="524201" cy="28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2023</a:t>
            </a:r>
            <a:endParaRPr/>
          </a:p>
        </p:txBody>
      </p:sp>
      <p:cxnSp>
        <p:nvCxnSpPr>
          <p:cNvPr id="98" name="Google Shape;98;p12"/>
          <p:cNvCxnSpPr/>
          <p:nvPr/>
        </p:nvCxnSpPr>
        <p:spPr>
          <a:xfrm>
            <a:off x="1258528" y="6571636"/>
            <a:ext cx="2303435" cy="1"/>
          </a:xfrm>
          <a:prstGeom prst="straightConnector1">
            <a:avLst/>
          </a:prstGeom>
          <a:noFill/>
          <a:ln w="19050" cap="flat" cmpd="sng">
            <a:solidFill>
              <a:srgbClr val="80808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99" name="Google Shape;99;p12"/>
          <p:cNvSpPr txBox="1">
            <a:spLocks noGrp="1"/>
          </p:cNvSpPr>
          <p:nvPr>
            <p:ph type="title"/>
          </p:nvPr>
        </p:nvSpPr>
        <p:spPr>
          <a:xfrm>
            <a:off x="892712" y="900000"/>
            <a:ext cx="9627701" cy="7405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12"/>
          <p:cNvSpPr>
            <a:spLocks noGrp="1"/>
          </p:cNvSpPr>
          <p:nvPr>
            <p:ph type="pic" idx="2"/>
          </p:nvPr>
        </p:nvSpPr>
        <p:spPr>
          <a:xfrm>
            <a:off x="4340995" y="1674796"/>
            <a:ext cx="2321063" cy="1956679"/>
          </a:xfrm>
          <a:prstGeom prst="rect">
            <a:avLst/>
          </a:prstGeom>
          <a:noFill/>
          <a:ln>
            <a:noFill/>
          </a:ln>
        </p:spPr>
      </p:sp>
      <p:sp>
        <p:nvSpPr>
          <p:cNvPr id="101" name="Google Shape;101;p12"/>
          <p:cNvSpPr txBox="1">
            <a:spLocks noGrp="1"/>
          </p:cNvSpPr>
          <p:nvPr>
            <p:ph type="body" idx="1"/>
          </p:nvPr>
        </p:nvSpPr>
        <p:spPr>
          <a:xfrm>
            <a:off x="900112" y="1625000"/>
            <a:ext cx="2916080" cy="4304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/>
            </a:lvl1pPr>
            <a:lvl2pPr marL="914400" lvl="1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/>
            </a:lvl2pPr>
            <a:lvl3pPr marL="1371600" lvl="2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/>
            </a:lvl3pPr>
            <a:lvl4pPr marL="1828800" lvl="3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/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/>
            </a:lvl5pPr>
            <a:lvl6pPr marL="2743200" lvl="5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2" name="Google Shape;102;p12"/>
          <p:cNvSpPr txBox="1">
            <a:spLocks noGrp="1"/>
          </p:cNvSpPr>
          <p:nvPr>
            <p:ph type="sldNum" idx="12"/>
          </p:nvPr>
        </p:nvSpPr>
        <p:spPr>
          <a:xfrm>
            <a:off x="601687" y="304062"/>
            <a:ext cx="301908" cy="28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3" name="Google Shape;103;p12"/>
          <p:cNvSpPr>
            <a:spLocks noGrp="1"/>
          </p:cNvSpPr>
          <p:nvPr>
            <p:ph type="pic" idx="3"/>
          </p:nvPr>
        </p:nvSpPr>
        <p:spPr>
          <a:xfrm>
            <a:off x="7019108" y="1674796"/>
            <a:ext cx="2321063" cy="1956679"/>
          </a:xfrm>
          <a:prstGeom prst="rect">
            <a:avLst/>
          </a:prstGeom>
          <a:noFill/>
          <a:ln>
            <a:noFill/>
          </a:ln>
        </p:spPr>
      </p:sp>
      <p:sp>
        <p:nvSpPr>
          <p:cNvPr id="104" name="Google Shape;104;p12"/>
          <p:cNvSpPr>
            <a:spLocks noGrp="1"/>
          </p:cNvSpPr>
          <p:nvPr>
            <p:ph type="pic" idx="4"/>
          </p:nvPr>
        </p:nvSpPr>
        <p:spPr>
          <a:xfrm>
            <a:off x="9701348" y="1674796"/>
            <a:ext cx="2321063" cy="1956679"/>
          </a:xfrm>
          <a:prstGeom prst="rect">
            <a:avLst/>
          </a:prstGeom>
          <a:noFill/>
          <a:ln>
            <a:noFill/>
          </a:ln>
        </p:spPr>
      </p:sp>
      <p:sp>
        <p:nvSpPr>
          <p:cNvPr id="105" name="Google Shape;105;p12"/>
          <p:cNvSpPr>
            <a:spLocks noGrp="1"/>
          </p:cNvSpPr>
          <p:nvPr>
            <p:ph type="pic" idx="5"/>
          </p:nvPr>
        </p:nvSpPr>
        <p:spPr>
          <a:xfrm>
            <a:off x="4340995" y="4130612"/>
            <a:ext cx="2321063" cy="1956680"/>
          </a:xfrm>
          <a:prstGeom prst="rect">
            <a:avLst/>
          </a:prstGeom>
          <a:noFill/>
          <a:ln>
            <a:noFill/>
          </a:ln>
        </p:spPr>
      </p:sp>
      <p:sp>
        <p:nvSpPr>
          <p:cNvPr id="106" name="Google Shape;106;p12"/>
          <p:cNvSpPr>
            <a:spLocks noGrp="1"/>
          </p:cNvSpPr>
          <p:nvPr>
            <p:ph type="pic" idx="6"/>
          </p:nvPr>
        </p:nvSpPr>
        <p:spPr>
          <a:xfrm>
            <a:off x="7019108" y="4130612"/>
            <a:ext cx="2321063" cy="1956680"/>
          </a:xfrm>
          <a:prstGeom prst="rect">
            <a:avLst/>
          </a:prstGeom>
          <a:noFill/>
          <a:ln>
            <a:noFill/>
          </a:ln>
        </p:spPr>
      </p:sp>
      <p:sp>
        <p:nvSpPr>
          <p:cNvPr id="107" name="Google Shape;107;p12"/>
          <p:cNvSpPr>
            <a:spLocks noGrp="1"/>
          </p:cNvSpPr>
          <p:nvPr>
            <p:ph type="pic" idx="7"/>
          </p:nvPr>
        </p:nvSpPr>
        <p:spPr>
          <a:xfrm>
            <a:off x="9701348" y="4130612"/>
            <a:ext cx="2321063" cy="195668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Заголовок раздела">
  <p:cSld name="Заголовок раздела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3" descr="Рисунок 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856487" y="124476"/>
            <a:ext cx="1574790" cy="687183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-3244" y="288565"/>
            <a:ext cx="894269" cy="3198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3"/>
          <p:cNvSpPr txBox="1"/>
          <p:nvPr/>
        </p:nvSpPr>
        <p:spPr>
          <a:xfrm>
            <a:off x="600118" y="6407915"/>
            <a:ext cx="524201" cy="28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2023</a:t>
            </a:r>
            <a:endParaRPr/>
          </a:p>
        </p:txBody>
      </p:sp>
      <p:cxnSp>
        <p:nvCxnSpPr>
          <p:cNvPr id="112" name="Google Shape;112;p13"/>
          <p:cNvCxnSpPr/>
          <p:nvPr/>
        </p:nvCxnSpPr>
        <p:spPr>
          <a:xfrm>
            <a:off x="1258528" y="6571636"/>
            <a:ext cx="2303435" cy="1"/>
          </a:xfrm>
          <a:prstGeom prst="straightConnector1">
            <a:avLst/>
          </a:prstGeom>
          <a:noFill/>
          <a:ln w="19050" cap="flat" cmpd="sng">
            <a:solidFill>
              <a:srgbClr val="80808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13" name="Google Shape;113;p13"/>
          <p:cNvSpPr txBox="1">
            <a:spLocks noGrp="1"/>
          </p:cNvSpPr>
          <p:nvPr>
            <p:ph type="title"/>
          </p:nvPr>
        </p:nvSpPr>
        <p:spPr>
          <a:xfrm>
            <a:off x="884274" y="1705385"/>
            <a:ext cx="11178303" cy="28454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00"/>
              <a:buFont typeface="Arial"/>
              <a:buNone/>
              <a:defRPr sz="59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13"/>
          <p:cNvSpPr txBox="1">
            <a:spLocks noGrp="1"/>
          </p:cNvSpPr>
          <p:nvPr>
            <p:ph type="body" idx="1"/>
          </p:nvPr>
        </p:nvSpPr>
        <p:spPr>
          <a:xfrm>
            <a:off x="884274" y="4577777"/>
            <a:ext cx="11178303" cy="1496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888888"/>
              </a:buClr>
              <a:buSzPts val="2300"/>
              <a:buFont typeface="Arial"/>
              <a:buNone/>
              <a:defRPr sz="23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888888"/>
              </a:buClr>
              <a:buSzPts val="2300"/>
              <a:buFont typeface="Arial"/>
              <a:buNone/>
              <a:defRPr sz="23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888888"/>
              </a:buClr>
              <a:buSzPts val="2300"/>
              <a:buFont typeface="Arial"/>
              <a:buNone/>
              <a:defRPr sz="23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888888"/>
              </a:buClr>
              <a:buSzPts val="2300"/>
              <a:buFont typeface="Arial"/>
              <a:buNone/>
              <a:defRPr sz="23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888888"/>
              </a:buClr>
              <a:buSzPts val="2300"/>
              <a:buFont typeface="Arial"/>
              <a:buNone/>
              <a:defRPr sz="2300">
                <a:solidFill>
                  <a:srgbClr val="888888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5" name="Google Shape;115;p13"/>
          <p:cNvSpPr txBox="1">
            <a:spLocks noGrp="1"/>
          </p:cNvSpPr>
          <p:nvPr>
            <p:ph type="sldNum" idx="12"/>
          </p:nvPr>
        </p:nvSpPr>
        <p:spPr>
          <a:xfrm>
            <a:off x="601687" y="304062"/>
            <a:ext cx="301908" cy="28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Только заголовок">
  <p:cSld name="Только заголовок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14" descr="Рисунок 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856487" y="124476"/>
            <a:ext cx="1574790" cy="687183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4"/>
          <p:cNvSpPr/>
          <p:nvPr/>
        </p:nvSpPr>
        <p:spPr>
          <a:xfrm>
            <a:off x="-3244" y="288565"/>
            <a:ext cx="894269" cy="3198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4"/>
          <p:cNvSpPr txBox="1"/>
          <p:nvPr/>
        </p:nvSpPr>
        <p:spPr>
          <a:xfrm>
            <a:off x="600118" y="6407915"/>
            <a:ext cx="524201" cy="28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2023</a:t>
            </a:r>
            <a:endParaRPr/>
          </a:p>
        </p:txBody>
      </p:sp>
      <p:cxnSp>
        <p:nvCxnSpPr>
          <p:cNvPr id="120" name="Google Shape;120;p14"/>
          <p:cNvCxnSpPr/>
          <p:nvPr/>
        </p:nvCxnSpPr>
        <p:spPr>
          <a:xfrm>
            <a:off x="1258528" y="6571636"/>
            <a:ext cx="2303435" cy="1"/>
          </a:xfrm>
          <a:prstGeom prst="straightConnector1">
            <a:avLst/>
          </a:prstGeom>
          <a:noFill/>
          <a:ln w="19050" cap="flat" cmpd="sng">
            <a:solidFill>
              <a:srgbClr val="808080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21" name="Google Shape;121;p14"/>
          <p:cNvSpPr txBox="1">
            <a:spLocks noGrp="1"/>
          </p:cNvSpPr>
          <p:nvPr>
            <p:ph type="title"/>
          </p:nvPr>
        </p:nvSpPr>
        <p:spPr>
          <a:xfrm>
            <a:off x="891024" y="900000"/>
            <a:ext cx="9576680" cy="714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14"/>
          <p:cNvSpPr txBox="1">
            <a:spLocks noGrp="1"/>
          </p:cNvSpPr>
          <p:nvPr>
            <p:ph type="sldNum" idx="12"/>
          </p:nvPr>
        </p:nvSpPr>
        <p:spPr>
          <a:xfrm>
            <a:off x="601687" y="304062"/>
            <a:ext cx="301908" cy="28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7_Титульный слайд">
  <p:cSld name="7_Титульный слайд">
    <p:bg>
      <p:bgPr>
        <a:solidFill>
          <a:srgbClr val="808080"/>
        </a:solidFill>
        <a:effectLst/>
      </p:bgPr>
    </p:bg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5"/>
          <p:cNvSpPr txBox="1">
            <a:spLocks noGrp="1"/>
          </p:cNvSpPr>
          <p:nvPr>
            <p:ph type="title"/>
          </p:nvPr>
        </p:nvSpPr>
        <p:spPr>
          <a:xfrm>
            <a:off x="916863" y="1616636"/>
            <a:ext cx="10423444" cy="2200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900"/>
              <a:buFont typeface="Times New Roman"/>
              <a:buNone/>
              <a:defRPr sz="69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15"/>
          <p:cNvSpPr txBox="1">
            <a:spLocks noGrp="1"/>
          </p:cNvSpPr>
          <p:nvPr>
            <p:ph type="body" idx="1"/>
          </p:nvPr>
        </p:nvSpPr>
        <p:spPr>
          <a:xfrm>
            <a:off x="916863" y="3971149"/>
            <a:ext cx="10423444" cy="8196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Arial"/>
              <a:buNone/>
              <a:defRPr sz="230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Arial"/>
              <a:buNone/>
              <a:defRPr sz="2300">
                <a:solidFill>
                  <a:srgbClr val="FFFFFF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Arial"/>
              <a:buNone/>
              <a:defRPr sz="2300">
                <a:solidFill>
                  <a:srgbClr val="FFFFFF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Arial"/>
              <a:buNone/>
              <a:defRPr sz="2300">
                <a:solidFill>
                  <a:srgbClr val="FFFFFF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Arial"/>
              <a:buNone/>
              <a:defRPr sz="2300">
                <a:solidFill>
                  <a:srgbClr val="FFFFFF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26" name="Google Shape;126;p15" descr="Рисунок 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770519" y="0"/>
            <a:ext cx="4189831" cy="68405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5" descr="Рисунок 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3759" y="329337"/>
            <a:ext cx="1862897" cy="819676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5"/>
          <p:cNvSpPr txBox="1"/>
          <p:nvPr/>
        </p:nvSpPr>
        <p:spPr>
          <a:xfrm rot="-5400000">
            <a:off x="11737005" y="954870"/>
            <a:ext cx="690615" cy="259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2023</a:t>
            </a:r>
            <a:endParaRPr/>
          </a:p>
        </p:txBody>
      </p:sp>
      <p:cxnSp>
        <p:nvCxnSpPr>
          <p:cNvPr id="129" name="Google Shape;129;p15"/>
          <p:cNvCxnSpPr/>
          <p:nvPr/>
        </p:nvCxnSpPr>
        <p:spPr>
          <a:xfrm>
            <a:off x="12128268" y="1404850"/>
            <a:ext cx="1" cy="2302626"/>
          </a:xfrm>
          <a:prstGeom prst="straightConnector1">
            <a:avLst/>
          </a:prstGeom>
          <a:noFill/>
          <a:ln w="25400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30" name="Google Shape;130;p15"/>
          <p:cNvSpPr txBox="1"/>
          <p:nvPr/>
        </p:nvSpPr>
        <p:spPr>
          <a:xfrm rot="-5400000">
            <a:off x="11531872" y="5633390"/>
            <a:ext cx="1097103" cy="2219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РАНХиГС</a:t>
            </a:r>
            <a:endParaRPr/>
          </a:p>
        </p:txBody>
      </p:sp>
      <p:sp>
        <p:nvSpPr>
          <p:cNvPr id="131" name="Google Shape;131;p15"/>
          <p:cNvSpPr txBox="1">
            <a:spLocks noGrp="1"/>
          </p:cNvSpPr>
          <p:nvPr>
            <p:ph type="sldNum" idx="12"/>
          </p:nvPr>
        </p:nvSpPr>
        <p:spPr>
          <a:xfrm>
            <a:off x="6261100" y="6148658"/>
            <a:ext cx="3022600" cy="368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8_Титульный слайд">
  <p:cSld name="8_Титульный слайд">
    <p:bg>
      <p:bgPr>
        <a:solidFill>
          <a:srgbClr val="A6A6A6"/>
        </a:solid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6"/>
          <p:cNvSpPr txBox="1">
            <a:spLocks noGrp="1"/>
          </p:cNvSpPr>
          <p:nvPr>
            <p:ph type="title"/>
          </p:nvPr>
        </p:nvSpPr>
        <p:spPr>
          <a:xfrm>
            <a:off x="916863" y="1616636"/>
            <a:ext cx="10423444" cy="2200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900"/>
              <a:buFont typeface="Times New Roman"/>
              <a:buNone/>
              <a:defRPr sz="69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16"/>
          <p:cNvSpPr txBox="1">
            <a:spLocks noGrp="1"/>
          </p:cNvSpPr>
          <p:nvPr>
            <p:ph type="body" idx="1"/>
          </p:nvPr>
        </p:nvSpPr>
        <p:spPr>
          <a:xfrm>
            <a:off x="916863" y="3971149"/>
            <a:ext cx="10423444" cy="8196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Arial"/>
              <a:buNone/>
              <a:defRPr sz="230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Arial"/>
              <a:buNone/>
              <a:defRPr sz="2300">
                <a:solidFill>
                  <a:srgbClr val="FFFFFF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Arial"/>
              <a:buNone/>
              <a:defRPr sz="2300">
                <a:solidFill>
                  <a:srgbClr val="FFFFFF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Arial"/>
              <a:buNone/>
              <a:defRPr sz="2300">
                <a:solidFill>
                  <a:srgbClr val="FFFFFF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Arial"/>
              <a:buNone/>
              <a:defRPr sz="2300">
                <a:solidFill>
                  <a:srgbClr val="FFFFFF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35" name="Google Shape;135;p16" descr="Рисунок 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770519" y="0"/>
            <a:ext cx="4189831" cy="68405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6" descr="Рисунок 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3759" y="329337"/>
            <a:ext cx="1862897" cy="819676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6"/>
          <p:cNvSpPr txBox="1"/>
          <p:nvPr/>
        </p:nvSpPr>
        <p:spPr>
          <a:xfrm rot="-5400000">
            <a:off x="11737005" y="954870"/>
            <a:ext cx="690615" cy="259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2023</a:t>
            </a:r>
            <a:endParaRPr/>
          </a:p>
        </p:txBody>
      </p:sp>
      <p:cxnSp>
        <p:nvCxnSpPr>
          <p:cNvPr id="138" name="Google Shape;138;p16"/>
          <p:cNvCxnSpPr/>
          <p:nvPr/>
        </p:nvCxnSpPr>
        <p:spPr>
          <a:xfrm>
            <a:off x="12128268" y="1404850"/>
            <a:ext cx="1" cy="2302626"/>
          </a:xfrm>
          <a:prstGeom prst="straightConnector1">
            <a:avLst/>
          </a:prstGeom>
          <a:noFill/>
          <a:ln w="25400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39" name="Google Shape;139;p16"/>
          <p:cNvSpPr txBox="1"/>
          <p:nvPr/>
        </p:nvSpPr>
        <p:spPr>
          <a:xfrm rot="-5400000">
            <a:off x="11531872" y="5633390"/>
            <a:ext cx="1097103" cy="2219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РАНХиГС</a:t>
            </a:r>
            <a:endParaRPr/>
          </a:p>
        </p:txBody>
      </p:sp>
      <p:sp>
        <p:nvSpPr>
          <p:cNvPr id="140" name="Google Shape;140;p16"/>
          <p:cNvSpPr txBox="1">
            <a:spLocks noGrp="1"/>
          </p:cNvSpPr>
          <p:nvPr>
            <p:ph type="sldNum" idx="12"/>
          </p:nvPr>
        </p:nvSpPr>
        <p:spPr>
          <a:xfrm>
            <a:off x="6261100" y="6148658"/>
            <a:ext cx="3022600" cy="368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Пустой">
  <p:cSld name="Пустой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7"/>
          <p:cNvSpPr txBox="1">
            <a:spLocks noGrp="1"/>
          </p:cNvSpPr>
          <p:nvPr>
            <p:ph type="sldNum" idx="12"/>
          </p:nvPr>
        </p:nvSpPr>
        <p:spPr>
          <a:xfrm>
            <a:off x="6385741" y="6528114"/>
            <a:ext cx="176292" cy="1747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300" tIns="25300" rIns="25300" bIns="25300" anchor="b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  <a:defRPr sz="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  <a:defRPr sz="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  <a:defRPr sz="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  <a:defRPr sz="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  <a:defRPr sz="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  <a:defRPr sz="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  <a:defRPr sz="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  <a:defRPr sz="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  <a:defRPr sz="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 descr="Рисунок 9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10856487" y="124476"/>
            <a:ext cx="1574790" cy="687183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/>
          <p:nvPr/>
        </p:nvSpPr>
        <p:spPr>
          <a:xfrm>
            <a:off x="-3244" y="288565"/>
            <a:ext cx="894269" cy="3198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8;p1"/>
          <p:cNvSpPr txBox="1"/>
          <p:nvPr/>
        </p:nvSpPr>
        <p:spPr>
          <a:xfrm>
            <a:off x="600118" y="6407915"/>
            <a:ext cx="524201" cy="28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808080"/>
                </a:solidFill>
                <a:latin typeface="Arial"/>
                <a:ea typeface="Arial"/>
                <a:cs typeface="Arial"/>
                <a:sym typeface="Arial"/>
              </a:rPr>
              <a:t>2023</a:t>
            </a:r>
            <a:endParaRPr/>
          </a:p>
        </p:txBody>
      </p:sp>
      <p:cxnSp>
        <p:nvCxnSpPr>
          <p:cNvPr id="9" name="Google Shape;9;p1"/>
          <p:cNvCxnSpPr/>
          <p:nvPr/>
        </p:nvCxnSpPr>
        <p:spPr>
          <a:xfrm>
            <a:off x="1258528" y="6571636"/>
            <a:ext cx="2303435" cy="1"/>
          </a:xfrm>
          <a:prstGeom prst="straightConnector1">
            <a:avLst/>
          </a:prstGeom>
          <a:noFill/>
          <a:ln w="19050" cap="flat" cmpd="sng">
            <a:solidFill>
              <a:srgbClr val="808080"/>
            </a:solidFill>
            <a:prstDash val="solid"/>
            <a:miter lim="8000"/>
            <a:headEnd type="none" w="sm" len="sm"/>
            <a:tailEnd type="none" w="sm" len="sm"/>
          </a:ln>
        </p:spPr>
      </p:cxnSp>
      <p:pic>
        <p:nvPicPr>
          <p:cNvPr id="10" name="Google Shape;10;p1" descr="Рисунок 7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11902203" y="0"/>
            <a:ext cx="1058147" cy="6840539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"/>
          <p:cNvSpPr txBox="1">
            <a:spLocks noGrp="1"/>
          </p:cNvSpPr>
          <p:nvPr>
            <p:ph type="sldNum" idx="12"/>
          </p:nvPr>
        </p:nvSpPr>
        <p:spPr>
          <a:xfrm>
            <a:off x="601687" y="304062"/>
            <a:ext cx="301908" cy="288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title"/>
          </p:nvPr>
        </p:nvSpPr>
        <p:spPr>
          <a:xfrm>
            <a:off x="647700" y="273620"/>
            <a:ext cx="11658600" cy="13206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  <a:defRPr sz="3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body" idx="1"/>
          </p:nvPr>
        </p:nvSpPr>
        <p:spPr>
          <a:xfrm>
            <a:off x="647700" y="1594273"/>
            <a:ext cx="11658600" cy="52383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bpmn.io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elcode.ru/service/news/populyarnie-voprosy-otvety/kompaniya-poluchila-trebovaniya-na-uplatu-strahovy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5"/>
          <p:cNvSpPr txBox="1">
            <a:spLocks noGrp="1"/>
          </p:cNvSpPr>
          <p:nvPr>
            <p:ph type="title"/>
          </p:nvPr>
        </p:nvSpPr>
        <p:spPr>
          <a:xfrm>
            <a:off x="1393900" y="608225"/>
            <a:ext cx="10577400" cy="302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r>
              <a:rPr lang="ru-RU" dirty="0"/>
              <a:t>Лабораторная работа №2</a:t>
            </a:r>
            <a:endParaRPr lang="en-US" dirty="0"/>
          </a:p>
        </p:txBody>
      </p:sp>
      <p:sp>
        <p:nvSpPr>
          <p:cNvPr id="286" name="Google Shape;286;p35"/>
          <p:cNvSpPr txBox="1">
            <a:spLocks noGrp="1"/>
          </p:cNvSpPr>
          <p:nvPr>
            <p:ph type="body" idx="1"/>
          </p:nvPr>
        </p:nvSpPr>
        <p:spPr>
          <a:xfrm>
            <a:off x="8990091" y="5078387"/>
            <a:ext cx="2350200" cy="10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Times New Roman"/>
              <a:buNone/>
            </a:pPr>
            <a:r>
              <a:rPr lang="en-US" sz="1400" dirty="0"/>
              <a:t>Выполнил</a:t>
            </a:r>
            <a:r>
              <a:rPr lang="ru-RU" sz="1400" dirty="0"/>
              <a:t>и</a:t>
            </a:r>
            <a:r>
              <a:rPr lang="en-US" sz="1400" dirty="0"/>
              <a:t>: 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Times New Roman"/>
              <a:buNone/>
            </a:pPr>
            <a:r>
              <a:rPr lang="en-US" sz="1400" dirty="0"/>
              <a:t>Лапшов Артем</a:t>
            </a:r>
            <a:r>
              <a:rPr lang="ru-RU" sz="1400" dirty="0"/>
              <a:t>, 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Times New Roman"/>
              <a:buNone/>
            </a:pPr>
            <a:r>
              <a:rPr lang="ru-RU" sz="1400" dirty="0"/>
              <a:t>Павликов Максим</a:t>
            </a:r>
            <a:endParaRPr sz="1400" dirty="0"/>
          </a:p>
        </p:txBody>
      </p:sp>
      <p:sp>
        <p:nvSpPr>
          <p:cNvPr id="287" name="Google Shape;287;p35"/>
          <p:cNvSpPr txBox="1"/>
          <p:nvPr/>
        </p:nvSpPr>
        <p:spPr>
          <a:xfrm>
            <a:off x="913800" y="6125934"/>
            <a:ext cx="2146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lang="en-US" sz="1400" b="0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Нижний</a:t>
            </a:r>
            <a:r>
              <a:rPr lang="en-US" sz="1400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b="0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Новгород</a:t>
            </a:r>
            <a:r>
              <a:rPr lang="en-US" sz="1400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, 202</a:t>
            </a:r>
            <a:r>
              <a:rPr lang="ru-RU" sz="1400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289" name="Google Shape;289;p35"/>
          <p:cNvSpPr/>
          <p:nvPr/>
        </p:nvSpPr>
        <p:spPr>
          <a:xfrm rot="-5400000">
            <a:off x="11819050" y="760475"/>
            <a:ext cx="719100" cy="4146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US" sz="1800" dirty="0">
                <a:solidFill>
                  <a:schemeClr val="lt1"/>
                </a:solidFill>
              </a:rPr>
              <a:t>202</a:t>
            </a:r>
            <a:r>
              <a:rPr lang="ru-RU" sz="1800" dirty="0">
                <a:solidFill>
                  <a:schemeClr val="lt1"/>
                </a:solidFill>
              </a:rPr>
              <a:t>6</a:t>
            </a:r>
            <a:endParaRPr sz="1800" dirty="0"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1" dirty="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7"/>
          <p:cNvSpPr/>
          <p:nvPr/>
        </p:nvSpPr>
        <p:spPr>
          <a:xfrm>
            <a:off x="584425" y="6387200"/>
            <a:ext cx="582000" cy="309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2"/>
                </a:solidFill>
              </a:rPr>
              <a:t>202</a:t>
            </a:r>
            <a:r>
              <a:rPr lang="ru-RU" dirty="0">
                <a:solidFill>
                  <a:schemeClr val="lt2"/>
                </a:solidFill>
              </a:rPr>
              <a:t>6</a:t>
            </a:r>
            <a:endParaRPr dirty="0">
              <a:solidFill>
                <a:schemeClr val="lt2"/>
              </a:solidFill>
            </a:endParaRPr>
          </a:p>
        </p:txBody>
      </p:sp>
      <p:sp>
        <p:nvSpPr>
          <p:cNvPr id="303" name="Google Shape;303;p37"/>
          <p:cNvSpPr txBox="1">
            <a:spLocks noGrp="1"/>
          </p:cNvSpPr>
          <p:nvPr>
            <p:ph type="title"/>
          </p:nvPr>
        </p:nvSpPr>
        <p:spPr>
          <a:xfrm>
            <a:off x="869350" y="385700"/>
            <a:ext cx="9627600" cy="74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algn="ctr"/>
            <a:r>
              <a:rPr lang="ru-RU" sz="3200" dirty="0"/>
              <a:t>Цель работы</a:t>
            </a:r>
            <a:endParaRPr lang="ru-RU" dirty="0"/>
          </a:p>
        </p:txBody>
      </p:sp>
      <p:sp>
        <p:nvSpPr>
          <p:cNvPr id="304" name="Google Shape;304;p37"/>
          <p:cNvSpPr txBox="1"/>
          <p:nvPr/>
        </p:nvSpPr>
        <p:spPr>
          <a:xfrm>
            <a:off x="584425" y="1713968"/>
            <a:ext cx="11563663" cy="23390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ru-RU" sz="2800" dirty="0"/>
              <a:t>Получение практических навыков реквизитного анализа первичных экономических документов, изучение стандарта описания бизнес-процессов BPMN 2.0 и проектирование структуры базы данных (концептуальной, логической, физической) для хранения информации документа.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6"/>
          <p:cNvSpPr/>
          <p:nvPr/>
        </p:nvSpPr>
        <p:spPr>
          <a:xfrm>
            <a:off x="584425" y="6387200"/>
            <a:ext cx="814800" cy="333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2"/>
                </a:solidFill>
              </a:rPr>
              <a:t>202</a:t>
            </a:r>
            <a:r>
              <a:rPr lang="ru-RU" dirty="0">
                <a:solidFill>
                  <a:schemeClr val="lt2"/>
                </a:solidFill>
              </a:rPr>
              <a:t>6</a:t>
            </a:r>
            <a:endParaRPr dirty="0">
              <a:solidFill>
                <a:schemeClr val="lt2"/>
              </a:solidFill>
            </a:endParaRPr>
          </a:p>
        </p:txBody>
      </p:sp>
      <p:sp>
        <p:nvSpPr>
          <p:cNvPr id="295" name="Google Shape;295;p36"/>
          <p:cNvSpPr txBox="1">
            <a:spLocks noGrp="1"/>
          </p:cNvSpPr>
          <p:nvPr>
            <p:ph type="title"/>
          </p:nvPr>
        </p:nvSpPr>
        <p:spPr>
          <a:xfrm>
            <a:off x="947225" y="442250"/>
            <a:ext cx="9627600" cy="74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algn="ctr"/>
            <a:r>
              <a:rPr lang="ru-RU" dirty="0">
                <a:highlight>
                  <a:srgbClr val="FFFFFF"/>
                </a:highlight>
              </a:rPr>
              <a:t>Используемое ПО</a:t>
            </a:r>
          </a:p>
        </p:txBody>
      </p:sp>
      <p:sp>
        <p:nvSpPr>
          <p:cNvPr id="296" name="Google Shape;296;p36"/>
          <p:cNvSpPr txBox="1">
            <a:spLocks noGrp="1"/>
          </p:cNvSpPr>
          <p:nvPr>
            <p:ph type="body" idx="1"/>
          </p:nvPr>
        </p:nvSpPr>
        <p:spPr>
          <a:xfrm>
            <a:off x="258299" y="1706661"/>
            <a:ext cx="11369271" cy="2386368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ru-RU" sz="1800" b="1" dirty="0"/>
              <a:t>Браузер:</a:t>
            </a:r>
            <a:r>
              <a:rPr lang="ru-RU" sz="1800" dirty="0"/>
              <a:t> Google </a:t>
            </a:r>
            <a:r>
              <a:rPr lang="ru-RU" sz="1800" dirty="0" err="1"/>
              <a:t>Chrome</a:t>
            </a:r>
            <a:r>
              <a:rPr lang="ru-RU" sz="1800" dirty="0"/>
              <a:t> / Yandex (для поиска документа и описаний).</a:t>
            </a:r>
          </a:p>
          <a:p>
            <a:r>
              <a:rPr lang="ru-RU" sz="1800" b="1" dirty="0"/>
              <a:t>Текстовый редактор:</a:t>
            </a:r>
            <a:r>
              <a:rPr lang="ru-RU" sz="1800" dirty="0"/>
              <a:t> Microsoft Word / Google </a:t>
            </a:r>
            <a:r>
              <a:rPr lang="ru-RU" sz="1800" dirty="0" err="1"/>
              <a:t>Docs</a:t>
            </a:r>
            <a:r>
              <a:rPr lang="ru-RU" sz="1800" dirty="0"/>
              <a:t> (для оформления отчета).</a:t>
            </a:r>
          </a:p>
          <a:p>
            <a:r>
              <a:rPr lang="ru-RU" sz="1800" b="1" dirty="0"/>
              <a:t>Инструмент BPMN-моделирования:</a:t>
            </a:r>
            <a:r>
              <a:rPr lang="ru-RU" sz="1800" dirty="0"/>
              <a:t> </a:t>
            </a:r>
            <a:r>
              <a:rPr lang="ru-RU" sz="1800" i="1" dirty="0"/>
              <a:t>Выбор одного из вариантов</a:t>
            </a:r>
            <a:r>
              <a:rPr lang="ru-RU" sz="1800" dirty="0"/>
              <a:t>:</a:t>
            </a:r>
          </a:p>
          <a:p>
            <a:pPr lvl="1"/>
            <a:r>
              <a:rPr lang="ru-RU" sz="1800" b="1" dirty="0"/>
              <a:t>Online:</a:t>
            </a:r>
            <a:r>
              <a:rPr lang="ru-RU" sz="1800" dirty="0"/>
              <a:t> </a:t>
            </a:r>
            <a:r>
              <a:rPr lang="ru-RU" sz="1800" dirty="0">
                <a:hlinkClick r:id="rId3"/>
              </a:rPr>
              <a:t>BPMN.io</a:t>
            </a:r>
            <a:r>
              <a:rPr lang="ru-RU" sz="1800" dirty="0"/>
              <a:t> (бесплатный, онлайн, не требует установки) .</a:t>
            </a:r>
          </a:p>
          <a:p>
            <a:pPr lvl="1"/>
            <a:r>
              <a:rPr lang="ru-RU" sz="1800" b="1" dirty="0"/>
              <a:t>Desktop:</a:t>
            </a:r>
            <a:r>
              <a:rPr lang="ru-RU" sz="1800" dirty="0"/>
              <a:t> </a:t>
            </a:r>
            <a:r>
              <a:rPr lang="ru-RU" sz="1800" dirty="0" err="1"/>
              <a:t>Bizagi</a:t>
            </a:r>
            <a:r>
              <a:rPr lang="ru-RU" sz="1800" dirty="0"/>
              <a:t> </a:t>
            </a:r>
            <a:r>
              <a:rPr lang="ru-RU" sz="1800" dirty="0" err="1"/>
              <a:t>Modeler</a:t>
            </a:r>
            <a:r>
              <a:rPr lang="ru-RU" sz="1800" dirty="0"/>
              <a:t> (бесплатный, поддерживает полную спецификацию BPMN 2.0) .</a:t>
            </a:r>
          </a:p>
          <a:p>
            <a:r>
              <a:rPr lang="ru-RU" sz="1800" b="1" dirty="0"/>
              <a:t>СУБД для проектирования</a:t>
            </a:r>
            <a:endParaRPr lang="ru-RU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>
          <a:extLst>
            <a:ext uri="{FF2B5EF4-FFF2-40B4-BE49-F238E27FC236}">
              <a16:creationId xmlns:a16="http://schemas.microsoft.com/office/drawing/2014/main" id="{84067D2A-A198-B65F-C360-2F8BC98D63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6">
            <a:extLst>
              <a:ext uri="{FF2B5EF4-FFF2-40B4-BE49-F238E27FC236}">
                <a16:creationId xmlns:a16="http://schemas.microsoft.com/office/drawing/2014/main" id="{FEF48FA9-FB34-2841-B20D-E46B042748DB}"/>
              </a:ext>
            </a:extLst>
          </p:cNvPr>
          <p:cNvSpPr/>
          <p:nvPr/>
        </p:nvSpPr>
        <p:spPr>
          <a:xfrm>
            <a:off x="584425" y="6387200"/>
            <a:ext cx="814800" cy="333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2"/>
                </a:solidFill>
              </a:rPr>
              <a:t>202</a:t>
            </a:r>
            <a:r>
              <a:rPr lang="ru-RU" dirty="0">
                <a:solidFill>
                  <a:schemeClr val="lt2"/>
                </a:solidFill>
              </a:rPr>
              <a:t>6</a:t>
            </a:r>
            <a:endParaRPr dirty="0">
              <a:solidFill>
                <a:schemeClr val="lt2"/>
              </a:solidFill>
            </a:endParaRPr>
          </a:p>
        </p:txBody>
      </p:sp>
      <p:sp>
        <p:nvSpPr>
          <p:cNvPr id="295" name="Google Shape;295;p36">
            <a:extLst>
              <a:ext uri="{FF2B5EF4-FFF2-40B4-BE49-F238E27FC236}">
                <a16:creationId xmlns:a16="http://schemas.microsoft.com/office/drawing/2014/main" id="{9F918B6B-23A9-F117-754B-C6DD2CB79B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47225" y="442250"/>
            <a:ext cx="9627600" cy="74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/>
          <a:p>
            <a:pPr algn="ctr"/>
            <a:r>
              <a:rPr lang="ru-RU" sz="3200" dirty="0">
                <a:highlight>
                  <a:srgbClr val="FFFFFF"/>
                </a:highlight>
              </a:rPr>
              <a:t>Платежное поручение</a:t>
            </a:r>
            <a:endParaRPr lang="ru-RU" dirty="0">
              <a:highlight>
                <a:srgbClr val="FFFFFF"/>
              </a:highlight>
            </a:endParaRPr>
          </a:p>
        </p:txBody>
      </p:sp>
      <p:sp>
        <p:nvSpPr>
          <p:cNvPr id="296" name="Google Shape;296;p36">
            <a:extLst>
              <a:ext uri="{FF2B5EF4-FFF2-40B4-BE49-F238E27FC236}">
                <a16:creationId xmlns:a16="http://schemas.microsoft.com/office/drawing/2014/main" id="{C957A71A-0777-F0CD-5EC6-F5D5BA1336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33074" y="1416575"/>
            <a:ext cx="6375831" cy="2758133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ru-RU" b="1" dirty="0"/>
              <a:t>Платёжное поручение</a:t>
            </a:r>
            <a:r>
              <a:rPr lang="ru-RU" dirty="0"/>
              <a:t> — это расчётный документ (распоряжение владельца счёта (плательщика) обслуживающему его банку), перевести определённую денежную сумму на счёт получателя, открытый в этом или другом банке.</a:t>
            </a:r>
          </a:p>
          <a:p>
            <a:r>
              <a:rPr lang="ru-RU" dirty="0"/>
              <a:t>Простыми словами: это официальное поручение банку перечислить деньги со счёта компании или человека на другой счёт.</a:t>
            </a:r>
          </a:p>
          <a:p>
            <a:endParaRPr lang="ru-RU" sz="1800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BD461AE-F469-FD3D-4B1E-3532D081F7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5029" y="897971"/>
            <a:ext cx="5575140" cy="5656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8940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8"/>
          <p:cNvSpPr/>
          <p:nvPr/>
        </p:nvSpPr>
        <p:spPr>
          <a:xfrm>
            <a:off x="584425" y="6387200"/>
            <a:ext cx="582000" cy="309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2"/>
                </a:solidFill>
              </a:rPr>
              <a:t>202</a:t>
            </a:r>
            <a:r>
              <a:rPr lang="ru-RU" dirty="0">
                <a:solidFill>
                  <a:schemeClr val="lt2"/>
                </a:solidFill>
              </a:rPr>
              <a:t>6</a:t>
            </a:r>
            <a:endParaRPr dirty="0">
              <a:solidFill>
                <a:schemeClr val="lt2"/>
              </a:solidFill>
            </a:endParaRPr>
          </a:p>
        </p:txBody>
      </p:sp>
      <p:sp>
        <p:nvSpPr>
          <p:cNvPr id="311" name="Google Shape;311;p38"/>
          <p:cNvSpPr txBox="1"/>
          <p:nvPr/>
        </p:nvSpPr>
        <p:spPr>
          <a:xfrm>
            <a:off x="696999" y="1439365"/>
            <a:ext cx="10659101" cy="26776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ru-RU" sz="1800" dirty="0"/>
              <a:t>Для анализа был использован документ «Платежное поручение № 9 от 11.02.2025» (форма 0401060), предназначенный для уплаты страховых взносов в СФР (Социальный фонд России).</a:t>
            </a:r>
          </a:p>
          <a:p>
            <a:endParaRPr lang="ru-RU" sz="1800" dirty="0"/>
          </a:p>
          <a:p>
            <a:r>
              <a:rPr lang="ru-RU" sz="1800" dirty="0"/>
              <a:t>В соответствии с теоретическим материалом, в структуре документа выделены:</a:t>
            </a:r>
          </a:p>
          <a:p>
            <a:r>
              <a:rPr lang="ru-RU" sz="1800" b="1" dirty="0"/>
              <a:t>Общая (заголовочная) часть</a:t>
            </a:r>
            <a:r>
              <a:rPr lang="ru-RU" sz="1800" dirty="0"/>
              <a:t> — реквизиты, характеризующие документ в целом.</a:t>
            </a:r>
          </a:p>
          <a:p>
            <a:r>
              <a:rPr lang="ru-RU" sz="1800" b="1" dirty="0"/>
              <a:t>Предметная (содержательная) часть</a:t>
            </a:r>
            <a:r>
              <a:rPr lang="ru-RU" sz="1800" dirty="0"/>
              <a:t> — строки, содержащие количественную характеристику операции (сумма, КБК, ОКТМО и т.д.) и качественные признаки платежа.</a:t>
            </a:r>
          </a:p>
          <a:p>
            <a:r>
              <a:rPr lang="ru-RU" sz="1800" b="1" dirty="0"/>
              <a:t>Оформительская (</a:t>
            </a:r>
            <a:r>
              <a:rPr lang="ru-RU" sz="1800" b="1" dirty="0" err="1"/>
              <a:t>заверительная</a:t>
            </a:r>
            <a:r>
              <a:rPr lang="ru-RU" sz="1800" b="1" dirty="0"/>
              <a:t>) часть</a:t>
            </a:r>
            <a:r>
              <a:rPr lang="ru-RU" sz="1800" dirty="0"/>
              <a:t> — подписи, печати, отметки банка.</a:t>
            </a:r>
          </a:p>
          <a:p>
            <a:endParaRPr lang="ru-RU" sz="1800" dirty="0"/>
          </a:p>
        </p:txBody>
      </p:sp>
      <p:sp>
        <p:nvSpPr>
          <p:cNvPr id="312" name="Google Shape;312;p38"/>
          <p:cNvSpPr txBox="1"/>
          <p:nvPr/>
        </p:nvSpPr>
        <p:spPr>
          <a:xfrm>
            <a:off x="2319900" y="377375"/>
            <a:ext cx="7413300" cy="49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ru-RU" sz="3200" b="1" dirty="0"/>
              <a:t>Реквизитный Анализ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>
          <a:extLst>
            <a:ext uri="{FF2B5EF4-FFF2-40B4-BE49-F238E27FC236}">
              <a16:creationId xmlns:a16="http://schemas.microsoft.com/office/drawing/2014/main" id="{FBE3129B-6552-951F-DB73-1E718D1BD8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8">
            <a:extLst>
              <a:ext uri="{FF2B5EF4-FFF2-40B4-BE49-F238E27FC236}">
                <a16:creationId xmlns:a16="http://schemas.microsoft.com/office/drawing/2014/main" id="{DBAAAA87-DFAC-BF9E-9359-9D81425DF257}"/>
              </a:ext>
            </a:extLst>
          </p:cNvPr>
          <p:cNvSpPr/>
          <p:nvPr/>
        </p:nvSpPr>
        <p:spPr>
          <a:xfrm>
            <a:off x="584425" y="6387200"/>
            <a:ext cx="582000" cy="309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2"/>
                </a:solidFill>
              </a:rPr>
              <a:t>202</a:t>
            </a:r>
            <a:r>
              <a:rPr lang="ru-RU" dirty="0">
                <a:solidFill>
                  <a:schemeClr val="lt2"/>
                </a:solidFill>
              </a:rPr>
              <a:t>6</a:t>
            </a:r>
            <a:endParaRPr dirty="0">
              <a:solidFill>
                <a:schemeClr val="lt2"/>
              </a:solidFill>
            </a:endParaRPr>
          </a:p>
        </p:txBody>
      </p:sp>
      <p:sp>
        <p:nvSpPr>
          <p:cNvPr id="312" name="Google Shape;312;p38">
            <a:extLst>
              <a:ext uri="{FF2B5EF4-FFF2-40B4-BE49-F238E27FC236}">
                <a16:creationId xmlns:a16="http://schemas.microsoft.com/office/drawing/2014/main" id="{52482002-65CF-8C14-7A6E-26486F18C949}"/>
              </a:ext>
            </a:extLst>
          </p:cNvPr>
          <p:cNvSpPr txBox="1"/>
          <p:nvPr/>
        </p:nvSpPr>
        <p:spPr>
          <a:xfrm>
            <a:off x="2319900" y="377375"/>
            <a:ext cx="7413300" cy="49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ru-RU" sz="4000" b="1" dirty="0"/>
              <a:t>Таблица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FB1A9218-A61B-97D0-258A-96F747D7C3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9805971"/>
              </p:ext>
            </p:extLst>
          </p:nvPr>
        </p:nvGraphicFramePr>
        <p:xfrm>
          <a:off x="2002950" y="1141537"/>
          <a:ext cx="8948100" cy="5019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2053">
                  <a:extLst>
                    <a:ext uri="{9D8B030D-6E8A-4147-A177-3AD203B41FA5}">
                      <a16:colId xmlns:a16="http://schemas.microsoft.com/office/drawing/2014/main" val="1440198789"/>
                    </a:ext>
                  </a:extLst>
                </a:gridCol>
                <a:gridCol w="1304144">
                  <a:extLst>
                    <a:ext uri="{9D8B030D-6E8A-4147-A177-3AD203B41FA5}">
                      <a16:colId xmlns:a16="http://schemas.microsoft.com/office/drawing/2014/main" val="2225419513"/>
                    </a:ext>
                  </a:extLst>
                </a:gridCol>
                <a:gridCol w="1236689">
                  <a:extLst>
                    <a:ext uri="{9D8B030D-6E8A-4147-A177-3AD203B41FA5}">
                      <a16:colId xmlns:a16="http://schemas.microsoft.com/office/drawing/2014/main" val="2299814723"/>
                    </a:ext>
                  </a:extLst>
                </a:gridCol>
                <a:gridCol w="2024072">
                  <a:extLst>
                    <a:ext uri="{9D8B030D-6E8A-4147-A177-3AD203B41FA5}">
                      <a16:colId xmlns:a16="http://schemas.microsoft.com/office/drawing/2014/main" val="833340576"/>
                    </a:ext>
                  </a:extLst>
                </a:gridCol>
                <a:gridCol w="1233714">
                  <a:extLst>
                    <a:ext uri="{9D8B030D-6E8A-4147-A177-3AD203B41FA5}">
                      <a16:colId xmlns:a16="http://schemas.microsoft.com/office/drawing/2014/main" val="3632816222"/>
                    </a:ext>
                  </a:extLst>
                </a:gridCol>
                <a:gridCol w="1233714">
                  <a:extLst>
                    <a:ext uri="{9D8B030D-6E8A-4147-A177-3AD203B41FA5}">
                      <a16:colId xmlns:a16="http://schemas.microsoft.com/office/drawing/2014/main" val="207420522"/>
                    </a:ext>
                  </a:extLst>
                </a:gridCol>
                <a:gridCol w="1233714">
                  <a:extLst>
                    <a:ext uri="{9D8B030D-6E8A-4147-A177-3AD203B41FA5}">
                      <a16:colId xmlns:a16="http://schemas.microsoft.com/office/drawing/2014/main" val="278900973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ru-RU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№ п/п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Часть документа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Тип части (по методичке)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Наименование реквизита во </a:t>
                      </a:r>
                      <a:r>
                        <a:rPr lang="ru-RU" sz="12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внемаш</a:t>
                      </a:r>
                      <a:r>
                        <a:rPr lang="ru-RU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 документе (содержание из файла)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Перенос в норм. файл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Имя в норм. файле (лат.)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Тип реквизита</a:t>
                      </a:r>
                    </a:p>
                  </a:txBody>
                  <a:tcPr marL="0" marR="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953572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Заголовок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Название формы: ПЛАТЕЖНОЕ ПОРУЧЕНИЕ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Нет (константа)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538593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Заголовок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Номер документа: 9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DocNumber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Признак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183197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Заголовок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Дата составления: 11.02.2025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DocDate</a:t>
                      </a:r>
                      <a:endParaRPr lang="en-US" sz="120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Признак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584533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Заголовок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Вид платежа: пусто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PaymentType</a:t>
                      </a:r>
                      <a:endParaRPr lang="en-US" sz="120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Признак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087350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Заголовок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Сумма прописью: Шесть тысяч четыреста восемьдесят рублей 28 копеек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Нет (дублирует цифры)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787856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22860" marR="22860" marT="15240" marB="1524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Заголовок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ИНН плательщика: 1234567891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PayerINN</a:t>
                      </a:r>
                      <a:endParaRPr lang="en-US" sz="120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Признак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661778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22860" marR="22860" marT="15240" marB="1524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Заголовок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КПП плательщика: 0 (т.е. отсутствует)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PayerKPP</a:t>
                      </a:r>
                      <a:endParaRPr lang="en-US" sz="120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Признак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077755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22860" marR="22860" marT="15240" marB="1524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Заголовок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Плательщик: ООО «Вектор»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PayerName</a:t>
                      </a:r>
                      <a:endParaRPr lang="en-US" sz="120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Признак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538376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marL="22860" marR="22860" marT="15240" marB="1524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Заголовок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Счет плательщика: 40702810412300001111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PayerAccount</a:t>
                      </a:r>
                      <a:endParaRPr lang="en-US" sz="120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Признак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65993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marL="22860" marR="22860" marT="15240" marB="1524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Заголовок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Банк плательщика: АО «Банк», г. Красноярск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PayerBankName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Признак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129572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</a:p>
                  </a:txBody>
                  <a:tcPr marL="22860" marR="22860" marT="15240" marB="1524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Заголовок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БИК банка плательщика: 044583123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PayerBIC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Признак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150604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950111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>
          <a:extLst>
            <a:ext uri="{FF2B5EF4-FFF2-40B4-BE49-F238E27FC236}">
              <a16:creationId xmlns:a16="http://schemas.microsoft.com/office/drawing/2014/main" id="{0B5E5F83-1020-EBD1-44A3-698881FD0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8">
            <a:extLst>
              <a:ext uri="{FF2B5EF4-FFF2-40B4-BE49-F238E27FC236}">
                <a16:creationId xmlns:a16="http://schemas.microsoft.com/office/drawing/2014/main" id="{1962C14D-8EE4-B2E4-6727-AD67FD60091F}"/>
              </a:ext>
            </a:extLst>
          </p:cNvPr>
          <p:cNvSpPr/>
          <p:nvPr/>
        </p:nvSpPr>
        <p:spPr>
          <a:xfrm>
            <a:off x="584425" y="6387200"/>
            <a:ext cx="582000" cy="309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2"/>
                </a:solidFill>
              </a:rPr>
              <a:t>202</a:t>
            </a:r>
            <a:r>
              <a:rPr lang="ru-RU" dirty="0">
                <a:solidFill>
                  <a:schemeClr val="lt2"/>
                </a:solidFill>
              </a:rPr>
              <a:t>6</a:t>
            </a:r>
            <a:endParaRPr dirty="0">
              <a:solidFill>
                <a:schemeClr val="lt2"/>
              </a:solidFill>
            </a:endParaRPr>
          </a:p>
        </p:txBody>
      </p:sp>
      <p:sp>
        <p:nvSpPr>
          <p:cNvPr id="312" name="Google Shape;312;p38">
            <a:extLst>
              <a:ext uri="{FF2B5EF4-FFF2-40B4-BE49-F238E27FC236}">
                <a16:creationId xmlns:a16="http://schemas.microsoft.com/office/drawing/2014/main" id="{0B74F2F5-DA2F-9425-4170-4E27512FF145}"/>
              </a:ext>
            </a:extLst>
          </p:cNvPr>
          <p:cNvSpPr txBox="1"/>
          <p:nvPr/>
        </p:nvSpPr>
        <p:spPr>
          <a:xfrm>
            <a:off x="1817914" y="291513"/>
            <a:ext cx="8720829" cy="49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endParaRPr lang="ru-RU" sz="4000" b="1" dirty="0"/>
          </a:p>
        </p:txBody>
      </p:sp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F72C515E-DF18-3669-8A78-916D71C0C1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7611960"/>
              </p:ext>
            </p:extLst>
          </p:nvPr>
        </p:nvGraphicFramePr>
        <p:xfrm>
          <a:off x="1704278" y="248920"/>
          <a:ext cx="8948100" cy="61868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2053">
                  <a:extLst>
                    <a:ext uri="{9D8B030D-6E8A-4147-A177-3AD203B41FA5}">
                      <a16:colId xmlns:a16="http://schemas.microsoft.com/office/drawing/2014/main" val="1440198789"/>
                    </a:ext>
                  </a:extLst>
                </a:gridCol>
                <a:gridCol w="1304144">
                  <a:extLst>
                    <a:ext uri="{9D8B030D-6E8A-4147-A177-3AD203B41FA5}">
                      <a16:colId xmlns:a16="http://schemas.microsoft.com/office/drawing/2014/main" val="2225419513"/>
                    </a:ext>
                  </a:extLst>
                </a:gridCol>
                <a:gridCol w="1236689">
                  <a:extLst>
                    <a:ext uri="{9D8B030D-6E8A-4147-A177-3AD203B41FA5}">
                      <a16:colId xmlns:a16="http://schemas.microsoft.com/office/drawing/2014/main" val="2299814723"/>
                    </a:ext>
                  </a:extLst>
                </a:gridCol>
                <a:gridCol w="2024072">
                  <a:extLst>
                    <a:ext uri="{9D8B030D-6E8A-4147-A177-3AD203B41FA5}">
                      <a16:colId xmlns:a16="http://schemas.microsoft.com/office/drawing/2014/main" val="833340576"/>
                    </a:ext>
                  </a:extLst>
                </a:gridCol>
                <a:gridCol w="1233714">
                  <a:extLst>
                    <a:ext uri="{9D8B030D-6E8A-4147-A177-3AD203B41FA5}">
                      <a16:colId xmlns:a16="http://schemas.microsoft.com/office/drawing/2014/main" val="3632816222"/>
                    </a:ext>
                  </a:extLst>
                </a:gridCol>
                <a:gridCol w="1233714">
                  <a:extLst>
                    <a:ext uri="{9D8B030D-6E8A-4147-A177-3AD203B41FA5}">
                      <a16:colId xmlns:a16="http://schemas.microsoft.com/office/drawing/2014/main" val="207420522"/>
                    </a:ext>
                  </a:extLst>
                </a:gridCol>
                <a:gridCol w="1233714">
                  <a:extLst>
                    <a:ext uri="{9D8B030D-6E8A-4147-A177-3AD203B41FA5}">
                      <a16:colId xmlns:a16="http://schemas.microsoft.com/office/drawing/2014/main" val="2789009733"/>
                    </a:ext>
                  </a:extLst>
                </a:gridCol>
              </a:tblGrid>
              <a:tr h="532938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Заголовок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Счет банка плательщика (корр.): 30101810412300000222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PayerCorrAcc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Признак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95357222"/>
                  </a:ext>
                </a:extLst>
              </a:tr>
              <a:tr h="196345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Заголовок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ИНН получателя: 2466001885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PayeeINN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Признак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43397981"/>
                  </a:ext>
                </a:extLst>
              </a:tr>
              <a:tr h="196345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Заголовок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КПП получателя: 246501001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PayeeKPP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Признак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6498491"/>
                  </a:ext>
                </a:extLst>
              </a:tr>
              <a:tr h="701234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Заголовок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Получатель: УФК по Красноярскому краю (ОСФР по Красноярскому краю, л/сч 04194Ф19010)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PayeeName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Признак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53859311"/>
                  </a:ext>
                </a:extLst>
              </a:tr>
              <a:tr h="364642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Заголовок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Счет получателя: 03100643000000011900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PayeeAccount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Признак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18319787"/>
                  </a:ext>
                </a:extLst>
              </a:tr>
              <a:tr h="86953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Заголовок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Банк получателя: Отделение Красноярск Банка России//УФК по Красноярскому краю г. Красноярск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PayeeBankName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Признак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58453378"/>
                  </a:ext>
                </a:extLst>
              </a:tr>
              <a:tr h="364642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Заголовок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БИК банка получателя: 010407105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PayeeBIC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Признак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08735022"/>
                  </a:ext>
                </a:extLst>
              </a:tr>
              <a:tr h="532938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Заголовок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Счет банка получателя (корр.): 40102810245370000011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PayeeCorrAcc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Признак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78785643"/>
                  </a:ext>
                </a:extLst>
              </a:tr>
              <a:tr h="341267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Предметная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Вид операции: 01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OperationType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Признак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66177845"/>
                  </a:ext>
                </a:extLst>
              </a:tr>
              <a:tr h="341267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Предметная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Очередность платежа: 5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PaymentOrder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Признак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07775554"/>
                  </a:ext>
                </a:extLst>
              </a:tr>
              <a:tr h="341267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Предметная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Код (УИН): 0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UIN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Признак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53837695"/>
                  </a:ext>
                </a:extLst>
              </a:tr>
              <a:tr h="341267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Предметная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КБК: 79710212000061000160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KBK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Признак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65993261"/>
                  </a:ext>
                </a:extLst>
              </a:tr>
              <a:tr h="364642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Предметная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ОКТМО (в платеже не заполнен, но поле есть)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OKTMO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Признак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12957282"/>
                  </a:ext>
                </a:extLst>
              </a:tr>
              <a:tr h="341267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Предметная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Основание платежа: 0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PaymentBasis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Признак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150604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61136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>
          <a:extLst>
            <a:ext uri="{FF2B5EF4-FFF2-40B4-BE49-F238E27FC236}">
              <a16:creationId xmlns:a16="http://schemas.microsoft.com/office/drawing/2014/main" id="{21ACB085-15E0-628C-3513-2A14AAD226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8">
            <a:extLst>
              <a:ext uri="{FF2B5EF4-FFF2-40B4-BE49-F238E27FC236}">
                <a16:creationId xmlns:a16="http://schemas.microsoft.com/office/drawing/2014/main" id="{A19D1116-F309-B5A5-6D08-F6D0C14E76ED}"/>
              </a:ext>
            </a:extLst>
          </p:cNvPr>
          <p:cNvSpPr/>
          <p:nvPr/>
        </p:nvSpPr>
        <p:spPr>
          <a:xfrm>
            <a:off x="584425" y="6387200"/>
            <a:ext cx="582000" cy="309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2"/>
                </a:solidFill>
              </a:rPr>
              <a:t>202</a:t>
            </a:r>
            <a:r>
              <a:rPr lang="ru-RU" dirty="0">
                <a:solidFill>
                  <a:schemeClr val="lt2"/>
                </a:solidFill>
              </a:rPr>
              <a:t>6</a:t>
            </a:r>
            <a:endParaRPr dirty="0">
              <a:solidFill>
                <a:schemeClr val="lt2"/>
              </a:solidFill>
            </a:endParaRPr>
          </a:p>
        </p:txBody>
      </p:sp>
      <p:sp>
        <p:nvSpPr>
          <p:cNvPr id="312" name="Google Shape;312;p38">
            <a:extLst>
              <a:ext uri="{FF2B5EF4-FFF2-40B4-BE49-F238E27FC236}">
                <a16:creationId xmlns:a16="http://schemas.microsoft.com/office/drawing/2014/main" id="{90DE58FE-195A-7674-3D59-84BBF87290CA}"/>
              </a:ext>
            </a:extLst>
          </p:cNvPr>
          <p:cNvSpPr txBox="1"/>
          <p:nvPr/>
        </p:nvSpPr>
        <p:spPr>
          <a:xfrm>
            <a:off x="1817914" y="291513"/>
            <a:ext cx="8720829" cy="49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endParaRPr lang="ru-RU" sz="4000" b="1" dirty="0"/>
          </a:p>
        </p:txBody>
      </p:sp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900D2B6C-AF97-6C80-19DB-6DEF2DF724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8745472"/>
              </p:ext>
            </p:extLst>
          </p:nvPr>
        </p:nvGraphicFramePr>
        <p:xfrm>
          <a:off x="1817914" y="1283241"/>
          <a:ext cx="8948100" cy="40544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2053">
                  <a:extLst>
                    <a:ext uri="{9D8B030D-6E8A-4147-A177-3AD203B41FA5}">
                      <a16:colId xmlns:a16="http://schemas.microsoft.com/office/drawing/2014/main" val="1440198789"/>
                    </a:ext>
                  </a:extLst>
                </a:gridCol>
                <a:gridCol w="1304144">
                  <a:extLst>
                    <a:ext uri="{9D8B030D-6E8A-4147-A177-3AD203B41FA5}">
                      <a16:colId xmlns:a16="http://schemas.microsoft.com/office/drawing/2014/main" val="2225419513"/>
                    </a:ext>
                  </a:extLst>
                </a:gridCol>
                <a:gridCol w="1236689">
                  <a:extLst>
                    <a:ext uri="{9D8B030D-6E8A-4147-A177-3AD203B41FA5}">
                      <a16:colId xmlns:a16="http://schemas.microsoft.com/office/drawing/2014/main" val="2299814723"/>
                    </a:ext>
                  </a:extLst>
                </a:gridCol>
                <a:gridCol w="2024072">
                  <a:extLst>
                    <a:ext uri="{9D8B030D-6E8A-4147-A177-3AD203B41FA5}">
                      <a16:colId xmlns:a16="http://schemas.microsoft.com/office/drawing/2014/main" val="833340576"/>
                    </a:ext>
                  </a:extLst>
                </a:gridCol>
                <a:gridCol w="1233714">
                  <a:extLst>
                    <a:ext uri="{9D8B030D-6E8A-4147-A177-3AD203B41FA5}">
                      <a16:colId xmlns:a16="http://schemas.microsoft.com/office/drawing/2014/main" val="3632816222"/>
                    </a:ext>
                  </a:extLst>
                </a:gridCol>
                <a:gridCol w="1233714">
                  <a:extLst>
                    <a:ext uri="{9D8B030D-6E8A-4147-A177-3AD203B41FA5}">
                      <a16:colId xmlns:a16="http://schemas.microsoft.com/office/drawing/2014/main" val="207420522"/>
                    </a:ext>
                  </a:extLst>
                </a:gridCol>
                <a:gridCol w="1233714">
                  <a:extLst>
                    <a:ext uri="{9D8B030D-6E8A-4147-A177-3AD203B41FA5}">
                      <a16:colId xmlns:a16="http://schemas.microsoft.com/office/drawing/2014/main" val="2789009733"/>
                    </a:ext>
                  </a:extLst>
                </a:gridCol>
              </a:tblGrid>
              <a:tr h="532938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Предметная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Налоговый период: 0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TaxPeriod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Признак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95357222"/>
                  </a:ext>
                </a:extLst>
              </a:tr>
              <a:tr h="196345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27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Предметная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Номер документа-основания: 0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BaseDocNumber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Признак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43397981"/>
                  </a:ext>
                </a:extLst>
              </a:tr>
              <a:tr h="196345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28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Предметная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Дата документа-основания: 0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BaseDocDate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Признак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6498491"/>
                  </a:ext>
                </a:extLst>
              </a:tr>
              <a:tr h="701234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29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Предметная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Сумма платежа (цифрами): 6480-28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Amount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Основание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53859311"/>
                  </a:ext>
                </a:extLst>
              </a:tr>
              <a:tr h="364642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Предметная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Назначение платежа: Страховые взносы в СФР... за январь 2025 г. Регистрационный № 1234567890.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Purpose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Признак (текстовый)</a:t>
                      </a:r>
                    </a:p>
                  </a:txBody>
                  <a:tcPr marL="0" marR="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18319787"/>
                  </a:ext>
                </a:extLst>
              </a:tr>
              <a:tr h="869530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31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Оформительская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Подписи (Место для подписи)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Нет*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58453378"/>
                  </a:ext>
                </a:extLst>
              </a:tr>
              <a:tr h="364642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Оформительская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Отметки банка (М.П., штамп)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Нет*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ru-RU" sz="1200" b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–</a:t>
                      </a:r>
                      <a:endParaRPr lang="en-US" sz="120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 rtl="0" fontAlgn="b">
                        <a:buNone/>
                      </a:pPr>
                      <a:endParaRPr lang="en-US" sz="1200" b="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860" marR="22860" marT="15240" marB="152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087350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44939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>
          <a:extLst>
            <a:ext uri="{FF2B5EF4-FFF2-40B4-BE49-F238E27FC236}">
              <a16:creationId xmlns:a16="http://schemas.microsoft.com/office/drawing/2014/main" id="{6C34E570-4694-55DF-6703-92DD9234B1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8">
            <a:extLst>
              <a:ext uri="{FF2B5EF4-FFF2-40B4-BE49-F238E27FC236}">
                <a16:creationId xmlns:a16="http://schemas.microsoft.com/office/drawing/2014/main" id="{6D948150-5F4A-B42F-9FC3-183743995A61}"/>
              </a:ext>
            </a:extLst>
          </p:cNvPr>
          <p:cNvSpPr/>
          <p:nvPr/>
        </p:nvSpPr>
        <p:spPr>
          <a:xfrm>
            <a:off x="584425" y="6387200"/>
            <a:ext cx="582000" cy="309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2"/>
                </a:solidFill>
              </a:rPr>
              <a:t>202</a:t>
            </a:r>
            <a:r>
              <a:rPr lang="ru-RU" dirty="0">
                <a:solidFill>
                  <a:schemeClr val="lt2"/>
                </a:solidFill>
              </a:rPr>
              <a:t>6</a:t>
            </a:r>
            <a:endParaRPr dirty="0">
              <a:solidFill>
                <a:schemeClr val="lt2"/>
              </a:solidFill>
            </a:endParaRPr>
          </a:p>
        </p:txBody>
      </p:sp>
      <p:sp>
        <p:nvSpPr>
          <p:cNvPr id="311" name="Google Shape;311;p38">
            <a:extLst>
              <a:ext uri="{FF2B5EF4-FFF2-40B4-BE49-F238E27FC236}">
                <a16:creationId xmlns:a16="http://schemas.microsoft.com/office/drawing/2014/main" id="{11B47C9D-1EB4-1AAF-B829-79BFD09C29F6}"/>
              </a:ext>
            </a:extLst>
          </p:cNvPr>
          <p:cNvSpPr txBox="1"/>
          <p:nvPr/>
        </p:nvSpPr>
        <p:spPr>
          <a:xfrm>
            <a:off x="1086743" y="1800488"/>
            <a:ext cx="10659101" cy="3785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ru-RU" sz="1800" b="1" dirty="0"/>
              <a:t>Реквизиты-признаки:</a:t>
            </a:r>
            <a:r>
              <a:rPr lang="ru-RU" sz="1800" dirty="0"/>
              <a:t> Подавляющее большинство реквизитов (№№ 2–22, 24–30) являются качественными характеристиками операции. Они отвечают на вопросы "кто?", "когда?", "куда?", "за что?" и служат для идентификации платежа (ИНН, БИК, КБК, счета, назначение платежа).</a:t>
            </a:r>
            <a:endParaRPr lang="en-US" sz="1800" dirty="0"/>
          </a:p>
          <a:p>
            <a:endParaRPr lang="ru-RU" sz="1800" dirty="0"/>
          </a:p>
          <a:p>
            <a:r>
              <a:rPr lang="ru-RU" sz="1800" b="1" dirty="0"/>
              <a:t>Реквизиты-основания:</a:t>
            </a:r>
            <a:r>
              <a:rPr lang="ru-RU" sz="1800" dirty="0"/>
              <a:t> В данном документе ярко выраженным </a:t>
            </a:r>
            <a:r>
              <a:rPr lang="ru-RU" sz="1800" b="1" dirty="0"/>
              <a:t>основанием</a:t>
            </a:r>
            <a:r>
              <a:rPr lang="ru-RU" sz="1800" dirty="0"/>
              <a:t> является </a:t>
            </a:r>
            <a:r>
              <a:rPr lang="ru-RU" sz="1800" b="1" dirty="0"/>
              <a:t>«Сумма» (</a:t>
            </a:r>
            <a:r>
              <a:rPr lang="ru-RU" sz="1800" b="1" dirty="0" err="1"/>
              <a:t>Amount</a:t>
            </a:r>
            <a:r>
              <a:rPr lang="ru-RU" sz="1800" b="1" dirty="0"/>
              <a:t>)</a:t>
            </a:r>
            <a:r>
              <a:rPr lang="ru-RU" sz="1800" dirty="0"/>
              <a:t> (п. 29). Именно она представляет собой количественную величину (в рублях), над которой в дальнейшем можно выполнять арифметические операции (суммирование, группировка по сумме). В полях назначения платежа также присутствует регистрационный номер (количество цифр), но он выполняет функцию идентификатора, поэтому остается признаком.</a:t>
            </a:r>
            <a:endParaRPr lang="en-US" sz="1800" dirty="0"/>
          </a:p>
          <a:p>
            <a:endParaRPr lang="ru-RU" sz="1800" dirty="0"/>
          </a:p>
          <a:p>
            <a:r>
              <a:rPr lang="ru-RU" sz="1800" b="1" dirty="0"/>
              <a:t>Вывод:</a:t>
            </a:r>
            <a:r>
              <a:rPr lang="ru-RU" sz="1800" dirty="0"/>
              <a:t> Платежное поручение представляет собой классический пример документа с жестким форматом, содержащим один главный показатель (основание — сумма) и множество идентифицирующих признаков.</a:t>
            </a:r>
          </a:p>
        </p:txBody>
      </p:sp>
      <p:sp>
        <p:nvSpPr>
          <p:cNvPr id="312" name="Google Shape;312;p38">
            <a:extLst>
              <a:ext uri="{FF2B5EF4-FFF2-40B4-BE49-F238E27FC236}">
                <a16:creationId xmlns:a16="http://schemas.microsoft.com/office/drawing/2014/main" id="{4A715656-7AD0-A60C-706B-3EB480DE9AF6}"/>
              </a:ext>
            </a:extLst>
          </p:cNvPr>
          <p:cNvSpPr txBox="1"/>
          <p:nvPr/>
        </p:nvSpPr>
        <p:spPr>
          <a:xfrm>
            <a:off x="2319900" y="377375"/>
            <a:ext cx="7413300" cy="49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ru-RU" sz="3200" b="1" dirty="0"/>
              <a:t>Анализ выявленных реквизитов</a:t>
            </a:r>
          </a:p>
        </p:txBody>
      </p:sp>
    </p:spTree>
    <p:extLst>
      <p:ext uri="{BB962C8B-B14F-4D97-AF65-F5344CB8AC3E}">
        <p14:creationId xmlns:p14="http://schemas.microsoft.com/office/powerpoint/2010/main" val="22316070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>
          <a:extLst>
            <a:ext uri="{FF2B5EF4-FFF2-40B4-BE49-F238E27FC236}">
              <a16:creationId xmlns:a16="http://schemas.microsoft.com/office/drawing/2014/main" id="{488151C1-EF1A-CE9D-0598-23E48CA911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8">
            <a:extLst>
              <a:ext uri="{FF2B5EF4-FFF2-40B4-BE49-F238E27FC236}">
                <a16:creationId xmlns:a16="http://schemas.microsoft.com/office/drawing/2014/main" id="{29ED8063-A343-140D-463E-28B70C7AA3BE}"/>
              </a:ext>
            </a:extLst>
          </p:cNvPr>
          <p:cNvSpPr/>
          <p:nvPr/>
        </p:nvSpPr>
        <p:spPr>
          <a:xfrm>
            <a:off x="584425" y="6387200"/>
            <a:ext cx="582000" cy="309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2"/>
                </a:solidFill>
              </a:rPr>
              <a:t>202</a:t>
            </a:r>
            <a:r>
              <a:rPr lang="ru-RU" dirty="0">
                <a:solidFill>
                  <a:schemeClr val="lt2"/>
                </a:solidFill>
              </a:rPr>
              <a:t>6</a:t>
            </a:r>
            <a:endParaRPr dirty="0">
              <a:solidFill>
                <a:schemeClr val="lt2"/>
              </a:solidFill>
            </a:endParaRPr>
          </a:p>
        </p:txBody>
      </p:sp>
      <p:sp>
        <p:nvSpPr>
          <p:cNvPr id="311" name="Google Shape;311;p38">
            <a:extLst>
              <a:ext uri="{FF2B5EF4-FFF2-40B4-BE49-F238E27FC236}">
                <a16:creationId xmlns:a16="http://schemas.microsoft.com/office/drawing/2014/main" id="{CF3BA01B-D7DA-F24E-EC95-60816C9E5F99}"/>
              </a:ext>
            </a:extLst>
          </p:cNvPr>
          <p:cNvSpPr txBox="1"/>
          <p:nvPr/>
        </p:nvSpPr>
        <p:spPr>
          <a:xfrm>
            <a:off x="1086743" y="1800488"/>
            <a:ext cx="10659101" cy="3785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342900" indent="-342900">
              <a:buAutoNum type="arabicPeriod"/>
            </a:pPr>
            <a:r>
              <a:rPr lang="ru-RU" sz="1800" b="1" dirty="0"/>
              <a:t>Формирование документа:</a:t>
            </a:r>
            <a:r>
              <a:rPr lang="ru-RU" sz="1800" dirty="0"/>
              <a:t> Бухгалтер организации-плательщика (ООО «Вектор») формирует платежное поручение в учетной системе. Документ заполняется в строгом соответствии с Приказом Минфина России № 107н: указываются КБК (79710212000061000160), статус плательщика (08 — для взносов в СФР), ИНН, КПП, реквизиты получателя — УФК по Красноярскому краю (ОСФР по Красноярскому краю) и регистрационный номер страхователя в назначении платежа .</a:t>
            </a:r>
          </a:p>
          <a:p>
            <a:endParaRPr lang="ru-RU" sz="1800" dirty="0"/>
          </a:p>
          <a:p>
            <a:r>
              <a:rPr lang="ru-RU" sz="1800" b="1" dirty="0"/>
              <a:t>2. Подписание и отправка:</a:t>
            </a:r>
            <a:r>
              <a:rPr lang="ru-RU" sz="1800" dirty="0"/>
              <a:t> Сформированный документ подписывается электронной цифровой подписью (ЭЦП) руководителя и отправляется в банк плательщика по системе "Клиент-Банк".</a:t>
            </a:r>
          </a:p>
          <a:p>
            <a:endParaRPr lang="ru-RU" sz="1800" dirty="0"/>
          </a:p>
          <a:p>
            <a:r>
              <a:rPr lang="ru-RU" sz="1800" b="1" dirty="0"/>
              <a:t>3. Контроль в банке плательщика:</a:t>
            </a:r>
            <a:r>
              <a:rPr lang="ru-RU" sz="1800" dirty="0"/>
              <a:t> Банк проверяет правильность заполнения реквизитов и достаточность средств на расчетном счете плательщика (40702810412300001111). При успешной проверке банк списывает сумму (6480,28 руб.).</a:t>
            </a:r>
          </a:p>
        </p:txBody>
      </p:sp>
      <p:sp>
        <p:nvSpPr>
          <p:cNvPr id="312" name="Google Shape;312;p38">
            <a:extLst>
              <a:ext uri="{FF2B5EF4-FFF2-40B4-BE49-F238E27FC236}">
                <a16:creationId xmlns:a16="http://schemas.microsoft.com/office/drawing/2014/main" id="{67B8F761-549E-F2A8-3CA1-06D2D013A69F}"/>
              </a:ext>
            </a:extLst>
          </p:cNvPr>
          <p:cNvSpPr txBox="1"/>
          <p:nvPr/>
        </p:nvSpPr>
        <p:spPr>
          <a:xfrm>
            <a:off x="2241842" y="633853"/>
            <a:ext cx="7413300" cy="49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ru-RU" sz="4000" b="1" dirty="0"/>
              <a:t>Описание процесса работы с документом</a:t>
            </a:r>
          </a:p>
        </p:txBody>
      </p:sp>
    </p:spTree>
    <p:extLst>
      <p:ext uri="{BB962C8B-B14F-4D97-AF65-F5344CB8AC3E}">
        <p14:creationId xmlns:p14="http://schemas.microsoft.com/office/powerpoint/2010/main" val="7898719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>
          <a:extLst>
            <a:ext uri="{FF2B5EF4-FFF2-40B4-BE49-F238E27FC236}">
              <a16:creationId xmlns:a16="http://schemas.microsoft.com/office/drawing/2014/main" id="{25252BA2-878C-EA20-5779-848D589CDB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8">
            <a:extLst>
              <a:ext uri="{FF2B5EF4-FFF2-40B4-BE49-F238E27FC236}">
                <a16:creationId xmlns:a16="http://schemas.microsoft.com/office/drawing/2014/main" id="{C35CC4A0-FBC0-96A3-B5D8-7280B7A00342}"/>
              </a:ext>
            </a:extLst>
          </p:cNvPr>
          <p:cNvSpPr/>
          <p:nvPr/>
        </p:nvSpPr>
        <p:spPr>
          <a:xfrm>
            <a:off x="584425" y="6387200"/>
            <a:ext cx="582000" cy="309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2"/>
                </a:solidFill>
              </a:rPr>
              <a:t>202</a:t>
            </a:r>
            <a:r>
              <a:rPr lang="ru-RU" dirty="0">
                <a:solidFill>
                  <a:schemeClr val="lt2"/>
                </a:solidFill>
              </a:rPr>
              <a:t>6</a:t>
            </a:r>
            <a:endParaRPr dirty="0">
              <a:solidFill>
                <a:schemeClr val="lt2"/>
              </a:solidFill>
            </a:endParaRPr>
          </a:p>
        </p:txBody>
      </p:sp>
      <p:sp>
        <p:nvSpPr>
          <p:cNvPr id="311" name="Google Shape;311;p38">
            <a:extLst>
              <a:ext uri="{FF2B5EF4-FFF2-40B4-BE49-F238E27FC236}">
                <a16:creationId xmlns:a16="http://schemas.microsoft.com/office/drawing/2014/main" id="{109FCC32-05A9-96F9-E02C-2B5703FB3E6C}"/>
              </a:ext>
            </a:extLst>
          </p:cNvPr>
          <p:cNvSpPr txBox="1"/>
          <p:nvPr/>
        </p:nvSpPr>
        <p:spPr>
          <a:xfrm>
            <a:off x="875425" y="2179630"/>
            <a:ext cx="10659101" cy="26776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ru-RU" sz="1800" b="1" dirty="0"/>
              <a:t>4. Межбанковские расчеты:</a:t>
            </a:r>
            <a:r>
              <a:rPr lang="ru-RU" sz="1800" dirty="0"/>
              <a:t> Средства переводятся через корреспондентскую сеть Банка России в банк получателя — Отделение Красноярск Банка России.</a:t>
            </a:r>
          </a:p>
          <a:p>
            <a:endParaRPr lang="ru-RU" sz="1800" dirty="0"/>
          </a:p>
          <a:p>
            <a:r>
              <a:rPr lang="ru-RU" sz="1800" b="1" dirty="0"/>
              <a:t>5. Зачисление средств:</a:t>
            </a:r>
            <a:r>
              <a:rPr lang="ru-RU" sz="1800" dirty="0"/>
              <a:t> Средства зачисляются на счет получателя — УФК по Красноярскому краю (счет 03100643000000011900). Орган Федерального казначейства доводит информацию до конкретного администратора доходов — Отделения СФР по Красноярскому краю.</a:t>
            </a:r>
          </a:p>
          <a:p>
            <a:endParaRPr lang="ru-RU" sz="1800" dirty="0"/>
          </a:p>
          <a:p>
            <a:r>
              <a:rPr lang="ru-RU" sz="1800" b="1" dirty="0"/>
              <a:t>6. Подтверждение и выписка:</a:t>
            </a:r>
            <a:r>
              <a:rPr lang="ru-RU" sz="1800" dirty="0"/>
              <a:t> Плательщик получает подтверждение об исполнении операции. В системе "Клиент-Банк" формируется выписка, отражающая списание средств.</a:t>
            </a:r>
          </a:p>
        </p:txBody>
      </p:sp>
      <p:sp>
        <p:nvSpPr>
          <p:cNvPr id="312" name="Google Shape;312;p38">
            <a:extLst>
              <a:ext uri="{FF2B5EF4-FFF2-40B4-BE49-F238E27FC236}">
                <a16:creationId xmlns:a16="http://schemas.microsoft.com/office/drawing/2014/main" id="{C294E4FA-60F1-6685-0C29-B5F56E6221CE}"/>
              </a:ext>
            </a:extLst>
          </p:cNvPr>
          <p:cNvSpPr txBox="1"/>
          <p:nvPr/>
        </p:nvSpPr>
        <p:spPr>
          <a:xfrm>
            <a:off x="2241842" y="633853"/>
            <a:ext cx="7413300" cy="49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ru-RU" sz="4000" b="1" dirty="0"/>
              <a:t>Описание процесса работы с документом</a:t>
            </a:r>
          </a:p>
        </p:txBody>
      </p:sp>
    </p:spTree>
    <p:extLst>
      <p:ext uri="{BB962C8B-B14F-4D97-AF65-F5344CB8AC3E}">
        <p14:creationId xmlns:p14="http://schemas.microsoft.com/office/powerpoint/2010/main" val="12589935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>
          <a:extLst>
            <a:ext uri="{FF2B5EF4-FFF2-40B4-BE49-F238E27FC236}">
              <a16:creationId xmlns:a16="http://schemas.microsoft.com/office/drawing/2014/main" id="{8E60ECE8-BB05-52BF-D458-5D43C9725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8">
            <a:extLst>
              <a:ext uri="{FF2B5EF4-FFF2-40B4-BE49-F238E27FC236}">
                <a16:creationId xmlns:a16="http://schemas.microsoft.com/office/drawing/2014/main" id="{B4029AC7-8676-9F19-1C00-2E26F60A9570}"/>
              </a:ext>
            </a:extLst>
          </p:cNvPr>
          <p:cNvSpPr/>
          <p:nvPr/>
        </p:nvSpPr>
        <p:spPr>
          <a:xfrm>
            <a:off x="584425" y="6387200"/>
            <a:ext cx="582000" cy="309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2"/>
                </a:solidFill>
              </a:rPr>
              <a:t>202</a:t>
            </a:r>
            <a:r>
              <a:rPr lang="ru-RU" dirty="0">
                <a:solidFill>
                  <a:schemeClr val="lt2"/>
                </a:solidFill>
              </a:rPr>
              <a:t>6</a:t>
            </a:r>
            <a:endParaRPr dirty="0">
              <a:solidFill>
                <a:schemeClr val="lt2"/>
              </a:solidFill>
            </a:endParaRPr>
          </a:p>
        </p:txBody>
      </p:sp>
      <p:sp>
        <p:nvSpPr>
          <p:cNvPr id="311" name="Google Shape;311;p38">
            <a:extLst>
              <a:ext uri="{FF2B5EF4-FFF2-40B4-BE49-F238E27FC236}">
                <a16:creationId xmlns:a16="http://schemas.microsoft.com/office/drawing/2014/main" id="{31D9613E-FACE-B733-BFE3-AB0713880220}"/>
              </a:ext>
            </a:extLst>
          </p:cNvPr>
          <p:cNvSpPr txBox="1"/>
          <p:nvPr/>
        </p:nvSpPr>
        <p:spPr>
          <a:xfrm>
            <a:off x="875425" y="2179630"/>
            <a:ext cx="10659101" cy="2954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ru-RU" sz="2000" b="1" dirty="0"/>
              <a:t>ЭЛКОД.</a:t>
            </a:r>
            <a:r>
              <a:rPr lang="ru-RU" sz="2000" dirty="0"/>
              <a:t> Компания получила требования на уплату страховых взносов из СФР и налоговой инспекции. [Электронный ресурс]. — Режим доступа: </a:t>
            </a:r>
            <a:r>
              <a:rPr lang="ru-RU" sz="2000" dirty="0">
                <a:hlinkClick r:id="rId3"/>
              </a:rPr>
              <a:t>https://elcode.ru/service/news/populyarnie-voprosy-otvety/kompaniya-poluchila-trebovaniya-na-uplatu-strahovy</a:t>
            </a:r>
            <a:r>
              <a:rPr lang="ru-RU" sz="2000" dirty="0"/>
              <a:t> (дата обращения: 26.02.2026) </a:t>
            </a:r>
          </a:p>
          <a:p>
            <a:endParaRPr lang="ru-RU" sz="2000" dirty="0"/>
          </a:p>
          <a:p>
            <a:r>
              <a:rPr lang="ru-RU" sz="2000" dirty="0"/>
              <a:t>Приказ Минфина России от 12.11.2013 № 107н "Об утверждении Правил указания информации в реквизитах распоряжений о переводе денежных средств..." // СПС "КонсультантПлюс".</a:t>
            </a:r>
          </a:p>
          <a:p>
            <a:endParaRPr lang="ru-RU" sz="2000" dirty="0"/>
          </a:p>
        </p:txBody>
      </p:sp>
      <p:sp>
        <p:nvSpPr>
          <p:cNvPr id="312" name="Google Shape;312;p38">
            <a:extLst>
              <a:ext uri="{FF2B5EF4-FFF2-40B4-BE49-F238E27FC236}">
                <a16:creationId xmlns:a16="http://schemas.microsoft.com/office/drawing/2014/main" id="{E7C7F80A-C142-535B-A2C1-7FEDC54BFBE4}"/>
              </a:ext>
            </a:extLst>
          </p:cNvPr>
          <p:cNvSpPr txBox="1"/>
          <p:nvPr/>
        </p:nvSpPr>
        <p:spPr>
          <a:xfrm>
            <a:off x="2219540" y="402936"/>
            <a:ext cx="7413300" cy="49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ru-RU" sz="4000" b="1" dirty="0"/>
              <a:t>Ссылки на источники</a:t>
            </a:r>
          </a:p>
        </p:txBody>
      </p:sp>
    </p:spTree>
    <p:extLst>
      <p:ext uri="{BB962C8B-B14F-4D97-AF65-F5344CB8AC3E}">
        <p14:creationId xmlns:p14="http://schemas.microsoft.com/office/powerpoint/2010/main" val="39022448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>
          <a:extLst>
            <a:ext uri="{FF2B5EF4-FFF2-40B4-BE49-F238E27FC236}">
              <a16:creationId xmlns:a16="http://schemas.microsoft.com/office/drawing/2014/main" id="{8818FB90-E546-D63E-C10D-DE400A0C9D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8">
            <a:extLst>
              <a:ext uri="{FF2B5EF4-FFF2-40B4-BE49-F238E27FC236}">
                <a16:creationId xmlns:a16="http://schemas.microsoft.com/office/drawing/2014/main" id="{0528975A-A9F1-B101-5F72-6857ACFC8F42}"/>
              </a:ext>
            </a:extLst>
          </p:cNvPr>
          <p:cNvSpPr/>
          <p:nvPr/>
        </p:nvSpPr>
        <p:spPr>
          <a:xfrm>
            <a:off x="584425" y="6387200"/>
            <a:ext cx="582000" cy="309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2"/>
                </a:solidFill>
              </a:rPr>
              <a:t>202</a:t>
            </a:r>
            <a:r>
              <a:rPr lang="ru-RU" dirty="0">
                <a:solidFill>
                  <a:schemeClr val="lt2"/>
                </a:solidFill>
              </a:rPr>
              <a:t>6</a:t>
            </a:r>
            <a:endParaRPr dirty="0">
              <a:solidFill>
                <a:schemeClr val="lt2"/>
              </a:solidFill>
            </a:endParaRPr>
          </a:p>
        </p:txBody>
      </p:sp>
      <p:sp>
        <p:nvSpPr>
          <p:cNvPr id="311" name="Google Shape;311;p38">
            <a:extLst>
              <a:ext uri="{FF2B5EF4-FFF2-40B4-BE49-F238E27FC236}">
                <a16:creationId xmlns:a16="http://schemas.microsoft.com/office/drawing/2014/main" id="{7D44F456-2B58-C4C7-C423-43355E4B4F3E}"/>
              </a:ext>
            </a:extLst>
          </p:cNvPr>
          <p:cNvSpPr txBox="1"/>
          <p:nvPr/>
        </p:nvSpPr>
        <p:spPr>
          <a:xfrm>
            <a:off x="1166425" y="1566314"/>
            <a:ext cx="10659101" cy="2954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ru-RU" sz="2000" dirty="0"/>
              <a:t>Для построения диаграммы был выбран веб-редактор </a:t>
            </a:r>
            <a:r>
              <a:rPr lang="en-US" sz="2000" b="1" dirty="0"/>
              <a:t>Draw</a:t>
            </a:r>
            <a:r>
              <a:rPr lang="ru-RU" sz="2000" b="1" dirty="0"/>
              <a:t>.io</a:t>
            </a:r>
            <a:r>
              <a:rPr lang="ru-RU" sz="2000" dirty="0"/>
              <a:t>.</a:t>
            </a:r>
          </a:p>
          <a:p>
            <a:endParaRPr lang="ru-RU" sz="2000" dirty="0"/>
          </a:p>
          <a:p>
            <a:r>
              <a:rPr lang="ru-RU" sz="2000" dirty="0"/>
              <a:t>Причины выбора:</a:t>
            </a:r>
          </a:p>
          <a:p>
            <a:r>
              <a:rPr lang="ru-RU" sz="2000" dirty="0"/>
              <a:t>	-не требует установки (работает в браузере);</a:t>
            </a:r>
          </a:p>
          <a:p>
            <a:r>
              <a:rPr lang="ru-RU" sz="2000" dirty="0"/>
              <a:t>	-поддерживает стандарт BPMN 2.0;</a:t>
            </a:r>
          </a:p>
          <a:p>
            <a:r>
              <a:rPr lang="ru-RU" sz="2000" dirty="0"/>
              <a:t>	-имеет интуитивный интерфейс </a:t>
            </a:r>
            <a:r>
              <a:rPr lang="ru-RU" sz="2000" dirty="0" err="1"/>
              <a:t>drag-and-drop</a:t>
            </a:r>
            <a:r>
              <a:rPr lang="ru-RU" sz="2000" dirty="0"/>
              <a:t>;</a:t>
            </a:r>
          </a:p>
          <a:p>
            <a:r>
              <a:rPr lang="ru-RU" sz="2000" dirty="0"/>
              <a:t>	-позволяет экспортировать диаграммы в форматах .</a:t>
            </a:r>
            <a:r>
              <a:rPr lang="ru-RU" sz="2000" dirty="0" err="1"/>
              <a:t>bpmn</a:t>
            </a:r>
            <a:r>
              <a:rPr lang="ru-RU" sz="2000" dirty="0"/>
              <a:t>, .</a:t>
            </a:r>
            <a:r>
              <a:rPr lang="ru-RU" sz="2000" dirty="0" err="1"/>
              <a:t>svg</a:t>
            </a:r>
            <a:r>
              <a:rPr lang="ru-RU" sz="2000" dirty="0"/>
              <a:t> и .</a:t>
            </a:r>
            <a:r>
              <a:rPr lang="ru-RU" sz="2000" dirty="0" err="1"/>
              <a:t>png</a:t>
            </a:r>
            <a:r>
              <a:rPr lang="ru-RU" sz="2000" dirty="0"/>
              <a:t>;</a:t>
            </a:r>
          </a:p>
          <a:p>
            <a:r>
              <a:rPr lang="ru-RU" sz="2000" dirty="0"/>
              <a:t>	-подходит для учебного и практического моделирования.</a:t>
            </a:r>
          </a:p>
          <a:p>
            <a:endParaRPr lang="ru-RU" sz="2000" dirty="0"/>
          </a:p>
        </p:txBody>
      </p:sp>
      <p:sp>
        <p:nvSpPr>
          <p:cNvPr id="312" name="Google Shape;312;p38">
            <a:extLst>
              <a:ext uri="{FF2B5EF4-FFF2-40B4-BE49-F238E27FC236}">
                <a16:creationId xmlns:a16="http://schemas.microsoft.com/office/drawing/2014/main" id="{8454B358-B5B4-518F-E0C1-4E3BF1E4C381}"/>
              </a:ext>
            </a:extLst>
          </p:cNvPr>
          <p:cNvSpPr txBox="1"/>
          <p:nvPr/>
        </p:nvSpPr>
        <p:spPr>
          <a:xfrm>
            <a:off x="2219540" y="402936"/>
            <a:ext cx="7413300" cy="49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ru-RU" sz="3200" b="1" dirty="0"/>
              <a:t>Выбор инструмента моделирования</a:t>
            </a:r>
          </a:p>
        </p:txBody>
      </p:sp>
    </p:spTree>
    <p:extLst>
      <p:ext uri="{BB962C8B-B14F-4D97-AF65-F5344CB8AC3E}">
        <p14:creationId xmlns:p14="http://schemas.microsoft.com/office/powerpoint/2010/main" val="25471766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>
          <a:extLst>
            <a:ext uri="{FF2B5EF4-FFF2-40B4-BE49-F238E27FC236}">
              <a16:creationId xmlns:a16="http://schemas.microsoft.com/office/drawing/2014/main" id="{8F8B14CC-2160-D01E-EA31-F110AE09E6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8">
            <a:extLst>
              <a:ext uri="{FF2B5EF4-FFF2-40B4-BE49-F238E27FC236}">
                <a16:creationId xmlns:a16="http://schemas.microsoft.com/office/drawing/2014/main" id="{762B2149-8A09-05BF-303D-1EB23EA87500}"/>
              </a:ext>
            </a:extLst>
          </p:cNvPr>
          <p:cNvSpPr/>
          <p:nvPr/>
        </p:nvSpPr>
        <p:spPr>
          <a:xfrm>
            <a:off x="584425" y="6387200"/>
            <a:ext cx="582000" cy="309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2"/>
                </a:solidFill>
              </a:rPr>
              <a:t>202</a:t>
            </a:r>
            <a:r>
              <a:rPr lang="ru-RU" dirty="0">
                <a:solidFill>
                  <a:schemeClr val="lt2"/>
                </a:solidFill>
              </a:rPr>
              <a:t>6</a:t>
            </a:r>
            <a:endParaRPr dirty="0">
              <a:solidFill>
                <a:schemeClr val="lt2"/>
              </a:solidFill>
            </a:endParaRPr>
          </a:p>
        </p:txBody>
      </p:sp>
      <p:sp>
        <p:nvSpPr>
          <p:cNvPr id="311" name="Google Shape;311;p38">
            <a:extLst>
              <a:ext uri="{FF2B5EF4-FFF2-40B4-BE49-F238E27FC236}">
                <a16:creationId xmlns:a16="http://schemas.microsoft.com/office/drawing/2014/main" id="{9B437DA9-5028-80B1-00DD-5F5FC8AAF215}"/>
              </a:ext>
            </a:extLst>
          </p:cNvPr>
          <p:cNvSpPr txBox="1"/>
          <p:nvPr/>
        </p:nvSpPr>
        <p:spPr>
          <a:xfrm>
            <a:off x="1471687" y="1246490"/>
            <a:ext cx="10010625" cy="43396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just"/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BPMN 2.0 (Business Process Model </a:t>
            </a:r>
            <a:r>
              <a:rPr lang="ru-RU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Notation</a:t>
            </a:r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2.0)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это стандарт моделирования бизнес-процессов, который стал золотым стандартом в области управления бизнес-процессами. Он позволяет описывать понятным для всех участников языком: от аналитиков до разработчиков.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Назначение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 Стандартизация: Обеспечение единообразного понимания схем процессов всеми участниками проекта, независимо от их технической подготовки.</a:t>
            </a:r>
          </a:p>
          <a:p>
            <a:pPr algn="just"/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 Устранение разрыва между бизнесом и IT: BPMN позволяет создать визуальную модель, которая понятна бизнесу, но при этом достаточно детализирована, чтобы на её основе IT-специалисты могли реализовать процесс в программном обеспечении (BPMS).</a:t>
            </a:r>
          </a:p>
          <a:p>
            <a:pPr algn="just"/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 Анализ и оптимизация: Помогает выявить «узкие места», лишние шаги и неэффективные участки в работе компании.</a:t>
            </a:r>
          </a:p>
          <a:p>
            <a:pPr algn="just"/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 Автоматизация: Благодаря XML-основе, диаграммы BPMN 2.0 могут быть напрямую импортированы в системы исполнения процессов для их автоматического запуска и контроля.</a:t>
            </a:r>
          </a:p>
          <a:p>
            <a:pPr algn="just"/>
            <a:endParaRPr lang="ru-RU" sz="1800" dirty="0"/>
          </a:p>
        </p:txBody>
      </p:sp>
      <p:sp>
        <p:nvSpPr>
          <p:cNvPr id="312" name="Google Shape;312;p38">
            <a:extLst>
              <a:ext uri="{FF2B5EF4-FFF2-40B4-BE49-F238E27FC236}">
                <a16:creationId xmlns:a16="http://schemas.microsoft.com/office/drawing/2014/main" id="{8B75F9DA-A234-D50D-DFE7-7112E26536B5}"/>
              </a:ext>
            </a:extLst>
          </p:cNvPr>
          <p:cNvSpPr txBox="1"/>
          <p:nvPr/>
        </p:nvSpPr>
        <p:spPr>
          <a:xfrm>
            <a:off x="1008085" y="210228"/>
            <a:ext cx="10334216" cy="49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US" sz="3200" b="1" dirty="0"/>
              <a:t>C</a:t>
            </a:r>
            <a:r>
              <a:rPr lang="ru-RU" sz="3200" b="1" dirty="0" err="1"/>
              <a:t>тандарт</a:t>
            </a:r>
            <a:r>
              <a:rPr lang="ru-RU" sz="3200" b="1" dirty="0"/>
              <a:t> BPMN 2.0</a:t>
            </a:r>
            <a:r>
              <a:rPr lang="en-US" sz="3200" b="1" dirty="0"/>
              <a:t> </a:t>
            </a:r>
            <a:r>
              <a:rPr lang="ru-RU" sz="3200" b="1" dirty="0"/>
              <a:t>и его назначение</a:t>
            </a:r>
          </a:p>
        </p:txBody>
      </p:sp>
    </p:spTree>
    <p:extLst>
      <p:ext uri="{BB962C8B-B14F-4D97-AF65-F5344CB8AC3E}">
        <p14:creationId xmlns:p14="http://schemas.microsoft.com/office/powerpoint/2010/main" val="23705399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>
          <a:extLst>
            <a:ext uri="{FF2B5EF4-FFF2-40B4-BE49-F238E27FC236}">
              <a16:creationId xmlns:a16="http://schemas.microsoft.com/office/drawing/2014/main" id="{8193826E-EF75-4EC3-FBAC-89506BD24D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8">
            <a:extLst>
              <a:ext uri="{FF2B5EF4-FFF2-40B4-BE49-F238E27FC236}">
                <a16:creationId xmlns:a16="http://schemas.microsoft.com/office/drawing/2014/main" id="{DDA95725-52A6-B9FE-9758-2B4143CA1342}"/>
              </a:ext>
            </a:extLst>
          </p:cNvPr>
          <p:cNvSpPr/>
          <p:nvPr/>
        </p:nvSpPr>
        <p:spPr>
          <a:xfrm>
            <a:off x="584425" y="6387200"/>
            <a:ext cx="582000" cy="309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2"/>
                </a:solidFill>
              </a:rPr>
              <a:t>202</a:t>
            </a:r>
            <a:r>
              <a:rPr lang="ru-RU" dirty="0">
                <a:solidFill>
                  <a:schemeClr val="lt2"/>
                </a:solidFill>
              </a:rPr>
              <a:t>6</a:t>
            </a:r>
            <a:endParaRPr dirty="0">
              <a:solidFill>
                <a:schemeClr val="lt2"/>
              </a:solidFill>
            </a:endParaRPr>
          </a:p>
        </p:txBody>
      </p:sp>
      <p:sp>
        <p:nvSpPr>
          <p:cNvPr id="311" name="Google Shape;311;p38">
            <a:extLst>
              <a:ext uri="{FF2B5EF4-FFF2-40B4-BE49-F238E27FC236}">
                <a16:creationId xmlns:a16="http://schemas.microsoft.com/office/drawing/2014/main" id="{9C2DDD59-5A45-73BE-BAED-78FB23FF5CE3}"/>
              </a:ext>
            </a:extLst>
          </p:cNvPr>
          <p:cNvSpPr txBox="1"/>
          <p:nvPr/>
        </p:nvSpPr>
        <p:spPr>
          <a:xfrm>
            <a:off x="555523" y="870875"/>
            <a:ext cx="11814052" cy="56630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BPMN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2.0 предлагает богатую библиотеку символов, но построена она по принципу "от простого к сложному". Все элементы делятся на:</a:t>
            </a:r>
          </a:p>
          <a:p>
            <a:pPr marL="285750" indent="-285750" algn="just">
              <a:buFontTx/>
              <a:buChar char="-"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Объекты потока управления (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 Objects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 Это "глаголы" процесса.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Tx/>
              <a:buChar char="-"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События (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Events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 То, что происходит в ходе процесса (кружки). Делятся на стартовые, промежуточные и конечные. Могут быть разного типа (таймер, получение сообщения, ошибка).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Tx/>
              <a:buChar char="-"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Действия (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Activities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 Работа, которая выполняется (прямоугольники со скругленными углами). Бывают простыми (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или составными (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Tx/>
              <a:buChar char="-"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Шлюзы (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Gateways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 Точки ветвления и слияния потоков (ромбы). Определяют логику ("И", "ИЛИ", "исключающее ИЛИ").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Tx/>
              <a:buChar char="-"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Поток управления (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Sequence Flow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 Показывает порядок выполнения (сплошная линия).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Tx/>
              <a:buChar char="-"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Поток сообщений (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Message Flow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 Показывает обмен данными между разными участниками (пулами) (пунктирная линия).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Tx/>
              <a:buChar char="-"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Пул (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Pool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 Один участник процесса (например, "Банк" или "Клиент").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Tx/>
              <a:buChar char="-"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Дорожка (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Lane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 Подразделение или роль внутри пула (например, "Кредитный инспектор", "Служба безопасности").</a:t>
            </a:r>
          </a:p>
          <a:p>
            <a:pPr algn="just"/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Главное отличие от версии 1.x и других нотаций в версии 2.0 модель и нотация были объединены. Теперь у диаграммы есть не только внешний вид (форма кружочков и квадратиков), но и четко прописанная семантика поведения. Это значит, что два разных движка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workflow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(BPMS) выполнят одну и ту же BPMN-диаграмму одинаково.</a:t>
            </a:r>
          </a:p>
          <a:p>
            <a:endParaRPr lang="ru-RU" dirty="0"/>
          </a:p>
        </p:txBody>
      </p:sp>
      <p:sp>
        <p:nvSpPr>
          <p:cNvPr id="312" name="Google Shape;312;p38">
            <a:extLst>
              <a:ext uri="{FF2B5EF4-FFF2-40B4-BE49-F238E27FC236}">
                <a16:creationId xmlns:a16="http://schemas.microsoft.com/office/drawing/2014/main" id="{E36C021A-772F-A7C2-CD73-7F6965F924D9}"/>
              </a:ext>
            </a:extLst>
          </p:cNvPr>
          <p:cNvSpPr txBox="1"/>
          <p:nvPr/>
        </p:nvSpPr>
        <p:spPr>
          <a:xfrm>
            <a:off x="2319900" y="377375"/>
            <a:ext cx="7413300" cy="49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ru-RU" sz="3200" b="1" dirty="0"/>
              <a:t>Особенности стандарта </a:t>
            </a:r>
            <a:r>
              <a:rPr lang="en-US" sz="3200" b="1" dirty="0"/>
              <a:t>BPMN 2.0</a:t>
            </a:r>
            <a:endParaRPr lang="ru-RU" sz="3200" b="1" dirty="0"/>
          </a:p>
        </p:txBody>
      </p:sp>
    </p:spTree>
    <p:extLst>
      <p:ext uri="{BB962C8B-B14F-4D97-AF65-F5344CB8AC3E}">
        <p14:creationId xmlns:p14="http://schemas.microsoft.com/office/powerpoint/2010/main" val="3883779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>
          <a:extLst>
            <a:ext uri="{FF2B5EF4-FFF2-40B4-BE49-F238E27FC236}">
              <a16:creationId xmlns:a16="http://schemas.microsoft.com/office/drawing/2014/main" id="{FFCF2A12-211C-11C1-E7D4-B788C8B600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8">
            <a:extLst>
              <a:ext uri="{FF2B5EF4-FFF2-40B4-BE49-F238E27FC236}">
                <a16:creationId xmlns:a16="http://schemas.microsoft.com/office/drawing/2014/main" id="{658A66D3-D642-954F-1DD3-DA752D336168}"/>
              </a:ext>
            </a:extLst>
          </p:cNvPr>
          <p:cNvSpPr/>
          <p:nvPr/>
        </p:nvSpPr>
        <p:spPr>
          <a:xfrm>
            <a:off x="584425" y="6387200"/>
            <a:ext cx="582000" cy="309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2"/>
                </a:solidFill>
              </a:rPr>
              <a:t>202</a:t>
            </a:r>
            <a:r>
              <a:rPr lang="ru-RU" dirty="0">
                <a:solidFill>
                  <a:schemeClr val="lt2"/>
                </a:solidFill>
              </a:rPr>
              <a:t>6</a:t>
            </a:r>
            <a:endParaRPr dirty="0">
              <a:solidFill>
                <a:schemeClr val="lt2"/>
              </a:solidFill>
            </a:endParaRPr>
          </a:p>
        </p:txBody>
      </p:sp>
      <p:sp>
        <p:nvSpPr>
          <p:cNvPr id="312" name="Google Shape;312;p38">
            <a:extLst>
              <a:ext uri="{FF2B5EF4-FFF2-40B4-BE49-F238E27FC236}">
                <a16:creationId xmlns:a16="http://schemas.microsoft.com/office/drawing/2014/main" id="{A7738DCB-9942-1498-3AF9-DADD5AB8AC99}"/>
              </a:ext>
            </a:extLst>
          </p:cNvPr>
          <p:cNvSpPr txBox="1"/>
          <p:nvPr/>
        </p:nvSpPr>
        <p:spPr>
          <a:xfrm>
            <a:off x="2555874" y="229891"/>
            <a:ext cx="7413300" cy="49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ru-RU" sz="3200" b="1" dirty="0"/>
              <a:t>Диаграмма </a:t>
            </a:r>
            <a:r>
              <a:rPr lang="en-US" sz="3200" b="1" dirty="0"/>
              <a:t>BPMN</a:t>
            </a:r>
          </a:p>
        </p:txBody>
      </p:sp>
      <p:pic>
        <p:nvPicPr>
          <p:cNvPr id="3" name="Рисунок 2" descr="Изображение выглядит как текст, снимок экрана, диаграмма, схем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218D14C-646E-C941-B36B-6B7F057CBF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7467" y="1087184"/>
            <a:ext cx="5780049" cy="5165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96972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>
          <a:extLst>
            <a:ext uri="{FF2B5EF4-FFF2-40B4-BE49-F238E27FC236}">
              <a16:creationId xmlns:a16="http://schemas.microsoft.com/office/drawing/2014/main" id="{67F36849-4FA3-51B8-26D8-975873232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8">
            <a:extLst>
              <a:ext uri="{FF2B5EF4-FFF2-40B4-BE49-F238E27FC236}">
                <a16:creationId xmlns:a16="http://schemas.microsoft.com/office/drawing/2014/main" id="{A6EB2384-2E47-E1C2-11FD-7C9ED0B03E1F}"/>
              </a:ext>
            </a:extLst>
          </p:cNvPr>
          <p:cNvSpPr/>
          <p:nvPr/>
        </p:nvSpPr>
        <p:spPr>
          <a:xfrm>
            <a:off x="584425" y="6387200"/>
            <a:ext cx="582000" cy="309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2"/>
                </a:solidFill>
              </a:rPr>
              <a:t>202</a:t>
            </a:r>
            <a:r>
              <a:rPr lang="ru-RU" dirty="0">
                <a:solidFill>
                  <a:schemeClr val="lt2"/>
                </a:solidFill>
              </a:rPr>
              <a:t>6</a:t>
            </a:r>
            <a:endParaRPr dirty="0">
              <a:solidFill>
                <a:schemeClr val="lt2"/>
              </a:solidFill>
            </a:endParaRPr>
          </a:p>
        </p:txBody>
      </p:sp>
      <p:sp>
        <p:nvSpPr>
          <p:cNvPr id="312" name="Google Shape;312;p38">
            <a:extLst>
              <a:ext uri="{FF2B5EF4-FFF2-40B4-BE49-F238E27FC236}">
                <a16:creationId xmlns:a16="http://schemas.microsoft.com/office/drawing/2014/main" id="{BB00B55E-279B-52EA-26D0-C76B6D883D90}"/>
              </a:ext>
            </a:extLst>
          </p:cNvPr>
          <p:cNvSpPr txBox="1"/>
          <p:nvPr/>
        </p:nvSpPr>
        <p:spPr>
          <a:xfrm>
            <a:off x="1563329" y="229891"/>
            <a:ext cx="8405845" cy="49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ru-RU" sz="3200" b="1" dirty="0"/>
              <a:t>Концептуальная модель базы данных</a:t>
            </a:r>
            <a:endParaRPr lang="en-US" sz="32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4AA766-B4C6-4C7B-9471-9A2D020311AD}"/>
              </a:ext>
            </a:extLst>
          </p:cNvPr>
          <p:cNvSpPr txBox="1"/>
          <p:nvPr/>
        </p:nvSpPr>
        <p:spPr>
          <a:xfrm>
            <a:off x="875425" y="1666267"/>
            <a:ext cx="1062831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этом этапе определяются основные сущности предметной области и связи между ними.</a:t>
            </a:r>
          </a:p>
          <a:p>
            <a:pPr algn="just"/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Сущности:</a:t>
            </a:r>
          </a:p>
          <a:p>
            <a:pPr marL="285750" indent="-285750" algn="just">
              <a:buFontTx/>
              <a:buChar char="-"/>
            </a:pPr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Плательщик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юридическое лицо, осуществляющее платеж (ООО «Вектор»).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Tx/>
              <a:buChar char="-"/>
            </a:pPr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Получатель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администратор доходов бюджета (ОСФР).</a:t>
            </a:r>
          </a:p>
          <a:p>
            <a:pPr marL="285750" indent="-285750" algn="just">
              <a:buFontTx/>
              <a:buChar char="-"/>
            </a:pPr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Банк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кредитная организация, через которую проходит платеж (банк плательщика или получателя).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Tx/>
              <a:buChar char="-"/>
            </a:pPr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Платежное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Поручение 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документ, фиксирующий факт перечисления средств.</a:t>
            </a:r>
          </a:p>
          <a:p>
            <a:pPr algn="just"/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Связи:</a:t>
            </a:r>
          </a:p>
          <a:p>
            <a:pPr marL="285750" indent="-285750" algn="just">
              <a:buFontTx/>
              <a:buChar char="-"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Плательщик может инициировать множество платежных поручений (1:N).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 algn="just">
              <a:buFontTx/>
              <a:buChar char="-"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Получатель может получать множество платежей (1:N).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Tx/>
              <a:buChar char="-"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Банк обслуживает множество плательщиков и получателей (1:N).</a:t>
            </a:r>
          </a:p>
        </p:txBody>
      </p:sp>
    </p:spTree>
    <p:extLst>
      <p:ext uri="{BB962C8B-B14F-4D97-AF65-F5344CB8AC3E}">
        <p14:creationId xmlns:p14="http://schemas.microsoft.com/office/powerpoint/2010/main" val="29073145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>
          <a:extLst>
            <a:ext uri="{FF2B5EF4-FFF2-40B4-BE49-F238E27FC236}">
              <a16:creationId xmlns:a16="http://schemas.microsoft.com/office/drawing/2014/main" id="{441D0FD5-EBB9-4036-7383-CD9885DD5D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8">
            <a:extLst>
              <a:ext uri="{FF2B5EF4-FFF2-40B4-BE49-F238E27FC236}">
                <a16:creationId xmlns:a16="http://schemas.microsoft.com/office/drawing/2014/main" id="{94B83D3C-CE95-FD67-CDB3-5722AB51B59A}"/>
              </a:ext>
            </a:extLst>
          </p:cNvPr>
          <p:cNvSpPr/>
          <p:nvPr/>
        </p:nvSpPr>
        <p:spPr>
          <a:xfrm>
            <a:off x="584425" y="6387200"/>
            <a:ext cx="582000" cy="309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2"/>
                </a:solidFill>
              </a:rPr>
              <a:t>202</a:t>
            </a:r>
            <a:r>
              <a:rPr lang="ru-RU" dirty="0">
                <a:solidFill>
                  <a:schemeClr val="lt2"/>
                </a:solidFill>
              </a:rPr>
              <a:t>6</a:t>
            </a:r>
            <a:endParaRPr dirty="0">
              <a:solidFill>
                <a:schemeClr val="lt2"/>
              </a:solidFill>
            </a:endParaRPr>
          </a:p>
        </p:txBody>
      </p:sp>
      <p:sp>
        <p:nvSpPr>
          <p:cNvPr id="312" name="Google Shape;312;p38">
            <a:extLst>
              <a:ext uri="{FF2B5EF4-FFF2-40B4-BE49-F238E27FC236}">
                <a16:creationId xmlns:a16="http://schemas.microsoft.com/office/drawing/2014/main" id="{E3FDA2D8-933A-A395-CC97-6430A0133826}"/>
              </a:ext>
            </a:extLst>
          </p:cNvPr>
          <p:cNvSpPr txBox="1"/>
          <p:nvPr/>
        </p:nvSpPr>
        <p:spPr>
          <a:xfrm>
            <a:off x="2555874" y="229891"/>
            <a:ext cx="7413300" cy="49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ru-RU" sz="3200" b="1" dirty="0"/>
              <a:t>Логическая модель базы данных</a:t>
            </a:r>
            <a:endParaRPr lang="en-US" sz="3200" b="1" dirty="0"/>
          </a:p>
        </p:txBody>
      </p:sp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9E0FC925-AB3F-14D7-D889-2750CC4EEB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5802179"/>
              </p:ext>
            </p:extLst>
          </p:nvPr>
        </p:nvGraphicFramePr>
        <p:xfrm>
          <a:off x="1081071" y="860807"/>
          <a:ext cx="10791857" cy="552639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43274">
                  <a:extLst>
                    <a:ext uri="{9D8B030D-6E8A-4147-A177-3AD203B41FA5}">
                      <a16:colId xmlns:a16="http://schemas.microsoft.com/office/drawing/2014/main" val="1099830958"/>
                    </a:ext>
                  </a:extLst>
                </a:gridCol>
                <a:gridCol w="1328959">
                  <a:extLst>
                    <a:ext uri="{9D8B030D-6E8A-4147-A177-3AD203B41FA5}">
                      <a16:colId xmlns:a16="http://schemas.microsoft.com/office/drawing/2014/main" val="2333404635"/>
                    </a:ext>
                  </a:extLst>
                </a:gridCol>
                <a:gridCol w="1286920">
                  <a:extLst>
                    <a:ext uri="{9D8B030D-6E8A-4147-A177-3AD203B41FA5}">
                      <a16:colId xmlns:a16="http://schemas.microsoft.com/office/drawing/2014/main" val="1023074409"/>
                    </a:ext>
                  </a:extLst>
                </a:gridCol>
                <a:gridCol w="1747777">
                  <a:extLst>
                    <a:ext uri="{9D8B030D-6E8A-4147-A177-3AD203B41FA5}">
                      <a16:colId xmlns:a16="http://schemas.microsoft.com/office/drawing/2014/main" val="1483384741"/>
                    </a:ext>
                  </a:extLst>
                </a:gridCol>
                <a:gridCol w="2419109">
                  <a:extLst>
                    <a:ext uri="{9D8B030D-6E8A-4147-A177-3AD203B41FA5}">
                      <a16:colId xmlns:a16="http://schemas.microsoft.com/office/drawing/2014/main" val="1957304701"/>
                    </a:ext>
                  </a:extLst>
                </a:gridCol>
                <a:gridCol w="2565818">
                  <a:extLst>
                    <a:ext uri="{9D8B030D-6E8A-4147-A177-3AD203B41FA5}">
                      <a16:colId xmlns:a16="http://schemas.microsoft.com/office/drawing/2014/main" val="764628753"/>
                    </a:ext>
                  </a:extLst>
                </a:gridCol>
              </a:tblGrid>
              <a:tr h="47456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Таблица</a:t>
                      </a:r>
                      <a:endParaRPr lang="ru-RU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7225" marR="17225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Атрибут (поле)</a:t>
                      </a:r>
                      <a:endParaRPr lang="ru-RU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2967" marR="22967" marT="11483" marB="11483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Тип данных</a:t>
                      </a:r>
                      <a:endParaRPr lang="ru-RU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2967" marR="22967" marT="11483" marB="11483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Ключ</a:t>
                      </a:r>
                      <a:endParaRPr lang="ru-RU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2967" marR="22967" marT="11483" marB="1148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Связь</a:t>
                      </a:r>
                      <a:endParaRPr lang="ru-RU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967" marR="22967" marT="11483" marB="11483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Примечание</a:t>
                      </a:r>
                      <a:endParaRPr lang="ru-RU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2967" marR="22967" marT="11483" marB="11483"/>
                </a:tc>
                <a:extLst>
                  <a:ext uri="{0D108BD9-81ED-4DB2-BD59-A6C34878D82A}">
                    <a16:rowId xmlns:a16="http://schemas.microsoft.com/office/drawing/2014/main" val="642142574"/>
                  </a:ext>
                </a:extLst>
              </a:tr>
              <a:tr h="43105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kern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Organizations</a:t>
                      </a:r>
                      <a:endParaRPr lang="ru-RU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OrgID</a:t>
                      </a:r>
                      <a:endParaRPr lang="ru-RU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</a:t>
                      </a:r>
                      <a:endParaRPr lang="ru-RU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PK</a:t>
                      </a:r>
                      <a:endParaRPr lang="ru-RU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ru-RU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Уникальный идентификатор</a:t>
                      </a:r>
                      <a:endParaRPr lang="ru-RU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4785" marB="4785" anchor="b"/>
                </a:tc>
                <a:extLst>
                  <a:ext uri="{0D108BD9-81ED-4DB2-BD59-A6C34878D82A}">
                    <a16:rowId xmlns:a16="http://schemas.microsoft.com/office/drawing/2014/main" val="1160279609"/>
                  </a:ext>
                </a:extLst>
              </a:tr>
              <a:tr h="21102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INN</a:t>
                      </a:r>
                      <a:endParaRPr lang="ru-RU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VARCHAR(12)</a:t>
                      </a:r>
                      <a:endParaRPr lang="ru-RU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ru-RU" sz="1600" kern="1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ru-RU" sz="1600" kern="1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tc>
                  <a:txBody>
                    <a:bodyPr/>
                    <a:lstStyle/>
                    <a:p>
                      <a:r>
                        <a:rPr lang="ru-RU" sz="16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ИНН организации</a:t>
                      </a:r>
                      <a:endParaRPr lang="ru-RU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4785" marB="478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ru-RU" sz="1600" kern="1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extLst>
                  <a:ext uri="{0D108BD9-81ED-4DB2-BD59-A6C34878D82A}">
                    <a16:rowId xmlns:a16="http://schemas.microsoft.com/office/drawing/2014/main" val="3223486482"/>
                  </a:ext>
                </a:extLst>
              </a:tr>
              <a:tr h="21102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KPP</a:t>
                      </a:r>
                      <a:endParaRPr lang="ru-RU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VARCHAR(9)</a:t>
                      </a:r>
                      <a:endParaRPr lang="ru-RU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ru-RU" sz="1600" kern="1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ru-RU" sz="1600" kern="1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tc>
                  <a:txBody>
                    <a:bodyPr/>
                    <a:lstStyle/>
                    <a:p>
                      <a:r>
                        <a:rPr lang="ru-RU" sz="16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КПП (может быть NULL)</a:t>
                      </a:r>
                      <a:endParaRPr lang="ru-RU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4785" marB="478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ru-RU" sz="1600" kern="1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extLst>
                  <a:ext uri="{0D108BD9-81ED-4DB2-BD59-A6C34878D82A}">
                    <a16:rowId xmlns:a16="http://schemas.microsoft.com/office/drawing/2014/main" val="230192321"/>
                  </a:ext>
                </a:extLst>
              </a:tr>
              <a:tr h="21102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FullName</a:t>
                      </a:r>
                      <a:endParaRPr lang="ru-RU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VARCHAR(255)</a:t>
                      </a:r>
                      <a:endParaRPr lang="ru-RU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ru-RU" sz="1600" kern="1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ru-RU" sz="1600" kern="1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tc>
                  <a:txBody>
                    <a:bodyPr/>
                    <a:lstStyle/>
                    <a:p>
                      <a:r>
                        <a:rPr lang="ru-RU" sz="16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Полное наименование</a:t>
                      </a:r>
                      <a:endParaRPr lang="ru-RU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4785" marB="478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ru-RU" sz="1600" kern="1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extLst>
                  <a:ext uri="{0D108BD9-81ED-4DB2-BD59-A6C34878D82A}">
                    <a16:rowId xmlns:a16="http://schemas.microsoft.com/office/drawing/2014/main" val="218175024"/>
                  </a:ext>
                </a:extLst>
              </a:tr>
              <a:tr h="43105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RegNumber_SFR</a:t>
                      </a:r>
                      <a:endParaRPr lang="ru-RU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VARCHAR(15)</a:t>
                      </a:r>
                      <a:endParaRPr lang="ru-RU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ru-RU" sz="1600" kern="1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ru-RU" sz="1600" kern="1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tc>
                  <a:txBody>
                    <a:bodyPr/>
                    <a:lstStyle/>
                    <a:p>
                      <a:r>
                        <a:rPr lang="ru-RU" sz="16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Регистрационный номер в СФР</a:t>
                      </a:r>
                      <a:endParaRPr lang="ru-RU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4785" marB="478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ru-RU" sz="1600" kern="1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extLst>
                  <a:ext uri="{0D108BD9-81ED-4DB2-BD59-A6C34878D82A}">
                    <a16:rowId xmlns:a16="http://schemas.microsoft.com/office/drawing/2014/main" val="1668287420"/>
                  </a:ext>
                </a:extLst>
              </a:tr>
              <a:tr h="43105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kern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Banks</a:t>
                      </a:r>
                      <a:endParaRPr lang="ru-RU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BIC</a:t>
                      </a:r>
                      <a:endParaRPr lang="ru-RU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VARCHAR(9)</a:t>
                      </a:r>
                      <a:endParaRPr lang="ru-RU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PK</a:t>
                      </a:r>
                      <a:endParaRPr lang="ru-RU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tc>
                  <a:txBody>
                    <a:bodyPr/>
                    <a:lstStyle/>
                    <a:p>
                      <a:endParaRPr lang="ru-RU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БИК — первичный ключ</a:t>
                      </a:r>
                      <a:endParaRPr lang="ru-RU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4785" marB="4785" anchor="b"/>
                </a:tc>
                <a:extLst>
                  <a:ext uri="{0D108BD9-81ED-4DB2-BD59-A6C34878D82A}">
                    <a16:rowId xmlns:a16="http://schemas.microsoft.com/office/drawing/2014/main" val="2947279559"/>
                  </a:ext>
                </a:extLst>
              </a:tr>
              <a:tr h="21102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BankName</a:t>
                      </a:r>
                      <a:endParaRPr lang="ru-RU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VARCHAR(255)</a:t>
                      </a:r>
                      <a:endParaRPr lang="ru-RU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ru-RU" sz="1600" kern="1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ru-RU" sz="1600" kern="1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tc>
                  <a:txBody>
                    <a:bodyPr/>
                    <a:lstStyle/>
                    <a:p>
                      <a:r>
                        <a:rPr lang="ru-RU" sz="16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Наименование банка</a:t>
                      </a:r>
                      <a:endParaRPr lang="ru-RU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4785" marB="478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ru-RU" sz="1600" kern="1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extLst>
                  <a:ext uri="{0D108BD9-81ED-4DB2-BD59-A6C34878D82A}">
                    <a16:rowId xmlns:a16="http://schemas.microsoft.com/office/drawing/2014/main" val="3625761257"/>
                  </a:ext>
                </a:extLst>
              </a:tr>
              <a:tr h="21102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CorrAccount</a:t>
                      </a:r>
                      <a:endParaRPr lang="ru-RU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VARCHAR(20)</a:t>
                      </a:r>
                      <a:endParaRPr lang="ru-RU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ru-RU" sz="1600" kern="1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ru-RU" sz="1600" kern="1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tc>
                  <a:txBody>
                    <a:bodyPr/>
                    <a:lstStyle/>
                    <a:p>
                      <a:r>
                        <a:rPr lang="ru-RU" sz="16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Корреспондентский счет</a:t>
                      </a:r>
                      <a:endParaRPr lang="ru-RU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4785" marB="478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ru-RU" sz="1600" kern="1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extLst>
                  <a:ext uri="{0D108BD9-81ED-4DB2-BD59-A6C34878D82A}">
                    <a16:rowId xmlns:a16="http://schemas.microsoft.com/office/drawing/2014/main" val="3713892362"/>
                  </a:ext>
                </a:extLst>
              </a:tr>
              <a:tr h="44350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KBK</a:t>
                      </a:r>
                      <a:endParaRPr lang="ru-RU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kern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KBKCode</a:t>
                      </a:r>
                      <a:endParaRPr lang="ru-RU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VARCHAR(20)</a:t>
                      </a:r>
                      <a:endParaRPr lang="ru-RU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PK</a:t>
                      </a:r>
                      <a:endParaRPr lang="ru-RU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tc>
                  <a:txBody>
                    <a:bodyPr/>
                    <a:lstStyle/>
                    <a:p>
                      <a:endParaRPr lang="ru-RU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Код бюджетной классификации</a:t>
                      </a:r>
                      <a:endParaRPr lang="ru-RU" sz="16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4785" marB="4785" anchor="b"/>
                </a:tc>
                <a:extLst>
                  <a:ext uri="{0D108BD9-81ED-4DB2-BD59-A6C34878D82A}">
                    <a16:rowId xmlns:a16="http://schemas.microsoft.com/office/drawing/2014/main" val="3036449887"/>
                  </a:ext>
                </a:extLst>
              </a:tr>
              <a:tr h="29181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lang="ru-RU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6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VARCHAR(255)</a:t>
                      </a:r>
                      <a:endParaRPr lang="ru-RU" sz="16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ru-RU" sz="1600" kern="1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ru-RU" sz="1600" kern="1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tc>
                  <a:txBody>
                    <a:bodyPr/>
                    <a:lstStyle/>
                    <a:p>
                      <a:r>
                        <a:rPr lang="ru-RU" sz="16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Назначение КБК</a:t>
                      </a:r>
                      <a:endParaRPr lang="ru-RU"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4785" marB="478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ru-RU" sz="1600" kern="1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extLst>
                  <a:ext uri="{0D108BD9-81ED-4DB2-BD59-A6C34878D82A}">
                    <a16:rowId xmlns:a16="http://schemas.microsoft.com/office/drawing/2014/main" val="29966933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24199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>
          <a:extLst>
            <a:ext uri="{FF2B5EF4-FFF2-40B4-BE49-F238E27FC236}">
              <a16:creationId xmlns:a16="http://schemas.microsoft.com/office/drawing/2014/main" id="{BD30A3C5-DEC7-C2FB-4067-488E27D307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8">
            <a:extLst>
              <a:ext uri="{FF2B5EF4-FFF2-40B4-BE49-F238E27FC236}">
                <a16:creationId xmlns:a16="http://schemas.microsoft.com/office/drawing/2014/main" id="{FA44962A-7743-B11C-7CFA-424F11226CFC}"/>
              </a:ext>
            </a:extLst>
          </p:cNvPr>
          <p:cNvSpPr/>
          <p:nvPr/>
        </p:nvSpPr>
        <p:spPr>
          <a:xfrm>
            <a:off x="584425" y="6387200"/>
            <a:ext cx="582000" cy="309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2"/>
                </a:solidFill>
              </a:rPr>
              <a:t>202</a:t>
            </a:r>
            <a:r>
              <a:rPr lang="ru-RU" dirty="0">
                <a:solidFill>
                  <a:schemeClr val="lt2"/>
                </a:solidFill>
              </a:rPr>
              <a:t>6</a:t>
            </a:r>
            <a:endParaRPr dirty="0">
              <a:solidFill>
                <a:schemeClr val="lt2"/>
              </a:solidFill>
            </a:endParaRPr>
          </a:p>
        </p:txBody>
      </p:sp>
      <p:sp>
        <p:nvSpPr>
          <p:cNvPr id="312" name="Google Shape;312;p38">
            <a:extLst>
              <a:ext uri="{FF2B5EF4-FFF2-40B4-BE49-F238E27FC236}">
                <a16:creationId xmlns:a16="http://schemas.microsoft.com/office/drawing/2014/main" id="{E224EF88-FB10-0598-4736-3893200FF7DE}"/>
              </a:ext>
            </a:extLst>
          </p:cNvPr>
          <p:cNvSpPr txBox="1"/>
          <p:nvPr/>
        </p:nvSpPr>
        <p:spPr>
          <a:xfrm>
            <a:off x="2555874" y="229891"/>
            <a:ext cx="7413300" cy="49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ru-RU" sz="3200" b="1" dirty="0"/>
              <a:t>Логическая модель базы данных</a:t>
            </a:r>
            <a:endParaRPr lang="en-US" sz="3200" b="1" dirty="0"/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3003AFCF-19AB-F26B-6B54-F81BEBC865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7193518"/>
              </p:ext>
            </p:extLst>
          </p:nvPr>
        </p:nvGraphicFramePr>
        <p:xfrm>
          <a:off x="1081071" y="802811"/>
          <a:ext cx="10791857" cy="537103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43274">
                  <a:extLst>
                    <a:ext uri="{9D8B030D-6E8A-4147-A177-3AD203B41FA5}">
                      <a16:colId xmlns:a16="http://schemas.microsoft.com/office/drawing/2014/main" val="3914890266"/>
                    </a:ext>
                  </a:extLst>
                </a:gridCol>
                <a:gridCol w="1230960">
                  <a:extLst>
                    <a:ext uri="{9D8B030D-6E8A-4147-A177-3AD203B41FA5}">
                      <a16:colId xmlns:a16="http://schemas.microsoft.com/office/drawing/2014/main" val="2005511381"/>
                    </a:ext>
                  </a:extLst>
                </a:gridCol>
                <a:gridCol w="1384919">
                  <a:extLst>
                    <a:ext uri="{9D8B030D-6E8A-4147-A177-3AD203B41FA5}">
                      <a16:colId xmlns:a16="http://schemas.microsoft.com/office/drawing/2014/main" val="341845669"/>
                    </a:ext>
                  </a:extLst>
                </a:gridCol>
                <a:gridCol w="1747777">
                  <a:extLst>
                    <a:ext uri="{9D8B030D-6E8A-4147-A177-3AD203B41FA5}">
                      <a16:colId xmlns:a16="http://schemas.microsoft.com/office/drawing/2014/main" val="2392460447"/>
                    </a:ext>
                  </a:extLst>
                </a:gridCol>
                <a:gridCol w="2419109">
                  <a:extLst>
                    <a:ext uri="{9D8B030D-6E8A-4147-A177-3AD203B41FA5}">
                      <a16:colId xmlns:a16="http://schemas.microsoft.com/office/drawing/2014/main" val="28011696"/>
                    </a:ext>
                  </a:extLst>
                </a:gridCol>
                <a:gridCol w="2565818">
                  <a:extLst>
                    <a:ext uri="{9D8B030D-6E8A-4147-A177-3AD203B41FA5}">
                      <a16:colId xmlns:a16="http://schemas.microsoft.com/office/drawing/2014/main" val="937194510"/>
                    </a:ext>
                  </a:extLst>
                </a:gridCol>
              </a:tblGrid>
              <a:tr h="29795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5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PaymentOrders</a:t>
                      </a:r>
                      <a:endParaRPr lang="ru-RU" sz="15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500" b="0" kern="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PaymentID</a:t>
                      </a:r>
                      <a:endParaRPr lang="ru-RU" sz="1500" b="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>
                    <a:solidFill>
                      <a:srgbClr val="F0E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500" b="0" kern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</a:t>
                      </a:r>
                      <a:endParaRPr lang="ru-RU" sz="1500" b="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>
                    <a:solidFill>
                      <a:srgbClr val="F0E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500" b="0" kern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PK</a:t>
                      </a:r>
                      <a:endParaRPr lang="ru-RU" sz="1500" b="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>
                    <a:solidFill>
                      <a:srgbClr val="F0E7E8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sz="15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>
                    <a:solidFill>
                      <a:srgbClr val="F0E7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500" b="0" kern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Уникальный ID платежа в системе</a:t>
                      </a:r>
                      <a:endParaRPr lang="ru-RU" sz="1500" b="0" kern="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4785" marB="4785" anchor="b">
                    <a:solidFill>
                      <a:srgbClr val="F0E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8337643"/>
                  </a:ext>
                </a:extLst>
              </a:tr>
              <a:tr h="21102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5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DocNumber</a:t>
                      </a:r>
                      <a:endParaRPr lang="ru-RU" sz="15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5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VARCHAR(10)</a:t>
                      </a:r>
                      <a:endParaRPr lang="ru-RU" sz="15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ru-RU" sz="1500" kern="1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ru-RU" sz="1500" kern="1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tc>
                  <a:txBody>
                    <a:bodyPr/>
                    <a:lstStyle/>
                    <a:p>
                      <a:r>
                        <a:rPr lang="ru-RU" sz="15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Номер документа (9)</a:t>
                      </a:r>
                      <a:endParaRPr lang="ru-RU" sz="15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4785" marB="478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ru-RU" sz="1500" kern="1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extLst>
                  <a:ext uri="{0D108BD9-81ED-4DB2-BD59-A6C34878D82A}">
                    <a16:rowId xmlns:a16="http://schemas.microsoft.com/office/drawing/2014/main" val="2507520947"/>
                  </a:ext>
                </a:extLst>
              </a:tr>
              <a:tr h="21102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5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DocDate</a:t>
                      </a:r>
                      <a:endParaRPr lang="ru-RU" sz="15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5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DATE</a:t>
                      </a:r>
                      <a:endParaRPr lang="ru-RU" sz="15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ru-RU" sz="1500" kern="1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ru-RU" sz="1500" kern="1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tc>
                  <a:txBody>
                    <a:bodyPr/>
                    <a:lstStyle/>
                    <a:p>
                      <a:r>
                        <a:rPr lang="ru-RU" sz="15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Дата документа (11.02.2025)</a:t>
                      </a:r>
                      <a:endParaRPr lang="ru-RU" sz="15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4785" marB="478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ru-RU" sz="1500" kern="1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extLst>
                  <a:ext uri="{0D108BD9-81ED-4DB2-BD59-A6C34878D82A}">
                    <a16:rowId xmlns:a16="http://schemas.microsoft.com/office/drawing/2014/main" val="2220076056"/>
                  </a:ext>
                </a:extLst>
              </a:tr>
              <a:tr h="21102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5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Amount</a:t>
                      </a:r>
                      <a:endParaRPr lang="ru-RU" sz="15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5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DECIMAL(15,2)</a:t>
                      </a:r>
                      <a:endParaRPr lang="ru-RU" sz="15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ru-RU" sz="1500" kern="1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ru-RU" sz="1500" kern="1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tc>
                  <a:txBody>
                    <a:bodyPr/>
                    <a:lstStyle/>
                    <a:p>
                      <a:r>
                        <a:rPr lang="ru-RU" sz="15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Основание (6480.28)</a:t>
                      </a:r>
                      <a:endParaRPr lang="ru-RU" sz="15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4785" marB="478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ru-RU" sz="1500" kern="1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extLst>
                  <a:ext uri="{0D108BD9-81ED-4DB2-BD59-A6C34878D82A}">
                    <a16:rowId xmlns:a16="http://schemas.microsoft.com/office/drawing/2014/main" val="2145512760"/>
                  </a:ext>
                </a:extLst>
              </a:tr>
              <a:tr h="21102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5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Purpose</a:t>
                      </a:r>
                      <a:endParaRPr lang="ru-RU" sz="15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5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VARCHAR(210)</a:t>
                      </a:r>
                      <a:endParaRPr lang="ru-RU" sz="15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ru-RU" sz="1500" kern="1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ru-RU" sz="1500" kern="1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tc>
                  <a:txBody>
                    <a:bodyPr/>
                    <a:lstStyle/>
                    <a:p>
                      <a:r>
                        <a:rPr lang="ru-RU" sz="15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Назначение платежа</a:t>
                      </a:r>
                      <a:endParaRPr lang="ru-RU" sz="15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4785" marB="478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ru-RU" sz="1500" kern="1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extLst>
                  <a:ext uri="{0D108BD9-81ED-4DB2-BD59-A6C34878D82A}">
                    <a16:rowId xmlns:a16="http://schemas.microsoft.com/office/drawing/2014/main" val="2677027333"/>
                  </a:ext>
                </a:extLst>
              </a:tr>
              <a:tr h="21102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5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PayerID</a:t>
                      </a:r>
                      <a:endParaRPr lang="ru-RU" sz="15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5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</a:t>
                      </a:r>
                      <a:endParaRPr lang="ru-RU" sz="15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5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FK</a:t>
                      </a:r>
                      <a:endParaRPr lang="ru-RU" sz="15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5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-&gt; Organizations.OrgID</a:t>
                      </a:r>
                      <a:endParaRPr lang="ru-RU" sz="15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tc>
                  <a:txBody>
                    <a:bodyPr/>
                    <a:lstStyle/>
                    <a:p>
                      <a:r>
                        <a:rPr lang="ru-RU" sz="15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Кто платит</a:t>
                      </a:r>
                      <a:endParaRPr lang="ru-RU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ru-RU" sz="1500" kern="1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extLst>
                  <a:ext uri="{0D108BD9-81ED-4DB2-BD59-A6C34878D82A}">
                    <a16:rowId xmlns:a16="http://schemas.microsoft.com/office/drawing/2014/main" val="641788618"/>
                  </a:ext>
                </a:extLst>
              </a:tr>
              <a:tr h="21102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5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PayerBankBIC</a:t>
                      </a:r>
                      <a:endParaRPr lang="ru-RU" sz="15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5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VARCHAR(9)</a:t>
                      </a:r>
                      <a:endParaRPr lang="ru-RU" sz="15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5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FK</a:t>
                      </a:r>
                      <a:endParaRPr lang="ru-RU" sz="15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5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-&gt; Banks.BIC</a:t>
                      </a:r>
                      <a:endParaRPr lang="ru-RU" sz="15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tc>
                  <a:txBody>
                    <a:bodyPr/>
                    <a:lstStyle/>
                    <a:p>
                      <a:r>
                        <a:rPr lang="ru-RU" sz="15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Банк плательщика</a:t>
                      </a:r>
                      <a:endParaRPr lang="ru-RU" sz="15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4785" marB="478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ru-RU" sz="1500" kern="1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extLst>
                  <a:ext uri="{0D108BD9-81ED-4DB2-BD59-A6C34878D82A}">
                    <a16:rowId xmlns:a16="http://schemas.microsoft.com/office/drawing/2014/main" val="946391446"/>
                  </a:ext>
                </a:extLst>
              </a:tr>
              <a:tr h="21102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5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PayeeID</a:t>
                      </a:r>
                      <a:endParaRPr lang="ru-RU" sz="15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5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</a:t>
                      </a:r>
                      <a:endParaRPr lang="ru-RU" sz="15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5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FK</a:t>
                      </a:r>
                      <a:endParaRPr lang="ru-RU" sz="15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5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-&gt; Organizations.OrgID</a:t>
                      </a:r>
                      <a:endParaRPr lang="ru-RU" sz="15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tc>
                  <a:txBody>
                    <a:bodyPr/>
                    <a:lstStyle/>
                    <a:p>
                      <a:r>
                        <a:rPr lang="ru-RU" sz="15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Кто получает</a:t>
                      </a:r>
                      <a:endParaRPr lang="ru-RU" sz="15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ru-RU" sz="1500" kern="1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extLst>
                  <a:ext uri="{0D108BD9-81ED-4DB2-BD59-A6C34878D82A}">
                    <a16:rowId xmlns:a16="http://schemas.microsoft.com/office/drawing/2014/main" val="3634424129"/>
                  </a:ext>
                </a:extLst>
              </a:tr>
              <a:tr h="21102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5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PayeeBankBIC</a:t>
                      </a:r>
                      <a:endParaRPr lang="ru-RU" sz="15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5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VARCHAR(9)</a:t>
                      </a:r>
                      <a:endParaRPr lang="ru-RU" sz="15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5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FK</a:t>
                      </a:r>
                      <a:endParaRPr lang="ru-RU" sz="15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5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-&gt; </a:t>
                      </a:r>
                      <a:r>
                        <a:rPr lang="ru-RU" sz="1500" kern="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Banks.BIC</a:t>
                      </a:r>
                      <a:endParaRPr lang="ru-RU" sz="15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tc>
                  <a:txBody>
                    <a:bodyPr/>
                    <a:lstStyle/>
                    <a:p>
                      <a:r>
                        <a:rPr lang="ru-RU" sz="15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Банк получателя</a:t>
                      </a:r>
                      <a:endParaRPr lang="ru-RU" sz="15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4785" marB="478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ru-RU" sz="1500" kern="1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extLst>
                  <a:ext uri="{0D108BD9-81ED-4DB2-BD59-A6C34878D82A}">
                    <a16:rowId xmlns:a16="http://schemas.microsoft.com/office/drawing/2014/main" val="412892691"/>
                  </a:ext>
                </a:extLst>
              </a:tr>
              <a:tr h="21102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5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KBKCode</a:t>
                      </a:r>
                      <a:endParaRPr lang="ru-RU" sz="15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5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VARCHAR(20)</a:t>
                      </a:r>
                      <a:endParaRPr lang="ru-RU" sz="15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5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FK</a:t>
                      </a:r>
                      <a:endParaRPr lang="ru-RU" sz="15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5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-&gt; KBK.KBKCode</a:t>
                      </a:r>
                      <a:endParaRPr lang="ru-RU" sz="15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tc>
                  <a:txBody>
                    <a:bodyPr/>
                    <a:lstStyle/>
                    <a:p>
                      <a:r>
                        <a:rPr lang="ru-RU" sz="15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КБК платежа</a:t>
                      </a:r>
                      <a:endParaRPr lang="ru-RU" sz="15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ru-RU" sz="1500" kern="1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extLst>
                  <a:ext uri="{0D108BD9-81ED-4DB2-BD59-A6C34878D82A}">
                    <a16:rowId xmlns:a16="http://schemas.microsoft.com/office/drawing/2014/main" val="2862173500"/>
                  </a:ext>
                </a:extLst>
              </a:tr>
              <a:tr h="21102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5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PayerStatus</a:t>
                      </a:r>
                      <a:endParaRPr lang="ru-RU" sz="15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5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</a:t>
                      </a:r>
                      <a:endParaRPr lang="ru-RU" sz="15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ru-RU" sz="1500" kern="1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ru-RU" sz="1500" kern="1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tc>
                  <a:txBody>
                    <a:bodyPr/>
                    <a:lstStyle/>
                    <a:p>
                      <a:r>
                        <a:rPr lang="ru-RU" sz="15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Статус плательщика (08)</a:t>
                      </a:r>
                      <a:endParaRPr lang="ru-RU" sz="15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4785" marB="478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ru-RU" sz="1500" kern="1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extLst>
                  <a:ext uri="{0D108BD9-81ED-4DB2-BD59-A6C34878D82A}">
                    <a16:rowId xmlns:a16="http://schemas.microsoft.com/office/drawing/2014/main" val="2880468433"/>
                  </a:ext>
                </a:extLst>
              </a:tr>
              <a:tr h="21102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5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PaymentOrder</a:t>
                      </a:r>
                      <a:endParaRPr lang="ru-RU" sz="15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5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</a:t>
                      </a:r>
                      <a:endParaRPr lang="ru-RU" sz="15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ru-RU" sz="1500" kern="1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ru-RU" sz="1500" kern="1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tc>
                  <a:txBody>
                    <a:bodyPr/>
                    <a:lstStyle/>
                    <a:p>
                      <a:r>
                        <a:rPr lang="ru-RU" sz="15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Очередность (5)</a:t>
                      </a:r>
                      <a:endParaRPr lang="ru-RU" sz="15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4785" marB="478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ru-RU" sz="1500" kern="1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extLst>
                  <a:ext uri="{0D108BD9-81ED-4DB2-BD59-A6C34878D82A}">
                    <a16:rowId xmlns:a16="http://schemas.microsoft.com/office/drawing/2014/main" val="3969120739"/>
                  </a:ext>
                </a:extLst>
              </a:tr>
              <a:tr h="21102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5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UIN</a:t>
                      </a:r>
                      <a:endParaRPr lang="ru-RU" sz="15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ru-RU" sz="1500" ker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VARCHAR(25)</a:t>
                      </a:r>
                      <a:endParaRPr lang="ru-RU" sz="15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ru-RU" sz="1500" kern="1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buNone/>
                      </a:pPr>
                      <a:endParaRPr lang="ru-RU" sz="1500" kern="1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tc>
                  <a:txBody>
                    <a:bodyPr/>
                    <a:lstStyle/>
                    <a:p>
                      <a:r>
                        <a:rPr lang="ru-RU" sz="1500" kern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Уникальный идентификатор (0)</a:t>
                      </a:r>
                      <a:endParaRPr lang="ru-RU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4785" marB="4785" anchor="b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ru-RU" sz="1500" kern="1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177" marR="7177" marT="4785" marB="4785" anchor="b"/>
                </a:tc>
                <a:extLst>
                  <a:ext uri="{0D108BD9-81ED-4DB2-BD59-A6C34878D82A}">
                    <a16:rowId xmlns:a16="http://schemas.microsoft.com/office/drawing/2014/main" val="11915995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06630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>
          <a:extLst>
            <a:ext uri="{FF2B5EF4-FFF2-40B4-BE49-F238E27FC236}">
              <a16:creationId xmlns:a16="http://schemas.microsoft.com/office/drawing/2014/main" id="{517E1F33-C4F0-C00A-3308-E439CC5A9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8">
            <a:extLst>
              <a:ext uri="{FF2B5EF4-FFF2-40B4-BE49-F238E27FC236}">
                <a16:creationId xmlns:a16="http://schemas.microsoft.com/office/drawing/2014/main" id="{D949421A-FCE0-BBCA-8AEB-D6A9480989C4}"/>
              </a:ext>
            </a:extLst>
          </p:cNvPr>
          <p:cNvSpPr/>
          <p:nvPr/>
        </p:nvSpPr>
        <p:spPr>
          <a:xfrm>
            <a:off x="584425" y="6387200"/>
            <a:ext cx="582000" cy="309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2"/>
                </a:solidFill>
              </a:rPr>
              <a:t>202</a:t>
            </a:r>
            <a:r>
              <a:rPr lang="ru-RU" dirty="0">
                <a:solidFill>
                  <a:schemeClr val="lt2"/>
                </a:solidFill>
              </a:rPr>
              <a:t>6</a:t>
            </a:r>
            <a:endParaRPr dirty="0">
              <a:solidFill>
                <a:schemeClr val="lt2"/>
              </a:solidFill>
            </a:endParaRPr>
          </a:p>
        </p:txBody>
      </p:sp>
      <p:sp>
        <p:nvSpPr>
          <p:cNvPr id="312" name="Google Shape;312;p38">
            <a:extLst>
              <a:ext uri="{FF2B5EF4-FFF2-40B4-BE49-F238E27FC236}">
                <a16:creationId xmlns:a16="http://schemas.microsoft.com/office/drawing/2014/main" id="{9F64748A-7FAD-AC7D-DD81-FFF0EC313404}"/>
              </a:ext>
            </a:extLst>
          </p:cNvPr>
          <p:cNvSpPr txBox="1"/>
          <p:nvPr/>
        </p:nvSpPr>
        <p:spPr>
          <a:xfrm>
            <a:off x="2555874" y="229891"/>
            <a:ext cx="7413300" cy="49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ru-RU" sz="3200" b="1" dirty="0"/>
              <a:t>Физическая модель базы данных</a:t>
            </a:r>
            <a:endParaRPr lang="en-US" sz="3200" b="1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4A99753-64F7-39CE-E7DD-1191A63AAC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5021" y="938797"/>
            <a:ext cx="4035006" cy="5254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35725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>
          <a:extLst>
            <a:ext uri="{FF2B5EF4-FFF2-40B4-BE49-F238E27FC236}">
              <a16:creationId xmlns:a16="http://schemas.microsoft.com/office/drawing/2014/main" id="{9556E258-8069-7B7B-5D31-F7385C9300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8">
            <a:extLst>
              <a:ext uri="{FF2B5EF4-FFF2-40B4-BE49-F238E27FC236}">
                <a16:creationId xmlns:a16="http://schemas.microsoft.com/office/drawing/2014/main" id="{DF80C181-A9AC-29D9-5874-BD3D3E20CA94}"/>
              </a:ext>
            </a:extLst>
          </p:cNvPr>
          <p:cNvSpPr/>
          <p:nvPr/>
        </p:nvSpPr>
        <p:spPr>
          <a:xfrm>
            <a:off x="584425" y="6387200"/>
            <a:ext cx="582000" cy="3096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lt2"/>
                </a:solidFill>
              </a:rPr>
              <a:t>202</a:t>
            </a:r>
            <a:r>
              <a:rPr lang="ru-RU" dirty="0">
                <a:solidFill>
                  <a:schemeClr val="lt2"/>
                </a:solidFill>
              </a:rPr>
              <a:t>6</a:t>
            </a:r>
            <a:endParaRPr dirty="0">
              <a:solidFill>
                <a:schemeClr val="lt2"/>
              </a:solidFill>
            </a:endParaRPr>
          </a:p>
        </p:txBody>
      </p:sp>
      <p:sp>
        <p:nvSpPr>
          <p:cNvPr id="312" name="Google Shape;312;p38">
            <a:extLst>
              <a:ext uri="{FF2B5EF4-FFF2-40B4-BE49-F238E27FC236}">
                <a16:creationId xmlns:a16="http://schemas.microsoft.com/office/drawing/2014/main" id="{BA66BC85-9ED2-4512-B1C3-D0B1A15F50BA}"/>
              </a:ext>
            </a:extLst>
          </p:cNvPr>
          <p:cNvSpPr txBox="1"/>
          <p:nvPr/>
        </p:nvSpPr>
        <p:spPr>
          <a:xfrm>
            <a:off x="2555874" y="229891"/>
            <a:ext cx="7413300" cy="49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ru-RU" sz="3200" b="1" dirty="0"/>
              <a:t>Физическая модель базы данных</a:t>
            </a:r>
            <a:endParaRPr lang="en-US" sz="32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C0F843-FFAD-D0F5-1CCE-2D8B28189C50}"/>
              </a:ext>
            </a:extLst>
          </p:cNvPr>
          <p:cNvSpPr txBox="1"/>
          <p:nvPr/>
        </p:nvSpPr>
        <p:spPr>
          <a:xfrm>
            <a:off x="414634" y="1048110"/>
            <a:ext cx="6479626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-- Таблица банков</a:t>
            </a:r>
          </a:p>
          <a:p>
            <a:r>
              <a:rPr lang="ru-RU" dirty="0"/>
              <a:t>CREATE TABLE </a:t>
            </a:r>
            <a:r>
              <a:rPr lang="ru-RU" dirty="0" err="1"/>
              <a:t>Banks</a:t>
            </a:r>
            <a:r>
              <a:rPr lang="ru-RU" dirty="0"/>
              <a:t> (</a:t>
            </a:r>
          </a:p>
          <a:p>
            <a:r>
              <a:rPr lang="ru-RU" dirty="0"/>
              <a:t>    BIC VARCHAR(9) PRIMARY KEY,</a:t>
            </a:r>
          </a:p>
          <a:p>
            <a:r>
              <a:rPr lang="ru-RU" dirty="0"/>
              <a:t>    </a:t>
            </a:r>
            <a:r>
              <a:rPr lang="ru-RU" dirty="0" err="1"/>
              <a:t>BankName</a:t>
            </a:r>
            <a:r>
              <a:rPr lang="ru-RU" dirty="0"/>
              <a:t> VARCHAR(255) NOT NULL,</a:t>
            </a:r>
          </a:p>
          <a:p>
            <a:r>
              <a:rPr lang="ru-RU" dirty="0"/>
              <a:t>    </a:t>
            </a:r>
            <a:r>
              <a:rPr lang="ru-RU" dirty="0" err="1"/>
              <a:t>CorrAccount</a:t>
            </a:r>
            <a:r>
              <a:rPr lang="ru-RU" dirty="0"/>
              <a:t> VARCHAR(20) NOT NULL</a:t>
            </a:r>
          </a:p>
          <a:p>
            <a:r>
              <a:rPr lang="ru-RU" dirty="0"/>
              <a:t>);</a:t>
            </a:r>
          </a:p>
          <a:p>
            <a:endParaRPr lang="ru-RU" dirty="0"/>
          </a:p>
          <a:p>
            <a:r>
              <a:rPr lang="ru-RU" dirty="0"/>
              <a:t>-- Таблица организаций (плательщики/получатели)</a:t>
            </a:r>
          </a:p>
          <a:p>
            <a:r>
              <a:rPr lang="ru-RU" dirty="0"/>
              <a:t>CREATE TABLE </a:t>
            </a:r>
            <a:r>
              <a:rPr lang="ru-RU" dirty="0" err="1"/>
              <a:t>Organizations</a:t>
            </a:r>
            <a:r>
              <a:rPr lang="ru-RU" dirty="0"/>
              <a:t> (</a:t>
            </a:r>
          </a:p>
          <a:p>
            <a:r>
              <a:rPr lang="ru-RU" dirty="0"/>
              <a:t>    </a:t>
            </a:r>
            <a:r>
              <a:rPr lang="ru-RU" dirty="0" err="1"/>
              <a:t>OrgID</a:t>
            </a:r>
            <a:r>
              <a:rPr lang="ru-RU" dirty="0"/>
              <a:t> SERIAL PRIMARY KEY,</a:t>
            </a:r>
          </a:p>
          <a:p>
            <a:r>
              <a:rPr lang="ru-RU" dirty="0"/>
              <a:t>    INN VARCHAR(12) NOT NULL,</a:t>
            </a:r>
          </a:p>
          <a:p>
            <a:r>
              <a:rPr lang="ru-RU" dirty="0"/>
              <a:t>    KPP VARCHAR(9),</a:t>
            </a:r>
          </a:p>
          <a:p>
            <a:r>
              <a:rPr lang="ru-RU" dirty="0"/>
              <a:t>    </a:t>
            </a:r>
            <a:r>
              <a:rPr lang="ru-RU" dirty="0" err="1"/>
              <a:t>FullName</a:t>
            </a:r>
            <a:r>
              <a:rPr lang="ru-RU" dirty="0"/>
              <a:t> VARCHAR(255) NOT NULL,</a:t>
            </a:r>
          </a:p>
          <a:p>
            <a:r>
              <a:rPr lang="ru-RU" dirty="0"/>
              <a:t>    </a:t>
            </a:r>
            <a:r>
              <a:rPr lang="ru-RU" dirty="0" err="1"/>
              <a:t>RegNumber_SFR</a:t>
            </a:r>
            <a:r>
              <a:rPr lang="ru-RU" dirty="0"/>
              <a:t> VARCHAR(15),</a:t>
            </a:r>
          </a:p>
          <a:p>
            <a:r>
              <a:rPr lang="ru-RU" dirty="0"/>
              <a:t>    CONSTRAINT </a:t>
            </a:r>
            <a:r>
              <a:rPr lang="ru-RU" dirty="0" err="1"/>
              <a:t>unique_org</a:t>
            </a:r>
            <a:r>
              <a:rPr lang="ru-RU" dirty="0"/>
              <a:t> UNIQUE (INN, KPP)</a:t>
            </a:r>
          </a:p>
          <a:p>
            <a:r>
              <a:rPr lang="ru-RU" dirty="0"/>
              <a:t>);</a:t>
            </a:r>
          </a:p>
          <a:p>
            <a:endParaRPr lang="ru-RU" dirty="0"/>
          </a:p>
          <a:p>
            <a:r>
              <a:rPr lang="ru-RU" dirty="0"/>
              <a:t>-- Справочник КБК</a:t>
            </a:r>
          </a:p>
          <a:p>
            <a:r>
              <a:rPr lang="ru-RU" dirty="0"/>
              <a:t>CREATE TABLE KBK (</a:t>
            </a:r>
          </a:p>
          <a:p>
            <a:r>
              <a:rPr lang="ru-RU" dirty="0"/>
              <a:t>    </a:t>
            </a:r>
            <a:r>
              <a:rPr lang="ru-RU" dirty="0" err="1"/>
              <a:t>KBKCode</a:t>
            </a:r>
            <a:r>
              <a:rPr lang="ru-RU" dirty="0"/>
              <a:t> VARCHAR(20) PRIMARY KEY,</a:t>
            </a:r>
          </a:p>
          <a:p>
            <a:r>
              <a:rPr lang="ru-RU" dirty="0"/>
              <a:t>    </a:t>
            </a:r>
            <a:r>
              <a:rPr lang="ru-RU" dirty="0" err="1"/>
              <a:t>Description</a:t>
            </a:r>
            <a:r>
              <a:rPr lang="ru-RU" dirty="0"/>
              <a:t> VARCHAR(255) NOT NULL</a:t>
            </a:r>
          </a:p>
          <a:p>
            <a:r>
              <a:rPr lang="ru-RU" dirty="0"/>
              <a:t>);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657560-71FD-C246-B9F3-6936417E02AD}"/>
              </a:ext>
            </a:extLst>
          </p:cNvPr>
          <p:cNvSpPr txBox="1"/>
          <p:nvPr/>
        </p:nvSpPr>
        <p:spPr>
          <a:xfrm>
            <a:off x="5869502" y="952398"/>
            <a:ext cx="6479626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-- Таблица платежных поручений</a:t>
            </a:r>
          </a:p>
          <a:p>
            <a:r>
              <a:rPr lang="ru-RU" dirty="0"/>
              <a:t>CREATE TABLE </a:t>
            </a:r>
            <a:r>
              <a:rPr lang="ru-RU" dirty="0" err="1"/>
              <a:t>PaymentOrders</a:t>
            </a:r>
            <a:r>
              <a:rPr lang="ru-RU" dirty="0"/>
              <a:t> (</a:t>
            </a:r>
          </a:p>
          <a:p>
            <a:r>
              <a:rPr lang="ru-RU" dirty="0"/>
              <a:t>    </a:t>
            </a:r>
            <a:r>
              <a:rPr lang="ru-RU" dirty="0" err="1"/>
              <a:t>PaymentID</a:t>
            </a:r>
            <a:r>
              <a:rPr lang="ru-RU" dirty="0"/>
              <a:t> SERIAL PRIMARY KEY,</a:t>
            </a:r>
          </a:p>
          <a:p>
            <a:r>
              <a:rPr lang="ru-RU" dirty="0"/>
              <a:t>    </a:t>
            </a:r>
            <a:r>
              <a:rPr lang="ru-RU" dirty="0" err="1"/>
              <a:t>DocNumber</a:t>
            </a:r>
            <a:r>
              <a:rPr lang="ru-RU" dirty="0"/>
              <a:t> VARCHAR(10) NOT NULL,</a:t>
            </a:r>
          </a:p>
          <a:p>
            <a:r>
              <a:rPr lang="ru-RU" dirty="0"/>
              <a:t>    </a:t>
            </a:r>
            <a:r>
              <a:rPr lang="ru-RU" dirty="0" err="1"/>
              <a:t>DocDate</a:t>
            </a:r>
            <a:r>
              <a:rPr lang="ru-RU" dirty="0"/>
              <a:t> DATE NOT NULL DEFAULT CURRENT_DATE,</a:t>
            </a:r>
          </a:p>
          <a:p>
            <a:r>
              <a:rPr lang="ru-RU" dirty="0"/>
              <a:t>    </a:t>
            </a:r>
            <a:r>
              <a:rPr lang="ru-RU" dirty="0" err="1"/>
              <a:t>Amount</a:t>
            </a:r>
            <a:r>
              <a:rPr lang="ru-RU" dirty="0"/>
              <a:t> DECIMAL(15,2) NOT NULL,</a:t>
            </a:r>
          </a:p>
          <a:p>
            <a:r>
              <a:rPr lang="ru-RU" dirty="0"/>
              <a:t>    </a:t>
            </a:r>
            <a:r>
              <a:rPr lang="ru-RU" dirty="0" err="1"/>
              <a:t>Purpose</a:t>
            </a:r>
            <a:r>
              <a:rPr lang="ru-RU" dirty="0"/>
              <a:t> VARCHAR(210) NOT NULL,</a:t>
            </a:r>
          </a:p>
          <a:p>
            <a:r>
              <a:rPr lang="ru-RU" dirty="0"/>
              <a:t>    </a:t>
            </a:r>
            <a:r>
              <a:rPr lang="ru-RU" dirty="0" err="1"/>
              <a:t>PayerStatus</a:t>
            </a:r>
            <a:r>
              <a:rPr lang="ru-RU" dirty="0"/>
              <a:t> INT NOT NULL,</a:t>
            </a:r>
          </a:p>
          <a:p>
            <a:r>
              <a:rPr lang="ru-RU" dirty="0"/>
              <a:t>    </a:t>
            </a:r>
            <a:r>
              <a:rPr lang="ru-RU" dirty="0" err="1"/>
              <a:t>PaymentOrder</a:t>
            </a:r>
            <a:r>
              <a:rPr lang="ru-RU" dirty="0"/>
              <a:t> INT NOT NULL,</a:t>
            </a:r>
          </a:p>
          <a:p>
            <a:r>
              <a:rPr lang="ru-RU" dirty="0"/>
              <a:t>    UIN VARCHAR(25),</a:t>
            </a:r>
          </a:p>
          <a:p>
            <a:r>
              <a:rPr lang="ru-RU" dirty="0"/>
              <a:t>    </a:t>
            </a:r>
            <a:r>
              <a:rPr lang="ru-RU" dirty="0" err="1"/>
              <a:t>PayerID</a:t>
            </a:r>
            <a:r>
              <a:rPr lang="ru-RU" dirty="0"/>
              <a:t> INT NOT NULL REFERENCES </a:t>
            </a:r>
            <a:r>
              <a:rPr lang="ru-RU" dirty="0" err="1"/>
              <a:t>Organizations</a:t>
            </a:r>
            <a:r>
              <a:rPr lang="ru-RU" dirty="0"/>
              <a:t>(</a:t>
            </a:r>
            <a:r>
              <a:rPr lang="ru-RU" dirty="0" err="1"/>
              <a:t>OrgID</a:t>
            </a:r>
            <a:r>
              <a:rPr lang="ru-RU" dirty="0"/>
              <a:t>),</a:t>
            </a:r>
          </a:p>
          <a:p>
            <a:r>
              <a:rPr lang="ru-RU" dirty="0"/>
              <a:t>    </a:t>
            </a:r>
            <a:r>
              <a:rPr lang="ru-RU" dirty="0" err="1"/>
              <a:t>PayeeID</a:t>
            </a:r>
            <a:r>
              <a:rPr lang="ru-RU" dirty="0"/>
              <a:t> INT NOT NULL REFERENCES </a:t>
            </a:r>
            <a:r>
              <a:rPr lang="ru-RU" dirty="0" err="1"/>
              <a:t>Organizations</a:t>
            </a:r>
            <a:r>
              <a:rPr lang="ru-RU" dirty="0"/>
              <a:t>(</a:t>
            </a:r>
            <a:r>
              <a:rPr lang="ru-RU" dirty="0" err="1"/>
              <a:t>OrgID</a:t>
            </a:r>
            <a:r>
              <a:rPr lang="ru-RU" dirty="0"/>
              <a:t>),</a:t>
            </a:r>
          </a:p>
          <a:p>
            <a:r>
              <a:rPr lang="ru-RU" dirty="0"/>
              <a:t>    </a:t>
            </a:r>
            <a:r>
              <a:rPr lang="ru-RU" dirty="0" err="1"/>
              <a:t>PayerBankBIC</a:t>
            </a:r>
            <a:r>
              <a:rPr lang="ru-RU" dirty="0"/>
              <a:t> VARCHAR(9) NOT NULL REFERENCES </a:t>
            </a:r>
            <a:r>
              <a:rPr lang="ru-RU" dirty="0" err="1"/>
              <a:t>Banks</a:t>
            </a:r>
            <a:r>
              <a:rPr lang="ru-RU" dirty="0"/>
              <a:t>(BIC),</a:t>
            </a:r>
          </a:p>
          <a:p>
            <a:r>
              <a:rPr lang="ru-RU" dirty="0"/>
              <a:t>    </a:t>
            </a:r>
            <a:r>
              <a:rPr lang="ru-RU" dirty="0" err="1"/>
              <a:t>PayeeBankBIC</a:t>
            </a:r>
            <a:r>
              <a:rPr lang="ru-RU" dirty="0"/>
              <a:t> VARCHAR(9) NOT NULL REFERENCES </a:t>
            </a:r>
            <a:r>
              <a:rPr lang="ru-RU" dirty="0" err="1"/>
              <a:t>Banks</a:t>
            </a:r>
            <a:r>
              <a:rPr lang="ru-RU" dirty="0"/>
              <a:t>(BIC),</a:t>
            </a:r>
          </a:p>
          <a:p>
            <a:r>
              <a:rPr lang="ru-RU" dirty="0"/>
              <a:t>    </a:t>
            </a:r>
            <a:r>
              <a:rPr lang="ru-RU" dirty="0" err="1"/>
              <a:t>KBKCode</a:t>
            </a:r>
            <a:r>
              <a:rPr lang="ru-RU" dirty="0"/>
              <a:t> VARCHAR(20) NOT NULL REFERENCES KBK(</a:t>
            </a:r>
            <a:r>
              <a:rPr lang="ru-RU" dirty="0" err="1"/>
              <a:t>KBKCode</a:t>
            </a:r>
            <a:r>
              <a:rPr lang="ru-RU" dirty="0"/>
              <a:t>)</a:t>
            </a:r>
          </a:p>
          <a:p>
            <a:r>
              <a:rPr lang="ru-RU" dirty="0"/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1475470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p112"/>
          <p:cNvSpPr txBox="1">
            <a:spLocks noGrp="1"/>
          </p:cNvSpPr>
          <p:nvPr>
            <p:ph type="title"/>
          </p:nvPr>
        </p:nvSpPr>
        <p:spPr>
          <a:xfrm>
            <a:off x="916863" y="1616633"/>
            <a:ext cx="10423444" cy="2200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900"/>
              <a:buFont typeface="Times New Roman"/>
              <a:buNone/>
            </a:pPr>
            <a:r>
              <a:rPr lang="en-US" sz="69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СПАСИБО ЗА ВНИМАНИЕ!</a:t>
            </a:r>
            <a:endParaRPr dirty="0"/>
          </a:p>
        </p:txBody>
      </p:sp>
      <p:sp>
        <p:nvSpPr>
          <p:cNvPr id="942" name="Google Shape;942;p112"/>
          <p:cNvSpPr txBox="1"/>
          <p:nvPr/>
        </p:nvSpPr>
        <p:spPr>
          <a:xfrm>
            <a:off x="913800" y="6125934"/>
            <a:ext cx="21468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lang="en-US" sz="1400" b="0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Нижний</a:t>
            </a:r>
            <a:r>
              <a:rPr lang="en-US" sz="1400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b="0" i="0" u="none" strike="noStrike" cap="non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Новгород</a:t>
            </a:r>
            <a:r>
              <a:rPr lang="en-US" sz="1400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, 202</a:t>
            </a:r>
            <a:r>
              <a:rPr lang="ru-RU" sz="1400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dirty="0"/>
          </a:p>
        </p:txBody>
      </p:sp>
      <p:sp>
        <p:nvSpPr>
          <p:cNvPr id="943" name="Google Shape;943;p112" descr="Самые смешные фото котов, которые наделали шума в интернете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4" name="Google Shape;944;p112" descr="Самые смешные фото котов, которые наделали шума в интернете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5" name="Google Shape;945;p112" descr="Самые смешные фото котов, которые наделали шума в интернете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6" name="Google Shape;946;p112" descr="Самые смешные фото котов, которые наделали шума в интернете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7" name="Google Shape;947;p112" descr="Самые смешные фото котов, которые наделали шума в интернете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8" name="Google Shape;948;p112"/>
          <p:cNvSpPr/>
          <p:nvPr/>
        </p:nvSpPr>
        <p:spPr>
          <a:xfrm rot="-5400000">
            <a:off x="11819050" y="760475"/>
            <a:ext cx="719100" cy="4146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</a:rPr>
              <a:t>202</a:t>
            </a:r>
            <a:r>
              <a:rPr lang="ru-RU" sz="1800" dirty="0">
                <a:solidFill>
                  <a:schemeClr val="lt1"/>
                </a:solidFill>
              </a:rPr>
              <a:t>6</a:t>
            </a:r>
            <a:endParaRPr sz="1800" dirty="0"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1" dirty="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A30236"/>
      </a:accent1>
      <a:accent2>
        <a:srgbClr val="ED7D31"/>
      </a:accent2>
      <a:accent3>
        <a:srgbClr val="879DC1"/>
      </a:accent3>
      <a:accent4>
        <a:srgbClr val="FF5C36"/>
      </a:accent4>
      <a:accent5>
        <a:srgbClr val="3F5CBD"/>
      </a:accent5>
      <a:accent6>
        <a:srgbClr val="12A3AD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Тема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A30236"/>
      </a:accent1>
      <a:accent2>
        <a:srgbClr val="ED7D31"/>
      </a:accent2>
      <a:accent3>
        <a:srgbClr val="879DC1"/>
      </a:accent3>
      <a:accent4>
        <a:srgbClr val="FF5C36"/>
      </a:accent4>
      <a:accent5>
        <a:srgbClr val="3F5CBD"/>
      </a:accent5>
      <a:accent6>
        <a:srgbClr val="12A3AD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409</TotalTime>
  <Words>2258</Words>
  <Application>Microsoft Office PowerPoint</Application>
  <PresentationFormat>Произвольный</PresentationFormat>
  <Paragraphs>478</Paragraphs>
  <Slides>22</Slides>
  <Notes>22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22</vt:i4>
      </vt:variant>
    </vt:vector>
  </HeadingPairs>
  <TitlesOfParts>
    <vt:vector size="27" baseType="lpstr">
      <vt:lpstr>Times New Roman</vt:lpstr>
      <vt:lpstr>Arial</vt:lpstr>
      <vt:lpstr>Helvetica Neue</vt:lpstr>
      <vt:lpstr>Calibri</vt:lpstr>
      <vt:lpstr>Тема Office</vt:lpstr>
      <vt:lpstr>Лабораторная работа №2</vt:lpstr>
      <vt:lpstr>Цель работы</vt:lpstr>
      <vt:lpstr>Используемое ПО</vt:lpstr>
      <vt:lpstr>Платежное поручение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Arti</dc:creator>
  <cp:lastModifiedBy>Arti</cp:lastModifiedBy>
  <cp:revision>17</cp:revision>
  <dcterms:modified xsi:type="dcterms:W3CDTF">2026-02-26T09:25:31Z</dcterms:modified>
</cp:coreProperties>
</file>