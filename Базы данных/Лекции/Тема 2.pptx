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</p:sldMasterIdLst>
  <p:notesMasterIdLst>
    <p:notesMasterId r:id="rId31"/>
  </p:notesMasterIdLst>
  <p:sldIdLst>
    <p:sldId id="319" r:id="rId2"/>
    <p:sldId id="257" r:id="rId3"/>
    <p:sldId id="600" r:id="rId4"/>
    <p:sldId id="610" r:id="rId5"/>
    <p:sldId id="612" r:id="rId6"/>
    <p:sldId id="611" r:id="rId7"/>
    <p:sldId id="601" r:id="rId8"/>
    <p:sldId id="613" r:id="rId9"/>
    <p:sldId id="480" r:id="rId10"/>
    <p:sldId id="586" r:id="rId11"/>
    <p:sldId id="604" r:id="rId12"/>
    <p:sldId id="603" r:id="rId13"/>
    <p:sldId id="616" r:id="rId14"/>
    <p:sldId id="483" r:id="rId15"/>
    <p:sldId id="487" r:id="rId16"/>
    <p:sldId id="579" r:id="rId17"/>
    <p:sldId id="578" r:id="rId18"/>
    <p:sldId id="614" r:id="rId19"/>
    <p:sldId id="481" r:id="rId20"/>
    <p:sldId id="605" r:id="rId21"/>
    <p:sldId id="609" r:id="rId22"/>
    <p:sldId id="488" r:id="rId23"/>
    <p:sldId id="527" r:id="rId24"/>
    <p:sldId id="607" r:id="rId25"/>
    <p:sldId id="587" r:id="rId26"/>
    <p:sldId id="529" r:id="rId27"/>
    <p:sldId id="606" r:id="rId28"/>
    <p:sldId id="615" r:id="rId29"/>
    <p:sldId id="338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2" autoAdjust="0"/>
  </p:normalViewPr>
  <p:slideViewPr>
    <p:cSldViewPr snapToGrid="0">
      <p:cViewPr varScale="1">
        <p:scale>
          <a:sx n="61" d="100"/>
          <a:sy n="61" d="100"/>
        </p:scale>
        <p:origin x="78" y="6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8" y="223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1E16D-40AE-4F7B-89DA-08FA8576FE62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7B180-2896-4825-A371-C953116C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748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34819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ru-RU" altLang="ru-RU" smtClean="0">
              <a:latin typeface="Arial" pitchFamily="34" charset="0"/>
            </a:endParaRPr>
          </a:p>
        </p:txBody>
      </p:sp>
      <p:sp>
        <p:nvSpPr>
          <p:cNvPr id="34820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3995C959-3E6F-4A2D-BBCE-A1FF53A98587}" type="slidenum">
              <a:rPr lang="ru-RU" altLang="ru-RU">
                <a:solidFill>
                  <a:prstClr val="black"/>
                </a:solidFill>
              </a:rPr>
              <a:pPr/>
              <a:t>1</a:t>
            </a:fld>
            <a:endParaRPr lang="ru-RU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87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6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92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06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04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80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87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13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13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0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88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44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54585-7C67-480B-A3E7-2717674931C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20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ChangeArrowheads="1"/>
          </p:cNvSpPr>
          <p:nvPr/>
        </p:nvSpPr>
        <p:spPr bwMode="auto">
          <a:xfrm>
            <a:off x="4956265" y="510698"/>
            <a:ext cx="569118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НИЖЕГОРОДСКИЙ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ИНСТИТУТ	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УПРАВЛЕНИЯ			</a:t>
            </a:r>
            <a:endParaRPr lang="en-US" altLang="ru-RU" sz="1400" b="1" dirty="0">
              <a:solidFill>
                <a:srgbClr val="A40000"/>
              </a:solidFill>
              <a:latin typeface="+mn-lt"/>
              <a:cs typeface="Tahoma" pitchFamily="34" charset="0"/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75" y="854076"/>
            <a:ext cx="2344738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Прямоугольник 7"/>
          <p:cNvSpPr>
            <a:spLocks noChangeArrowheads="1"/>
          </p:cNvSpPr>
          <p:nvPr/>
        </p:nvSpPr>
        <p:spPr bwMode="auto">
          <a:xfrm flipH="1">
            <a:off x="351631" y="2762182"/>
            <a:ext cx="2843213" cy="1538287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defTabSz="1042988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1042988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 smtClean="0">
                <a:solidFill>
                  <a:schemeClr val="bg1"/>
                </a:solidFill>
              </a:rPr>
              <a:t>ТЕМА № 2</a:t>
            </a:r>
            <a:endParaRPr lang="ru-RU" altLang="ru-RU" sz="2400" b="1" dirty="0">
              <a:solidFill>
                <a:schemeClr val="bg1"/>
              </a:solidFill>
            </a:endParaRPr>
          </a:p>
        </p:txBody>
      </p:sp>
      <p:sp>
        <p:nvSpPr>
          <p:cNvPr id="5127" name="Text Box 23"/>
          <p:cNvSpPr txBox="1">
            <a:spLocks noChangeArrowheads="1"/>
          </p:cNvSpPr>
          <p:nvPr/>
        </p:nvSpPr>
        <p:spPr bwMode="auto">
          <a:xfrm>
            <a:off x="7535435" y="4944070"/>
            <a:ext cx="44339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600" dirty="0" smtClean="0"/>
              <a:t>кафедра </a:t>
            </a:r>
            <a:r>
              <a:rPr lang="ru-RU" sz="1600" dirty="0"/>
              <a:t>информатики и информационных технологий, </a:t>
            </a:r>
            <a:r>
              <a:rPr lang="ru-RU" sz="1600" dirty="0" err="1"/>
              <a:t>к.т.н</a:t>
            </a:r>
            <a:r>
              <a:rPr lang="ru-RU" sz="1600" dirty="0"/>
              <a:t>, доцент, </a:t>
            </a:r>
            <a:r>
              <a:rPr lang="ru-RU" sz="1600" dirty="0" smtClean="0"/>
              <a:t>Гордеев А.Б.</a:t>
            </a:r>
            <a:endParaRPr lang="ru-RU" altLang="ru-RU" sz="1600" b="1" dirty="0">
              <a:solidFill>
                <a:srgbClr val="000000"/>
              </a:solidFill>
              <a:latin typeface="Arial"/>
              <a:cs typeface="Arial" charset="0"/>
            </a:endParaRPr>
          </a:p>
        </p:txBody>
      </p:sp>
      <p:grpSp>
        <p:nvGrpSpPr>
          <p:cNvPr id="17415" name="Группа 12"/>
          <p:cNvGrpSpPr>
            <a:grpSpLocks/>
          </p:cNvGrpSpPr>
          <p:nvPr/>
        </p:nvGrpSpPr>
        <p:grpSpPr bwMode="auto">
          <a:xfrm>
            <a:off x="4616451" y="1598613"/>
            <a:ext cx="5732463" cy="781050"/>
            <a:chOff x="0" y="0"/>
            <a:chExt cx="6210300" cy="781275"/>
          </a:xfrm>
        </p:grpSpPr>
        <p:pic>
          <p:nvPicPr>
            <p:cNvPr id="17416" name="Рисунок 13" descr="D:\ИПК\Фотографии\на стенд\на сайт\главная\Академия 2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900" y="0"/>
              <a:ext cx="1028700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7" name="Рисунок 14" descr="D:\для фотопрезентации ФПК\Презид.программа\фото Открытие Президентской  Прогр\6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5" r="-2" b="1205"/>
            <a:stretch>
              <a:fillRect/>
            </a:stretch>
          </p:blipFill>
          <p:spPr bwMode="auto">
            <a:xfrm>
              <a:off x="0" y="1"/>
              <a:ext cx="1114425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8" name="Рисунок 15" descr="D:\Презид.программа 20 мая-05 июня 2013\30.05.13\работа в проектных группах_30.05.13\DSCF8003.JP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2300" y="9750"/>
              <a:ext cx="1038225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9" name="Рисунок 16" descr="D:\для фотопрезентации ФПК\Президентская программа (6) 17 сентября 2012 (З).JP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9525"/>
              <a:ext cx="102870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Рисунок 17" descr="D:\ИПК\Фотографии\для книги Академии\1.2.Здание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" b="1219"/>
            <a:stretch>
              <a:fillRect/>
            </a:stretch>
          </p:blipFill>
          <p:spPr bwMode="auto">
            <a:xfrm>
              <a:off x="4191000" y="9525"/>
              <a:ext cx="9715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1" name="Рисунок 18" descr="D:\ИПК\Фотографии\для книги Академии\5.2.JP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550" y="9525"/>
              <a:ext cx="10477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/>
          <p:cNvSpPr txBox="1"/>
          <p:nvPr/>
        </p:nvSpPr>
        <p:spPr>
          <a:xfrm>
            <a:off x="4367213" y="6021288"/>
            <a:ext cx="3718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Нижний Новгород 20</a:t>
            </a:r>
            <a:r>
              <a:rPr lang="en-US" sz="1600" b="1" dirty="0" smtClean="0"/>
              <a:t>2</a:t>
            </a:r>
            <a:r>
              <a:rPr lang="ru-RU" sz="1600" b="1" dirty="0" smtClean="0"/>
              <a:t>5</a:t>
            </a:r>
            <a:endParaRPr lang="ru-RU" sz="16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799138" y="3244334"/>
            <a:ext cx="57486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i="1" dirty="0">
                <a:solidFill>
                  <a:srgbClr val="FF0000"/>
                </a:solidFill>
              </a:rPr>
              <a:t>Создание рабочей среды</a:t>
            </a:r>
            <a:endParaRPr lang="ru-R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745572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>
                <a:solidFill>
                  <a:srgbClr val="FF0000"/>
                </a:solidFill>
              </a:rPr>
              <a:t>Установка СУБД</a:t>
            </a:r>
            <a:endParaRPr lang="ru-RU" sz="4000" b="1" dirty="0" smtClean="0">
              <a:solidFill>
                <a:srgbClr val="FF0000"/>
              </a:solidFill>
            </a:endParaRPr>
          </a:p>
          <a:p>
            <a:pPr lvl="1" algn="ctr"/>
            <a:r>
              <a:rPr lang="ru-RU" sz="4000" b="1" dirty="0" smtClean="0"/>
              <a:t>Вопрос 1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80174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01" y="891521"/>
            <a:ext cx="6239160" cy="4918841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6645676" y="1655378"/>
            <a:ext cx="554632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Сервер </a:t>
            </a:r>
            <a:r>
              <a:rPr lang="ru-RU" sz="2400" dirty="0" err="1"/>
              <a:t>PostgreSQL</a:t>
            </a:r>
            <a:r>
              <a:rPr lang="ru-RU" sz="2400" dirty="0"/>
              <a:t> устанавливается и запускается по-разному в зависимости от того, какая у вас операционная система: </a:t>
            </a:r>
          </a:p>
          <a:p>
            <a:pPr algn="just"/>
            <a:r>
              <a:rPr lang="ru-RU" sz="2400" dirty="0"/>
              <a:t>• если </a:t>
            </a:r>
            <a:r>
              <a:rPr lang="ru-RU" sz="2400" dirty="0" err="1"/>
              <a:t>Windows</a:t>
            </a:r>
            <a:r>
              <a:rPr lang="ru-RU" sz="2400" dirty="0"/>
              <a:t>, читайте дальше;</a:t>
            </a:r>
          </a:p>
          <a:p>
            <a:pPr algn="just"/>
            <a:r>
              <a:rPr lang="ru-RU" sz="2400" dirty="0"/>
              <a:t> • если </a:t>
            </a:r>
            <a:r>
              <a:rPr lang="ru-RU" sz="2400" dirty="0" err="1"/>
              <a:t>Linux</a:t>
            </a:r>
            <a:r>
              <a:rPr lang="ru-RU" sz="2400" dirty="0"/>
              <a:t> семейства </a:t>
            </a:r>
            <a:r>
              <a:rPr lang="ru-RU" sz="2400" dirty="0" err="1"/>
              <a:t>Debian</a:t>
            </a:r>
            <a:r>
              <a:rPr lang="ru-RU" sz="2400" dirty="0"/>
              <a:t> или </a:t>
            </a:r>
            <a:r>
              <a:rPr lang="ru-RU" sz="2400" dirty="0" err="1"/>
              <a:t>Ubuntu</a:t>
            </a:r>
            <a:r>
              <a:rPr lang="ru-RU" sz="2400" dirty="0"/>
              <a:t> — переходите к Инструкции по установке для других операционных систем есть здесь: </a:t>
            </a:r>
            <a:r>
              <a:rPr lang="ru-RU" sz="2400" b="1" dirty="0" smtClean="0"/>
              <a:t>postgresql.org/</a:t>
            </a:r>
            <a:r>
              <a:rPr lang="ru-RU" sz="2400" b="1" dirty="0" err="1" smtClean="0"/>
              <a:t>download</a:t>
            </a:r>
            <a:endParaRPr lang="ru-RU" sz="2400" b="1" dirty="0" smtClean="0"/>
          </a:p>
          <a:p>
            <a:pPr algn="just"/>
            <a:endParaRPr lang="ru-RU" sz="24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41890" y="110361"/>
            <a:ext cx="119344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Windows (</a:t>
            </a:r>
            <a:r>
              <a:rPr lang="ru-RU" sz="2400" b="1" dirty="0"/>
              <a:t>установка)</a:t>
            </a:r>
          </a:p>
          <a:p>
            <a:r>
              <a:rPr lang="ru-RU" sz="2400" dirty="0" smtClean="0"/>
              <a:t>установщик </a:t>
            </a:r>
            <a:r>
              <a:rPr lang="ru-RU" sz="2400" dirty="0"/>
              <a:t>(</a:t>
            </a:r>
            <a:r>
              <a:rPr lang="en-US" sz="2400" dirty="0"/>
              <a:t>postgrespro.ru/windows)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376127" y="5993394"/>
            <a:ext cx="48979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Выбор программ для установки</a:t>
            </a:r>
          </a:p>
        </p:txBody>
      </p:sp>
    </p:spTree>
    <p:extLst>
      <p:ext uri="{BB962C8B-B14F-4D97-AF65-F5344CB8AC3E}">
        <p14:creationId xmlns:p14="http://schemas.microsoft.com/office/powerpoint/2010/main" val="3906756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 rot="10800000" flipV="1">
            <a:off x="1056289" y="5000754"/>
            <a:ext cx="39256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расположение каталога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86" y="0"/>
            <a:ext cx="6321175" cy="5062297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 rot="10800000" flipV="1">
            <a:off x="189185" y="5663546"/>
            <a:ext cx="64480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 smtClean="0"/>
              <a:t>Установка в </a:t>
            </a:r>
            <a:r>
              <a:rPr lang="ru-RU" sz="2400" i="1" dirty="0"/>
              <a:t>папку C:\Program </a:t>
            </a:r>
            <a:r>
              <a:rPr lang="ru-RU" sz="2400" i="1" dirty="0" err="1"/>
              <a:t>Files</a:t>
            </a:r>
            <a:r>
              <a:rPr lang="ru-RU" sz="2400" i="1" dirty="0"/>
              <a:t>\</a:t>
            </a:r>
            <a:r>
              <a:rPr lang="ru-RU" sz="2400" i="1" dirty="0" err="1"/>
              <a:t>PostgreSQL</a:t>
            </a:r>
            <a:r>
              <a:rPr lang="ru-RU" sz="2400" i="1" dirty="0"/>
              <a:t>\17</a:t>
            </a:r>
            <a:r>
              <a:rPr lang="ru-RU" i="1" dirty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361" y="153169"/>
            <a:ext cx="5564374" cy="434067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 rot="10800000" flipH="1" flipV="1">
            <a:off x="8292661" y="4584207"/>
            <a:ext cx="35157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настройка паролей</a:t>
            </a:r>
          </a:p>
        </p:txBody>
      </p:sp>
    </p:spTree>
    <p:extLst>
      <p:ext uri="{BB962C8B-B14F-4D97-AF65-F5344CB8AC3E}">
        <p14:creationId xmlns:p14="http://schemas.microsoft.com/office/powerpoint/2010/main" val="1756479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963917" y="0"/>
            <a:ext cx="69368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Управление службой и основные файлы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665"/>
            <a:ext cx="5653091" cy="440988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945932" y="4860606"/>
            <a:ext cx="30585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параметры сервиса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653090" y="461665"/>
            <a:ext cx="653891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• </a:t>
            </a:r>
            <a:r>
              <a:rPr lang="ru-RU" sz="2400" dirty="0" err="1"/>
              <a:t>postgresql.conf</a:t>
            </a:r>
            <a:r>
              <a:rPr lang="ru-RU" sz="2400" dirty="0"/>
              <a:t> — это основной конфигурационный файл, содержащий значения параметров сервера;</a:t>
            </a:r>
          </a:p>
          <a:p>
            <a:pPr algn="just"/>
            <a:r>
              <a:rPr lang="ru-RU" sz="2400" dirty="0"/>
              <a:t>• </a:t>
            </a:r>
            <a:r>
              <a:rPr lang="ru-RU" sz="2400" dirty="0" err="1"/>
              <a:t>pg_hba.conf</a:t>
            </a:r>
            <a:r>
              <a:rPr lang="ru-RU" sz="2400" dirty="0"/>
              <a:t> — файл, определяющий настройки доступа. В целях безопасности по умолчанию доступ должен быть подтвержден паролем и допускается только с локального компьютера.</a:t>
            </a:r>
          </a:p>
        </p:txBody>
      </p:sp>
    </p:spTree>
    <p:extLst>
      <p:ext uri="{BB962C8B-B14F-4D97-AF65-F5344CB8AC3E}">
        <p14:creationId xmlns:p14="http://schemas.microsoft.com/office/powerpoint/2010/main" val="476308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/>
              <a:t>Debian</a:t>
            </a:r>
            <a:r>
              <a:rPr lang="en-US" sz="2400" b="1" dirty="0"/>
              <a:t> </a:t>
            </a:r>
            <a:r>
              <a:rPr lang="ru-RU" sz="2400" b="1" dirty="0"/>
              <a:t>и </a:t>
            </a:r>
            <a:r>
              <a:rPr lang="en-US" sz="2400" b="1" dirty="0" smtClean="0"/>
              <a:t>Ubuntu</a:t>
            </a:r>
            <a:r>
              <a:rPr lang="ru-RU" sz="2400" b="1" dirty="0" smtClean="0"/>
              <a:t> (</a:t>
            </a:r>
            <a:r>
              <a:rPr lang="ru-RU" sz="2400" b="1" dirty="0" err="1" smtClean="0"/>
              <a:t>Linux</a:t>
            </a:r>
            <a:r>
              <a:rPr lang="ru-RU" sz="2400" b="1" dirty="0" smtClean="0"/>
              <a:t>)</a:t>
            </a:r>
          </a:p>
          <a:p>
            <a:pPr algn="ctr"/>
            <a:r>
              <a:rPr lang="ru-RU" sz="2400" dirty="0" smtClean="0"/>
              <a:t>система </a:t>
            </a:r>
            <a:r>
              <a:rPr lang="ru-RU" sz="2400" dirty="0" err="1"/>
              <a:t>Debian</a:t>
            </a:r>
            <a:r>
              <a:rPr lang="ru-RU" sz="2400" dirty="0"/>
              <a:t> </a:t>
            </a:r>
            <a:r>
              <a:rPr lang="ru-RU" sz="2400" dirty="0" smtClean="0"/>
              <a:t>поддерживает </a:t>
            </a:r>
            <a:r>
              <a:rPr lang="ru-RU" sz="2400" dirty="0"/>
              <a:t>версии 10 «</a:t>
            </a:r>
            <a:r>
              <a:rPr lang="ru-RU" sz="2400" dirty="0" err="1"/>
              <a:t>Buster</a:t>
            </a:r>
            <a:r>
              <a:rPr lang="ru-RU" sz="2400" dirty="0"/>
              <a:t>», 11 «</a:t>
            </a:r>
            <a:r>
              <a:rPr lang="ru-RU" sz="2400" dirty="0" err="1"/>
              <a:t>Bullseye</a:t>
            </a:r>
            <a:r>
              <a:rPr lang="ru-RU" sz="2400" dirty="0"/>
              <a:t>» и 12 «</a:t>
            </a:r>
            <a:r>
              <a:rPr lang="ru-RU" sz="2400" dirty="0" err="1"/>
              <a:t>Bookworm</a:t>
            </a:r>
            <a:r>
              <a:rPr lang="ru-RU" sz="2400" dirty="0"/>
              <a:t>», а для </a:t>
            </a:r>
            <a:r>
              <a:rPr lang="ru-RU" sz="2400" dirty="0" err="1"/>
              <a:t>Ubuntu</a:t>
            </a:r>
            <a:r>
              <a:rPr lang="ru-RU" sz="2400" dirty="0"/>
              <a:t> — 20.04 «</a:t>
            </a:r>
            <a:r>
              <a:rPr lang="ru-RU" sz="2400" dirty="0" err="1"/>
              <a:t>Focal</a:t>
            </a:r>
            <a:r>
              <a:rPr lang="ru-RU" sz="2400" dirty="0"/>
              <a:t>», 22.04 «</a:t>
            </a:r>
            <a:r>
              <a:rPr lang="ru-RU" sz="2400" dirty="0" err="1"/>
              <a:t>Jammy</a:t>
            </a:r>
            <a:r>
              <a:rPr lang="ru-RU" sz="2400" dirty="0"/>
              <a:t>», 23.10 «</a:t>
            </a:r>
            <a:r>
              <a:rPr lang="ru-RU" sz="2400" dirty="0" err="1"/>
              <a:t>Mantic</a:t>
            </a:r>
            <a:r>
              <a:rPr lang="ru-RU" sz="2400" dirty="0"/>
              <a:t>» и 24.04 «</a:t>
            </a:r>
            <a:r>
              <a:rPr lang="ru-RU" sz="2400" dirty="0" err="1"/>
              <a:t>Noble</a:t>
            </a:r>
            <a:r>
              <a:rPr lang="ru-RU" sz="2400" dirty="0"/>
              <a:t>».</a:t>
            </a:r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200329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$ </a:t>
            </a:r>
            <a:r>
              <a:rPr lang="en-US" sz="2400" dirty="0" err="1"/>
              <a:t>sudo</a:t>
            </a:r>
            <a:r>
              <a:rPr lang="en-US" sz="2400" dirty="0"/>
              <a:t> apt-get install </a:t>
            </a:r>
            <a:r>
              <a:rPr lang="en-US" sz="2400" dirty="0" err="1"/>
              <a:t>lsb</a:t>
            </a:r>
            <a:r>
              <a:rPr lang="en-US" sz="2400" dirty="0"/>
              <a:t>-release $ </a:t>
            </a:r>
            <a:r>
              <a:rPr lang="en-US" sz="2400" dirty="0" err="1"/>
              <a:t>sudo</a:t>
            </a:r>
            <a:r>
              <a:rPr lang="en-US" sz="2400" dirty="0"/>
              <a:t> </a:t>
            </a:r>
            <a:r>
              <a:rPr lang="en-US" sz="2400" dirty="0" err="1"/>
              <a:t>sh</a:t>
            </a:r>
            <a:r>
              <a:rPr lang="en-US" sz="2400" dirty="0"/>
              <a:t> -c 'echo "deb \ http://apt.postgresql.org/pub/repos/apt/ \ $(</a:t>
            </a:r>
            <a:r>
              <a:rPr lang="en-US" sz="2400" dirty="0" err="1"/>
              <a:t>lsb_release</a:t>
            </a:r>
            <a:r>
              <a:rPr lang="en-US" sz="2400" dirty="0"/>
              <a:t> -</a:t>
            </a:r>
            <a:r>
              <a:rPr lang="en-US" sz="2400" dirty="0" err="1"/>
              <a:t>cs</a:t>
            </a:r>
            <a:r>
              <a:rPr lang="en-US" sz="2400" dirty="0"/>
              <a:t>)-</a:t>
            </a:r>
            <a:r>
              <a:rPr lang="en-US" sz="2400" dirty="0" err="1"/>
              <a:t>pgdg</a:t>
            </a:r>
            <a:r>
              <a:rPr lang="en-US" sz="2400" dirty="0"/>
              <a:t> main" \ &gt; /</a:t>
            </a:r>
            <a:r>
              <a:rPr lang="en-US" sz="2400" dirty="0" err="1"/>
              <a:t>etc</a:t>
            </a:r>
            <a:r>
              <a:rPr lang="en-US" sz="2400" dirty="0"/>
              <a:t>/apt/</a:t>
            </a:r>
            <a:r>
              <a:rPr lang="en-US" sz="2400" dirty="0" err="1"/>
              <a:t>sources.list.d</a:t>
            </a:r>
            <a:r>
              <a:rPr lang="en-US" sz="2400" dirty="0"/>
              <a:t>/</a:t>
            </a:r>
            <a:r>
              <a:rPr lang="en-US" sz="2400" dirty="0" err="1"/>
              <a:t>pgdg.list</a:t>
            </a:r>
            <a:r>
              <a:rPr lang="en-US" sz="2400" dirty="0"/>
              <a:t>'</a:t>
            </a:r>
          </a:p>
          <a:p>
            <a:r>
              <a:rPr lang="en-US" sz="2400" dirty="0"/>
              <a:t>$ </a:t>
            </a:r>
            <a:r>
              <a:rPr lang="en-US" sz="2400" dirty="0" err="1"/>
              <a:t>wget</a:t>
            </a:r>
            <a:r>
              <a:rPr lang="en-US" sz="2400" dirty="0"/>
              <a:t> --quiet -O - \</a:t>
            </a:r>
          </a:p>
          <a:p>
            <a:r>
              <a:rPr lang="en-US" sz="2400" dirty="0"/>
              <a:t>https://postgresql.org/media/keys/ACCC4CF8.asc \</a:t>
            </a:r>
          </a:p>
          <a:p>
            <a:r>
              <a:rPr lang="en-US" sz="2400" dirty="0"/>
              <a:t>| </a:t>
            </a:r>
            <a:r>
              <a:rPr lang="en-US" sz="2400" dirty="0" err="1"/>
              <a:t>sudo</a:t>
            </a:r>
            <a:r>
              <a:rPr lang="en-US" sz="2400" dirty="0"/>
              <a:t> apt-key add </a:t>
            </a:r>
            <a:r>
              <a:rPr lang="en-US" sz="2400" dirty="0" smtClean="0"/>
              <a:t>–</a:t>
            </a:r>
            <a:r>
              <a:rPr lang="ru-RU" sz="2400" dirty="0" smtClean="0"/>
              <a:t>подключение </a:t>
            </a:r>
            <a:r>
              <a:rPr lang="ru-RU" sz="2400" dirty="0" err="1" smtClean="0"/>
              <a:t>репозитария</a:t>
            </a:r>
            <a:endParaRPr lang="ru-RU" sz="2400" dirty="0" smtClean="0"/>
          </a:p>
          <a:p>
            <a:r>
              <a:rPr lang="ru-RU" sz="2400" dirty="0"/>
              <a:t>обновим список пакетов</a:t>
            </a:r>
            <a:r>
              <a:rPr lang="ru-RU" sz="2400" dirty="0" smtClean="0"/>
              <a:t>: $ </a:t>
            </a:r>
            <a:r>
              <a:rPr lang="ru-RU" sz="2400" b="1" dirty="0" err="1"/>
              <a:t>sudo</a:t>
            </a:r>
            <a:r>
              <a:rPr lang="ru-RU" sz="2400" b="1" dirty="0"/>
              <a:t> </a:t>
            </a:r>
            <a:r>
              <a:rPr lang="ru-RU" sz="2400" b="1" dirty="0" err="1"/>
              <a:t>apt-get</a:t>
            </a:r>
            <a:r>
              <a:rPr lang="ru-RU" sz="2400" b="1" dirty="0"/>
              <a:t> </a:t>
            </a:r>
            <a:r>
              <a:rPr lang="ru-RU" sz="2400" b="1" dirty="0" err="1"/>
              <a:t>update</a:t>
            </a:r>
            <a:endParaRPr lang="ru-RU" sz="2400" dirty="0"/>
          </a:p>
          <a:p>
            <a:r>
              <a:rPr lang="ru-RU" sz="2400" dirty="0"/>
              <a:t>Перед установкой проверьте настройки локализации</a:t>
            </a:r>
            <a:r>
              <a:rPr lang="ru-RU" sz="2400" dirty="0" smtClean="0"/>
              <a:t>: $ </a:t>
            </a:r>
            <a:r>
              <a:rPr lang="ru-RU" sz="2400" b="1" dirty="0" err="1"/>
              <a:t>locale</a:t>
            </a:r>
            <a:endParaRPr lang="ru-RU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3588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$ export LC_CTYPE=ru_RU.UTF8</a:t>
            </a:r>
          </a:p>
          <a:p>
            <a:r>
              <a:rPr lang="en-US" sz="2400" dirty="0"/>
              <a:t>$ export LC_COLLATE=ru_RU.UTF8</a:t>
            </a:r>
          </a:p>
          <a:p>
            <a:r>
              <a:rPr lang="ru-RU" sz="2400" dirty="0"/>
              <a:t>Также убедитесь, что в операционной системе установлена соответствующая </a:t>
            </a:r>
            <a:r>
              <a:rPr lang="ru-RU" sz="2400" dirty="0" err="1"/>
              <a:t>локаль</a:t>
            </a:r>
            <a:r>
              <a:rPr lang="ru-RU" sz="2400" dirty="0"/>
              <a:t>:</a:t>
            </a:r>
          </a:p>
          <a:p>
            <a:r>
              <a:rPr lang="ru-RU" sz="2400" dirty="0"/>
              <a:t>$ </a:t>
            </a:r>
            <a:r>
              <a:rPr lang="en-US" sz="2400" dirty="0"/>
              <a:t>locale -a | </a:t>
            </a:r>
            <a:r>
              <a:rPr lang="en-US" sz="2400" dirty="0" err="1"/>
              <a:t>grep</a:t>
            </a:r>
            <a:r>
              <a:rPr lang="en-US" sz="2400" dirty="0"/>
              <a:t> </a:t>
            </a:r>
            <a:r>
              <a:rPr lang="en-US" sz="2400" dirty="0" err="1"/>
              <a:t>ru_RU</a:t>
            </a:r>
            <a:endParaRPr lang="en-US" sz="2400" dirty="0"/>
          </a:p>
          <a:p>
            <a:r>
              <a:rPr lang="en-US" sz="2400" dirty="0"/>
              <a:t>ru_RU.utf8</a:t>
            </a:r>
          </a:p>
          <a:p>
            <a:r>
              <a:rPr lang="ru-RU" sz="2400" dirty="0"/>
              <a:t>Если это не так, сгенерируйте ее:</a:t>
            </a:r>
          </a:p>
          <a:p>
            <a:r>
              <a:rPr lang="ru-RU" sz="2400" dirty="0"/>
              <a:t>$ </a:t>
            </a:r>
            <a:r>
              <a:rPr lang="en-US" sz="2400" dirty="0" err="1"/>
              <a:t>sudo</a:t>
            </a:r>
            <a:r>
              <a:rPr lang="en-US" sz="2400" dirty="0"/>
              <a:t> locale-gen ru_RU.utf8</a:t>
            </a:r>
          </a:p>
          <a:p>
            <a:r>
              <a:rPr lang="ru-RU" sz="2400" dirty="0"/>
              <a:t>Теперь можно приступить к установке:</a:t>
            </a:r>
          </a:p>
          <a:p>
            <a:r>
              <a:rPr lang="ru-RU" sz="2400" dirty="0"/>
              <a:t>$ </a:t>
            </a:r>
            <a:r>
              <a:rPr lang="en-US" sz="2400" dirty="0" err="1"/>
              <a:t>sudo</a:t>
            </a:r>
            <a:r>
              <a:rPr lang="en-US" sz="2400" dirty="0"/>
              <a:t> apt-get install postgresql-17</a:t>
            </a:r>
          </a:p>
          <a:p>
            <a:r>
              <a:rPr lang="ru-RU" sz="2400" dirty="0"/>
              <a:t>Это был последний этап; теперь СУБД </a:t>
            </a:r>
            <a:r>
              <a:rPr lang="en-US" sz="2400" dirty="0"/>
              <a:t>PostgreSQL </a:t>
            </a:r>
            <a:r>
              <a:rPr lang="ru-RU" sz="2400" dirty="0"/>
              <a:t>установлена, запущена и готова к работе. Чтобы проверить это, выполните команду:</a:t>
            </a:r>
          </a:p>
          <a:p>
            <a:r>
              <a:rPr lang="ru-RU" sz="2400" dirty="0"/>
              <a:t>$ </a:t>
            </a:r>
            <a:r>
              <a:rPr lang="en-US" sz="2400" dirty="0" err="1"/>
              <a:t>sudo</a:t>
            </a:r>
            <a:r>
              <a:rPr lang="en-US" sz="2400" dirty="0"/>
              <a:t> -u </a:t>
            </a:r>
            <a:r>
              <a:rPr lang="en-US" sz="2400" dirty="0" err="1"/>
              <a:t>postgres</a:t>
            </a:r>
            <a:r>
              <a:rPr lang="en-US" sz="2400" dirty="0"/>
              <a:t> </a:t>
            </a:r>
            <a:r>
              <a:rPr lang="en-US" sz="2400" dirty="0" err="1"/>
              <a:t>psql</a:t>
            </a:r>
            <a:r>
              <a:rPr lang="en-US" sz="2400" dirty="0"/>
              <a:t> -c 'select version()'</a:t>
            </a:r>
          </a:p>
          <a:p>
            <a:r>
              <a:rPr lang="ru-RU" sz="2400" dirty="0"/>
              <a:t>Если все проделано успешно, в ответ вы должны получить версию </a:t>
            </a:r>
            <a:r>
              <a:rPr lang="en-US" sz="2400" dirty="0"/>
              <a:t>PostgreSQL.</a:t>
            </a:r>
          </a:p>
        </p:txBody>
      </p:sp>
    </p:spTree>
    <p:extLst>
      <p:ext uri="{BB962C8B-B14F-4D97-AF65-F5344CB8AC3E}">
        <p14:creationId xmlns:p14="http://schemas.microsoft.com/office/powerpoint/2010/main" val="2047226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601310" y="0"/>
            <a:ext cx="71260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Управление службой и основные файлы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61665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Отключение  автозапуска: $ </a:t>
            </a:r>
            <a:r>
              <a:rPr lang="en-US" sz="2400" dirty="0" err="1"/>
              <a:t>sudo</a:t>
            </a:r>
            <a:r>
              <a:rPr lang="en-US" sz="2400" dirty="0"/>
              <a:t> </a:t>
            </a:r>
            <a:r>
              <a:rPr lang="en-US" sz="2400" dirty="0" err="1"/>
              <a:t>systemctl</a:t>
            </a:r>
            <a:r>
              <a:rPr lang="en-US" sz="2400" dirty="0"/>
              <a:t> disable </a:t>
            </a:r>
            <a:r>
              <a:rPr lang="en-US" sz="2400" dirty="0" err="1"/>
              <a:t>postgresql</a:t>
            </a:r>
            <a:endParaRPr lang="en-US" sz="2400" dirty="0"/>
          </a:p>
          <a:p>
            <a:r>
              <a:rPr lang="ru-RU" sz="2400" dirty="0"/>
              <a:t>Чтобы временно остановить службу сервера баз данных, выполните команду:</a:t>
            </a:r>
          </a:p>
          <a:p>
            <a:r>
              <a:rPr lang="ru-RU" sz="2400" dirty="0"/>
              <a:t>$ </a:t>
            </a:r>
            <a:r>
              <a:rPr lang="en-US" sz="2400" dirty="0" err="1"/>
              <a:t>sudo</a:t>
            </a:r>
            <a:r>
              <a:rPr lang="en-US" sz="2400" dirty="0"/>
              <a:t> </a:t>
            </a:r>
            <a:r>
              <a:rPr lang="en-US" sz="2400" dirty="0" err="1"/>
              <a:t>systemctl</a:t>
            </a:r>
            <a:r>
              <a:rPr lang="en-US" sz="2400" dirty="0"/>
              <a:t> stop </a:t>
            </a:r>
            <a:r>
              <a:rPr lang="en-US" sz="2400" dirty="0" err="1"/>
              <a:t>postgresql</a:t>
            </a:r>
            <a:endParaRPr lang="en-US" sz="2400" dirty="0"/>
          </a:p>
          <a:p>
            <a:r>
              <a:rPr lang="ru-RU" sz="2400" dirty="0"/>
              <a:t>Запустить службу сервера можно командой</a:t>
            </a:r>
            <a:r>
              <a:rPr lang="ru-RU" sz="2400" dirty="0" smtClean="0"/>
              <a:t>: $ </a:t>
            </a:r>
            <a:r>
              <a:rPr lang="en-US" sz="2400" dirty="0" err="1"/>
              <a:t>sudo</a:t>
            </a:r>
            <a:r>
              <a:rPr lang="en-US" sz="2400" dirty="0"/>
              <a:t> </a:t>
            </a:r>
            <a:r>
              <a:rPr lang="en-US" sz="2400" dirty="0" err="1"/>
              <a:t>systemctl</a:t>
            </a:r>
            <a:r>
              <a:rPr lang="en-US" sz="2400" dirty="0"/>
              <a:t> start </a:t>
            </a:r>
            <a:r>
              <a:rPr lang="en-US" sz="2400" dirty="0" err="1"/>
              <a:t>postgresql</a:t>
            </a:r>
            <a:endParaRPr lang="en-US" sz="2400" dirty="0"/>
          </a:p>
          <a:p>
            <a:r>
              <a:rPr lang="ru-RU" sz="2400" dirty="0"/>
              <a:t>Можно также проверить текущее состояние</a:t>
            </a:r>
            <a:r>
              <a:rPr lang="ru-RU" sz="2400" dirty="0" smtClean="0"/>
              <a:t>: $ </a:t>
            </a:r>
            <a:r>
              <a:rPr lang="en-US" sz="2400" dirty="0" err="1"/>
              <a:t>sudo</a:t>
            </a:r>
            <a:r>
              <a:rPr lang="en-US" sz="2400" dirty="0"/>
              <a:t> </a:t>
            </a:r>
            <a:r>
              <a:rPr lang="en-US" sz="2400" dirty="0" err="1"/>
              <a:t>systemctl</a:t>
            </a:r>
            <a:r>
              <a:rPr lang="en-US" sz="2400" dirty="0"/>
              <a:t> status </a:t>
            </a:r>
            <a:r>
              <a:rPr lang="en-US" sz="2400" dirty="0" err="1" smtClean="0"/>
              <a:t>postgresql</a:t>
            </a:r>
            <a:endParaRPr lang="ru-RU" sz="2400" dirty="0" smtClean="0"/>
          </a:p>
          <a:p>
            <a:pPr algn="just"/>
            <a:r>
              <a:rPr lang="ru-RU" sz="2400" dirty="0" smtClean="0"/>
              <a:t>Примечание : </a:t>
            </a:r>
            <a:r>
              <a:rPr lang="ru-RU" sz="2400" dirty="0"/>
              <a:t>прочитайте самые последние записи из журнала, который находится в файле /</a:t>
            </a:r>
            <a:r>
              <a:rPr lang="ru-RU" sz="2400" dirty="0" err="1" smtClean="0"/>
              <a:t>var</a:t>
            </a:r>
            <a:r>
              <a:rPr lang="ru-RU" sz="2400" dirty="0" smtClean="0"/>
              <a:t>/</a:t>
            </a:r>
            <a:r>
              <a:rPr lang="ru-RU" sz="2400" dirty="0" err="1" smtClean="0"/>
              <a:t>log</a:t>
            </a:r>
            <a:r>
              <a:rPr lang="ru-RU" sz="2400" dirty="0" smtClean="0"/>
              <a:t>/</a:t>
            </a:r>
            <a:r>
              <a:rPr lang="ru-RU" sz="2400" dirty="0" err="1" smtClean="0"/>
              <a:t>postgresql</a:t>
            </a:r>
            <a:r>
              <a:rPr lang="ru-RU" sz="2400" dirty="0" smtClean="0"/>
              <a:t>/postgresql-17-main.log</a:t>
            </a:r>
          </a:p>
          <a:p>
            <a:pPr algn="just"/>
            <a:endParaRPr lang="ru-RU" sz="2400" dirty="0"/>
          </a:p>
          <a:p>
            <a:r>
              <a:rPr lang="ru-RU" sz="2400" dirty="0"/>
              <a:t>• /</a:t>
            </a:r>
            <a:r>
              <a:rPr lang="ru-RU" sz="2400" dirty="0" err="1"/>
              <a:t>etc</a:t>
            </a:r>
            <a:r>
              <a:rPr lang="ru-RU" sz="2400" dirty="0"/>
              <a:t>/</a:t>
            </a:r>
            <a:r>
              <a:rPr lang="ru-RU" sz="2400" dirty="0" err="1"/>
              <a:t>postgresql</a:t>
            </a:r>
            <a:r>
              <a:rPr lang="ru-RU" sz="2400" dirty="0"/>
              <a:t>/17/</a:t>
            </a:r>
            <a:r>
              <a:rPr lang="ru-RU" sz="2400" dirty="0" err="1"/>
              <a:t>main</a:t>
            </a:r>
            <a:r>
              <a:rPr lang="ru-RU" sz="2400" dirty="0"/>
              <a:t>/</a:t>
            </a:r>
            <a:r>
              <a:rPr lang="ru-RU" sz="2400" dirty="0" err="1"/>
              <a:t>postgresql.conf</a:t>
            </a:r>
            <a:r>
              <a:rPr lang="ru-RU" sz="2400" dirty="0"/>
              <a:t> — основной конфигурационный файл, содержащий значения параметров сервера;</a:t>
            </a:r>
          </a:p>
          <a:p>
            <a:r>
              <a:rPr lang="ru-RU" sz="2400" dirty="0"/>
              <a:t>• /</a:t>
            </a:r>
            <a:r>
              <a:rPr lang="ru-RU" sz="2400" dirty="0" err="1"/>
              <a:t>etc</a:t>
            </a:r>
            <a:r>
              <a:rPr lang="ru-RU" sz="2400" dirty="0"/>
              <a:t>/</a:t>
            </a:r>
            <a:r>
              <a:rPr lang="ru-RU" sz="2400" dirty="0" err="1"/>
              <a:t>postgresql</a:t>
            </a:r>
            <a:r>
              <a:rPr lang="ru-RU" sz="2400" dirty="0"/>
              <a:t>/17/</a:t>
            </a:r>
            <a:r>
              <a:rPr lang="ru-RU" sz="2400" dirty="0" err="1"/>
              <a:t>main</a:t>
            </a:r>
            <a:r>
              <a:rPr lang="ru-RU" sz="2400" dirty="0"/>
              <a:t>/</a:t>
            </a:r>
            <a:r>
              <a:rPr lang="ru-RU" sz="2400" dirty="0" err="1"/>
              <a:t>pg_hba.conf</a:t>
            </a:r>
            <a:r>
              <a:rPr lang="ru-RU" sz="2400" dirty="0"/>
              <a:t> — файл, определяющий настройки доступа. 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1765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9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419998"/>
            <a:ext cx="102541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>
                <a:solidFill>
                  <a:srgbClr val="FF0000"/>
                </a:solidFill>
              </a:rPr>
              <a:t>Программа </a:t>
            </a:r>
            <a:r>
              <a:rPr lang="ru-RU" sz="4000" b="1" dirty="0" err="1">
                <a:solidFill>
                  <a:srgbClr val="FF0000"/>
                </a:solidFill>
              </a:rPr>
              <a:t>psql</a:t>
            </a:r>
            <a:r>
              <a:rPr lang="ru-RU" sz="4000" b="1" dirty="0">
                <a:solidFill>
                  <a:srgbClr val="FF0000"/>
                </a:solidFill>
              </a:rPr>
              <a:t> — интерактивный терминал </a:t>
            </a:r>
            <a:r>
              <a:rPr lang="ru-RU" sz="4000" b="1" dirty="0" err="1">
                <a:solidFill>
                  <a:srgbClr val="FF0000"/>
                </a:solidFill>
              </a:rPr>
              <a:t>PostgreSQL</a:t>
            </a:r>
            <a:endParaRPr lang="ru-RU" sz="4000" b="1" dirty="0" smtClean="0">
              <a:solidFill>
                <a:srgbClr val="FF0000"/>
              </a:solidFill>
            </a:endParaRPr>
          </a:p>
          <a:p>
            <a:pPr lvl="1" algn="ctr"/>
            <a:r>
              <a:rPr lang="ru-RU" sz="4000" b="1" dirty="0" smtClean="0"/>
              <a:t>Вопрос 2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8575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10359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Синтаксис : </a:t>
            </a:r>
            <a:r>
              <a:rPr lang="ru-RU" sz="2400" dirty="0" err="1" smtClean="0"/>
              <a:t>psql</a:t>
            </a:r>
            <a:r>
              <a:rPr lang="ru-RU" sz="2400" dirty="0" smtClean="0"/>
              <a:t> </a:t>
            </a:r>
            <a:r>
              <a:rPr lang="ru-RU" sz="2400" dirty="0"/>
              <a:t>[параметр...] [</a:t>
            </a:r>
            <a:r>
              <a:rPr lang="ru-RU" sz="2400" dirty="0" err="1"/>
              <a:t>имя_бд</a:t>
            </a:r>
            <a:r>
              <a:rPr lang="ru-RU" sz="2400" dirty="0"/>
              <a:t> [</a:t>
            </a:r>
            <a:r>
              <a:rPr lang="ru-RU" sz="2400" dirty="0" err="1"/>
              <a:t>имя_пользователя</a:t>
            </a:r>
            <a:r>
              <a:rPr lang="ru-RU" sz="2400" dirty="0" smtClean="0"/>
              <a:t>]]</a:t>
            </a:r>
          </a:p>
          <a:p>
            <a:pPr algn="ctr"/>
            <a:r>
              <a:rPr lang="ru-RU" sz="2400" b="1" dirty="0" smtClean="0"/>
              <a:t>Параметры</a:t>
            </a:r>
            <a:endParaRPr lang="ru-RU" sz="2400" b="1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941356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-a --</a:t>
            </a:r>
            <a:r>
              <a:rPr lang="ru-RU" sz="2400" dirty="0" err="1"/>
              <a:t>echo-all</a:t>
            </a:r>
            <a:r>
              <a:rPr lang="ru-RU" sz="2400" dirty="0"/>
              <a:t> </a:t>
            </a:r>
            <a:r>
              <a:rPr lang="ru-RU" sz="2400" dirty="0" smtClean="0"/>
              <a:t># -Отправляет </a:t>
            </a:r>
            <a:r>
              <a:rPr lang="ru-RU" sz="2400" dirty="0"/>
              <a:t>в стандартный вывод все непустые входные строки по мере их чтения. (Это не относится к строкам, считанным в интерактивном режиме.) Эквивалентно установке переменной ECHO в значение </a:t>
            </a:r>
            <a:r>
              <a:rPr lang="ru-RU" sz="2400" dirty="0" err="1"/>
              <a:t>all</a:t>
            </a:r>
            <a:r>
              <a:rPr lang="ru-RU" sz="2400" dirty="0"/>
              <a:t>.</a:t>
            </a:r>
          </a:p>
          <a:p>
            <a:r>
              <a:rPr lang="ru-RU" sz="2400" dirty="0"/>
              <a:t>-A --</a:t>
            </a:r>
            <a:r>
              <a:rPr lang="ru-RU" sz="2400" dirty="0" err="1"/>
              <a:t>no-align</a:t>
            </a:r>
            <a:r>
              <a:rPr lang="ru-RU" sz="2400" dirty="0"/>
              <a:t> </a:t>
            </a:r>
            <a:r>
              <a:rPr lang="ru-RU" sz="2400" dirty="0" smtClean="0"/>
              <a:t># - Переключает </a:t>
            </a:r>
            <a:r>
              <a:rPr lang="ru-RU" sz="2400" dirty="0"/>
              <a:t>на </a:t>
            </a:r>
            <a:r>
              <a:rPr lang="ru-RU" sz="2400" dirty="0" err="1"/>
              <a:t>невыровненный</a:t>
            </a:r>
            <a:r>
              <a:rPr lang="ru-RU" sz="2400" dirty="0"/>
              <a:t> режим вывода. (По умолчанию используется другой режим, </a:t>
            </a:r>
            <a:r>
              <a:rPr lang="ru-RU" sz="2400" dirty="0" err="1"/>
              <a:t>aligned</a:t>
            </a:r>
            <a:r>
              <a:rPr lang="ru-RU" sz="2400" dirty="0"/>
              <a:t>.) Равнозначно команде \</a:t>
            </a:r>
            <a:r>
              <a:rPr lang="ru-RU" sz="2400" dirty="0" err="1"/>
              <a:t>pset</a:t>
            </a:r>
            <a:r>
              <a:rPr lang="ru-RU" sz="2400" dirty="0"/>
              <a:t> </a:t>
            </a:r>
            <a:r>
              <a:rPr lang="ru-RU" sz="2400" dirty="0" err="1"/>
              <a:t>format</a:t>
            </a:r>
            <a:r>
              <a:rPr lang="ru-RU" sz="2400" dirty="0"/>
              <a:t> </a:t>
            </a:r>
            <a:r>
              <a:rPr lang="ru-RU" sz="2400" dirty="0" err="1"/>
              <a:t>unaligned</a:t>
            </a:r>
            <a:r>
              <a:rPr lang="ru-RU" sz="2400" dirty="0"/>
              <a:t>.</a:t>
            </a:r>
          </a:p>
          <a:p>
            <a:r>
              <a:rPr lang="ru-RU" sz="2400" dirty="0"/>
              <a:t>-b --</a:t>
            </a:r>
            <a:r>
              <a:rPr lang="ru-RU" sz="2400" dirty="0" err="1"/>
              <a:t>echo-errors</a:t>
            </a:r>
            <a:r>
              <a:rPr lang="ru-RU" sz="2400" dirty="0"/>
              <a:t> </a:t>
            </a:r>
            <a:r>
              <a:rPr lang="ru-RU" sz="2400" dirty="0" smtClean="0"/>
              <a:t># - Выводит </a:t>
            </a:r>
            <a:r>
              <a:rPr lang="ru-RU" sz="2400" dirty="0"/>
              <a:t>все команды SQL с ошибками в стандартный поток ошибок. Равнозначно присваиванию переменной ECHO значения </a:t>
            </a:r>
            <a:r>
              <a:rPr lang="ru-RU" sz="2400" dirty="0" err="1"/>
              <a:t>errors</a:t>
            </a:r>
            <a:r>
              <a:rPr lang="ru-RU" sz="2400" dirty="0"/>
              <a:t>.</a:t>
            </a:r>
          </a:p>
          <a:p>
            <a:r>
              <a:rPr lang="ru-RU" sz="2400" dirty="0"/>
              <a:t>-c команда --</a:t>
            </a:r>
            <a:r>
              <a:rPr lang="ru-RU" sz="2400" dirty="0" err="1"/>
              <a:t>command</a:t>
            </a:r>
            <a:r>
              <a:rPr lang="ru-RU" sz="2400" dirty="0"/>
              <a:t>=команда </a:t>
            </a:r>
            <a:r>
              <a:rPr lang="ru-RU" sz="2400" dirty="0" smtClean="0"/>
              <a:t># - Передаёт </a:t>
            </a:r>
            <a:r>
              <a:rPr lang="ru-RU" sz="2400" dirty="0" err="1"/>
              <a:t>psql</a:t>
            </a:r>
            <a:r>
              <a:rPr lang="ru-RU" sz="2400" dirty="0"/>
              <a:t> команду для выполнения. </a:t>
            </a:r>
            <a:endParaRPr lang="ru-RU" sz="2400" dirty="0" smtClean="0"/>
          </a:p>
          <a:p>
            <a:endParaRPr lang="ru-RU" sz="2400" dirty="0" smtClean="0"/>
          </a:p>
          <a:p>
            <a:endParaRPr lang="ru-RU" sz="2400" dirty="0"/>
          </a:p>
          <a:p>
            <a:r>
              <a:rPr lang="ru-RU" sz="2400" dirty="0" smtClean="0"/>
              <a:t>передав </a:t>
            </a:r>
            <a:r>
              <a:rPr lang="ru-RU" sz="2400" dirty="0"/>
              <a:t>несколько ключей -</a:t>
            </a:r>
            <a:r>
              <a:rPr lang="en-US" sz="2400" dirty="0"/>
              <a:t>c </a:t>
            </a:r>
            <a:r>
              <a:rPr lang="ru-RU" sz="2400" dirty="0"/>
              <a:t>или передав строку в </a:t>
            </a:r>
            <a:r>
              <a:rPr lang="en-US" sz="2400" dirty="0" err="1"/>
              <a:t>psql</a:t>
            </a:r>
            <a:r>
              <a:rPr lang="en-US" sz="2400" dirty="0"/>
              <a:t> </a:t>
            </a:r>
            <a:r>
              <a:rPr lang="ru-RU" sz="2400" dirty="0"/>
              <a:t>через канал: </a:t>
            </a:r>
          </a:p>
          <a:p>
            <a:r>
              <a:rPr lang="en-US" sz="2400" dirty="0" err="1"/>
              <a:t>psql</a:t>
            </a:r>
            <a:r>
              <a:rPr lang="en-US" sz="2400" dirty="0"/>
              <a:t> -c '\x' -c 'SELECT * FROM foo;'</a:t>
            </a:r>
          </a:p>
          <a:p>
            <a:r>
              <a:rPr lang="ru-RU" sz="2400" dirty="0"/>
              <a:t>или </a:t>
            </a:r>
          </a:p>
          <a:p>
            <a:r>
              <a:rPr lang="en-US" sz="2400" dirty="0"/>
              <a:t>echo '\x \\ SELECT * FROM foo;' | </a:t>
            </a:r>
            <a:r>
              <a:rPr lang="en-US" sz="2400" dirty="0" err="1"/>
              <a:t>psql</a:t>
            </a:r>
            <a:endParaRPr lang="en-US" sz="2400" dirty="0"/>
          </a:p>
          <a:p>
            <a:r>
              <a:rPr lang="en-US" sz="2400" dirty="0"/>
              <a:t>(\\ — </a:t>
            </a:r>
            <a:r>
              <a:rPr lang="ru-RU" sz="2400" dirty="0"/>
              <a:t>разделитель </a:t>
            </a:r>
            <a:r>
              <a:rPr lang="ru-RU" sz="2400" dirty="0" err="1"/>
              <a:t>метакоманд</a:t>
            </a:r>
            <a:r>
              <a:rPr lang="ru-RU" sz="2400" dirty="0"/>
              <a:t>.)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24785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540757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например: </a:t>
            </a:r>
          </a:p>
          <a:p>
            <a:r>
              <a:rPr lang="en-US" sz="2400" dirty="0" err="1"/>
              <a:t>psql</a:t>
            </a:r>
            <a:r>
              <a:rPr lang="en-US" sz="2400" dirty="0"/>
              <a:t> &lt;&lt;EOF</a:t>
            </a:r>
          </a:p>
          <a:p>
            <a:r>
              <a:rPr lang="en-US" sz="2400" dirty="0"/>
              <a:t>\x</a:t>
            </a:r>
          </a:p>
          <a:p>
            <a:r>
              <a:rPr lang="en-US" sz="2400" dirty="0"/>
              <a:t>SELECT * FROM foo;</a:t>
            </a:r>
          </a:p>
          <a:p>
            <a:r>
              <a:rPr lang="en-US" sz="2400" dirty="0"/>
              <a:t>EOF</a:t>
            </a:r>
          </a:p>
          <a:p>
            <a:r>
              <a:rPr lang="en-US" sz="2400" dirty="0"/>
              <a:t>--csv </a:t>
            </a:r>
            <a:r>
              <a:rPr lang="en-US" sz="2400" dirty="0" smtClean="0"/>
              <a:t># </a:t>
            </a:r>
            <a:r>
              <a:rPr lang="ru-RU" sz="2400" dirty="0" smtClean="0"/>
              <a:t>-Равнозначно </a:t>
            </a:r>
            <a:r>
              <a:rPr lang="ru-RU" sz="2400" dirty="0"/>
              <a:t>команде \</a:t>
            </a:r>
            <a:r>
              <a:rPr lang="en-US" sz="2400" dirty="0" err="1"/>
              <a:t>pset</a:t>
            </a:r>
            <a:r>
              <a:rPr lang="en-US" sz="2400" dirty="0"/>
              <a:t> format csv.</a:t>
            </a:r>
          </a:p>
          <a:p>
            <a:r>
              <a:rPr lang="ru-RU" sz="2400" dirty="0" smtClean="0"/>
              <a:t>--</a:t>
            </a:r>
            <a:r>
              <a:rPr lang="en-US" sz="2400" dirty="0" err="1"/>
              <a:t>dbname</a:t>
            </a:r>
            <a:r>
              <a:rPr lang="en-US" sz="2400" dirty="0"/>
              <a:t>=</a:t>
            </a:r>
            <a:r>
              <a:rPr lang="ru-RU" sz="2400" dirty="0" err="1"/>
              <a:t>имя_бд</a:t>
            </a:r>
            <a:r>
              <a:rPr lang="ru-RU" sz="2400" dirty="0"/>
              <a:t> </a:t>
            </a:r>
            <a:r>
              <a:rPr lang="ru-RU" sz="2400" dirty="0" smtClean="0"/>
              <a:t># -</a:t>
            </a:r>
            <a:r>
              <a:rPr lang="ru-RU" sz="2400" dirty="0"/>
              <a:t>e</a:t>
            </a:r>
          </a:p>
          <a:p>
            <a:r>
              <a:rPr lang="ru-RU" sz="2400" dirty="0"/>
              <a:t>--</a:t>
            </a:r>
            <a:r>
              <a:rPr lang="ru-RU" sz="2400" dirty="0" err="1"/>
              <a:t>echo-queries</a:t>
            </a:r>
            <a:r>
              <a:rPr lang="ru-RU" sz="2400" dirty="0"/>
              <a:t> </a:t>
            </a:r>
            <a:r>
              <a:rPr lang="ru-RU" sz="2400" dirty="0" smtClean="0"/>
              <a:t># Посылает </a:t>
            </a:r>
            <a:r>
              <a:rPr lang="ru-RU" sz="2400" dirty="0"/>
              <a:t>все команды SQL, отправленные на </a:t>
            </a:r>
            <a:r>
              <a:rPr lang="ru-RU" sz="2400" dirty="0" smtClean="0"/>
              <a:t>сервер</a:t>
            </a:r>
          </a:p>
          <a:p>
            <a:r>
              <a:rPr lang="ru-RU" sz="2400" dirty="0" smtClean="0"/>
              <a:t>--</a:t>
            </a:r>
            <a:r>
              <a:rPr lang="ru-RU" sz="2400" dirty="0" err="1"/>
              <a:t>echo-hidden</a:t>
            </a:r>
            <a:r>
              <a:rPr lang="ru-RU" sz="2400" dirty="0"/>
              <a:t> </a:t>
            </a:r>
            <a:r>
              <a:rPr lang="ru-RU" sz="2400" dirty="0" smtClean="0"/>
              <a:t># Отображает </a:t>
            </a:r>
            <a:r>
              <a:rPr lang="ru-RU" sz="2400" dirty="0"/>
              <a:t>фактические </a:t>
            </a:r>
            <a:r>
              <a:rPr lang="ru-RU" sz="2400" dirty="0" smtClean="0"/>
              <a:t>запросы</a:t>
            </a:r>
          </a:p>
          <a:p>
            <a:r>
              <a:rPr lang="ru-RU" sz="2400" dirty="0" smtClean="0"/>
              <a:t>--</a:t>
            </a:r>
            <a:r>
              <a:rPr lang="ru-RU" sz="2400" dirty="0" err="1"/>
              <a:t>file</a:t>
            </a:r>
            <a:r>
              <a:rPr lang="ru-RU" sz="2400" dirty="0"/>
              <a:t>=</a:t>
            </a:r>
            <a:r>
              <a:rPr lang="ru-RU" sz="2400" dirty="0" err="1"/>
              <a:t>имя_файла</a:t>
            </a:r>
            <a:r>
              <a:rPr lang="ru-RU" sz="2400" dirty="0"/>
              <a:t> </a:t>
            </a:r>
            <a:r>
              <a:rPr lang="ru-RU" sz="2400" dirty="0" smtClean="0"/>
              <a:t># Читает </a:t>
            </a:r>
            <a:r>
              <a:rPr lang="ru-RU" sz="2400" dirty="0"/>
              <a:t>команды из файла </a:t>
            </a:r>
            <a:r>
              <a:rPr lang="ru-RU" sz="2400" dirty="0" err="1"/>
              <a:t>имя_файла</a:t>
            </a:r>
            <a:endParaRPr lang="en-US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407572" y="0"/>
            <a:ext cx="678442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-F </a:t>
            </a:r>
            <a:r>
              <a:rPr lang="ru-RU" sz="2400" dirty="0" smtClean="0"/>
              <a:t>разделитель --</a:t>
            </a:r>
            <a:r>
              <a:rPr lang="ru-RU" sz="2400" dirty="0" err="1"/>
              <a:t>field-separator</a:t>
            </a:r>
            <a:r>
              <a:rPr lang="ru-RU" sz="2400" dirty="0"/>
              <a:t>=разделитель </a:t>
            </a:r>
            <a:r>
              <a:rPr lang="ru-RU" sz="2400" dirty="0" smtClean="0"/>
              <a:t># Использование разделителя</a:t>
            </a:r>
          </a:p>
          <a:p>
            <a:r>
              <a:rPr lang="ru-RU" sz="2400" dirty="0"/>
              <a:t>режиме вывода. Эквивалентно \</a:t>
            </a:r>
            <a:r>
              <a:rPr lang="ru-RU" sz="2400" dirty="0" err="1"/>
              <a:t>pset</a:t>
            </a:r>
            <a:r>
              <a:rPr lang="ru-RU" sz="2400" dirty="0"/>
              <a:t> </a:t>
            </a:r>
            <a:r>
              <a:rPr lang="ru-RU" sz="2400" dirty="0" err="1"/>
              <a:t>fieldsep</a:t>
            </a:r>
            <a:r>
              <a:rPr lang="ru-RU" sz="2400" dirty="0"/>
              <a:t> или \f.</a:t>
            </a:r>
          </a:p>
          <a:p>
            <a:r>
              <a:rPr lang="ru-RU" sz="2400" dirty="0" smtClean="0"/>
              <a:t>--</a:t>
            </a:r>
            <a:r>
              <a:rPr lang="ru-RU" sz="2400" dirty="0" err="1"/>
              <a:t>host</a:t>
            </a:r>
            <a:r>
              <a:rPr lang="ru-RU" sz="2400" dirty="0"/>
              <a:t>=компьютер </a:t>
            </a:r>
            <a:r>
              <a:rPr lang="ru-RU" sz="2400" dirty="0" smtClean="0"/>
              <a:t># -Указывает </a:t>
            </a:r>
            <a:r>
              <a:rPr lang="ru-RU" sz="2400" dirty="0"/>
              <a:t>имя </a:t>
            </a:r>
            <a:r>
              <a:rPr lang="ru-RU" sz="2400" dirty="0" smtClean="0"/>
              <a:t>компьютера</a:t>
            </a:r>
          </a:p>
          <a:p>
            <a:r>
              <a:rPr lang="ru-RU" sz="2400" dirty="0" smtClean="0"/>
              <a:t>--</a:t>
            </a:r>
            <a:r>
              <a:rPr lang="ru-RU" sz="2400" dirty="0" err="1"/>
              <a:t>html</a:t>
            </a:r>
            <a:r>
              <a:rPr lang="ru-RU" sz="2400" dirty="0"/>
              <a:t> </a:t>
            </a:r>
            <a:r>
              <a:rPr lang="ru-RU" sz="2400" dirty="0" smtClean="0"/>
              <a:t># Переключает </a:t>
            </a:r>
            <a:r>
              <a:rPr lang="ru-RU" sz="2400" dirty="0"/>
              <a:t>в режим вывода </a:t>
            </a:r>
            <a:r>
              <a:rPr lang="ru-RU" sz="2400" dirty="0" smtClean="0"/>
              <a:t>HTML</a:t>
            </a:r>
          </a:p>
          <a:p>
            <a:r>
              <a:rPr lang="ru-RU" sz="2400" dirty="0"/>
              <a:t>-l</a:t>
            </a:r>
          </a:p>
          <a:p>
            <a:r>
              <a:rPr lang="ru-RU" sz="2400" dirty="0"/>
              <a:t>--</a:t>
            </a:r>
            <a:r>
              <a:rPr lang="ru-RU" sz="2400" dirty="0" err="1"/>
              <a:t>list</a:t>
            </a:r>
            <a:r>
              <a:rPr lang="ru-RU" sz="2400" dirty="0"/>
              <a:t> </a:t>
            </a:r>
            <a:r>
              <a:rPr lang="ru-RU" sz="2400" dirty="0" smtClean="0"/>
              <a:t># Выводит </a:t>
            </a:r>
            <a:r>
              <a:rPr lang="ru-RU" sz="2400" dirty="0"/>
              <a:t>список всех доступных баз данных и завершает </a:t>
            </a:r>
            <a:r>
              <a:rPr lang="ru-RU" sz="2400" dirty="0" smtClean="0"/>
              <a:t>работу</a:t>
            </a:r>
          </a:p>
          <a:p>
            <a:r>
              <a:rPr lang="ru-RU" sz="2400" dirty="0" smtClean="0"/>
              <a:t>--</a:t>
            </a:r>
            <a:r>
              <a:rPr lang="ru-RU" sz="2400" dirty="0" err="1"/>
              <a:t>log-file</a:t>
            </a:r>
            <a:r>
              <a:rPr lang="ru-RU" sz="2400" dirty="0"/>
              <a:t>=</a:t>
            </a:r>
            <a:r>
              <a:rPr lang="ru-RU" sz="2400" dirty="0" err="1"/>
              <a:t>имя_файла</a:t>
            </a:r>
            <a:r>
              <a:rPr lang="ru-RU" sz="2400" dirty="0"/>
              <a:t> </a:t>
            </a:r>
            <a:r>
              <a:rPr lang="ru-RU" sz="2400" dirty="0" smtClean="0"/>
              <a:t># , </a:t>
            </a:r>
            <a:r>
              <a:rPr lang="ru-RU" sz="2400" dirty="0"/>
              <a:t>записывает вывод результатов всех запросов </a:t>
            </a:r>
            <a:endParaRPr lang="ru-RU" sz="2400" dirty="0" smtClean="0"/>
          </a:p>
          <a:p>
            <a:r>
              <a:rPr lang="ru-RU" sz="2400" dirty="0" smtClean="0"/>
              <a:t>--</a:t>
            </a:r>
            <a:r>
              <a:rPr lang="ru-RU" sz="2400" dirty="0" err="1"/>
              <a:t>no-readline</a:t>
            </a:r>
            <a:r>
              <a:rPr lang="ru-RU" sz="2400" dirty="0"/>
              <a:t> </a:t>
            </a:r>
            <a:r>
              <a:rPr lang="ru-RU" sz="2400" dirty="0" smtClean="0"/>
              <a:t># Отключает </a:t>
            </a:r>
            <a:r>
              <a:rPr lang="ru-RU" sz="2400" dirty="0"/>
              <a:t>использование </a:t>
            </a:r>
            <a:r>
              <a:rPr lang="ru-RU" sz="2400" dirty="0" err="1"/>
              <a:t>Readline</a:t>
            </a:r>
            <a:r>
              <a:rPr lang="ru-RU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5953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5770179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--</a:t>
            </a:r>
            <a:r>
              <a:rPr lang="ru-RU" sz="2400" dirty="0" err="1"/>
              <a:t>port</a:t>
            </a:r>
            <a:r>
              <a:rPr lang="ru-RU" sz="2400" dirty="0"/>
              <a:t>=порт </a:t>
            </a:r>
            <a:r>
              <a:rPr lang="ru-RU" sz="2400" dirty="0" smtClean="0"/>
              <a:t># Указывает </a:t>
            </a:r>
            <a:r>
              <a:rPr lang="ru-RU" sz="2400" dirty="0"/>
              <a:t>TCP-порт или расширение </a:t>
            </a:r>
            <a:r>
              <a:rPr lang="ru-RU" sz="2400" dirty="0" smtClean="0"/>
              <a:t>файла</a:t>
            </a:r>
          </a:p>
          <a:p>
            <a:r>
              <a:rPr lang="ru-RU" sz="2400" dirty="0" smtClean="0"/>
              <a:t>--</a:t>
            </a:r>
            <a:r>
              <a:rPr lang="ru-RU" sz="2400" dirty="0" err="1"/>
              <a:t>pset</a:t>
            </a:r>
            <a:r>
              <a:rPr lang="ru-RU" sz="2400" dirty="0"/>
              <a:t>=присваивание </a:t>
            </a:r>
            <a:r>
              <a:rPr lang="ru-RU" sz="2400" dirty="0" smtClean="0"/>
              <a:t># Задаёт </a:t>
            </a:r>
            <a:r>
              <a:rPr lang="ru-RU" sz="2400" dirty="0"/>
              <a:t>параметры </a:t>
            </a:r>
            <a:r>
              <a:rPr lang="ru-RU" sz="2400" dirty="0" smtClean="0"/>
              <a:t>печати</a:t>
            </a:r>
          </a:p>
          <a:p>
            <a:r>
              <a:rPr lang="ru-RU" sz="2400" dirty="0" smtClean="0"/>
              <a:t>--</a:t>
            </a:r>
            <a:r>
              <a:rPr lang="ru-RU" sz="2400" dirty="0" err="1"/>
              <a:t>quiet</a:t>
            </a:r>
            <a:r>
              <a:rPr lang="ru-RU" sz="2400" dirty="0"/>
              <a:t> </a:t>
            </a:r>
            <a:r>
              <a:rPr lang="ru-RU" sz="2400" dirty="0" smtClean="0"/>
              <a:t># работать </a:t>
            </a:r>
            <a:r>
              <a:rPr lang="ru-RU" sz="2400" dirty="0"/>
              <a:t>без вывода дополнительных </a:t>
            </a:r>
            <a:r>
              <a:rPr lang="ru-RU" sz="2400" dirty="0" smtClean="0"/>
              <a:t>сообщений</a:t>
            </a:r>
          </a:p>
          <a:p>
            <a:r>
              <a:rPr lang="ru-RU" sz="2400" dirty="0" smtClean="0"/>
              <a:t>--</a:t>
            </a:r>
            <a:r>
              <a:rPr lang="ru-RU" sz="2400" dirty="0" err="1"/>
              <a:t>record-separator</a:t>
            </a:r>
            <a:r>
              <a:rPr lang="ru-RU" sz="2400" dirty="0"/>
              <a:t>=разделитель </a:t>
            </a:r>
            <a:r>
              <a:rPr lang="ru-RU" sz="2400" dirty="0" smtClean="0"/>
              <a:t># разделитель </a:t>
            </a:r>
            <a:r>
              <a:rPr lang="ru-RU" sz="2400" dirty="0"/>
              <a:t>записей при </a:t>
            </a:r>
            <a:r>
              <a:rPr lang="ru-RU" sz="2400" dirty="0" err="1"/>
              <a:t>невыровненном</a:t>
            </a:r>
            <a:r>
              <a:rPr lang="ru-RU" sz="2400" dirty="0"/>
              <a:t> режиме </a:t>
            </a:r>
            <a:endParaRPr lang="ru-RU" sz="2400" dirty="0" smtClean="0"/>
          </a:p>
          <a:p>
            <a:r>
              <a:rPr lang="ru-RU" sz="2400" dirty="0" smtClean="0"/>
              <a:t>--</a:t>
            </a:r>
            <a:r>
              <a:rPr lang="ru-RU" sz="2400" dirty="0" err="1"/>
              <a:t>single-step</a:t>
            </a:r>
            <a:r>
              <a:rPr lang="ru-RU" sz="2400" dirty="0"/>
              <a:t> </a:t>
            </a:r>
            <a:r>
              <a:rPr lang="ru-RU" sz="2400" dirty="0" smtClean="0"/>
              <a:t># Запуск </a:t>
            </a:r>
            <a:r>
              <a:rPr lang="ru-RU" sz="2400" dirty="0"/>
              <a:t>в пошаговом </a:t>
            </a:r>
            <a:r>
              <a:rPr lang="ru-RU" sz="2400" dirty="0" smtClean="0"/>
              <a:t>режиме</a:t>
            </a:r>
          </a:p>
          <a:p>
            <a:r>
              <a:rPr lang="ru-RU" sz="2400" dirty="0" smtClean="0"/>
              <a:t>--</a:t>
            </a:r>
            <a:r>
              <a:rPr lang="ru-RU" sz="2400" dirty="0" err="1"/>
              <a:t>single-line</a:t>
            </a:r>
            <a:r>
              <a:rPr lang="ru-RU" sz="2400" dirty="0"/>
              <a:t> </a:t>
            </a:r>
            <a:r>
              <a:rPr lang="ru-RU" sz="2400" dirty="0" smtClean="0"/>
              <a:t># Запуск </a:t>
            </a:r>
            <a:r>
              <a:rPr lang="ru-RU" sz="2400" dirty="0"/>
              <a:t>в однострочном </a:t>
            </a:r>
            <a:r>
              <a:rPr lang="ru-RU" sz="2400" dirty="0" smtClean="0"/>
              <a:t>режиме</a:t>
            </a:r>
          </a:p>
          <a:p>
            <a:r>
              <a:rPr lang="en-US" sz="2400" dirty="0"/>
              <a:t>single-transaction </a:t>
            </a:r>
            <a:r>
              <a:rPr lang="en-US" sz="2400" dirty="0" smtClean="0"/>
              <a:t>#</a:t>
            </a:r>
            <a:r>
              <a:rPr lang="ru-RU" sz="2400" dirty="0"/>
              <a:t> применяться только в сочетании с одним или несколькими параметрами -c и/или -f</a:t>
            </a:r>
            <a:r>
              <a:rPr lang="ru-RU" sz="2400" dirty="0" smtClean="0"/>
              <a:t>.</a:t>
            </a:r>
          </a:p>
          <a:p>
            <a:r>
              <a:rPr lang="ru-RU" sz="2400" dirty="0" err="1"/>
              <a:t>help</a:t>
            </a:r>
            <a:r>
              <a:rPr lang="ru-RU" sz="2400" dirty="0"/>
              <a:t>[=тема] </a:t>
            </a:r>
            <a:r>
              <a:rPr lang="ru-RU" sz="2400" dirty="0" smtClean="0"/>
              <a:t># Показать </a:t>
            </a:r>
            <a:r>
              <a:rPr lang="ru-RU" sz="2400" dirty="0"/>
              <a:t>справку по </a:t>
            </a:r>
            <a:r>
              <a:rPr lang="ru-RU" sz="2400" dirty="0" err="1"/>
              <a:t>psql</a:t>
            </a:r>
            <a:r>
              <a:rPr lang="ru-RU" sz="2400" dirty="0"/>
              <a:t> и завершиться</a:t>
            </a:r>
            <a:endParaRPr lang="ru-RU" sz="2400" dirty="0" smtClean="0"/>
          </a:p>
          <a:p>
            <a:endParaRPr lang="ru-RU" sz="2400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5770178" y="1"/>
            <a:ext cx="6421822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--</a:t>
            </a:r>
            <a:r>
              <a:rPr lang="ru-RU" sz="2400" dirty="0" err="1"/>
              <a:t>tuples-only</a:t>
            </a:r>
            <a:r>
              <a:rPr lang="ru-RU" sz="2400" dirty="0"/>
              <a:t> # Отключает вывод имён </a:t>
            </a:r>
            <a:r>
              <a:rPr lang="ru-RU" sz="2400" dirty="0" smtClean="0"/>
              <a:t>столбцов</a:t>
            </a:r>
          </a:p>
          <a:p>
            <a:r>
              <a:rPr lang="ru-RU" sz="2400" dirty="0" smtClean="0"/>
              <a:t>--</a:t>
            </a:r>
            <a:r>
              <a:rPr lang="ru-RU" sz="2400" dirty="0" err="1"/>
              <a:t>table-attr</a:t>
            </a:r>
            <a:r>
              <a:rPr lang="ru-RU" sz="2400" dirty="0"/>
              <a:t>=</a:t>
            </a:r>
            <a:r>
              <a:rPr lang="ru-RU" sz="2400" dirty="0" err="1"/>
              <a:t>параметры_таблицы</a:t>
            </a:r>
            <a:r>
              <a:rPr lang="ru-RU" sz="2400" dirty="0"/>
              <a:t> </a:t>
            </a:r>
            <a:r>
              <a:rPr lang="ru-RU" sz="2400" dirty="0" smtClean="0"/>
              <a:t># Задаёт -</a:t>
            </a:r>
            <a:r>
              <a:rPr lang="ru-RU" sz="2400" dirty="0"/>
              <a:t>U </a:t>
            </a:r>
            <a:r>
              <a:rPr lang="ru-RU" sz="2400" dirty="0" err="1"/>
              <a:t>имя_пользователя</a:t>
            </a:r>
            <a:endParaRPr lang="ru-RU" sz="2400" dirty="0"/>
          </a:p>
          <a:p>
            <a:r>
              <a:rPr lang="ru-RU" sz="2400" dirty="0" smtClean="0"/>
              <a:t>-</a:t>
            </a:r>
            <a:r>
              <a:rPr lang="en-US" sz="2400" dirty="0"/>
              <a:t>-v </a:t>
            </a:r>
            <a:r>
              <a:rPr lang="ru-RU" sz="2400" dirty="0"/>
              <a:t>присваивание</a:t>
            </a:r>
          </a:p>
          <a:p>
            <a:r>
              <a:rPr lang="ru-RU" sz="2400" dirty="0"/>
              <a:t>--</a:t>
            </a:r>
            <a:r>
              <a:rPr lang="en-US" sz="2400" dirty="0"/>
              <a:t>set=</a:t>
            </a:r>
            <a:r>
              <a:rPr lang="ru-RU" sz="2400" dirty="0"/>
              <a:t>присваивание</a:t>
            </a:r>
          </a:p>
          <a:p>
            <a:r>
              <a:rPr lang="ru-RU" sz="2400" dirty="0"/>
              <a:t>--</a:t>
            </a:r>
            <a:r>
              <a:rPr lang="en-US" sz="2400" dirty="0"/>
              <a:t>variable=</a:t>
            </a:r>
            <a:r>
              <a:rPr lang="ru-RU" sz="2400" dirty="0"/>
              <a:t>присваивание #</a:t>
            </a:r>
          </a:p>
          <a:p>
            <a:r>
              <a:rPr lang="ru-RU" sz="2400" dirty="0" smtClean="0"/>
              <a:t>-</a:t>
            </a:r>
            <a:r>
              <a:rPr lang="ru-RU" sz="2400" dirty="0" err="1"/>
              <a:t>username</a:t>
            </a:r>
            <a:r>
              <a:rPr lang="ru-RU" sz="2400" dirty="0"/>
              <a:t>=</a:t>
            </a:r>
            <a:r>
              <a:rPr lang="ru-RU" sz="2400" dirty="0" err="1"/>
              <a:t>имя_пользователя</a:t>
            </a:r>
            <a:r>
              <a:rPr lang="ru-RU" sz="2400" dirty="0"/>
              <a:t> #</a:t>
            </a:r>
          </a:p>
          <a:p>
            <a:r>
              <a:rPr lang="ru-RU" sz="2400" dirty="0" smtClean="0"/>
              <a:t>--</a:t>
            </a:r>
            <a:r>
              <a:rPr lang="ru-RU" sz="2400" dirty="0" err="1"/>
              <a:t>version</a:t>
            </a:r>
            <a:r>
              <a:rPr lang="ru-RU" sz="2400" dirty="0"/>
              <a:t> </a:t>
            </a:r>
            <a:r>
              <a:rPr lang="ru-RU" sz="2400" dirty="0" smtClean="0"/>
              <a:t># Выводит </a:t>
            </a:r>
            <a:r>
              <a:rPr lang="ru-RU" sz="2400" dirty="0"/>
              <a:t>версию </a:t>
            </a:r>
            <a:r>
              <a:rPr lang="ru-RU" sz="2400" dirty="0" err="1"/>
              <a:t>psql</a:t>
            </a:r>
            <a:r>
              <a:rPr lang="ru-RU" sz="2400" dirty="0"/>
              <a:t> и завершает работу.</a:t>
            </a:r>
          </a:p>
          <a:p>
            <a:r>
              <a:rPr lang="ru-RU" sz="2400" dirty="0" smtClean="0"/>
              <a:t>--</a:t>
            </a:r>
            <a:r>
              <a:rPr lang="ru-RU" sz="2400" dirty="0" err="1"/>
              <a:t>no-password</a:t>
            </a:r>
            <a:r>
              <a:rPr lang="ru-RU" sz="2400" dirty="0"/>
              <a:t> </a:t>
            </a:r>
            <a:r>
              <a:rPr lang="ru-RU" sz="2400" dirty="0" smtClean="0"/>
              <a:t># Не </a:t>
            </a:r>
            <a:r>
              <a:rPr lang="ru-RU" sz="2400" dirty="0"/>
              <a:t>выдавать запрос на ввод </a:t>
            </a:r>
            <a:r>
              <a:rPr lang="ru-RU" sz="2400" dirty="0" smtClean="0"/>
              <a:t>пароля</a:t>
            </a:r>
          </a:p>
          <a:p>
            <a:r>
              <a:rPr lang="en-US" sz="2400" dirty="0"/>
              <a:t>password </a:t>
            </a:r>
            <a:r>
              <a:rPr lang="en-US" sz="2400" dirty="0" smtClean="0"/>
              <a:t>#</a:t>
            </a:r>
            <a:r>
              <a:rPr lang="ru-RU" sz="2400" dirty="0" smtClean="0"/>
              <a:t> Принудительно </a:t>
            </a:r>
            <a:r>
              <a:rPr lang="ru-RU" sz="2400" dirty="0"/>
              <a:t>запрашивать </a:t>
            </a:r>
            <a:r>
              <a:rPr lang="ru-RU" sz="2400" dirty="0" smtClean="0"/>
              <a:t>пароль</a:t>
            </a:r>
          </a:p>
          <a:p>
            <a:r>
              <a:rPr lang="ru-RU" sz="2400" dirty="0"/>
              <a:t> </a:t>
            </a:r>
            <a:r>
              <a:rPr lang="ru-RU" sz="2400" dirty="0" err="1"/>
              <a:t>expanded</a:t>
            </a:r>
            <a:r>
              <a:rPr lang="ru-RU" sz="2400" dirty="0"/>
              <a:t> </a:t>
            </a:r>
            <a:r>
              <a:rPr lang="ru-RU" sz="2400" dirty="0" smtClean="0"/>
              <a:t># Включает </a:t>
            </a:r>
            <a:r>
              <a:rPr lang="ru-RU" sz="2400" dirty="0"/>
              <a:t>режим развёрнутого вывода </a:t>
            </a:r>
            <a:r>
              <a:rPr lang="ru-RU" sz="2400" dirty="0" smtClean="0"/>
              <a:t>таблицы</a:t>
            </a:r>
          </a:p>
          <a:p>
            <a:r>
              <a:rPr lang="ru-RU" sz="2400" dirty="0" err="1"/>
              <a:t>no-psqlrc</a:t>
            </a:r>
            <a:r>
              <a:rPr lang="ru-RU" sz="2400" dirty="0"/>
              <a:t> </a:t>
            </a:r>
            <a:r>
              <a:rPr lang="ru-RU" sz="2400" dirty="0" smtClean="0"/>
              <a:t># Не </a:t>
            </a:r>
            <a:r>
              <a:rPr lang="ru-RU" sz="2400" dirty="0"/>
              <a:t>читать стартовые файлы </a:t>
            </a:r>
            <a:endParaRPr lang="ru-RU" sz="2400" dirty="0" smtClean="0"/>
          </a:p>
          <a:p>
            <a:r>
              <a:rPr lang="en-US" sz="2400" dirty="0"/>
              <a:t>field-separator-zero </a:t>
            </a:r>
            <a:r>
              <a:rPr lang="en-US" sz="2400" dirty="0" smtClean="0"/>
              <a:t>#</a:t>
            </a:r>
            <a:r>
              <a:rPr lang="ru-RU" sz="2400" dirty="0" smtClean="0"/>
              <a:t> Установить </a:t>
            </a:r>
            <a:r>
              <a:rPr lang="ru-RU" sz="2400" dirty="0"/>
              <a:t>нулевой </a:t>
            </a:r>
            <a:r>
              <a:rPr lang="ru-RU" sz="2400" dirty="0" smtClean="0"/>
              <a:t>байт</a:t>
            </a:r>
          </a:p>
          <a:p>
            <a:r>
              <a:rPr lang="ru-RU" sz="2400" dirty="0" smtClean="0"/>
              <a:t> </a:t>
            </a:r>
            <a:r>
              <a:rPr lang="en-US" sz="2400" dirty="0"/>
              <a:t>record-separator-zero </a:t>
            </a:r>
            <a:r>
              <a:rPr lang="en-US" sz="2400" dirty="0" smtClean="0"/>
              <a:t>#</a:t>
            </a:r>
            <a:r>
              <a:rPr lang="ru-RU" sz="2400" dirty="0" smtClean="0"/>
              <a:t> Установить </a:t>
            </a:r>
            <a:r>
              <a:rPr lang="ru-RU" sz="2400" dirty="0"/>
              <a:t>нулевой байт </a:t>
            </a:r>
          </a:p>
        </p:txBody>
      </p:sp>
    </p:spTree>
    <p:extLst>
      <p:ext uri="{BB962C8B-B14F-4D97-AF65-F5344CB8AC3E}">
        <p14:creationId xmlns:p14="http://schemas.microsoft.com/office/powerpoint/2010/main" val="2924590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022428" y="0"/>
            <a:ext cx="3957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Полезные команды </a:t>
            </a:r>
            <a:r>
              <a:rPr lang="en-US" sz="2400" b="1" dirty="0" err="1"/>
              <a:t>psql</a:t>
            </a:r>
            <a:endParaRPr lang="ru-RU" sz="2400" b="1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060205"/>
              </p:ext>
            </p:extLst>
          </p:nvPr>
        </p:nvGraphicFramePr>
        <p:xfrm>
          <a:off x="0" y="461666"/>
          <a:ext cx="12192000" cy="61480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0234">
                  <a:extLst>
                    <a:ext uri="{9D8B030D-6E8A-4147-A177-3AD203B41FA5}">
                      <a16:colId xmlns:a16="http://schemas.microsoft.com/office/drawing/2014/main" val="3508127034"/>
                    </a:ext>
                  </a:extLst>
                </a:gridCol>
                <a:gridCol w="11511766">
                  <a:extLst>
                    <a:ext uri="{9D8B030D-6E8A-4147-A177-3AD203B41FA5}">
                      <a16:colId xmlns:a16="http://schemas.microsoft.com/office/drawing/2014/main" val="1716218761"/>
                    </a:ext>
                  </a:extLst>
                </a:gridCol>
              </a:tblGrid>
              <a:tr h="19051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>
                          <a:effectLst/>
                        </a:rPr>
                        <a:t>\?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Справка по командам psql.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extLst>
                  <a:ext uri="{0D108BD9-81ED-4DB2-BD59-A6C34878D82A}">
                    <a16:rowId xmlns:a16="http://schemas.microsoft.com/office/drawing/2014/main" val="1596409882"/>
                  </a:ext>
                </a:extLst>
              </a:tr>
              <a:tr h="19051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>
                          <a:effectLst/>
                        </a:rPr>
                        <a:t>\h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>
                          <a:effectLst/>
                        </a:rPr>
                        <a:t>Справка по SQL: список доступных команд или синтаксис конкретной команды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extLst>
                  <a:ext uri="{0D108BD9-81ED-4DB2-BD59-A6C34878D82A}">
                    <a16:rowId xmlns:a16="http://schemas.microsoft.com/office/drawing/2014/main" val="1866901131"/>
                  </a:ext>
                </a:extLst>
              </a:tr>
              <a:tr h="57153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>
                          <a:effectLst/>
                        </a:rPr>
                        <a:t>\x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 dirty="0">
                          <a:effectLst/>
                        </a:rPr>
                        <a:t>Переключение табличного вывода (столбцы и строки) </a:t>
                      </a:r>
                      <a:r>
                        <a:rPr lang="ru-RU" sz="1600" dirty="0" smtClean="0">
                          <a:effectLst/>
                        </a:rPr>
                        <a:t>на </a:t>
                      </a:r>
                      <a:r>
                        <a:rPr lang="ru-RU" sz="1600" dirty="0">
                          <a:effectLst/>
                        </a:rPr>
                        <a:t>расширенный (каждый столбец на отдельной строке) и обратно. </a:t>
                      </a:r>
                      <a:endParaRPr lang="ru-RU" sz="1600" dirty="0" smtClean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 dirty="0" smtClean="0">
                          <a:effectLst/>
                        </a:rPr>
                        <a:t>Удобно </a:t>
                      </a:r>
                      <a:r>
                        <a:rPr lang="ru-RU" sz="1600" dirty="0">
                          <a:effectLst/>
                        </a:rPr>
                        <a:t>для просмотра нескольких «широких» строк.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extLst>
                  <a:ext uri="{0D108BD9-81ED-4DB2-BD59-A6C34878D82A}">
                    <a16:rowId xmlns:a16="http://schemas.microsoft.com/office/drawing/2014/main" val="3756059466"/>
                  </a:ext>
                </a:extLst>
              </a:tr>
              <a:tr h="1905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\l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Список баз данных.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extLst>
                  <a:ext uri="{0D108BD9-81ED-4DB2-BD59-A6C34878D82A}">
                    <a16:rowId xmlns:a16="http://schemas.microsoft.com/office/drawing/2014/main" val="1540018235"/>
                  </a:ext>
                </a:extLst>
              </a:tr>
              <a:tr h="38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\du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Список пользователей.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extLst>
                  <a:ext uri="{0D108BD9-81ED-4DB2-BD59-A6C34878D82A}">
                    <a16:rowId xmlns:a16="http://schemas.microsoft.com/office/drawing/2014/main" val="2359795304"/>
                  </a:ext>
                </a:extLst>
              </a:tr>
              <a:tr h="1905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\dt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 dirty="0">
                          <a:effectLst/>
                        </a:rPr>
                        <a:t>Список таблиц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extLst>
                  <a:ext uri="{0D108BD9-81ED-4DB2-BD59-A6C34878D82A}">
                    <a16:rowId xmlns:a16="http://schemas.microsoft.com/office/drawing/2014/main" val="3698671995"/>
                  </a:ext>
                </a:extLst>
              </a:tr>
              <a:tr h="19051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en-US" sz="1600">
                          <a:effectLst/>
                        </a:rPr>
                        <a:t>\di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>
                          <a:effectLst/>
                        </a:rPr>
                        <a:t>Список индексов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extLst>
                  <a:ext uri="{0D108BD9-81ED-4DB2-BD59-A6C34878D82A}">
                    <a16:rowId xmlns:a16="http://schemas.microsoft.com/office/drawing/2014/main" val="2077388157"/>
                  </a:ext>
                </a:extLst>
              </a:tr>
              <a:tr h="3810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en-US" sz="1600">
                          <a:effectLst/>
                        </a:rPr>
                        <a:t>\dv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>
                          <a:effectLst/>
                        </a:rPr>
                        <a:t>Список представлений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extLst>
                  <a:ext uri="{0D108BD9-81ED-4DB2-BD59-A6C34878D82A}">
                    <a16:rowId xmlns:a16="http://schemas.microsoft.com/office/drawing/2014/main" val="1763402162"/>
                  </a:ext>
                </a:extLst>
              </a:tr>
              <a:tr h="19051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en-US" sz="1600">
                          <a:effectLst/>
                        </a:rPr>
                        <a:t>\df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>
                          <a:effectLst/>
                        </a:rPr>
                        <a:t>Список функций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extLst>
                  <a:ext uri="{0D108BD9-81ED-4DB2-BD59-A6C34878D82A}">
                    <a16:rowId xmlns:a16="http://schemas.microsoft.com/office/drawing/2014/main" val="4067244390"/>
                  </a:ext>
                </a:extLst>
              </a:tr>
              <a:tr h="3810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en-US" sz="1600">
                          <a:effectLst/>
                        </a:rPr>
                        <a:t>\dn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>
                          <a:effectLst/>
                        </a:rPr>
                        <a:t>Список схем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extLst>
                  <a:ext uri="{0D108BD9-81ED-4DB2-BD59-A6C34878D82A}">
                    <a16:rowId xmlns:a16="http://schemas.microsoft.com/office/drawing/2014/main" val="1507883144"/>
                  </a:ext>
                </a:extLst>
              </a:tr>
              <a:tr h="3810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en-US" sz="1600">
                          <a:effectLst/>
                        </a:rPr>
                        <a:t>\dx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>
                          <a:effectLst/>
                        </a:rPr>
                        <a:t>Список установленных расширений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extLst>
                  <a:ext uri="{0D108BD9-81ED-4DB2-BD59-A6C34878D82A}">
                    <a16:rowId xmlns:a16="http://schemas.microsoft.com/office/drawing/2014/main" val="3224740490"/>
                  </a:ext>
                </a:extLst>
              </a:tr>
              <a:tr h="3810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en-US" sz="1600">
                          <a:effectLst/>
                        </a:rPr>
                        <a:t>\dp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>
                          <a:effectLst/>
                        </a:rPr>
                        <a:t>Список привилегий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extLst>
                  <a:ext uri="{0D108BD9-81ED-4DB2-BD59-A6C34878D82A}">
                    <a16:rowId xmlns:a16="http://schemas.microsoft.com/office/drawing/2014/main" val="1019733094"/>
                  </a:ext>
                </a:extLst>
              </a:tr>
              <a:tr h="57153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en-US" sz="1600">
                          <a:effectLst/>
                        </a:rPr>
                        <a:t>\d </a:t>
                      </a:r>
                      <a:r>
                        <a:rPr lang="ru-RU" sz="1600">
                          <a:effectLst/>
                        </a:rPr>
                        <a:t>имя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>
                          <a:effectLst/>
                        </a:rPr>
                        <a:t>Подробная информация по конкретному объекту базы данных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extLst>
                  <a:ext uri="{0D108BD9-81ED-4DB2-BD59-A6C34878D82A}">
                    <a16:rowId xmlns:a16="http://schemas.microsoft.com/office/drawing/2014/main" val="2560130174"/>
                  </a:ext>
                </a:extLst>
              </a:tr>
              <a:tr h="7620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>
                          <a:effectLst/>
                        </a:rPr>
                        <a:t>\d+ имя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>
                          <a:effectLst/>
                        </a:rPr>
                        <a:t>Еще более подробная информация по конкретному объекту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extLst>
                  <a:ext uri="{0D108BD9-81ED-4DB2-BD59-A6C34878D82A}">
                    <a16:rowId xmlns:a16="http://schemas.microsoft.com/office/drawing/2014/main" val="2546520935"/>
                  </a:ext>
                </a:extLst>
              </a:tr>
              <a:tr h="7620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>
                          <a:effectLst/>
                        </a:rPr>
                        <a:t>\timing on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00050" algn="l"/>
                          <a:tab pos="828675" algn="l"/>
                        </a:tabLst>
                      </a:pPr>
                      <a:r>
                        <a:rPr lang="ru-RU" sz="1600" dirty="0">
                          <a:effectLst/>
                        </a:rPr>
                        <a:t>Вывод времени выполнения оператор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97" marR="47297" marT="0" marB="0"/>
                </a:tc>
                <a:extLst>
                  <a:ext uri="{0D108BD9-81ED-4DB2-BD59-A6C34878D82A}">
                    <a16:rowId xmlns:a16="http://schemas.microsoft.com/office/drawing/2014/main" val="1966030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210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14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>
                <a:solidFill>
                  <a:srgbClr val="FF0000"/>
                </a:solidFill>
              </a:rPr>
              <a:t>Установка </a:t>
            </a:r>
            <a:r>
              <a:rPr lang="ru-RU" sz="4000" b="1" dirty="0" err="1">
                <a:solidFill>
                  <a:srgbClr val="FF0000"/>
                </a:solidFill>
              </a:rPr>
              <a:t>PostgreSQL</a:t>
            </a:r>
            <a:r>
              <a:rPr lang="ru-RU" sz="4000" b="1" dirty="0">
                <a:solidFill>
                  <a:srgbClr val="FF0000"/>
                </a:solidFill>
              </a:rPr>
              <a:t> в </a:t>
            </a:r>
            <a:r>
              <a:rPr lang="ru-RU" sz="4000" b="1" dirty="0" err="1">
                <a:solidFill>
                  <a:srgbClr val="FF0000"/>
                </a:solidFill>
              </a:rPr>
              <a:t>Docker</a:t>
            </a:r>
            <a:endParaRPr lang="ru-RU" sz="4000" b="1" dirty="0" smtClean="0">
              <a:solidFill>
                <a:srgbClr val="FF0000"/>
              </a:solidFill>
            </a:endParaRPr>
          </a:p>
          <a:p>
            <a:pPr lvl="1" algn="ctr"/>
            <a:r>
              <a:rPr lang="ru-RU" sz="4000" b="1" dirty="0" smtClean="0"/>
              <a:t>Вопрос 3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7962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68" y="182518"/>
            <a:ext cx="2282748" cy="153592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625417" y="182518"/>
            <a:ext cx="956658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/>
              <a:t>Docker</a:t>
            </a:r>
            <a:r>
              <a:rPr lang="ru-RU" sz="2400" b="1" dirty="0" smtClean="0"/>
              <a:t> </a:t>
            </a:r>
            <a:r>
              <a:rPr lang="ru-RU" sz="2400" dirty="0" smtClean="0"/>
              <a:t>(Докер) — платформа с открытым исходным кодом для автоматизации разработки, доставки и развёртывания приложений</a:t>
            </a:r>
          </a:p>
          <a:p>
            <a:pPr algn="just"/>
            <a:r>
              <a:rPr lang="ru-RU" sz="2400" dirty="0"/>
              <a:t>принцип работы </a:t>
            </a:r>
            <a:r>
              <a:rPr lang="ru-RU" sz="2400" dirty="0" err="1"/>
              <a:t>Docker</a:t>
            </a:r>
            <a:r>
              <a:rPr lang="ru-RU" sz="2400" dirty="0"/>
              <a:t> — контейнеризация </a:t>
            </a:r>
            <a:r>
              <a:rPr lang="ru-RU" sz="2400" dirty="0" smtClean="0"/>
              <a:t>приложений</a:t>
            </a:r>
          </a:p>
          <a:p>
            <a:pPr algn="just"/>
            <a:r>
              <a:rPr lang="ru-RU" sz="2400" dirty="0"/>
              <a:t>Особенности контейнеров:</a:t>
            </a:r>
          </a:p>
          <a:p>
            <a:r>
              <a:rPr lang="ru-RU" sz="2400" dirty="0"/>
              <a:t>•	</a:t>
            </a:r>
            <a:r>
              <a:rPr lang="ru-RU" sz="2400" dirty="0" smtClean="0"/>
              <a:t>легковесные;</a:t>
            </a:r>
            <a:endParaRPr lang="ru-RU" sz="2400" dirty="0"/>
          </a:p>
          <a:p>
            <a:r>
              <a:rPr lang="ru-RU" sz="2400" dirty="0"/>
              <a:t>•	изолированы друг от </a:t>
            </a:r>
            <a:r>
              <a:rPr lang="ru-RU" sz="2400" dirty="0" smtClean="0"/>
              <a:t>друга;</a:t>
            </a:r>
            <a:endParaRPr lang="ru-RU" sz="2400" dirty="0"/>
          </a:p>
          <a:p>
            <a:r>
              <a:rPr lang="ru-RU" sz="2400" dirty="0"/>
              <a:t>•	переносимы </a:t>
            </a:r>
            <a:endParaRPr lang="ru-RU" sz="2400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1" y="3229506"/>
            <a:ext cx="353147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КОМПОНЕНТЫ</a:t>
            </a:r>
          </a:p>
          <a:p>
            <a:r>
              <a:rPr lang="ru-RU" dirty="0" smtClean="0"/>
              <a:t>•</a:t>
            </a:r>
            <a:r>
              <a:rPr lang="ru-RU" sz="2400" dirty="0"/>
              <a:t>	</a:t>
            </a:r>
            <a:r>
              <a:rPr lang="ru-RU" sz="2400" dirty="0" err="1" smtClean="0"/>
              <a:t>Docker</a:t>
            </a:r>
            <a:r>
              <a:rPr lang="ru-RU" sz="2400" dirty="0" smtClean="0"/>
              <a:t> </a:t>
            </a:r>
            <a:r>
              <a:rPr lang="ru-RU" sz="2400" dirty="0" err="1" smtClean="0"/>
              <a:t>Engine</a:t>
            </a:r>
            <a:r>
              <a:rPr lang="ru-RU" sz="2400" dirty="0" smtClean="0"/>
              <a:t>).</a:t>
            </a:r>
            <a:endParaRPr lang="ru-RU" sz="2400" dirty="0"/>
          </a:p>
          <a:p>
            <a:r>
              <a:rPr lang="ru-RU" sz="2400" dirty="0"/>
              <a:t>•	</a:t>
            </a:r>
            <a:r>
              <a:rPr lang="ru-RU" sz="2400" dirty="0" err="1"/>
              <a:t>Docker</a:t>
            </a:r>
            <a:r>
              <a:rPr lang="ru-RU" sz="2400" dirty="0"/>
              <a:t> </a:t>
            </a:r>
            <a:r>
              <a:rPr lang="ru-RU" sz="2400" dirty="0" err="1"/>
              <a:t>Daemon</a:t>
            </a:r>
            <a:r>
              <a:rPr lang="ru-RU" sz="2400" dirty="0"/>
              <a:t> (</a:t>
            </a:r>
            <a:r>
              <a:rPr lang="ru-RU" sz="2400" dirty="0" err="1"/>
              <a:t>dockerd</a:t>
            </a:r>
            <a:r>
              <a:rPr lang="ru-RU" sz="2400" dirty="0"/>
              <a:t>)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</a:t>
            </a:r>
            <a:r>
              <a:rPr lang="ru-RU" sz="2400" dirty="0" err="1"/>
              <a:t>Docker</a:t>
            </a:r>
            <a:r>
              <a:rPr lang="ru-RU" sz="2400" dirty="0"/>
              <a:t>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</a:t>
            </a:r>
            <a:r>
              <a:rPr lang="ru-RU" sz="2400" dirty="0" err="1"/>
              <a:t>Dockerfile</a:t>
            </a:r>
            <a:r>
              <a:rPr lang="ru-RU" sz="2400" dirty="0"/>
              <a:t>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477407" y="2860174"/>
            <a:ext cx="771459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УСТАНОВКА</a:t>
            </a:r>
          </a:p>
          <a:p>
            <a:r>
              <a:rPr lang="ru-RU" sz="2400" dirty="0" err="1" smtClean="0"/>
              <a:t>Windows</a:t>
            </a:r>
            <a:r>
              <a:rPr lang="ru-RU" sz="2400" dirty="0" smtClean="0"/>
              <a:t> </a:t>
            </a:r>
            <a:r>
              <a:rPr lang="ru-RU" sz="2400" dirty="0"/>
              <a:t>и </a:t>
            </a:r>
            <a:r>
              <a:rPr lang="ru-RU" sz="2400" dirty="0" err="1"/>
              <a:t>macOS</a:t>
            </a:r>
            <a:r>
              <a:rPr lang="ru-RU" sz="2400" dirty="0"/>
              <a:t> доступна установка через </a:t>
            </a:r>
            <a:r>
              <a:rPr lang="ru-RU" sz="2400" dirty="0" err="1"/>
              <a:t>Docker</a:t>
            </a:r>
            <a:r>
              <a:rPr lang="ru-RU" sz="2400" dirty="0"/>
              <a:t> </a:t>
            </a:r>
            <a:r>
              <a:rPr lang="ru-RU" sz="2400" dirty="0" err="1"/>
              <a:t>Desktop</a:t>
            </a:r>
            <a:r>
              <a:rPr lang="ru-RU" sz="2400" dirty="0"/>
              <a:t> — полноценное приложение, включающее в себя </a:t>
            </a:r>
            <a:r>
              <a:rPr lang="ru-RU" sz="2400" dirty="0" err="1"/>
              <a:t>Docker</a:t>
            </a:r>
            <a:r>
              <a:rPr lang="ru-RU" sz="2400" dirty="0"/>
              <a:t> </a:t>
            </a:r>
            <a:r>
              <a:rPr lang="ru-RU" sz="2400" dirty="0" err="1"/>
              <a:t>Engine</a:t>
            </a:r>
            <a:r>
              <a:rPr lang="ru-RU" sz="2400" dirty="0" smtClean="0"/>
              <a:t>, </a:t>
            </a:r>
          </a:p>
          <a:p>
            <a:r>
              <a:rPr lang="ru-RU" sz="2400" dirty="0" err="1" smtClean="0"/>
              <a:t>Linux</a:t>
            </a:r>
            <a:r>
              <a:rPr lang="ru-RU" sz="2400" dirty="0" smtClean="0"/>
              <a:t> </a:t>
            </a:r>
            <a:r>
              <a:rPr lang="ru-RU" sz="2400" dirty="0"/>
              <a:t>чаще всего используется установка </a:t>
            </a:r>
            <a:r>
              <a:rPr lang="ru-RU" sz="2400" dirty="0" err="1"/>
              <a:t>Docker</a:t>
            </a:r>
            <a:r>
              <a:rPr lang="ru-RU" sz="2400" dirty="0"/>
              <a:t> </a:t>
            </a:r>
            <a:r>
              <a:rPr lang="ru-RU" sz="2400" dirty="0" err="1"/>
              <a:t>Engine</a:t>
            </a:r>
            <a:r>
              <a:rPr lang="ru-RU" sz="2400" dirty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2028622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26124"/>
            <a:ext cx="12192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| ОС | Минимальные требования | Рекомендуемые требования |</a:t>
            </a:r>
          </a:p>
          <a:p>
            <a:r>
              <a:rPr lang="ru-RU" sz="2200" dirty="0"/>
              <a:t>|----------|--------------------------------------------|---------------------------------------|</a:t>
            </a:r>
          </a:p>
          <a:p>
            <a:r>
              <a:rPr lang="ru-RU" sz="2200" dirty="0"/>
              <a:t>| </a:t>
            </a:r>
            <a:r>
              <a:rPr lang="en-US" sz="2200" dirty="0"/>
              <a:t>Windows | Windows 10/11, 4 </a:t>
            </a:r>
            <a:r>
              <a:rPr lang="ru-RU" sz="2200" dirty="0"/>
              <a:t>ГБ ОЗУ, поддержка </a:t>
            </a:r>
            <a:r>
              <a:rPr lang="en-US" sz="2200" dirty="0"/>
              <a:t>Hyper-V | Windows 10/11 Pro, 8 </a:t>
            </a:r>
            <a:r>
              <a:rPr lang="ru-RU" sz="2200" dirty="0"/>
              <a:t>ГБ ОЗУ |</a:t>
            </a:r>
          </a:p>
          <a:p>
            <a:r>
              <a:rPr lang="ru-RU" sz="2200" dirty="0"/>
              <a:t>| </a:t>
            </a:r>
            <a:r>
              <a:rPr lang="en-US" sz="2200" dirty="0" err="1"/>
              <a:t>macOS</a:t>
            </a:r>
            <a:r>
              <a:rPr lang="en-US" sz="2200" dirty="0"/>
              <a:t> | </a:t>
            </a:r>
            <a:r>
              <a:rPr lang="en-US" sz="2200" dirty="0" err="1"/>
              <a:t>macOS</a:t>
            </a:r>
            <a:r>
              <a:rPr lang="en-US" sz="2200" dirty="0"/>
              <a:t> 10.14 </a:t>
            </a:r>
            <a:r>
              <a:rPr lang="ru-RU" sz="2200" dirty="0"/>
              <a:t>и новее, 4 ГБ ОЗУ | </a:t>
            </a:r>
            <a:r>
              <a:rPr lang="en-US" sz="2200" dirty="0" err="1"/>
              <a:t>macOS</a:t>
            </a:r>
            <a:r>
              <a:rPr lang="en-US" sz="2200" dirty="0"/>
              <a:t> 10.15 </a:t>
            </a:r>
            <a:r>
              <a:rPr lang="ru-RU" sz="2200" dirty="0"/>
              <a:t>и новее, 8 ГБ ОЗУ |</a:t>
            </a:r>
          </a:p>
          <a:p>
            <a:r>
              <a:rPr lang="ru-RU" sz="2200" dirty="0"/>
              <a:t>| </a:t>
            </a:r>
            <a:r>
              <a:rPr lang="en-US" sz="2200" dirty="0"/>
              <a:t>Linux | </a:t>
            </a:r>
            <a:r>
              <a:rPr lang="ru-RU" sz="2200" dirty="0"/>
              <a:t>Современный дистрибутив, 4 ГБ ОЗУ | </a:t>
            </a:r>
            <a:r>
              <a:rPr lang="en-US" sz="2200" dirty="0"/>
              <a:t>Ubuntu/</a:t>
            </a:r>
            <a:r>
              <a:rPr lang="en-US" sz="2200" dirty="0" err="1"/>
              <a:t>Debian</a:t>
            </a:r>
            <a:r>
              <a:rPr lang="en-US" sz="2200" dirty="0"/>
              <a:t>/CentOS, 8 </a:t>
            </a:r>
            <a:r>
              <a:rPr lang="ru-RU" sz="2200" dirty="0"/>
              <a:t>ГБ ОЗУ </a:t>
            </a:r>
            <a:r>
              <a:rPr lang="ru-RU" sz="2200" dirty="0" smtClean="0"/>
              <a:t>|</a:t>
            </a:r>
            <a:endParaRPr lang="ru-RU" sz="2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452648" y="1718442"/>
            <a:ext cx="41858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Установка </a:t>
            </a:r>
            <a:r>
              <a:rPr lang="en-US" sz="2400" b="1" dirty="0"/>
              <a:t>Docker </a:t>
            </a:r>
            <a:r>
              <a:rPr lang="ru-RU" sz="2400" b="1" dirty="0"/>
              <a:t>на </a:t>
            </a:r>
            <a:r>
              <a:rPr lang="en-US" sz="2400" b="1" dirty="0"/>
              <a:t>Windows</a:t>
            </a:r>
            <a:endParaRPr lang="ru-RU" sz="24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0358" y="2049517"/>
            <a:ext cx="12081641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Для установки </a:t>
            </a:r>
            <a:r>
              <a:rPr lang="ru-RU" sz="2000" dirty="0" err="1"/>
              <a:t>Docker</a:t>
            </a:r>
            <a:r>
              <a:rPr lang="ru-RU" sz="2000" dirty="0"/>
              <a:t> на </a:t>
            </a:r>
            <a:r>
              <a:rPr lang="ru-RU" sz="2000" dirty="0" err="1"/>
              <a:t>Windows</a:t>
            </a:r>
            <a:r>
              <a:rPr lang="ru-RU" sz="2000" dirty="0"/>
              <a:t> используется </a:t>
            </a:r>
            <a:r>
              <a:rPr lang="ru-RU" sz="2000" dirty="0" err="1"/>
              <a:t>Docker</a:t>
            </a:r>
            <a:r>
              <a:rPr lang="ru-RU" sz="2000" dirty="0"/>
              <a:t> </a:t>
            </a:r>
            <a:r>
              <a:rPr lang="ru-RU" sz="2000" dirty="0" err="1"/>
              <a:t>Desktop</a:t>
            </a:r>
            <a:r>
              <a:rPr lang="ru-RU" sz="2000" dirty="0"/>
              <a:t>, поддерживающий </a:t>
            </a:r>
            <a:r>
              <a:rPr lang="ru-RU" sz="2000" dirty="0" err="1"/>
              <a:t>Windows</a:t>
            </a:r>
            <a:r>
              <a:rPr lang="ru-RU" sz="2000" dirty="0"/>
              <a:t> 10 и 11. </a:t>
            </a:r>
            <a:r>
              <a:rPr lang="ru-RU" sz="2000" dirty="0" err="1"/>
              <a:t>Docker</a:t>
            </a:r>
            <a:r>
              <a:rPr lang="ru-RU" sz="2000" dirty="0"/>
              <a:t> </a:t>
            </a:r>
            <a:r>
              <a:rPr lang="ru-RU" sz="2000" dirty="0" err="1"/>
              <a:t>Desktop</a:t>
            </a:r>
            <a:r>
              <a:rPr lang="ru-RU" sz="2000" dirty="0"/>
              <a:t> требует включения </a:t>
            </a:r>
            <a:r>
              <a:rPr lang="ru-RU" sz="2000" dirty="0" err="1"/>
              <a:t>Hyper</a:t>
            </a:r>
            <a:r>
              <a:rPr lang="ru-RU" sz="2000" dirty="0"/>
              <a:t>-V, так как </a:t>
            </a:r>
            <a:r>
              <a:rPr lang="ru-RU" sz="2000" dirty="0" err="1"/>
              <a:t>Docker</a:t>
            </a:r>
            <a:r>
              <a:rPr lang="ru-RU" sz="2000" dirty="0"/>
              <a:t> на </a:t>
            </a:r>
            <a:r>
              <a:rPr lang="ru-RU" sz="2000" dirty="0" err="1"/>
              <a:t>Windows</a:t>
            </a:r>
            <a:r>
              <a:rPr lang="ru-RU" sz="2000" dirty="0"/>
              <a:t> работает на виртуализации.</a:t>
            </a:r>
          </a:p>
          <a:p>
            <a:r>
              <a:rPr lang="ru-RU" sz="2000" dirty="0"/>
              <a:t>Подготовка к установке</a:t>
            </a:r>
          </a:p>
          <a:p>
            <a:r>
              <a:rPr lang="ru-RU" sz="2000" dirty="0"/>
              <a:t>1. Включение виртуализации (</a:t>
            </a:r>
            <a:r>
              <a:rPr lang="ru-RU" sz="2000" dirty="0" err="1"/>
              <a:t>Hyper</a:t>
            </a:r>
            <a:r>
              <a:rPr lang="ru-RU" sz="2000" dirty="0"/>
              <a:t>-V). Для этого зайдите в BIOS вашего компьютера и найдите настройки виртуализации (чаще всего они находятся в разделе "</a:t>
            </a:r>
            <a:r>
              <a:rPr lang="ru-RU" sz="2000" dirty="0" err="1"/>
              <a:t>Advanced</a:t>
            </a:r>
            <a:r>
              <a:rPr lang="ru-RU" sz="2000" dirty="0"/>
              <a:t>").</a:t>
            </a:r>
          </a:p>
          <a:p>
            <a:r>
              <a:rPr lang="ru-RU" sz="2000" dirty="0"/>
              <a:t>2. Проверка совместимости. </a:t>
            </a:r>
            <a:r>
              <a:rPr lang="ru-RU" sz="2000" dirty="0" err="1"/>
              <a:t>Docker</a:t>
            </a:r>
            <a:r>
              <a:rPr lang="ru-RU" sz="2000" dirty="0"/>
              <a:t> </a:t>
            </a:r>
            <a:r>
              <a:rPr lang="ru-RU" sz="2000" dirty="0" err="1"/>
              <a:t>Desktop</a:t>
            </a:r>
            <a:r>
              <a:rPr lang="ru-RU" sz="2000" dirty="0"/>
              <a:t> поддерживается на </a:t>
            </a:r>
            <a:r>
              <a:rPr lang="ru-RU" sz="2000" dirty="0" err="1"/>
              <a:t>Windows</a:t>
            </a:r>
            <a:r>
              <a:rPr lang="ru-RU" sz="2000" dirty="0"/>
              <a:t> 10/11 </a:t>
            </a:r>
            <a:r>
              <a:rPr lang="ru-RU" sz="2000" dirty="0" err="1"/>
              <a:t>Pro</a:t>
            </a:r>
            <a:r>
              <a:rPr lang="ru-RU" sz="2000" dirty="0"/>
              <a:t>, </a:t>
            </a:r>
            <a:r>
              <a:rPr lang="ru-RU" sz="2000" dirty="0" err="1"/>
              <a:t>Home</a:t>
            </a:r>
            <a:r>
              <a:rPr lang="ru-RU" sz="2000" dirty="0"/>
              <a:t> и </a:t>
            </a:r>
            <a:r>
              <a:rPr lang="ru-RU" sz="2000" dirty="0" err="1"/>
              <a:t>Enterprise</a:t>
            </a:r>
            <a:r>
              <a:rPr lang="ru-RU" sz="2000" dirty="0"/>
              <a:t>. Убедитесь, что версия вашей ОС подходит для установки </a:t>
            </a:r>
            <a:r>
              <a:rPr lang="ru-RU" sz="2000" dirty="0" err="1"/>
              <a:t>Docker</a:t>
            </a:r>
            <a:r>
              <a:rPr lang="ru-RU" sz="2000" dirty="0"/>
              <a:t>.</a:t>
            </a:r>
          </a:p>
          <a:p>
            <a:r>
              <a:rPr lang="ru-RU" sz="2000" dirty="0"/>
              <a:t>Процесс установки</a:t>
            </a:r>
          </a:p>
          <a:p>
            <a:r>
              <a:rPr lang="ru-RU" sz="2000" dirty="0"/>
              <a:t>1. Скачайте установочный файл </a:t>
            </a:r>
            <a:r>
              <a:rPr lang="ru-RU" sz="2000" dirty="0" err="1"/>
              <a:t>Docker</a:t>
            </a:r>
            <a:r>
              <a:rPr lang="ru-RU" sz="2000" dirty="0"/>
              <a:t> </a:t>
            </a:r>
            <a:r>
              <a:rPr lang="ru-RU" sz="2000" dirty="0" err="1"/>
              <a:t>Desktop</a:t>
            </a:r>
            <a:r>
              <a:rPr lang="ru-RU" sz="2000" dirty="0"/>
              <a:t> с официального сайта </a:t>
            </a:r>
            <a:r>
              <a:rPr lang="ru-RU" sz="2000" dirty="0" err="1"/>
              <a:t>Docker</a:t>
            </a:r>
            <a:r>
              <a:rPr lang="ru-RU" sz="2000" dirty="0"/>
              <a:t> (https://www.docker.com/products/docker-desktop).</a:t>
            </a:r>
          </a:p>
          <a:p>
            <a:r>
              <a:rPr lang="ru-RU" sz="2000" dirty="0"/>
              <a:t>2. Запустите скачанный файл и следуйте инструкциям.</a:t>
            </a:r>
          </a:p>
          <a:p>
            <a:r>
              <a:rPr lang="ru-RU" sz="2000" dirty="0"/>
              <a:t>3. После завершения установки выберите WSL2 как </a:t>
            </a:r>
            <a:r>
              <a:rPr lang="ru-RU" sz="2000" dirty="0" err="1"/>
              <a:t>бэкенд</a:t>
            </a:r>
            <a:r>
              <a:rPr lang="ru-RU" sz="2000" dirty="0"/>
              <a:t> в настройках </a:t>
            </a:r>
            <a:r>
              <a:rPr lang="ru-RU" sz="2000" dirty="0" err="1"/>
              <a:t>Docker</a:t>
            </a:r>
            <a:r>
              <a:rPr lang="ru-RU" sz="2000" dirty="0"/>
              <a:t> </a:t>
            </a:r>
            <a:r>
              <a:rPr lang="ru-RU" sz="2000" dirty="0" err="1"/>
              <a:t>Desktop</a:t>
            </a:r>
            <a:r>
              <a:rPr lang="ru-RU" sz="2000" dirty="0"/>
              <a:t>, чтобы обеспечить совместимость с </a:t>
            </a:r>
            <a:r>
              <a:rPr lang="ru-RU" sz="2000" dirty="0" err="1" smtClean="0"/>
              <a:t>Linux</a:t>
            </a:r>
            <a:r>
              <a:rPr lang="ru-RU" sz="2000" dirty="0" smtClean="0"/>
              <a:t>-контейнерами</a:t>
            </a:r>
          </a:p>
          <a:p>
            <a:r>
              <a:rPr lang="ru-RU" sz="2000" dirty="0" smtClean="0"/>
              <a:t>ПРОВЕРКА  УСТАНОВКИ    </a:t>
            </a:r>
            <a:r>
              <a:rPr lang="ru-RU" dirty="0" err="1" smtClean="0"/>
              <a:t>bash</a:t>
            </a:r>
            <a:endParaRPr lang="ru-RU" dirty="0"/>
          </a:p>
          <a:p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run</a:t>
            </a:r>
            <a:r>
              <a:rPr lang="ru-RU" dirty="0"/>
              <a:t> </a:t>
            </a:r>
            <a:r>
              <a:rPr lang="ru-RU" dirty="0" err="1"/>
              <a:t>hello-world</a:t>
            </a:r>
            <a:endParaRPr lang="ru-RU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13658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641834" y="0"/>
            <a:ext cx="38843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Установка </a:t>
            </a:r>
            <a:r>
              <a:rPr lang="en-US" sz="2400" b="1" dirty="0"/>
              <a:t>Docker </a:t>
            </a:r>
            <a:r>
              <a:rPr lang="ru-RU" sz="2400" b="1" dirty="0"/>
              <a:t>на </a:t>
            </a:r>
            <a:r>
              <a:rPr lang="en-US" sz="2400" b="1" dirty="0" err="1"/>
              <a:t>macOS</a:t>
            </a:r>
            <a:endParaRPr lang="ru-RU" sz="24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461665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Скачайте </a:t>
            </a:r>
            <a:r>
              <a:rPr lang="en-US" sz="2400" dirty="0"/>
              <a:t>Docker Desktop </a:t>
            </a:r>
            <a:r>
              <a:rPr lang="ru-RU" sz="2400" dirty="0"/>
              <a:t>для </a:t>
            </a:r>
            <a:r>
              <a:rPr lang="en-US" sz="2400" dirty="0" err="1"/>
              <a:t>macOS</a:t>
            </a:r>
            <a:r>
              <a:rPr lang="en-US" sz="2400" dirty="0"/>
              <a:t> </a:t>
            </a:r>
            <a:r>
              <a:rPr lang="ru-RU" sz="2400" dirty="0"/>
              <a:t>с официального сайта </a:t>
            </a:r>
            <a:r>
              <a:rPr lang="en-US" sz="2400" dirty="0"/>
              <a:t>Docker (https://www.docker.com/products/docker-desktop).</a:t>
            </a:r>
          </a:p>
          <a:p>
            <a:r>
              <a:rPr lang="en-US" sz="2400" dirty="0"/>
              <a:t>2. </a:t>
            </a:r>
            <a:r>
              <a:rPr lang="ru-RU" sz="2400" dirty="0"/>
              <a:t>Переместите приложение в папку "</a:t>
            </a:r>
            <a:r>
              <a:rPr lang="en-US" sz="2400" dirty="0"/>
              <a:t>Applications" </a:t>
            </a:r>
            <a:r>
              <a:rPr lang="ru-RU" sz="2400" dirty="0"/>
              <a:t>с помощью </a:t>
            </a:r>
            <a:r>
              <a:rPr lang="en-US" sz="2400" dirty="0"/>
              <a:t>drag-and-drop.</a:t>
            </a:r>
          </a:p>
          <a:p>
            <a:r>
              <a:rPr lang="en-US" sz="2400" dirty="0"/>
              <a:t>3. </a:t>
            </a:r>
            <a:r>
              <a:rPr lang="ru-RU" sz="2400" dirty="0"/>
              <a:t>Запустите </a:t>
            </a:r>
            <a:r>
              <a:rPr lang="en-US" sz="2400" dirty="0"/>
              <a:t>Docker Desktop </a:t>
            </a:r>
            <a:r>
              <a:rPr lang="ru-RU" sz="2400" dirty="0"/>
              <a:t>и предоставьте необходимые права доступа.</a:t>
            </a:r>
          </a:p>
          <a:p>
            <a:r>
              <a:rPr lang="ru-RU" sz="2400" dirty="0"/>
              <a:t>Проверка работоспособности</a:t>
            </a:r>
          </a:p>
          <a:p>
            <a:r>
              <a:rPr lang="ru-RU" sz="2400" dirty="0"/>
              <a:t>Запустите команду:</a:t>
            </a:r>
          </a:p>
          <a:p>
            <a:r>
              <a:rPr lang="en-US" sz="2400" dirty="0"/>
              <a:t>bash</a:t>
            </a:r>
          </a:p>
          <a:p>
            <a:r>
              <a:rPr lang="en-US" sz="2400" dirty="0" err="1"/>
              <a:t>docker</a:t>
            </a:r>
            <a:r>
              <a:rPr lang="en-US" sz="2400" dirty="0"/>
              <a:t> run hello-world</a:t>
            </a:r>
          </a:p>
        </p:txBody>
      </p:sp>
    </p:spTree>
    <p:extLst>
      <p:ext uri="{BB962C8B-B14F-4D97-AF65-F5344CB8AC3E}">
        <p14:creationId xmlns:p14="http://schemas.microsoft.com/office/powerpoint/2010/main" val="2889003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58054" y="0"/>
            <a:ext cx="57859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/>
              <a:t>Установка </a:t>
            </a:r>
            <a:r>
              <a:rPr lang="en-US" sz="2400" b="1" dirty="0"/>
              <a:t>Docker </a:t>
            </a:r>
            <a:r>
              <a:rPr lang="ru-RU" sz="2400" b="1" dirty="0"/>
              <a:t>на </a:t>
            </a:r>
            <a:r>
              <a:rPr lang="en-US" sz="2400" b="1" dirty="0" smtClean="0"/>
              <a:t>Linux</a:t>
            </a:r>
            <a:endParaRPr lang="en-US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461665"/>
            <a:ext cx="12192000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Docker Engine </a:t>
            </a:r>
            <a:r>
              <a:rPr lang="ru-RU" sz="2400" dirty="0"/>
              <a:t>можно установить на популярных дистрибутивах </a:t>
            </a:r>
            <a:r>
              <a:rPr lang="en-US" sz="2400" dirty="0"/>
              <a:t>Linux, </a:t>
            </a:r>
            <a:r>
              <a:rPr lang="ru-RU" sz="2400" dirty="0"/>
              <a:t>таких как </a:t>
            </a:r>
            <a:r>
              <a:rPr lang="en-US" sz="2400" dirty="0"/>
              <a:t>Ubuntu, </a:t>
            </a:r>
            <a:r>
              <a:rPr lang="en-US" sz="2400" dirty="0" err="1"/>
              <a:t>Debian</a:t>
            </a:r>
            <a:r>
              <a:rPr lang="en-US" sz="2400" dirty="0"/>
              <a:t>, CentOS </a:t>
            </a:r>
            <a:r>
              <a:rPr lang="ru-RU" sz="2400" dirty="0"/>
              <a:t>и </a:t>
            </a:r>
            <a:r>
              <a:rPr lang="en-US" sz="2400" dirty="0"/>
              <a:t>Fedora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en-US" sz="2400" dirty="0"/>
              <a:t>bash</a:t>
            </a:r>
          </a:p>
          <a:p>
            <a:r>
              <a:rPr lang="en-US" sz="2400" dirty="0" err="1"/>
              <a:t>sudo</a:t>
            </a:r>
            <a:r>
              <a:rPr lang="en-US" sz="2400" dirty="0"/>
              <a:t> apt-get update</a:t>
            </a:r>
          </a:p>
          <a:p>
            <a:r>
              <a:rPr lang="en-US" sz="2400" dirty="0" err="1"/>
              <a:t>sudo</a:t>
            </a:r>
            <a:r>
              <a:rPr lang="en-US" sz="2400" dirty="0"/>
              <a:t> apt-get install -y apt-transport-https ca-certificates curl software-properties-common</a:t>
            </a:r>
          </a:p>
          <a:p>
            <a:r>
              <a:rPr lang="en-US" sz="2400" dirty="0"/>
              <a:t>curl -</a:t>
            </a:r>
            <a:r>
              <a:rPr lang="en-US" sz="2400" dirty="0" err="1"/>
              <a:t>fsSL</a:t>
            </a:r>
            <a:r>
              <a:rPr lang="en-US" sz="2400" dirty="0"/>
              <a:t> https://download.docker.com/linux/ubuntu/gpg | </a:t>
            </a:r>
            <a:r>
              <a:rPr lang="en-US" sz="2400" dirty="0" err="1"/>
              <a:t>sudo</a:t>
            </a:r>
            <a:r>
              <a:rPr lang="en-US" sz="2400" dirty="0"/>
              <a:t> </a:t>
            </a:r>
            <a:r>
              <a:rPr lang="en-US" sz="2400" dirty="0" err="1"/>
              <a:t>gpg</a:t>
            </a:r>
            <a:r>
              <a:rPr lang="en-US" sz="2400" dirty="0"/>
              <a:t> --</a:t>
            </a:r>
            <a:r>
              <a:rPr lang="en-US" sz="2400" dirty="0" err="1"/>
              <a:t>dearmor</a:t>
            </a:r>
            <a:r>
              <a:rPr lang="en-US" sz="2400" dirty="0"/>
              <a:t> -o /</a:t>
            </a:r>
            <a:r>
              <a:rPr lang="en-US" sz="2400" dirty="0" err="1"/>
              <a:t>usr</a:t>
            </a:r>
            <a:r>
              <a:rPr lang="en-US" sz="2400" dirty="0"/>
              <a:t>/share/keyrings/</a:t>
            </a:r>
            <a:r>
              <a:rPr lang="en-US" sz="2400" dirty="0" err="1"/>
              <a:t>docker</a:t>
            </a:r>
            <a:r>
              <a:rPr lang="en-US" sz="2400" dirty="0"/>
              <a:t>-archive-</a:t>
            </a:r>
            <a:r>
              <a:rPr lang="en-US" sz="2400" dirty="0" err="1"/>
              <a:t>keyring.gpg</a:t>
            </a:r>
            <a:endParaRPr lang="en-US" sz="2400" dirty="0"/>
          </a:p>
          <a:p>
            <a:r>
              <a:rPr lang="en-US" sz="2400" dirty="0"/>
              <a:t>echo "deb [arch=amd64 signed-by=/</a:t>
            </a:r>
            <a:r>
              <a:rPr lang="en-US" sz="2400" dirty="0" err="1"/>
              <a:t>usr</a:t>
            </a:r>
            <a:r>
              <a:rPr lang="en-US" sz="2400" dirty="0"/>
              <a:t>/share/keyrings/</a:t>
            </a:r>
            <a:r>
              <a:rPr lang="en-US" sz="2400" dirty="0" err="1"/>
              <a:t>docker</a:t>
            </a:r>
            <a:r>
              <a:rPr lang="en-US" sz="2400" dirty="0"/>
              <a:t>-archive-</a:t>
            </a:r>
            <a:r>
              <a:rPr lang="en-US" sz="2400" dirty="0" err="1"/>
              <a:t>keyring.gpg</a:t>
            </a:r>
            <a:r>
              <a:rPr lang="en-US" sz="2400" dirty="0"/>
              <a:t>] https://download.docker.com/linux/ubuntu $(</a:t>
            </a:r>
            <a:r>
              <a:rPr lang="en-US" sz="2400" dirty="0" err="1"/>
              <a:t>lsb_release</a:t>
            </a:r>
            <a:r>
              <a:rPr lang="en-US" sz="2400" dirty="0"/>
              <a:t> -</a:t>
            </a:r>
            <a:r>
              <a:rPr lang="en-US" sz="2400" dirty="0" err="1"/>
              <a:t>cs</a:t>
            </a:r>
            <a:r>
              <a:rPr lang="en-US" sz="2400" dirty="0"/>
              <a:t>) stable" | </a:t>
            </a:r>
            <a:r>
              <a:rPr lang="en-US" sz="2400" dirty="0" err="1"/>
              <a:t>sudo</a:t>
            </a:r>
            <a:r>
              <a:rPr lang="en-US" sz="2400" dirty="0"/>
              <a:t> tee /</a:t>
            </a:r>
            <a:r>
              <a:rPr lang="en-US" sz="2400" dirty="0" err="1"/>
              <a:t>etc</a:t>
            </a:r>
            <a:r>
              <a:rPr lang="en-US" sz="2400" dirty="0"/>
              <a:t>/apt/</a:t>
            </a:r>
            <a:r>
              <a:rPr lang="en-US" sz="2400" dirty="0" err="1"/>
              <a:t>sources.list.d</a:t>
            </a:r>
            <a:r>
              <a:rPr lang="en-US" sz="2400" dirty="0"/>
              <a:t>/</a:t>
            </a:r>
            <a:r>
              <a:rPr lang="en-US" sz="2400" dirty="0" err="1"/>
              <a:t>docker.list</a:t>
            </a:r>
            <a:r>
              <a:rPr lang="en-US" sz="2400" dirty="0"/>
              <a:t> &gt; /dev/null</a:t>
            </a:r>
          </a:p>
          <a:p>
            <a:r>
              <a:rPr lang="en-US" sz="2400" dirty="0" err="1"/>
              <a:t>sudo</a:t>
            </a:r>
            <a:r>
              <a:rPr lang="en-US" sz="2400" dirty="0"/>
              <a:t> apt-get update</a:t>
            </a:r>
          </a:p>
          <a:p>
            <a:r>
              <a:rPr lang="en-US" sz="2400" dirty="0" err="1"/>
              <a:t>sudo</a:t>
            </a:r>
            <a:r>
              <a:rPr lang="en-US" sz="2400" dirty="0"/>
              <a:t> apt-get install -y </a:t>
            </a:r>
            <a:r>
              <a:rPr lang="en-US" sz="2400" dirty="0" err="1"/>
              <a:t>docker-ce</a:t>
            </a:r>
            <a:r>
              <a:rPr lang="en-US" sz="2400" dirty="0"/>
              <a:t> </a:t>
            </a:r>
            <a:r>
              <a:rPr lang="en-US" sz="2400" dirty="0" err="1"/>
              <a:t>docker</a:t>
            </a:r>
            <a:r>
              <a:rPr lang="en-US" sz="2400" dirty="0"/>
              <a:t>-</a:t>
            </a:r>
            <a:r>
              <a:rPr lang="en-US" sz="2400" dirty="0" err="1"/>
              <a:t>ce</a:t>
            </a:r>
            <a:r>
              <a:rPr lang="en-US" sz="2400" dirty="0"/>
              <a:t>-cli containerd.io</a:t>
            </a:r>
          </a:p>
          <a:p>
            <a:r>
              <a:rPr lang="ru-RU" sz="2400" dirty="0"/>
              <a:t>Проверка работоспособности</a:t>
            </a:r>
          </a:p>
          <a:p>
            <a:r>
              <a:rPr lang="ru-RU" sz="2400" dirty="0"/>
              <a:t>Запустите команду:</a:t>
            </a:r>
          </a:p>
          <a:p>
            <a:r>
              <a:rPr lang="en-US" sz="2400" dirty="0"/>
              <a:t>bash</a:t>
            </a:r>
          </a:p>
          <a:p>
            <a:r>
              <a:rPr lang="en-US" sz="2400" dirty="0" err="1"/>
              <a:t>docker</a:t>
            </a:r>
            <a:r>
              <a:rPr lang="en-US" sz="2400" dirty="0"/>
              <a:t> run hello-world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279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19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04041" y="1844565"/>
            <a:ext cx="10176734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</a:rPr>
              <a:t> </a:t>
            </a:r>
          </a:p>
          <a:p>
            <a:pPr algn="ctr"/>
            <a:r>
              <a:rPr lang="ru-RU" sz="4000" b="1" dirty="0">
                <a:solidFill>
                  <a:srgbClr val="FF0000"/>
                </a:solidFill>
              </a:rPr>
              <a:t>Запуск контейнера </a:t>
            </a:r>
            <a:r>
              <a:rPr lang="ru-RU" sz="4000" b="1" dirty="0" err="1">
                <a:solidFill>
                  <a:srgbClr val="FF0000"/>
                </a:solidFill>
              </a:rPr>
              <a:t>PostgreSQL</a:t>
            </a:r>
            <a:r>
              <a:rPr lang="ru-RU" sz="4000" b="1" dirty="0">
                <a:solidFill>
                  <a:srgbClr val="FF0000"/>
                </a:solidFill>
              </a:rPr>
              <a:t> в </a:t>
            </a:r>
            <a:r>
              <a:rPr lang="ru-RU" sz="4000" b="1" dirty="0" err="1">
                <a:solidFill>
                  <a:srgbClr val="FF0000"/>
                </a:solidFill>
              </a:rPr>
              <a:t>Docker</a:t>
            </a:r>
            <a:endParaRPr lang="ru-RU" sz="4000" b="1" dirty="0" smtClean="0">
              <a:solidFill>
                <a:srgbClr val="FF0000"/>
              </a:solidFill>
            </a:endParaRPr>
          </a:p>
          <a:p>
            <a:pPr algn="ctr"/>
            <a:r>
              <a:rPr lang="ru-RU" sz="5400" b="1" dirty="0" smtClean="0"/>
              <a:t>Вопрос 4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22897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588" y="136361"/>
            <a:ext cx="5095238" cy="349523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3925614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Официальные образы </a:t>
            </a:r>
            <a:r>
              <a:rPr lang="ru-RU" sz="2400" dirty="0" err="1"/>
              <a:t>PostgreSQL</a:t>
            </a:r>
            <a:r>
              <a:rPr lang="ru-RU" sz="2400" dirty="0"/>
              <a:t> опубликованы на </a:t>
            </a:r>
            <a:r>
              <a:rPr lang="ru-RU" sz="2400" dirty="0" err="1"/>
              <a:t>Docker</a:t>
            </a:r>
            <a:r>
              <a:rPr lang="ru-RU" sz="2400" dirty="0"/>
              <a:t> </a:t>
            </a:r>
            <a:r>
              <a:rPr lang="ru-RU" sz="2400" dirty="0" err="1"/>
              <a:t>Hub</a:t>
            </a:r>
            <a:r>
              <a:rPr lang="ru-RU" sz="2400" dirty="0"/>
              <a:t>. Там же можно найти базовые инструкции по использованию этих образов. Я буду опираться в том числе и на них</a:t>
            </a:r>
            <a:r>
              <a:rPr lang="ru-RU" sz="2400" dirty="0" smtClean="0"/>
              <a:t>.</a:t>
            </a:r>
          </a:p>
          <a:p>
            <a:r>
              <a:rPr lang="ru-RU" sz="2400" dirty="0"/>
              <a:t>большинство из них можно оставить как есть, но вот пароль </a:t>
            </a:r>
            <a:r>
              <a:rPr lang="ru-RU" sz="2400" dirty="0" err="1"/>
              <a:t>суперпользователя</a:t>
            </a:r>
            <a:r>
              <a:rPr lang="ru-RU" sz="2400" dirty="0"/>
              <a:t> придётся задать явно:</a:t>
            </a:r>
          </a:p>
          <a:p>
            <a:r>
              <a:rPr lang="ru-RU" sz="2400" dirty="0" err="1"/>
              <a:t>docker</a:t>
            </a:r>
            <a:r>
              <a:rPr lang="ru-RU" sz="2400" dirty="0"/>
              <a:t> </a:t>
            </a:r>
            <a:r>
              <a:rPr lang="ru-RU" sz="2400" dirty="0" err="1"/>
              <a:t>run</a:t>
            </a:r>
            <a:r>
              <a:rPr lang="ru-RU" sz="2400" dirty="0"/>
              <a:t> --</a:t>
            </a:r>
            <a:r>
              <a:rPr lang="ru-RU" sz="2400" dirty="0" err="1"/>
              <a:t>name</a:t>
            </a:r>
            <a:r>
              <a:rPr lang="ru-RU" sz="2400" dirty="0"/>
              <a:t> </a:t>
            </a:r>
            <a:r>
              <a:rPr lang="ru-RU" sz="2400" dirty="0" err="1"/>
              <a:t>habr-pg</a:t>
            </a:r>
            <a:r>
              <a:rPr lang="ru-RU" sz="2400" dirty="0"/>
              <a:t> -e POSTGRES_PASSWORD=pgpwd4habr -d </a:t>
            </a:r>
            <a:r>
              <a:rPr lang="ru-RU" sz="2400" dirty="0" err="1"/>
              <a:t>postgres</a:t>
            </a:r>
            <a:endParaRPr lang="ru-RU" sz="2400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1309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656"/>
            <a:ext cx="8317219" cy="136270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8317218" y="157656"/>
            <a:ext cx="3874781" cy="3799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интерфейс </a:t>
            </a:r>
            <a:r>
              <a:rPr lang="en-US" sz="2400" dirty="0"/>
              <a:t>Docker </a:t>
            </a:r>
            <a:r>
              <a:rPr lang="ru-RU" sz="2400" dirty="0"/>
              <a:t>можно запустить </a:t>
            </a:r>
            <a:r>
              <a:rPr lang="en-US" sz="2400" dirty="0"/>
              <a:t>CLI, </a:t>
            </a:r>
            <a:r>
              <a:rPr lang="ru-RU" sz="2400" dirty="0"/>
              <a:t>подключиться к контейнеру и уже оттуда запустить, например, </a:t>
            </a:r>
            <a:r>
              <a:rPr lang="en-US" sz="2400" dirty="0" err="1"/>
              <a:t>psql</a:t>
            </a:r>
            <a:r>
              <a:rPr lang="en-US" sz="2400" dirty="0"/>
              <a:t>:</a:t>
            </a:r>
          </a:p>
          <a:p>
            <a:r>
              <a:rPr lang="en-US" sz="2400" dirty="0" err="1"/>
              <a:t>psql</a:t>
            </a:r>
            <a:r>
              <a:rPr lang="en-US" sz="2400" dirty="0"/>
              <a:t> --username=</a:t>
            </a:r>
            <a:r>
              <a:rPr lang="en-US" sz="2400" dirty="0" err="1"/>
              <a:t>postgres</a:t>
            </a:r>
            <a:r>
              <a:rPr lang="en-US" sz="2400" dirty="0"/>
              <a:t> --</a:t>
            </a:r>
            <a:r>
              <a:rPr lang="en-US" sz="2400" dirty="0" err="1"/>
              <a:t>dbname</a:t>
            </a:r>
            <a:r>
              <a:rPr lang="en-US" sz="2400" dirty="0"/>
              <a:t>=</a:t>
            </a:r>
            <a:r>
              <a:rPr lang="en-US" sz="2400" dirty="0" err="1"/>
              <a:t>postgres</a:t>
            </a:r>
            <a:endParaRPr lang="en-US" sz="2400" dirty="0"/>
          </a:p>
          <a:p>
            <a:r>
              <a:rPr lang="ru-RU" sz="2400" dirty="0"/>
              <a:t>Далее я буду использовать сокращенный вариант этой команды:</a:t>
            </a:r>
          </a:p>
          <a:p>
            <a:r>
              <a:rPr lang="en-US" sz="2400" dirty="0" err="1"/>
              <a:t>psql</a:t>
            </a:r>
            <a:r>
              <a:rPr lang="en-US" sz="2400" dirty="0"/>
              <a:t> -U </a:t>
            </a:r>
            <a:r>
              <a:rPr lang="en-US" sz="2400" dirty="0" err="1"/>
              <a:t>postgres</a:t>
            </a:r>
            <a:r>
              <a:rPr lang="en-US" sz="2400" dirty="0"/>
              <a:t> -d </a:t>
            </a:r>
            <a:r>
              <a:rPr lang="en-US" sz="2400" dirty="0" err="1" smtClean="0"/>
              <a:t>postgres</a:t>
            </a:r>
            <a:endParaRPr lang="en-US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21" y="1879726"/>
            <a:ext cx="6351827" cy="415450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405351" y="6250393"/>
            <a:ext cx="46104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ПОДКЛЮЧЕНИЕ К БАЗЕ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483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22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>
                <a:solidFill>
                  <a:srgbClr val="FF0000"/>
                </a:solidFill>
              </a:rPr>
              <a:t>Как подключиться к </a:t>
            </a:r>
            <a:r>
              <a:rPr lang="ru-RU" sz="4000" b="1" dirty="0" err="1">
                <a:solidFill>
                  <a:srgbClr val="FF0000"/>
                </a:solidFill>
              </a:rPr>
              <a:t>PostgreSQL</a:t>
            </a:r>
            <a:r>
              <a:rPr lang="ru-RU" sz="4000" b="1" dirty="0">
                <a:solidFill>
                  <a:srgbClr val="FF0000"/>
                </a:solidFill>
              </a:rPr>
              <a:t> в контейнере</a:t>
            </a:r>
            <a:endParaRPr lang="ru-RU" sz="4000" b="1" dirty="0" smtClean="0">
              <a:solidFill>
                <a:srgbClr val="FF0000"/>
              </a:solidFill>
            </a:endParaRPr>
          </a:p>
          <a:p>
            <a:pPr lvl="1" algn="ctr"/>
            <a:r>
              <a:rPr lang="ru-RU" sz="4000" b="1" dirty="0" smtClean="0"/>
              <a:t>Вопрос 5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89659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запустить контейнер </a:t>
            </a:r>
            <a:r>
              <a:rPr lang="en-US" sz="2400" dirty="0"/>
              <a:t>PostgreSQL. </a:t>
            </a:r>
            <a:r>
              <a:rPr lang="ru-RU" sz="2400" dirty="0"/>
              <a:t>Для этого выполните следующую команду:</a:t>
            </a:r>
          </a:p>
          <a:p>
            <a:r>
              <a:rPr lang="en-US" sz="2400" dirty="0" err="1"/>
              <a:t>docker</a:t>
            </a:r>
            <a:r>
              <a:rPr lang="en-US" sz="2400" dirty="0"/>
              <a:t> run --name my-</a:t>
            </a:r>
            <a:r>
              <a:rPr lang="en-US" sz="2400" dirty="0" err="1"/>
              <a:t>postgres</a:t>
            </a:r>
            <a:r>
              <a:rPr lang="en-US" sz="2400" dirty="0"/>
              <a:t> -e POSTGRES_PASSWORD=</a:t>
            </a:r>
            <a:r>
              <a:rPr lang="en-US" sz="2400" dirty="0" err="1"/>
              <a:t>mysecretpassword</a:t>
            </a:r>
            <a:r>
              <a:rPr lang="en-US" sz="2400" dirty="0"/>
              <a:t> -d </a:t>
            </a:r>
            <a:r>
              <a:rPr lang="en-US" sz="2400" dirty="0" err="1"/>
              <a:t>postgres</a:t>
            </a:r>
            <a:endParaRPr lang="en-US" sz="2400" dirty="0"/>
          </a:p>
          <a:p>
            <a:r>
              <a:rPr lang="ru-RU" sz="2400" dirty="0"/>
              <a:t>Разберем параметры:</a:t>
            </a:r>
          </a:p>
          <a:p>
            <a:r>
              <a:rPr lang="ru-RU" sz="2400" dirty="0"/>
              <a:t>•	--</a:t>
            </a:r>
            <a:r>
              <a:rPr lang="en-US" sz="2400" dirty="0"/>
              <a:t>name my-</a:t>
            </a:r>
            <a:r>
              <a:rPr lang="en-US" sz="2400" dirty="0" err="1"/>
              <a:t>postgres</a:t>
            </a:r>
            <a:r>
              <a:rPr lang="en-US" sz="2400" dirty="0"/>
              <a:t> — </a:t>
            </a:r>
            <a:r>
              <a:rPr lang="ru-RU" sz="2400" dirty="0"/>
              <a:t>задает имя контейнера.</a:t>
            </a:r>
          </a:p>
          <a:p>
            <a:r>
              <a:rPr lang="ru-RU" sz="2400" dirty="0"/>
              <a:t>•	-</a:t>
            </a:r>
            <a:r>
              <a:rPr lang="en-US" sz="2400" dirty="0"/>
              <a:t>e POSTGRES_PASSWORD=</a:t>
            </a:r>
            <a:r>
              <a:rPr lang="en-US" sz="2400" dirty="0" err="1"/>
              <a:t>mysecretpassword</a:t>
            </a:r>
            <a:r>
              <a:rPr lang="en-US" sz="2400" dirty="0"/>
              <a:t> — </a:t>
            </a:r>
            <a:r>
              <a:rPr lang="ru-RU" sz="2400" dirty="0"/>
              <a:t>устанавливает пароль для пользователя </a:t>
            </a:r>
            <a:r>
              <a:rPr lang="en-US" sz="2400" dirty="0" err="1"/>
              <a:t>postgres</a:t>
            </a:r>
            <a:r>
              <a:rPr lang="en-US" sz="2400" dirty="0"/>
              <a:t>.</a:t>
            </a:r>
          </a:p>
          <a:p>
            <a:r>
              <a:rPr lang="en-US" sz="2400" dirty="0"/>
              <a:t>•	-d — </a:t>
            </a:r>
            <a:r>
              <a:rPr lang="ru-RU" sz="2400" dirty="0"/>
              <a:t>запускает контейнер в фоновом режиме.</a:t>
            </a:r>
          </a:p>
          <a:p>
            <a:r>
              <a:rPr lang="ru-RU" sz="2400" dirty="0"/>
              <a:t>•	</a:t>
            </a:r>
            <a:r>
              <a:rPr lang="en-US" sz="2400" dirty="0" err="1"/>
              <a:t>postgres</a:t>
            </a:r>
            <a:r>
              <a:rPr lang="en-US" sz="2400" dirty="0"/>
              <a:t> — </a:t>
            </a:r>
            <a:r>
              <a:rPr lang="ru-RU" sz="2400" dirty="0"/>
              <a:t>имя </a:t>
            </a:r>
            <a:r>
              <a:rPr lang="en-US" sz="2400" dirty="0"/>
              <a:t>Docker-</a:t>
            </a:r>
            <a:r>
              <a:rPr lang="ru-RU" sz="2400" dirty="0"/>
              <a:t>образа</a:t>
            </a:r>
            <a:r>
              <a:rPr lang="ru-RU" sz="2400" dirty="0" smtClean="0"/>
              <a:t>.</a:t>
            </a:r>
          </a:p>
          <a:p>
            <a:r>
              <a:rPr lang="ru-RU" sz="2400" dirty="0"/>
              <a:t>использовать утилиту </a:t>
            </a:r>
            <a:r>
              <a:rPr lang="en-US" sz="2400" dirty="0" err="1"/>
              <a:t>psql</a:t>
            </a:r>
            <a:r>
              <a:rPr lang="en-US" sz="2400" dirty="0"/>
              <a:t>:</a:t>
            </a:r>
          </a:p>
          <a:p>
            <a:r>
              <a:rPr lang="en-US" sz="2400" dirty="0" err="1"/>
              <a:t>docker</a:t>
            </a:r>
            <a:r>
              <a:rPr lang="en-US" sz="2400" dirty="0"/>
              <a:t> exec -it my-</a:t>
            </a:r>
            <a:r>
              <a:rPr lang="en-US" sz="2400" dirty="0" err="1"/>
              <a:t>postgres</a:t>
            </a:r>
            <a:r>
              <a:rPr lang="en-US" sz="2400" dirty="0"/>
              <a:t> </a:t>
            </a:r>
            <a:r>
              <a:rPr lang="en-US" sz="2400" dirty="0" err="1"/>
              <a:t>psql</a:t>
            </a:r>
            <a:r>
              <a:rPr lang="en-US" sz="2400" dirty="0"/>
              <a:t> -U </a:t>
            </a:r>
            <a:r>
              <a:rPr lang="en-US" sz="2400" dirty="0" err="1"/>
              <a:t>postgres</a:t>
            </a:r>
            <a:endParaRPr lang="en-US" sz="2400" dirty="0"/>
          </a:p>
          <a:p>
            <a:r>
              <a:rPr lang="ru-RU" sz="2400" dirty="0"/>
              <a:t>Здесь:</a:t>
            </a:r>
          </a:p>
          <a:p>
            <a:r>
              <a:rPr lang="ru-RU" sz="2400" dirty="0"/>
              <a:t>•	</a:t>
            </a:r>
            <a:r>
              <a:rPr lang="en-US" sz="2400" dirty="0" err="1"/>
              <a:t>docker</a:t>
            </a:r>
            <a:r>
              <a:rPr lang="en-US" sz="2400" dirty="0"/>
              <a:t> exec — </a:t>
            </a:r>
            <a:r>
              <a:rPr lang="ru-RU" sz="2400" dirty="0"/>
              <a:t>позволяет выполнять команды в запущенном контейнере.</a:t>
            </a:r>
          </a:p>
          <a:p>
            <a:r>
              <a:rPr lang="ru-RU" sz="2400" dirty="0"/>
              <a:t>•	-</a:t>
            </a:r>
            <a:r>
              <a:rPr lang="en-US" sz="2400" dirty="0"/>
              <a:t>it — </a:t>
            </a:r>
            <a:r>
              <a:rPr lang="ru-RU" sz="2400" dirty="0"/>
              <a:t>опция для интерактивного режима.</a:t>
            </a:r>
          </a:p>
          <a:p>
            <a:r>
              <a:rPr lang="ru-RU" sz="2400" dirty="0"/>
              <a:t>•	</a:t>
            </a:r>
            <a:r>
              <a:rPr lang="en-US" sz="2400" dirty="0"/>
              <a:t>my-</a:t>
            </a:r>
            <a:r>
              <a:rPr lang="en-US" sz="2400" dirty="0" err="1"/>
              <a:t>postgres</a:t>
            </a:r>
            <a:r>
              <a:rPr lang="en-US" sz="2400" dirty="0"/>
              <a:t> — </a:t>
            </a:r>
            <a:r>
              <a:rPr lang="ru-RU" sz="2400" dirty="0"/>
              <a:t>имя контейнера.</a:t>
            </a:r>
          </a:p>
          <a:p>
            <a:r>
              <a:rPr lang="ru-RU" sz="2400" dirty="0"/>
              <a:t>•	</a:t>
            </a:r>
            <a:r>
              <a:rPr lang="en-US" sz="2400" dirty="0" err="1"/>
              <a:t>psql</a:t>
            </a:r>
            <a:r>
              <a:rPr lang="en-US" sz="2400" dirty="0"/>
              <a:t> -U </a:t>
            </a:r>
            <a:r>
              <a:rPr lang="en-US" sz="2400" dirty="0" err="1"/>
              <a:t>postgres</a:t>
            </a:r>
            <a:r>
              <a:rPr lang="en-US" sz="2400" dirty="0"/>
              <a:t> — </a:t>
            </a:r>
            <a:r>
              <a:rPr lang="ru-RU" sz="2400" dirty="0"/>
              <a:t>команда для запуска </a:t>
            </a:r>
            <a:r>
              <a:rPr lang="en-US" sz="2400" dirty="0" err="1"/>
              <a:t>psql</a:t>
            </a:r>
            <a:r>
              <a:rPr lang="en-US" sz="2400" dirty="0"/>
              <a:t> </a:t>
            </a:r>
            <a:r>
              <a:rPr lang="ru-RU" sz="2400" dirty="0"/>
              <a:t>с пользователем </a:t>
            </a:r>
            <a:r>
              <a:rPr lang="en-US" sz="2400" dirty="0" err="1"/>
              <a:t>postgres</a:t>
            </a:r>
            <a:endParaRPr lang="en-US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57747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Пример команды для запуска контейнера с использованием </a:t>
            </a:r>
            <a:r>
              <a:rPr lang="en-US" sz="2400" dirty="0"/>
              <a:t>volume:</a:t>
            </a:r>
          </a:p>
          <a:p>
            <a:r>
              <a:rPr lang="en-US" sz="2400" dirty="0" err="1"/>
              <a:t>docker</a:t>
            </a:r>
            <a:r>
              <a:rPr lang="en-US" sz="2400" dirty="0"/>
              <a:t> run --name my-</a:t>
            </a:r>
            <a:r>
              <a:rPr lang="en-US" sz="2400" dirty="0" err="1"/>
              <a:t>postgres</a:t>
            </a:r>
            <a:r>
              <a:rPr lang="en-US" sz="2400" dirty="0"/>
              <a:t> -e POSTGRES_PASSWORD=</a:t>
            </a:r>
            <a:r>
              <a:rPr lang="en-US" sz="2400" dirty="0" err="1"/>
              <a:t>mysecretpassword</a:t>
            </a:r>
            <a:r>
              <a:rPr lang="en-US" sz="2400" dirty="0"/>
              <a:t> -v /my/local/data:/</a:t>
            </a:r>
            <a:r>
              <a:rPr lang="en-US" sz="2400" dirty="0" err="1"/>
              <a:t>var</a:t>
            </a:r>
            <a:r>
              <a:rPr lang="en-US" sz="2400" dirty="0"/>
              <a:t>/lib/</a:t>
            </a:r>
            <a:r>
              <a:rPr lang="en-US" sz="2400" dirty="0" err="1"/>
              <a:t>postgresql</a:t>
            </a:r>
            <a:r>
              <a:rPr lang="en-US" sz="2400" dirty="0"/>
              <a:t>/data -d </a:t>
            </a:r>
            <a:r>
              <a:rPr lang="en-US" sz="2400" dirty="0" err="1"/>
              <a:t>postgres</a:t>
            </a:r>
            <a:endParaRPr lang="en-US" sz="2400" dirty="0"/>
          </a:p>
          <a:p>
            <a:r>
              <a:rPr lang="ru-RU" sz="2400" dirty="0"/>
              <a:t>Здесь:</a:t>
            </a:r>
          </a:p>
          <a:p>
            <a:r>
              <a:rPr lang="ru-RU" sz="2400" dirty="0"/>
              <a:t>•	-</a:t>
            </a:r>
            <a:r>
              <a:rPr lang="en-US" sz="2400" dirty="0"/>
              <a:t>v /my/local/data:/</a:t>
            </a:r>
            <a:r>
              <a:rPr lang="en-US" sz="2400" dirty="0" err="1"/>
              <a:t>var</a:t>
            </a:r>
            <a:r>
              <a:rPr lang="en-US" sz="2400" dirty="0"/>
              <a:t>/lib/</a:t>
            </a:r>
            <a:r>
              <a:rPr lang="en-US" sz="2400" dirty="0" err="1"/>
              <a:t>postgresql</a:t>
            </a:r>
            <a:r>
              <a:rPr lang="en-US" sz="2400" dirty="0"/>
              <a:t>/data </a:t>
            </a:r>
            <a:endParaRPr lang="ru-RU" sz="2400" dirty="0" smtClean="0"/>
          </a:p>
          <a:p>
            <a:r>
              <a:rPr lang="en-US" sz="2400" dirty="0" err="1"/>
              <a:t>docker</a:t>
            </a:r>
            <a:r>
              <a:rPr lang="en-US" sz="2400" dirty="0"/>
              <a:t> exec my-</a:t>
            </a:r>
            <a:r>
              <a:rPr lang="en-US" sz="2400" dirty="0" err="1"/>
              <a:t>postgres</a:t>
            </a:r>
            <a:r>
              <a:rPr lang="en-US" sz="2400" dirty="0"/>
              <a:t> </a:t>
            </a:r>
            <a:r>
              <a:rPr lang="en-US" sz="2400" dirty="0" err="1"/>
              <a:t>pg_dump</a:t>
            </a:r>
            <a:r>
              <a:rPr lang="en-US" sz="2400" dirty="0"/>
              <a:t> -U </a:t>
            </a:r>
            <a:r>
              <a:rPr lang="en-US" sz="2400" dirty="0" err="1"/>
              <a:t>postgres</a:t>
            </a:r>
            <a:r>
              <a:rPr lang="en-US" sz="2400" dirty="0"/>
              <a:t> </a:t>
            </a:r>
            <a:r>
              <a:rPr lang="en-US" sz="2400" dirty="0" err="1"/>
              <a:t>mydb</a:t>
            </a:r>
            <a:r>
              <a:rPr lang="en-US" sz="2400" dirty="0"/>
              <a:t> &gt; /path/to/</a:t>
            </a:r>
            <a:r>
              <a:rPr lang="en-US" sz="2400" dirty="0" err="1"/>
              <a:t>backup.sql</a:t>
            </a:r>
            <a:endParaRPr lang="en-US" sz="2400" dirty="0"/>
          </a:p>
          <a:p>
            <a:r>
              <a:rPr lang="ru-RU" sz="2400" dirty="0"/>
              <a:t>Для восстановления данных используйте команду </a:t>
            </a:r>
            <a:r>
              <a:rPr lang="en-US" sz="2400" dirty="0" err="1"/>
              <a:t>psql</a:t>
            </a:r>
            <a:r>
              <a:rPr lang="en-US" sz="2400" dirty="0"/>
              <a:t>:</a:t>
            </a:r>
          </a:p>
          <a:p>
            <a:r>
              <a:rPr lang="en-US" sz="2400" dirty="0"/>
              <a:t>cat /path/to/</a:t>
            </a:r>
            <a:r>
              <a:rPr lang="en-US" sz="2400" dirty="0" err="1"/>
              <a:t>backup.sql</a:t>
            </a:r>
            <a:r>
              <a:rPr lang="en-US" sz="2400" dirty="0"/>
              <a:t> | </a:t>
            </a:r>
            <a:r>
              <a:rPr lang="en-US" sz="2400" dirty="0" err="1"/>
              <a:t>docker</a:t>
            </a:r>
            <a:r>
              <a:rPr lang="en-US" sz="2400" dirty="0"/>
              <a:t> exec -</a:t>
            </a:r>
            <a:r>
              <a:rPr lang="en-US" sz="2400" dirty="0" err="1"/>
              <a:t>i</a:t>
            </a:r>
            <a:r>
              <a:rPr lang="en-US" sz="2400" dirty="0"/>
              <a:t> my-</a:t>
            </a:r>
            <a:r>
              <a:rPr lang="en-US" sz="2400" dirty="0" err="1"/>
              <a:t>postgres</a:t>
            </a:r>
            <a:r>
              <a:rPr lang="en-US" sz="2400" dirty="0"/>
              <a:t> </a:t>
            </a:r>
            <a:r>
              <a:rPr lang="en-US" sz="2400" dirty="0" err="1"/>
              <a:t>psql</a:t>
            </a:r>
            <a:r>
              <a:rPr lang="en-US" sz="2400" dirty="0"/>
              <a:t> -U </a:t>
            </a:r>
            <a:r>
              <a:rPr lang="en-US" sz="2400" dirty="0" err="1"/>
              <a:t>postgres</a:t>
            </a:r>
            <a:r>
              <a:rPr lang="en-US" sz="2400" dirty="0"/>
              <a:t> </a:t>
            </a:r>
          </a:p>
          <a:p>
            <a:r>
              <a:rPr lang="en-US" sz="2400" dirty="0"/>
              <a:t>FROM postgres:13</a:t>
            </a:r>
          </a:p>
          <a:p>
            <a:endParaRPr lang="en-US" sz="2400" dirty="0"/>
          </a:p>
          <a:p>
            <a:r>
              <a:rPr lang="en-US" sz="2400" dirty="0"/>
              <a:t># </a:t>
            </a:r>
            <a:r>
              <a:rPr lang="ru-RU" sz="2400" dirty="0"/>
              <a:t>Копирование конфигурации</a:t>
            </a:r>
          </a:p>
          <a:p>
            <a:r>
              <a:rPr lang="en-US" sz="2400" dirty="0"/>
              <a:t>COPY ./</a:t>
            </a:r>
            <a:r>
              <a:rPr lang="en-US" sz="2400" dirty="0" err="1"/>
              <a:t>custom.conf</a:t>
            </a:r>
            <a:r>
              <a:rPr lang="en-US" sz="2400" dirty="0"/>
              <a:t> /</a:t>
            </a:r>
            <a:r>
              <a:rPr lang="en-US" sz="2400" dirty="0" err="1"/>
              <a:t>etc</a:t>
            </a:r>
            <a:r>
              <a:rPr lang="en-US" sz="2400" dirty="0"/>
              <a:t>/</a:t>
            </a:r>
            <a:r>
              <a:rPr lang="en-US" sz="2400" dirty="0" err="1"/>
              <a:t>postgresql</a:t>
            </a:r>
            <a:r>
              <a:rPr lang="en-US" sz="2400" dirty="0"/>
              <a:t>/</a:t>
            </a:r>
            <a:r>
              <a:rPr lang="en-US" sz="2400" dirty="0" err="1"/>
              <a:t>postgresql.conf</a:t>
            </a:r>
            <a:endParaRPr lang="en-US" sz="2400" dirty="0"/>
          </a:p>
          <a:p>
            <a:r>
              <a:rPr lang="en-US" sz="2400" dirty="0" smtClean="0"/>
              <a:t># </a:t>
            </a:r>
            <a:r>
              <a:rPr lang="ru-RU" sz="2400" dirty="0"/>
              <a:t>Настройка окружения</a:t>
            </a:r>
          </a:p>
          <a:p>
            <a:r>
              <a:rPr lang="en-US" sz="2400" dirty="0"/>
              <a:t>ENV POSTGRES_USER=</a:t>
            </a:r>
            <a:r>
              <a:rPr lang="en-US" sz="2400" dirty="0" err="1"/>
              <a:t>myuser</a:t>
            </a:r>
            <a:endParaRPr lang="en-US" sz="2400" dirty="0"/>
          </a:p>
          <a:p>
            <a:r>
              <a:rPr lang="en-US" sz="2400" dirty="0"/>
              <a:t>ENV POSTGRES_PASSWORD=</a:t>
            </a:r>
            <a:r>
              <a:rPr lang="en-US" sz="2400" dirty="0" err="1"/>
              <a:t>mysecretpassword</a:t>
            </a:r>
            <a:endParaRPr lang="en-US" sz="2400" dirty="0"/>
          </a:p>
          <a:p>
            <a:r>
              <a:rPr lang="en-US" sz="2400" dirty="0"/>
              <a:t>ENV POSTGRES_DB=</a:t>
            </a:r>
            <a:r>
              <a:rPr lang="en-US" sz="2400" dirty="0" err="1"/>
              <a:t>mydb</a:t>
            </a:r>
            <a:endParaRPr lang="en-US" sz="2400" dirty="0"/>
          </a:p>
          <a:p>
            <a:r>
              <a:rPr lang="ru-RU" sz="2400" dirty="0"/>
              <a:t>Для сборки образа используйте команду:</a:t>
            </a:r>
          </a:p>
          <a:p>
            <a:r>
              <a:rPr lang="en-US" sz="2400" dirty="0" err="1"/>
              <a:t>docker</a:t>
            </a:r>
            <a:r>
              <a:rPr lang="en-US" sz="2400" dirty="0"/>
              <a:t> build -t my-</a:t>
            </a:r>
            <a:r>
              <a:rPr lang="en-US" sz="2400" dirty="0" err="1"/>
              <a:t>postgres</a:t>
            </a:r>
            <a:r>
              <a:rPr lang="en-US" sz="2400" dirty="0"/>
              <a:t> </a:t>
            </a:r>
            <a:r>
              <a:rPr lang="en-US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6574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25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>
                <a:solidFill>
                  <a:srgbClr val="FF0000"/>
                </a:solidFill>
              </a:rPr>
              <a:t>Запуск </a:t>
            </a:r>
            <a:r>
              <a:rPr lang="ru-RU" sz="4000" b="1" dirty="0" err="1">
                <a:solidFill>
                  <a:srgbClr val="FF0000"/>
                </a:solidFill>
              </a:rPr>
              <a:t>PostgreSQL</a:t>
            </a:r>
            <a:r>
              <a:rPr lang="ru-RU" sz="4000" b="1" dirty="0">
                <a:solidFill>
                  <a:srgbClr val="FF0000"/>
                </a:solidFill>
              </a:rPr>
              <a:t> с помощью </a:t>
            </a:r>
            <a:r>
              <a:rPr lang="ru-RU" sz="4000" b="1" dirty="0" err="1" smtClean="0">
                <a:solidFill>
                  <a:srgbClr val="FF0000"/>
                </a:solidFill>
              </a:rPr>
              <a:t>docker-compose</a:t>
            </a:r>
            <a:r>
              <a:rPr lang="ru-RU" sz="4000" b="1" dirty="0" smtClean="0">
                <a:solidFill>
                  <a:srgbClr val="FF0000"/>
                </a:solidFill>
              </a:rPr>
              <a:t> </a:t>
            </a:r>
          </a:p>
          <a:p>
            <a:pPr lvl="1" algn="ctr"/>
            <a:r>
              <a:rPr lang="ru-RU" sz="4000" b="1" dirty="0" smtClean="0"/>
              <a:t>Вопрос 6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125327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15310" y="204952"/>
            <a:ext cx="118766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•	Сервер или виртуальная машина с предустановленной ОС </a:t>
            </a:r>
            <a:r>
              <a:rPr lang="ru-RU" sz="2400" dirty="0" err="1"/>
              <a:t>Ubuntu</a:t>
            </a:r>
            <a:r>
              <a:rPr lang="ru-RU" sz="2400" dirty="0"/>
              <a:t> 22.04.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Установленные </a:t>
            </a:r>
            <a:r>
              <a:rPr lang="ru-RU" sz="2400" dirty="0" err="1"/>
              <a:t>Docker</a:t>
            </a:r>
            <a:r>
              <a:rPr lang="ru-RU" sz="2400" dirty="0"/>
              <a:t> и </a:t>
            </a:r>
            <a:r>
              <a:rPr lang="ru-RU" sz="2400" dirty="0" err="1"/>
              <a:t>Docker</a:t>
            </a:r>
            <a:r>
              <a:rPr lang="ru-RU" sz="2400" dirty="0"/>
              <a:t> </a:t>
            </a:r>
            <a:r>
              <a:rPr lang="ru-RU" sz="2400" dirty="0" err="1" smtClean="0"/>
              <a:t>Compose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24" y="1035949"/>
            <a:ext cx="5432235" cy="505499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407" y="1035949"/>
            <a:ext cx="5187255" cy="5054996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835571" y="6134864"/>
            <a:ext cx="45562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Создание облачного сервера</a:t>
            </a:r>
            <a:endParaRPr lang="ru-RU" sz="2400" dirty="0"/>
          </a:p>
        </p:txBody>
      </p:sp>
      <p:sp>
        <p:nvSpPr>
          <p:cNvPr id="7" name="Прямоугольник 6"/>
          <p:cNvSpPr/>
          <p:nvPr/>
        </p:nvSpPr>
        <p:spPr>
          <a:xfrm rot="10800000" flipH="1" flipV="1">
            <a:off x="6621517" y="6183277"/>
            <a:ext cx="37048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Выбор конфигурации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4465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35" y="170090"/>
            <a:ext cx="5693903" cy="291995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31143"/>
            <a:ext cx="6131117" cy="242697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905" y="174085"/>
            <a:ext cx="5838095" cy="539047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rot="10800000" flipH="1" flipV="1">
            <a:off x="6826470" y="5825629"/>
            <a:ext cx="38783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выполнение команды </a:t>
            </a:r>
            <a:r>
              <a:rPr lang="en-US" sz="2400" dirty="0" err="1" smtClean="0"/>
              <a:t>lsec</a:t>
            </a:r>
            <a:r>
              <a:rPr lang="ru-RU" sz="2400" dirty="0" smtClean="0"/>
              <a:t> </a:t>
            </a:r>
            <a:r>
              <a:rPr lang="en-US" sz="2400" dirty="0" smtClean="0"/>
              <a:t> </a:t>
            </a:r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 rot="10800000" flipV="1">
            <a:off x="677917" y="3023747"/>
            <a:ext cx="33738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Дополнительные услуги</a:t>
            </a:r>
            <a:endParaRPr lang="ru-RU" sz="2400" dirty="0"/>
          </a:p>
        </p:txBody>
      </p:sp>
      <p:sp>
        <p:nvSpPr>
          <p:cNvPr id="7" name="Прямоугольник 6"/>
          <p:cNvSpPr/>
          <p:nvPr/>
        </p:nvSpPr>
        <p:spPr>
          <a:xfrm rot="10800000" flipV="1">
            <a:off x="1245475" y="6155366"/>
            <a:ext cx="33265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Запуск контейнера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57586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35" y="186369"/>
            <a:ext cx="5619048" cy="222857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035" y="186369"/>
            <a:ext cx="4980952" cy="222857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2414940"/>
            <a:ext cx="12192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Пример по использованию </a:t>
            </a:r>
            <a:r>
              <a:rPr lang="ru-RU" sz="2400" dirty="0" err="1"/>
              <a:t>локали</a:t>
            </a:r>
            <a:r>
              <a:rPr lang="ru-RU" sz="2400" dirty="0"/>
              <a:t> в </a:t>
            </a:r>
            <a:r>
              <a:rPr lang="en-US" sz="2400" dirty="0" err="1"/>
              <a:t>Dockerfile</a:t>
            </a:r>
            <a:r>
              <a:rPr lang="en-US" sz="2400" dirty="0"/>
              <a:t>:</a:t>
            </a:r>
          </a:p>
          <a:p>
            <a:r>
              <a:rPr lang="en-US" sz="2400" dirty="0"/>
              <a:t>  </a:t>
            </a:r>
            <a:r>
              <a:rPr lang="en-US" sz="2400" dirty="0" smtClean="0"/>
              <a:t>  </a:t>
            </a:r>
            <a:r>
              <a:rPr lang="en-US" sz="2400" dirty="0"/>
              <a:t>FROM postgres:16</a:t>
            </a:r>
          </a:p>
          <a:p>
            <a:r>
              <a:rPr lang="en-US" sz="2400" dirty="0"/>
              <a:t>RUN </a:t>
            </a:r>
            <a:r>
              <a:rPr lang="en-US" sz="2400" dirty="0" err="1"/>
              <a:t>localedef</a:t>
            </a:r>
            <a:r>
              <a:rPr lang="en-US" sz="2400" dirty="0"/>
              <a:t> -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ru_RU</a:t>
            </a:r>
            <a:r>
              <a:rPr lang="en-US" sz="2400" dirty="0"/>
              <a:t> -c -f UTF-8 -A /</a:t>
            </a:r>
            <a:r>
              <a:rPr lang="en-US" sz="2400" dirty="0" err="1"/>
              <a:t>usr</a:t>
            </a:r>
            <a:r>
              <a:rPr lang="en-US" sz="2400" dirty="0"/>
              <a:t>/share/locale/</a:t>
            </a:r>
            <a:r>
              <a:rPr lang="en-US" sz="2400" dirty="0" err="1"/>
              <a:t>locale.alias</a:t>
            </a:r>
            <a:r>
              <a:rPr lang="en-US" sz="2400" dirty="0"/>
              <a:t> ru_RU.UTF-8</a:t>
            </a:r>
          </a:p>
          <a:p>
            <a:r>
              <a:rPr lang="en-US" sz="2400" dirty="0"/>
              <a:t>ENV LANG </a:t>
            </a:r>
            <a:r>
              <a:rPr lang="en-US" sz="2400" dirty="0" smtClean="0"/>
              <a:t>ru_RU.utf8</a:t>
            </a:r>
            <a:endParaRPr lang="ru-RU" sz="2400" dirty="0" smtClean="0"/>
          </a:p>
          <a:p>
            <a:r>
              <a:rPr lang="ru-RU" sz="2400" dirty="0"/>
              <a:t>Запускаемая команда будет следующей для использования русской </a:t>
            </a:r>
            <a:r>
              <a:rPr lang="ru-RU" sz="2400" dirty="0" err="1"/>
              <a:t>локали</a:t>
            </a:r>
            <a:r>
              <a:rPr lang="ru-RU" sz="2400" dirty="0"/>
              <a:t>:</a:t>
            </a:r>
          </a:p>
          <a:p>
            <a:r>
              <a:rPr lang="ru-RU" sz="2400" dirty="0"/>
              <a:t>  </a:t>
            </a:r>
            <a:r>
              <a:rPr lang="ru-RU" sz="2400" dirty="0" smtClean="0"/>
              <a:t>  </a:t>
            </a:r>
            <a:r>
              <a:rPr lang="en-US" sz="2400" dirty="0" err="1"/>
              <a:t>docker</a:t>
            </a:r>
            <a:r>
              <a:rPr lang="en-US" sz="2400" dirty="0"/>
              <a:t> run -d -e LANG=ru_RU.utf8 -e POSTGRES_INITDB_ARGS="--locale-provider=</a:t>
            </a:r>
            <a:r>
              <a:rPr lang="en-US" sz="2400" dirty="0" err="1"/>
              <a:t>icu</a:t>
            </a:r>
            <a:r>
              <a:rPr lang="en-US" sz="2400" dirty="0"/>
              <a:t> --</a:t>
            </a:r>
            <a:r>
              <a:rPr lang="en-US" sz="2400" dirty="0" err="1"/>
              <a:t>icu</a:t>
            </a:r>
            <a:r>
              <a:rPr lang="en-US" sz="2400" dirty="0"/>
              <a:t>-locale=</a:t>
            </a:r>
            <a:r>
              <a:rPr lang="en-US" sz="2400" dirty="0" err="1"/>
              <a:t>ru</a:t>
            </a:r>
            <a:r>
              <a:rPr lang="en-US" sz="2400" dirty="0"/>
              <a:t>-RU" -e POSTGRES_PASSWORD=782LMwVX8# </a:t>
            </a:r>
            <a:r>
              <a:rPr lang="en-US" sz="2400" dirty="0" smtClean="0"/>
              <a:t>postgres:16-alpine</a:t>
            </a:r>
            <a:endParaRPr lang="ru-RU" sz="2400" dirty="0" smtClean="0"/>
          </a:p>
          <a:p>
            <a:endParaRPr lang="en-US" sz="2400" dirty="0"/>
          </a:p>
          <a:p>
            <a:r>
              <a:rPr lang="ru-RU" sz="2400" dirty="0"/>
              <a:t>Чтобы максимально комфортно начать использовать </a:t>
            </a:r>
            <a:r>
              <a:rPr lang="ru-RU" sz="2400" dirty="0" err="1"/>
              <a:t>PostgreSQL</a:t>
            </a:r>
            <a:r>
              <a:rPr lang="ru-RU" sz="2400" dirty="0"/>
              <a:t> в контейнере, необходимо придерживаться некоторых правил. При их использовании можно существенно облегчить использование базы данных в </a:t>
            </a:r>
            <a:r>
              <a:rPr lang="ru-RU" sz="2400" dirty="0" err="1"/>
              <a:t>Docker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4294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08214" y="1700213"/>
            <a:ext cx="1811337" cy="533400"/>
          </a:xfrm>
        </p:spPr>
        <p:txBody>
          <a:bodyPr/>
          <a:lstStyle/>
          <a:p>
            <a:pPr>
              <a:buFontTx/>
              <a:buNone/>
            </a:pPr>
            <a:r>
              <a:rPr lang="ru-RU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6" name="Rectangle 3"/>
          <p:cNvSpPr>
            <a:spLocks noChangeArrowheads="1"/>
          </p:cNvSpPr>
          <p:nvPr/>
        </p:nvSpPr>
        <p:spPr bwMode="auto">
          <a:xfrm rot="-1966961">
            <a:off x="4249739" y="1474788"/>
            <a:ext cx="237648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 rot="1339931">
            <a:off x="3287714" y="34290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 rot="932178">
            <a:off x="5016500" y="2347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9" name="Rectangle 6"/>
          <p:cNvSpPr>
            <a:spLocks noChangeArrowheads="1"/>
          </p:cNvSpPr>
          <p:nvPr/>
        </p:nvSpPr>
        <p:spPr bwMode="auto">
          <a:xfrm>
            <a:off x="6024564" y="30686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0" name="Rectangle 7"/>
          <p:cNvSpPr>
            <a:spLocks noChangeArrowheads="1"/>
          </p:cNvSpPr>
          <p:nvPr/>
        </p:nvSpPr>
        <p:spPr bwMode="auto">
          <a:xfrm rot="-634205">
            <a:off x="2063751" y="2060575"/>
            <a:ext cx="28797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71" name="Rectangle 8"/>
          <p:cNvSpPr>
            <a:spLocks noChangeArrowheads="1"/>
          </p:cNvSpPr>
          <p:nvPr/>
        </p:nvSpPr>
        <p:spPr bwMode="auto">
          <a:xfrm>
            <a:off x="6743700" y="14843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2" name="Rectangle 9"/>
          <p:cNvSpPr>
            <a:spLocks noChangeArrowheads="1"/>
          </p:cNvSpPr>
          <p:nvPr/>
        </p:nvSpPr>
        <p:spPr bwMode="auto">
          <a:xfrm rot="-2708425">
            <a:off x="1353344" y="1331119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3" name="Rectangle 10"/>
          <p:cNvSpPr>
            <a:spLocks noChangeArrowheads="1"/>
          </p:cNvSpPr>
          <p:nvPr/>
        </p:nvSpPr>
        <p:spPr bwMode="auto">
          <a:xfrm rot="-1124404">
            <a:off x="7175500" y="44370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4" name="Rectangle 11"/>
          <p:cNvSpPr>
            <a:spLocks noChangeArrowheads="1"/>
          </p:cNvSpPr>
          <p:nvPr/>
        </p:nvSpPr>
        <p:spPr bwMode="auto">
          <a:xfrm>
            <a:off x="2486025" y="34655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75" name="Rectangle 12"/>
          <p:cNvSpPr>
            <a:spLocks noChangeArrowheads="1"/>
          </p:cNvSpPr>
          <p:nvPr/>
        </p:nvSpPr>
        <p:spPr bwMode="auto">
          <a:xfrm rot="-1966961">
            <a:off x="3000375" y="6207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6" name="Rectangle 13"/>
          <p:cNvSpPr>
            <a:spLocks noChangeArrowheads="1"/>
          </p:cNvSpPr>
          <p:nvPr/>
        </p:nvSpPr>
        <p:spPr bwMode="auto">
          <a:xfrm rot="1339931">
            <a:off x="3071814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7" name="Rectangle 14"/>
          <p:cNvSpPr>
            <a:spLocks noChangeArrowheads="1"/>
          </p:cNvSpPr>
          <p:nvPr/>
        </p:nvSpPr>
        <p:spPr bwMode="auto">
          <a:xfrm rot="932178">
            <a:off x="5521325" y="43576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8" name="Rectangle 15"/>
          <p:cNvSpPr>
            <a:spLocks noChangeArrowheads="1"/>
          </p:cNvSpPr>
          <p:nvPr/>
        </p:nvSpPr>
        <p:spPr bwMode="auto">
          <a:xfrm>
            <a:off x="6529389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9" name="Rectangle 16"/>
          <p:cNvSpPr>
            <a:spLocks noChangeArrowheads="1"/>
          </p:cNvSpPr>
          <p:nvPr/>
        </p:nvSpPr>
        <p:spPr bwMode="auto">
          <a:xfrm rot="-634205">
            <a:off x="3144839" y="41417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0" name="Rectangle 17"/>
          <p:cNvSpPr>
            <a:spLocks noChangeArrowheads="1"/>
          </p:cNvSpPr>
          <p:nvPr/>
        </p:nvSpPr>
        <p:spPr bwMode="auto">
          <a:xfrm rot="932178">
            <a:off x="7608889" y="35718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1" name="Rectangle 18"/>
          <p:cNvSpPr>
            <a:spLocks noChangeArrowheads="1"/>
          </p:cNvSpPr>
          <p:nvPr/>
        </p:nvSpPr>
        <p:spPr bwMode="auto">
          <a:xfrm rot="-2708425">
            <a:off x="4945857" y="4933157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2" name="Rectangle 19"/>
          <p:cNvSpPr>
            <a:spLocks noChangeArrowheads="1"/>
          </p:cNvSpPr>
          <p:nvPr/>
        </p:nvSpPr>
        <p:spPr bwMode="auto">
          <a:xfrm rot="-2055057">
            <a:off x="8616950" y="55895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3" name="Rectangle 20"/>
          <p:cNvSpPr>
            <a:spLocks noChangeArrowheads="1"/>
          </p:cNvSpPr>
          <p:nvPr/>
        </p:nvSpPr>
        <p:spPr bwMode="auto">
          <a:xfrm rot="-1966961">
            <a:off x="8856664" y="21320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84" name="Rectangle 21"/>
          <p:cNvSpPr>
            <a:spLocks noChangeArrowheads="1"/>
          </p:cNvSpPr>
          <p:nvPr/>
        </p:nvSpPr>
        <p:spPr bwMode="auto">
          <a:xfrm rot="932178">
            <a:off x="7535864" y="22764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5" name="Rectangle 22"/>
          <p:cNvSpPr>
            <a:spLocks noChangeArrowheads="1"/>
          </p:cNvSpPr>
          <p:nvPr/>
        </p:nvSpPr>
        <p:spPr bwMode="auto">
          <a:xfrm>
            <a:off x="8543925" y="2997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6" name="Rectangle 23"/>
          <p:cNvSpPr>
            <a:spLocks noChangeArrowheads="1"/>
          </p:cNvSpPr>
          <p:nvPr/>
        </p:nvSpPr>
        <p:spPr bwMode="auto">
          <a:xfrm rot="550398">
            <a:off x="5664200" y="19161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thanks</a:t>
            </a:r>
          </a:p>
        </p:txBody>
      </p:sp>
      <p:sp>
        <p:nvSpPr>
          <p:cNvPr id="36887" name="Rectangle 24"/>
          <p:cNvSpPr>
            <a:spLocks noChangeArrowheads="1"/>
          </p:cNvSpPr>
          <p:nvPr/>
        </p:nvSpPr>
        <p:spPr bwMode="auto">
          <a:xfrm>
            <a:off x="5005389" y="33940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88" name="Rectangle 25"/>
          <p:cNvSpPr>
            <a:spLocks noChangeArrowheads="1"/>
          </p:cNvSpPr>
          <p:nvPr/>
        </p:nvSpPr>
        <p:spPr bwMode="auto">
          <a:xfrm rot="1339931">
            <a:off x="4151314" y="47244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89" name="Rectangle 26"/>
          <p:cNvSpPr>
            <a:spLocks noChangeArrowheads="1"/>
          </p:cNvSpPr>
          <p:nvPr/>
        </p:nvSpPr>
        <p:spPr bwMode="auto">
          <a:xfrm rot="-1966961">
            <a:off x="3333750" y="23495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0" name="Rectangle 27"/>
          <p:cNvSpPr>
            <a:spLocks noChangeArrowheads="1"/>
          </p:cNvSpPr>
          <p:nvPr/>
        </p:nvSpPr>
        <p:spPr bwMode="auto">
          <a:xfrm rot="932178">
            <a:off x="6240464" y="37163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1" name="Rectangle 28"/>
          <p:cNvSpPr>
            <a:spLocks noChangeArrowheads="1"/>
          </p:cNvSpPr>
          <p:nvPr/>
        </p:nvSpPr>
        <p:spPr bwMode="auto">
          <a:xfrm>
            <a:off x="6888164" y="25638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2" name="Rectangle 29"/>
          <p:cNvSpPr>
            <a:spLocks noChangeArrowheads="1"/>
          </p:cNvSpPr>
          <p:nvPr/>
        </p:nvSpPr>
        <p:spPr bwMode="auto">
          <a:xfrm rot="-634205">
            <a:off x="1524000" y="27082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3" name="Rectangle 30"/>
          <p:cNvSpPr>
            <a:spLocks noChangeArrowheads="1"/>
          </p:cNvSpPr>
          <p:nvPr/>
        </p:nvSpPr>
        <p:spPr bwMode="auto">
          <a:xfrm>
            <a:off x="1524000" y="40767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4" name="Rectangle 31"/>
          <p:cNvSpPr>
            <a:spLocks noChangeArrowheads="1"/>
          </p:cNvSpPr>
          <p:nvPr/>
        </p:nvSpPr>
        <p:spPr bwMode="auto">
          <a:xfrm rot="1339931">
            <a:off x="1524000" y="59483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5" name="Rectangle 32"/>
          <p:cNvSpPr>
            <a:spLocks noChangeArrowheads="1"/>
          </p:cNvSpPr>
          <p:nvPr/>
        </p:nvSpPr>
        <p:spPr bwMode="auto">
          <a:xfrm>
            <a:off x="2351089" y="551656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sz="3200">
                <a:solidFill>
                  <a:srgbClr val="C0C0C0"/>
                </a:solidFill>
              </a:rPr>
              <a:t>thanks</a:t>
            </a:r>
            <a:endParaRPr lang="ru-RU" sz="3200">
              <a:solidFill>
                <a:srgbClr val="C0C0C0"/>
              </a:solidFill>
            </a:endParaRPr>
          </a:p>
        </p:txBody>
      </p:sp>
      <p:sp>
        <p:nvSpPr>
          <p:cNvPr id="36896" name="Rectangle 33"/>
          <p:cNvSpPr>
            <a:spLocks noChangeArrowheads="1"/>
          </p:cNvSpPr>
          <p:nvPr/>
        </p:nvSpPr>
        <p:spPr bwMode="auto">
          <a:xfrm>
            <a:off x="6743700" y="60213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7" name="Rectangle 34"/>
          <p:cNvSpPr>
            <a:spLocks noChangeArrowheads="1"/>
          </p:cNvSpPr>
          <p:nvPr/>
        </p:nvSpPr>
        <p:spPr bwMode="auto">
          <a:xfrm rot="932178">
            <a:off x="7896225" y="5156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8" name="Rectangle 35"/>
          <p:cNvSpPr>
            <a:spLocks noChangeArrowheads="1"/>
          </p:cNvSpPr>
          <p:nvPr/>
        </p:nvSpPr>
        <p:spPr bwMode="auto">
          <a:xfrm rot="-634205">
            <a:off x="4943476" y="5589588"/>
            <a:ext cx="24479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9" name="Rectangle 36"/>
          <p:cNvSpPr>
            <a:spLocks noChangeArrowheads="1"/>
          </p:cNvSpPr>
          <p:nvPr/>
        </p:nvSpPr>
        <p:spPr bwMode="auto">
          <a:xfrm rot="-1966961">
            <a:off x="3478214" y="58054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0" name="Rectangle 37"/>
          <p:cNvSpPr>
            <a:spLocks noGrp="1" noChangeArrowheads="1"/>
          </p:cNvSpPr>
          <p:nvPr>
            <p:ph type="title"/>
          </p:nvPr>
        </p:nvSpPr>
        <p:spPr>
          <a:xfrm>
            <a:off x="2063750" y="2492376"/>
            <a:ext cx="8229600" cy="1439863"/>
          </a:xfrm>
        </p:spPr>
        <p:txBody>
          <a:bodyPr/>
          <a:lstStyle/>
          <a:p>
            <a:r>
              <a:rPr lang="ru-RU" sz="4800" b="1">
                <a:solidFill>
                  <a:srgbClr val="000099"/>
                </a:solidFill>
              </a:rPr>
              <a:t>Спасибо за внимание!</a:t>
            </a:r>
          </a:p>
        </p:txBody>
      </p:sp>
      <p:sp>
        <p:nvSpPr>
          <p:cNvPr id="36901" name="Rectangle 38"/>
          <p:cNvSpPr>
            <a:spLocks noChangeArrowheads="1"/>
          </p:cNvSpPr>
          <p:nvPr/>
        </p:nvSpPr>
        <p:spPr bwMode="auto">
          <a:xfrm>
            <a:off x="184785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2" name="Rectangle 39"/>
          <p:cNvSpPr>
            <a:spLocks noChangeArrowheads="1"/>
          </p:cNvSpPr>
          <p:nvPr/>
        </p:nvSpPr>
        <p:spPr bwMode="auto">
          <a:xfrm rot="-1966961">
            <a:off x="674370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3" name="Rectangle 40"/>
          <p:cNvSpPr>
            <a:spLocks noChangeArrowheads="1"/>
          </p:cNvSpPr>
          <p:nvPr/>
        </p:nvSpPr>
        <p:spPr bwMode="auto">
          <a:xfrm rot="932178">
            <a:off x="8543925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4" name="Rectangle 41"/>
          <p:cNvSpPr>
            <a:spLocks noChangeArrowheads="1"/>
          </p:cNvSpPr>
          <p:nvPr/>
        </p:nvSpPr>
        <p:spPr bwMode="auto">
          <a:xfrm rot="-634205">
            <a:off x="5303839" y="8366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5" name="Rectangle 42"/>
          <p:cNvSpPr>
            <a:spLocks noChangeArrowheads="1"/>
          </p:cNvSpPr>
          <p:nvPr/>
        </p:nvSpPr>
        <p:spPr bwMode="auto">
          <a:xfrm rot="-1966961">
            <a:off x="3719514" y="112395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906" name="Rectangle 43"/>
          <p:cNvSpPr>
            <a:spLocks noChangeArrowheads="1"/>
          </p:cNvSpPr>
          <p:nvPr/>
        </p:nvSpPr>
        <p:spPr bwMode="auto">
          <a:xfrm rot="1073047">
            <a:off x="7535864" y="10525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7" name="Rectangle 44"/>
          <p:cNvSpPr>
            <a:spLocks noChangeArrowheads="1"/>
          </p:cNvSpPr>
          <p:nvPr/>
        </p:nvSpPr>
        <p:spPr bwMode="auto">
          <a:xfrm rot="-1124404">
            <a:off x="8856664" y="42926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908" name="Rectangle 45"/>
          <p:cNvSpPr>
            <a:spLocks noChangeArrowheads="1"/>
          </p:cNvSpPr>
          <p:nvPr/>
        </p:nvSpPr>
        <p:spPr bwMode="auto">
          <a:xfrm rot="-1966961">
            <a:off x="8129589" y="1374775"/>
            <a:ext cx="24844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909" name="Rectangle 46"/>
          <p:cNvSpPr>
            <a:spLocks noChangeArrowheads="1"/>
          </p:cNvSpPr>
          <p:nvPr/>
        </p:nvSpPr>
        <p:spPr bwMode="auto">
          <a:xfrm rot="-634205">
            <a:off x="4800600" y="188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10" name="Rectangle 47"/>
          <p:cNvSpPr>
            <a:spLocks noChangeArrowheads="1"/>
          </p:cNvSpPr>
          <p:nvPr/>
        </p:nvSpPr>
        <p:spPr bwMode="auto">
          <a:xfrm rot="932178">
            <a:off x="8975725" y="35718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33781276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1729</TotalTime>
  <Words>1745</Words>
  <Application>Microsoft Office PowerPoint</Application>
  <PresentationFormat>Широкоэкранный</PresentationFormat>
  <Paragraphs>305</Paragraphs>
  <Slides>29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Tahoma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26. Информационно-вычислительные и ситуационные центры в государственном и региональном управлении.</dc:title>
  <dc:creator>Андрей Руфеев</dc:creator>
  <cp:lastModifiedBy>Андрей</cp:lastModifiedBy>
  <cp:revision>148</cp:revision>
  <dcterms:created xsi:type="dcterms:W3CDTF">2021-10-24T19:59:40Z</dcterms:created>
  <dcterms:modified xsi:type="dcterms:W3CDTF">2025-09-12T18:59:04Z</dcterms:modified>
</cp:coreProperties>
</file>