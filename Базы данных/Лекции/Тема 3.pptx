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6">
  <p:sldMasterIdLst>
    <p:sldMasterId id="2147483648" r:id="rId1"/>
  </p:sldMasterIdLst>
  <p:notesMasterIdLst>
    <p:notesMasterId r:id="rId29"/>
  </p:notesMasterIdLst>
  <p:sldIdLst>
    <p:sldId id="319" r:id="rId2"/>
    <p:sldId id="257" r:id="rId3"/>
    <p:sldId id="608" r:id="rId4"/>
    <p:sldId id="609" r:id="rId5"/>
    <p:sldId id="610" r:id="rId6"/>
    <p:sldId id="611" r:id="rId7"/>
    <p:sldId id="612" r:id="rId8"/>
    <p:sldId id="480" r:id="rId9"/>
    <p:sldId id="589" r:id="rId10"/>
    <p:sldId id="483" r:id="rId11"/>
    <p:sldId id="590" r:id="rId12"/>
    <p:sldId id="600" r:id="rId13"/>
    <p:sldId id="599" r:id="rId14"/>
    <p:sldId id="615" r:id="rId15"/>
    <p:sldId id="616" r:id="rId16"/>
    <p:sldId id="614" r:id="rId17"/>
    <p:sldId id="613" r:id="rId18"/>
    <p:sldId id="618" r:id="rId19"/>
    <p:sldId id="617" r:id="rId20"/>
    <p:sldId id="481" r:id="rId21"/>
    <p:sldId id="591" r:id="rId22"/>
    <p:sldId id="603" r:id="rId23"/>
    <p:sldId id="602" r:id="rId24"/>
    <p:sldId id="601" r:id="rId25"/>
    <p:sldId id="619" r:id="rId26"/>
    <p:sldId id="620" r:id="rId27"/>
    <p:sldId id="338" r:id="rId2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88" autoAdjust="0"/>
    <p:restoredTop sz="94662" autoAdjust="0"/>
  </p:normalViewPr>
  <p:slideViewPr>
    <p:cSldViewPr snapToGrid="0">
      <p:cViewPr varScale="1">
        <p:scale>
          <a:sx n="57" d="100"/>
          <a:sy n="57" d="100"/>
        </p:scale>
        <p:origin x="72" y="43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18" y="2238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D1E16D-40AE-4F7B-89DA-08FA8576FE62}" type="datetimeFigureOut">
              <a:rPr lang="ru-RU" smtClean="0"/>
              <a:t>26.09.2025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E7B180-2896-4825-A371-C953116C1F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67480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Образ слайда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0488" y="744538"/>
            <a:ext cx="6616700" cy="3722687"/>
          </a:xfrm>
          <a:ln/>
        </p:spPr>
      </p:sp>
      <p:sp>
        <p:nvSpPr>
          <p:cNvPr id="34819" name="Заметки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ru-RU" altLang="ru-RU" smtClean="0">
              <a:latin typeface="Arial" pitchFamily="34" charset="0"/>
            </a:endParaRPr>
          </a:p>
        </p:txBody>
      </p:sp>
      <p:sp>
        <p:nvSpPr>
          <p:cNvPr id="34820" name="Номер слайда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fld id="{3995C959-3E6F-4A2D-BBCE-A1FF53A98587}" type="slidenum">
              <a:rPr lang="ru-RU" altLang="ru-RU">
                <a:solidFill>
                  <a:prstClr val="black"/>
                </a:solidFill>
              </a:rPr>
              <a:pPr/>
              <a:t>1</a:t>
            </a:fld>
            <a:endParaRPr lang="ru-RU" alt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18793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54585-7C67-480B-A3E7-2717674931C3}" type="datetimeFigureOut">
              <a:rPr lang="ru-RU" smtClean="0"/>
              <a:t>26.09.2025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6E1B2-CEBD-427E-9745-F7D5EC90EF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89641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54585-7C67-480B-A3E7-2717674931C3}" type="datetimeFigureOut">
              <a:rPr lang="ru-RU" smtClean="0"/>
              <a:t>26.09.2025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6E1B2-CEBD-427E-9745-F7D5EC90EF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99287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54585-7C67-480B-A3E7-2717674931C3}" type="datetimeFigureOut">
              <a:rPr lang="ru-RU" smtClean="0"/>
              <a:t>26.09.2025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6E1B2-CEBD-427E-9745-F7D5EC90EF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30675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54585-7C67-480B-A3E7-2717674931C3}" type="datetimeFigureOut">
              <a:rPr lang="ru-RU" smtClean="0"/>
              <a:t>26.09.2025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6E1B2-CEBD-427E-9745-F7D5EC90EF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10466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54585-7C67-480B-A3E7-2717674931C3}" type="datetimeFigureOut">
              <a:rPr lang="ru-RU" smtClean="0"/>
              <a:t>26.09.2025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6E1B2-CEBD-427E-9745-F7D5EC90EF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98000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54585-7C67-480B-A3E7-2717674931C3}" type="datetimeFigureOut">
              <a:rPr lang="ru-RU" smtClean="0"/>
              <a:t>26.09.2025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6E1B2-CEBD-427E-9745-F7D5EC90EF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98789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54585-7C67-480B-A3E7-2717674931C3}" type="datetimeFigureOut">
              <a:rPr lang="ru-RU" smtClean="0"/>
              <a:t>26.09.2025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6E1B2-CEBD-427E-9745-F7D5EC90EF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8135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54585-7C67-480B-A3E7-2717674931C3}" type="datetimeFigureOut">
              <a:rPr lang="ru-RU" smtClean="0"/>
              <a:t>26.09.2025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6E1B2-CEBD-427E-9745-F7D5EC90EF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711379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54585-7C67-480B-A3E7-2717674931C3}" type="datetimeFigureOut">
              <a:rPr lang="ru-RU" smtClean="0"/>
              <a:t>26.09.2025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6E1B2-CEBD-427E-9745-F7D5EC90EF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2026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54585-7C67-480B-A3E7-2717674931C3}" type="datetimeFigureOut">
              <a:rPr lang="ru-RU" smtClean="0"/>
              <a:t>26.09.2025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6E1B2-CEBD-427E-9745-F7D5EC90EF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488898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54585-7C67-480B-A3E7-2717674931C3}" type="datetimeFigureOut">
              <a:rPr lang="ru-RU" smtClean="0"/>
              <a:t>26.09.2025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6E1B2-CEBD-427E-9745-F7D5EC90EF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654431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454585-7C67-480B-A3E7-2717674931C3}" type="datetimeFigureOut">
              <a:rPr lang="ru-RU" smtClean="0"/>
              <a:t>26.09.2025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26E1B2-CEBD-427E-9745-F7D5EC90EF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572085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1.png"/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jpeg"/><Relationship Id="rId9" Type="http://schemas.openxmlformats.org/officeDocument/2006/relationships/image" Target="../media/image7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6"/>
          <p:cNvSpPr>
            <a:spLocks noChangeArrowheads="1"/>
          </p:cNvSpPr>
          <p:nvPr/>
        </p:nvSpPr>
        <p:spPr bwMode="auto">
          <a:xfrm>
            <a:off x="4956265" y="510698"/>
            <a:ext cx="5691187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ru-RU" altLang="ru-RU" sz="1400" b="1" dirty="0">
                <a:solidFill>
                  <a:srgbClr val="A40000"/>
                </a:solidFill>
                <a:latin typeface="+mn-lt"/>
                <a:cs typeface="Tahoma" pitchFamily="34" charset="0"/>
              </a:rPr>
              <a:t>НИЖЕГОРОДСКИЙ			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ru-RU" altLang="ru-RU" sz="1400" b="1" dirty="0">
                <a:solidFill>
                  <a:srgbClr val="A40000"/>
                </a:solidFill>
                <a:latin typeface="+mn-lt"/>
                <a:cs typeface="Tahoma" pitchFamily="34" charset="0"/>
              </a:rPr>
              <a:t>ИНСТИТУТ				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ru-RU" altLang="ru-RU" sz="1400" b="1" dirty="0">
                <a:solidFill>
                  <a:srgbClr val="A40000"/>
                </a:solidFill>
                <a:latin typeface="+mn-lt"/>
                <a:cs typeface="Tahoma" pitchFamily="34" charset="0"/>
              </a:rPr>
              <a:t>УПРАВЛЕНИЯ			</a:t>
            </a:r>
            <a:endParaRPr lang="en-US" altLang="ru-RU" sz="1400" b="1" dirty="0">
              <a:solidFill>
                <a:srgbClr val="A40000"/>
              </a:solidFill>
              <a:latin typeface="+mn-lt"/>
              <a:cs typeface="Tahoma" pitchFamily="34" charset="0"/>
            </a:endParaRPr>
          </a:p>
        </p:txBody>
      </p:sp>
      <p:pic>
        <p:nvPicPr>
          <p:cNvPr id="1741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2475" y="854076"/>
            <a:ext cx="2344738" cy="790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2" name="Прямоугольник 7"/>
          <p:cNvSpPr>
            <a:spLocks noChangeArrowheads="1"/>
          </p:cNvSpPr>
          <p:nvPr/>
        </p:nvSpPr>
        <p:spPr bwMode="auto">
          <a:xfrm flipH="1">
            <a:off x="351631" y="2762182"/>
            <a:ext cx="2843213" cy="1538287"/>
          </a:xfrm>
          <a:prstGeom prst="rect">
            <a:avLst/>
          </a:prstGeom>
          <a:gradFill rotWithShape="1">
            <a:gsLst>
              <a:gs pos="0">
                <a:srgbClr val="770000"/>
              </a:gs>
              <a:gs pos="50000">
                <a:srgbClr val="AD0000"/>
              </a:gs>
              <a:gs pos="100000">
                <a:srgbClr val="CE000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defTabSz="1042988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1042988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1042988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1042988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1042988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1042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1042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1042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1042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ru-RU" altLang="ru-RU" sz="2400" b="1" dirty="0" smtClean="0">
                <a:solidFill>
                  <a:schemeClr val="bg1"/>
                </a:solidFill>
              </a:rPr>
              <a:t>ТЕМА № </a:t>
            </a:r>
            <a:r>
              <a:rPr lang="en-US" altLang="ru-RU" sz="2400" b="1" dirty="0" smtClean="0">
                <a:solidFill>
                  <a:schemeClr val="bg1"/>
                </a:solidFill>
              </a:rPr>
              <a:t>3</a:t>
            </a:r>
            <a:endParaRPr lang="ru-RU" altLang="ru-RU" sz="2400" b="1" dirty="0">
              <a:solidFill>
                <a:schemeClr val="bg1"/>
              </a:solidFill>
            </a:endParaRPr>
          </a:p>
        </p:txBody>
      </p:sp>
      <p:sp>
        <p:nvSpPr>
          <p:cNvPr id="5127" name="Text Box 23"/>
          <p:cNvSpPr txBox="1">
            <a:spLocks noChangeArrowheads="1"/>
          </p:cNvSpPr>
          <p:nvPr/>
        </p:nvSpPr>
        <p:spPr bwMode="auto">
          <a:xfrm>
            <a:off x="7535435" y="4944070"/>
            <a:ext cx="4433971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just"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ru-RU" sz="1600" dirty="0" smtClean="0"/>
              <a:t>кафедра </a:t>
            </a:r>
            <a:r>
              <a:rPr lang="ru-RU" sz="1600" dirty="0"/>
              <a:t>информатики и информационных технологий, </a:t>
            </a:r>
            <a:r>
              <a:rPr lang="ru-RU" sz="1600" dirty="0" err="1"/>
              <a:t>к.т.н</a:t>
            </a:r>
            <a:r>
              <a:rPr lang="ru-RU" sz="1600" dirty="0"/>
              <a:t>, доцент, </a:t>
            </a:r>
            <a:r>
              <a:rPr lang="ru-RU" sz="1600" dirty="0" smtClean="0"/>
              <a:t>Гордеев А.Б.</a:t>
            </a:r>
            <a:endParaRPr lang="ru-RU" altLang="ru-RU" sz="1600" b="1" dirty="0">
              <a:solidFill>
                <a:srgbClr val="000000"/>
              </a:solidFill>
              <a:latin typeface="Arial"/>
              <a:cs typeface="Arial" charset="0"/>
            </a:endParaRPr>
          </a:p>
        </p:txBody>
      </p:sp>
      <p:grpSp>
        <p:nvGrpSpPr>
          <p:cNvPr id="17415" name="Группа 12"/>
          <p:cNvGrpSpPr>
            <a:grpSpLocks/>
          </p:cNvGrpSpPr>
          <p:nvPr/>
        </p:nvGrpSpPr>
        <p:grpSpPr bwMode="auto">
          <a:xfrm>
            <a:off x="4616451" y="1598613"/>
            <a:ext cx="5732463" cy="781050"/>
            <a:chOff x="0" y="0"/>
            <a:chExt cx="6210300" cy="781275"/>
          </a:xfrm>
        </p:grpSpPr>
        <p:pic>
          <p:nvPicPr>
            <p:cNvPr id="17416" name="Рисунок 13" descr="D:\ИПК\Фотографии\на стенд\на сайт\главная\Академия 2.JPG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04900" y="0"/>
              <a:ext cx="1028700" cy="781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7417" name="Рисунок 14" descr="D:\для фотопрезентации ФПК\Презид.программа\фото Открытие Президентской  Прогр\6.jpg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75" r="-2" b="1205"/>
            <a:stretch>
              <a:fillRect/>
            </a:stretch>
          </p:blipFill>
          <p:spPr bwMode="auto">
            <a:xfrm>
              <a:off x="0" y="1"/>
              <a:ext cx="1114425" cy="781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7418" name="Рисунок 15" descr="D:\Презид.программа 20 мая-05 июня 2013\30.05.13\работа в проектных группах_30.05.13\DSCF8003.JPG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62300" y="9750"/>
              <a:ext cx="1038225" cy="7715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7419" name="Рисунок 16" descr="D:\для фотопрезентации ФПК\Президентская программа (6) 17 сентября 2012 (З).JPG"/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33600" y="9525"/>
              <a:ext cx="1028700" cy="7715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7420" name="Рисунок 17" descr="D:\ИПК\Фотографии\для книги Академии\1.2.Здание.jpg"/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" b="1219"/>
            <a:stretch>
              <a:fillRect/>
            </a:stretch>
          </p:blipFill>
          <p:spPr bwMode="auto">
            <a:xfrm>
              <a:off x="4191000" y="9525"/>
              <a:ext cx="971550" cy="7715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7421" name="Рисунок 18" descr="D:\ИПК\Фотографии\для книги Академии\5.2.JPG"/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62550" y="9525"/>
              <a:ext cx="1047750" cy="7715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" name="TextBox 1"/>
          <p:cNvSpPr txBox="1"/>
          <p:nvPr/>
        </p:nvSpPr>
        <p:spPr>
          <a:xfrm>
            <a:off x="4367213" y="6021288"/>
            <a:ext cx="37188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/>
              <a:t>Нижний Новгород 20</a:t>
            </a:r>
            <a:r>
              <a:rPr lang="en-US" sz="1600" b="1" dirty="0" smtClean="0"/>
              <a:t>2</a:t>
            </a:r>
            <a:r>
              <a:rPr lang="ru-RU" sz="1600" b="1" dirty="0" smtClean="0"/>
              <a:t>5</a:t>
            </a:r>
            <a:endParaRPr lang="ru-RU" sz="1600" b="1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3736428" y="3244334"/>
            <a:ext cx="7993117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4000" b="1" dirty="0" smtClean="0">
                <a:solidFill>
                  <a:srgbClr val="FF0000"/>
                </a:solidFill>
              </a:rPr>
              <a:t>Основные операции с таблицами</a:t>
            </a:r>
            <a:endParaRPr lang="ru-RU" sz="4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1745572"/>
      </p:ext>
    </p:extLst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/>
          <p:cNvSpPr>
            <a:spLocks noChangeArrowheads="1"/>
          </p:cNvSpPr>
          <p:nvPr/>
        </p:nvSpPr>
        <p:spPr bwMode="auto">
          <a:xfrm>
            <a:off x="435635" y="463138"/>
            <a:ext cx="581890" cy="843149"/>
          </a:xfrm>
          <a:prstGeom prst="rect">
            <a:avLst/>
          </a:prstGeom>
          <a:gradFill rotWithShape="1">
            <a:gsLst>
              <a:gs pos="0">
                <a:srgbClr val="770000"/>
              </a:gs>
              <a:gs pos="50000">
                <a:srgbClr val="AD0000"/>
              </a:gs>
              <a:gs pos="100000">
                <a:srgbClr val="CE0000"/>
              </a:gs>
            </a:gsLst>
            <a:lin ang="0" scaled="1"/>
          </a:gradFill>
          <a:ln w="9525" algn="ctr">
            <a:noFill/>
            <a:round/>
            <a:headEnd/>
            <a:tailEnd/>
          </a:ln>
        </p:spPr>
        <p:txBody>
          <a:bodyPr/>
          <a:lstStyle/>
          <a:p>
            <a:pPr defTabSz="1043001"/>
            <a:endParaRPr lang="ru-RU" sz="2100" dirty="0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F3A33-6A4A-4395-8324-C6DCD486F135}" type="slidenum">
              <a:rPr lang="ru-RU" smtClean="0">
                <a:solidFill>
                  <a:schemeClr val="bg2">
                    <a:lumMod val="75000"/>
                  </a:schemeClr>
                </a:solidFill>
              </a:rPr>
              <a:pPr/>
              <a:t>2</a:t>
            </a:fld>
            <a:endParaRPr lang="ru-RU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16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0250" y="463138"/>
            <a:ext cx="2827683" cy="8805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726580" y="2341171"/>
            <a:ext cx="1025419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/>
            <a:r>
              <a:rPr lang="ru-RU" sz="4000" b="1" dirty="0">
                <a:solidFill>
                  <a:srgbClr val="FF0000"/>
                </a:solidFill>
              </a:rPr>
              <a:t>Таблицы в SQL: типы и </a:t>
            </a:r>
            <a:r>
              <a:rPr lang="ru-RU" sz="4000" b="1" dirty="0" smtClean="0">
                <a:solidFill>
                  <a:srgbClr val="FF0000"/>
                </a:solidFill>
              </a:rPr>
              <a:t>операции</a:t>
            </a:r>
          </a:p>
          <a:p>
            <a:pPr lvl="1" algn="ctr"/>
            <a:r>
              <a:rPr lang="ru-RU" sz="4000" b="1" dirty="0" smtClean="0"/>
              <a:t>Вопрос 1</a:t>
            </a:r>
            <a:endParaRPr lang="ru-RU" sz="4000" dirty="0"/>
          </a:p>
        </p:txBody>
      </p:sp>
    </p:spTree>
    <p:extLst>
      <p:ext uri="{BB962C8B-B14F-4D97-AF65-F5344CB8AC3E}">
        <p14:creationId xmlns:p14="http://schemas.microsoft.com/office/powerpoint/2010/main" val="1801749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1"/>
            <a:ext cx="121920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/>
              <a:t>SQL — это язык структурированных запросов (</a:t>
            </a:r>
            <a:r>
              <a:rPr lang="ru-RU" sz="2400" dirty="0" err="1"/>
              <a:t>Structured</a:t>
            </a:r>
            <a:r>
              <a:rPr lang="ru-RU" sz="2400" dirty="0"/>
              <a:t> </a:t>
            </a:r>
            <a:r>
              <a:rPr lang="ru-RU" sz="2400" dirty="0" err="1"/>
              <a:t>Query</a:t>
            </a:r>
            <a:r>
              <a:rPr lang="ru-RU" sz="2400" dirty="0"/>
              <a:t> </a:t>
            </a:r>
            <a:r>
              <a:rPr lang="ru-RU" sz="2400" dirty="0" err="1"/>
              <a:t>Language</a:t>
            </a:r>
            <a:r>
              <a:rPr lang="ru-RU" sz="2400" dirty="0"/>
              <a:t>), позволяющий хранить и обрабатывать информацию из реляционных баз данных (далее — РБД, БД).</a:t>
            </a:r>
          </a:p>
          <a:p>
            <a:r>
              <a:rPr lang="ru-RU" sz="2400" dirty="0"/>
              <a:t>Таблица в SQL</a:t>
            </a:r>
          </a:p>
          <a:p>
            <a:r>
              <a:rPr lang="ru-RU" sz="2400" dirty="0"/>
              <a:t>Данные в СУБД хранятся в объектах БД, называемых таблицами (</a:t>
            </a:r>
            <a:r>
              <a:rPr lang="ru-RU" sz="2400" dirty="0" err="1"/>
              <a:t>tables</a:t>
            </a:r>
            <a:r>
              <a:rPr lang="ru-RU" sz="2400" dirty="0"/>
              <a:t>). </a:t>
            </a:r>
          </a:p>
          <a:p>
            <a:r>
              <a:rPr lang="ru-RU" sz="2400" dirty="0"/>
              <a:t>Таблица, как правило, представляет собой структурированную совокупность взаимосвязанных данных и состоит из определенного количества колонок (полей) и строк.</a:t>
            </a:r>
          </a:p>
          <a:p>
            <a:r>
              <a:rPr lang="ru-RU" sz="2400" dirty="0"/>
              <a:t>Таблица - это самая распространенная и простая форма хранения данных в РБД. 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1695" y="3693657"/>
            <a:ext cx="9372482" cy="3164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21087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1"/>
            <a:ext cx="12192000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/>
              <a:t>Полями в таблице </a:t>
            </a:r>
            <a:r>
              <a:rPr lang="ru-RU" sz="2400" dirty="0" smtClean="0"/>
              <a:t>: </a:t>
            </a:r>
            <a:endParaRPr lang="ru-RU" sz="2400" dirty="0"/>
          </a:p>
          <a:p>
            <a:r>
              <a:rPr lang="ru-RU" sz="2400" dirty="0"/>
              <a:t>• номер пользователя </a:t>
            </a:r>
          </a:p>
          <a:p>
            <a:r>
              <a:rPr lang="ru-RU" sz="2400" dirty="0"/>
              <a:t>• имя пользователя</a:t>
            </a:r>
          </a:p>
          <a:p>
            <a:r>
              <a:rPr lang="ru-RU" sz="2400" dirty="0"/>
              <a:t>• возраст</a:t>
            </a:r>
          </a:p>
          <a:p>
            <a:r>
              <a:rPr lang="ru-RU" sz="2400" dirty="0"/>
              <a:t>• город</a:t>
            </a:r>
          </a:p>
          <a:p>
            <a:r>
              <a:rPr lang="ru-RU" sz="2400" dirty="0"/>
              <a:t>• статус</a:t>
            </a:r>
          </a:p>
          <a:p>
            <a:r>
              <a:rPr lang="ru-RU" sz="2400" dirty="0"/>
              <a:t>Поле — это колонка таблицы, предназначенная для хранения структурированной информации о каждой записи в таблице.</a:t>
            </a:r>
          </a:p>
          <a:p>
            <a:r>
              <a:rPr lang="ru-RU" sz="2400" dirty="0"/>
              <a:t>Запись или строка в SQL</a:t>
            </a:r>
          </a:p>
          <a:p>
            <a:r>
              <a:rPr lang="ru-RU" sz="2400" dirty="0"/>
              <a:t>Запись или строка (</a:t>
            </a:r>
            <a:r>
              <a:rPr lang="ru-RU" sz="2400" dirty="0" err="1"/>
              <a:t>record</a:t>
            </a:r>
            <a:r>
              <a:rPr lang="ru-RU" sz="2400" dirty="0"/>
              <a:t>/</a:t>
            </a:r>
            <a:r>
              <a:rPr lang="ru-RU" sz="2400" dirty="0" err="1"/>
              <a:t>row</a:t>
            </a:r>
            <a:r>
              <a:rPr lang="ru-RU" sz="2400" dirty="0"/>
              <a:t>) — это любое единичное вхождение (</a:t>
            </a:r>
            <a:r>
              <a:rPr lang="ru-RU" sz="2400" dirty="0" err="1"/>
              <a:t>entry</a:t>
            </a:r>
            <a:r>
              <a:rPr lang="ru-RU" sz="2400" dirty="0"/>
              <a:t>), существующее в таблице. В таблице Пользователи всего 5 записей. 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2692400" y="4154985"/>
            <a:ext cx="6451600" cy="18466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ru-RU" dirty="0" smtClean="0"/>
          </a:p>
          <a:p>
            <a:r>
              <a:rPr lang="ru-RU" sz="2400" dirty="0" err="1" smtClean="0"/>
              <a:t>id</a:t>
            </a:r>
            <a:r>
              <a:rPr lang="ru-RU" sz="2400" dirty="0"/>
              <a:t>	</a:t>
            </a:r>
          </a:p>
          <a:p>
            <a:r>
              <a:rPr lang="ru-RU" sz="2400" dirty="0"/>
              <a:t>	</a:t>
            </a:r>
            <a:r>
              <a:rPr lang="ru-RU" sz="2400" dirty="0" err="1"/>
              <a:t>name</a:t>
            </a:r>
            <a:r>
              <a:rPr lang="ru-RU" sz="2400" dirty="0"/>
              <a:t>	</a:t>
            </a:r>
            <a:r>
              <a:rPr lang="ru-RU" sz="2400" dirty="0" err="1"/>
              <a:t>price</a:t>
            </a:r>
            <a:r>
              <a:rPr lang="ru-RU" sz="2400" dirty="0"/>
              <a:t>	</a:t>
            </a:r>
            <a:r>
              <a:rPr lang="ru-RU" sz="2400" dirty="0" err="1"/>
              <a:t>in_stock</a:t>
            </a:r>
            <a:endParaRPr lang="ru-RU" sz="2400" dirty="0"/>
          </a:p>
          <a:p>
            <a:r>
              <a:rPr lang="ru-RU" sz="2400" dirty="0"/>
              <a:t>1	Ноутбук </a:t>
            </a:r>
            <a:r>
              <a:rPr lang="ru-RU" sz="2400" dirty="0" err="1"/>
              <a:t>Acer</a:t>
            </a:r>
            <a:r>
              <a:rPr lang="ru-RU" sz="2400" dirty="0"/>
              <a:t>	54990.00	</a:t>
            </a:r>
            <a:r>
              <a:rPr lang="ru-RU" sz="2400" dirty="0" err="1"/>
              <a:t>true</a:t>
            </a:r>
            <a:endParaRPr lang="ru-RU" sz="2400" dirty="0"/>
          </a:p>
          <a:p>
            <a:r>
              <a:rPr lang="ru-RU" sz="2400" dirty="0"/>
              <a:t>2	Мышь </a:t>
            </a:r>
            <a:r>
              <a:rPr lang="ru-RU" sz="2400" dirty="0" err="1"/>
              <a:t>Logitech</a:t>
            </a:r>
            <a:r>
              <a:rPr lang="ru-RU" sz="2400" dirty="0"/>
              <a:t>	1990.00	</a:t>
            </a:r>
            <a:r>
              <a:rPr lang="ru-RU" sz="2400" dirty="0" err="1"/>
              <a:t>false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5349026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 rotWithShape="1">
          <a:blip r:embed="rId2"/>
          <a:srcRect r="33785"/>
          <a:stretch/>
        </p:blipFill>
        <p:spPr>
          <a:xfrm>
            <a:off x="1" y="0"/>
            <a:ext cx="5283200" cy="3454400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5621866" y="1"/>
            <a:ext cx="6570134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•	id INT PRIMARY KEY — </a:t>
            </a:r>
            <a:r>
              <a:rPr lang="ru-RU" sz="2400" dirty="0"/>
              <a:t>уникальный идентификатор товара;</a:t>
            </a:r>
          </a:p>
          <a:p>
            <a:r>
              <a:rPr lang="ru-RU" sz="2400" dirty="0"/>
              <a:t>•	</a:t>
            </a:r>
            <a:r>
              <a:rPr lang="en-US" sz="2400" dirty="0"/>
              <a:t>name VARCHAR(100) — </a:t>
            </a:r>
            <a:r>
              <a:rPr lang="ru-RU" sz="2400" dirty="0"/>
              <a:t>название товара длиной до 100 символов;</a:t>
            </a:r>
          </a:p>
          <a:p>
            <a:r>
              <a:rPr lang="ru-RU" sz="2400" dirty="0"/>
              <a:t>•	</a:t>
            </a:r>
            <a:r>
              <a:rPr lang="en-US" sz="2400" dirty="0"/>
              <a:t>price DECIMAL(10, 2) — </a:t>
            </a:r>
            <a:r>
              <a:rPr lang="ru-RU" sz="2400" dirty="0"/>
              <a:t>цена с двумя знаками после запятой;</a:t>
            </a:r>
          </a:p>
          <a:p>
            <a:r>
              <a:rPr lang="ru-RU" sz="2400" dirty="0"/>
              <a:t>•	</a:t>
            </a:r>
            <a:r>
              <a:rPr lang="en-US" sz="2400" dirty="0" err="1"/>
              <a:t>in_stock</a:t>
            </a:r>
            <a:r>
              <a:rPr lang="en-US" sz="2400" dirty="0"/>
              <a:t> BOOLEAN — </a:t>
            </a:r>
            <a:r>
              <a:rPr lang="ru-RU" sz="2400" dirty="0"/>
              <a:t>логическое поле, обозначающее наличие товара на складе, где </a:t>
            </a:r>
            <a:r>
              <a:rPr lang="en-US" sz="2400" dirty="0"/>
              <a:t>true — </a:t>
            </a:r>
            <a:r>
              <a:rPr lang="ru-RU" sz="2400" dirty="0"/>
              <a:t>в наличии, </a:t>
            </a:r>
            <a:r>
              <a:rPr lang="en-US" sz="2400" dirty="0"/>
              <a:t>false — </a:t>
            </a:r>
            <a:r>
              <a:rPr lang="ru-RU" sz="2400" dirty="0"/>
              <a:t>нет.</a:t>
            </a:r>
          </a:p>
        </p:txBody>
      </p:sp>
    </p:spTree>
    <p:extLst>
      <p:ext uri="{BB962C8B-B14F-4D97-AF65-F5344CB8AC3E}">
        <p14:creationId xmlns:p14="http://schemas.microsoft.com/office/powerpoint/2010/main" val="37690857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1"/>
            <a:ext cx="91440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/>
              <a:t>Основные типы данных:</a:t>
            </a:r>
          </a:p>
          <a:p>
            <a:r>
              <a:rPr lang="ru-RU" sz="2400" dirty="0"/>
              <a:t>•	INT — целые числа;</a:t>
            </a:r>
          </a:p>
          <a:p>
            <a:r>
              <a:rPr lang="ru-RU" sz="2400" dirty="0"/>
              <a:t>•	VARCHAR(n) — строки длиной до n символов;</a:t>
            </a:r>
          </a:p>
          <a:p>
            <a:r>
              <a:rPr lang="ru-RU" sz="2400" dirty="0"/>
              <a:t>•	DECIMAL(p, s) — числа с фиксированной точностью, где p — общее количество цифр, s — количество знаков после запятой;</a:t>
            </a:r>
          </a:p>
          <a:p>
            <a:r>
              <a:rPr lang="ru-RU" sz="2400" dirty="0"/>
              <a:t>•	BOOLEAN — логические значения </a:t>
            </a:r>
            <a:r>
              <a:rPr lang="ru-RU" sz="2400" dirty="0" err="1"/>
              <a:t>true</a:t>
            </a:r>
            <a:r>
              <a:rPr lang="ru-RU" sz="2400" dirty="0"/>
              <a:t> или </a:t>
            </a:r>
            <a:r>
              <a:rPr lang="ru-RU" sz="2400" dirty="0" err="1"/>
              <a:t>false</a:t>
            </a:r>
            <a:r>
              <a:rPr lang="ru-RU" sz="2400" dirty="0"/>
              <a:t>;</a:t>
            </a:r>
          </a:p>
          <a:p>
            <a:r>
              <a:rPr lang="ru-RU" sz="2400" dirty="0"/>
              <a:t>•	DATE, TIME, DATETIME — дата, время и дата с точным временем.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228" y="3046988"/>
            <a:ext cx="8392705" cy="2795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40713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559" y="830997"/>
            <a:ext cx="9446079" cy="2495972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3403600" y="0"/>
            <a:ext cx="646853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 smtClean="0"/>
              <a:t>Ключи таблицы</a:t>
            </a:r>
          </a:p>
          <a:p>
            <a:pPr algn="ctr"/>
            <a:r>
              <a:rPr lang="en-US" sz="2400" dirty="0" smtClean="0"/>
              <a:t>PRIMARY </a:t>
            </a:r>
            <a:r>
              <a:rPr lang="en-US" sz="2400" dirty="0"/>
              <a:t>KEY — </a:t>
            </a:r>
            <a:r>
              <a:rPr lang="ru-RU" sz="2400" dirty="0"/>
              <a:t>основной ключ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237067" y="3326969"/>
            <a:ext cx="6417733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200" dirty="0" smtClean="0"/>
              <a:t>ограничения</a:t>
            </a:r>
          </a:p>
          <a:p>
            <a:r>
              <a:rPr lang="ru-RU" sz="2200" dirty="0" smtClean="0"/>
              <a:t>•</a:t>
            </a:r>
            <a:r>
              <a:rPr lang="ru-RU" sz="2200" dirty="0"/>
              <a:t>	</a:t>
            </a:r>
            <a:r>
              <a:rPr lang="ru-RU" sz="2200" dirty="0" smtClean="0"/>
              <a:t>NOT </a:t>
            </a:r>
            <a:r>
              <a:rPr lang="ru-RU" sz="2200" dirty="0"/>
              <a:t>NULL — значение обязательно для заполнения;</a:t>
            </a:r>
          </a:p>
          <a:p>
            <a:r>
              <a:rPr lang="ru-RU" sz="2200" dirty="0"/>
              <a:t>•	UNIQUE — значение должно быть уникальным и без повторов;</a:t>
            </a:r>
          </a:p>
          <a:p>
            <a:r>
              <a:rPr lang="ru-RU" sz="2200" dirty="0"/>
              <a:t>•	DEFAULT — задает значение по умолчанию, если оно не указано при вставке;</a:t>
            </a:r>
          </a:p>
          <a:p>
            <a:r>
              <a:rPr lang="ru-RU" sz="2200" dirty="0"/>
              <a:t>•	CHECK — устанавливает логическое условие, которому должно соответствовать значение.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V="1">
            <a:off x="6248400" y="3572933"/>
            <a:ext cx="5943599" cy="2250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29532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/>
          <p:cNvSpPr>
            <a:spLocks noChangeArrowheads="1"/>
          </p:cNvSpPr>
          <p:nvPr/>
        </p:nvSpPr>
        <p:spPr bwMode="auto">
          <a:xfrm>
            <a:off x="435635" y="463138"/>
            <a:ext cx="581890" cy="843149"/>
          </a:xfrm>
          <a:prstGeom prst="rect">
            <a:avLst/>
          </a:prstGeom>
          <a:gradFill rotWithShape="1">
            <a:gsLst>
              <a:gs pos="0">
                <a:srgbClr val="770000"/>
              </a:gs>
              <a:gs pos="50000">
                <a:srgbClr val="AD0000"/>
              </a:gs>
              <a:gs pos="100000">
                <a:srgbClr val="CE0000"/>
              </a:gs>
            </a:gsLst>
            <a:lin ang="0" scaled="1"/>
          </a:gradFill>
          <a:ln w="9525" algn="ctr">
            <a:noFill/>
            <a:round/>
            <a:headEnd/>
            <a:tailEnd/>
          </a:ln>
        </p:spPr>
        <p:txBody>
          <a:bodyPr/>
          <a:lstStyle/>
          <a:p>
            <a:pPr defTabSz="1043001"/>
            <a:endParaRPr lang="ru-RU" sz="2100" dirty="0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F3A33-6A4A-4395-8324-C6DCD486F135}" type="slidenum">
              <a:rPr lang="ru-RU" smtClean="0">
                <a:solidFill>
                  <a:schemeClr val="bg2">
                    <a:lumMod val="75000"/>
                  </a:schemeClr>
                </a:solidFill>
              </a:rPr>
              <a:pPr/>
              <a:t>8</a:t>
            </a:fld>
            <a:endParaRPr lang="ru-RU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16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0250" y="463138"/>
            <a:ext cx="2827683" cy="8805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726580" y="2341171"/>
            <a:ext cx="1025419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/>
            <a:r>
              <a:rPr lang="ru-RU" sz="4000" b="1" dirty="0">
                <a:solidFill>
                  <a:srgbClr val="FF0000"/>
                </a:solidFill>
              </a:rPr>
              <a:t>Что такое таблицы в SQL</a:t>
            </a:r>
            <a:endParaRPr lang="ru-RU" sz="4000" b="1" dirty="0" smtClean="0">
              <a:solidFill>
                <a:srgbClr val="FF0000"/>
              </a:solidFill>
            </a:endParaRPr>
          </a:p>
          <a:p>
            <a:pPr lvl="1" algn="ctr"/>
            <a:r>
              <a:rPr lang="ru-RU" sz="4000" b="1" dirty="0" smtClean="0"/>
              <a:t>Вопрос 2</a:t>
            </a:r>
            <a:endParaRPr lang="ru-RU" sz="4000" dirty="0"/>
          </a:p>
        </p:txBody>
      </p:sp>
    </p:spTree>
    <p:extLst>
      <p:ext uri="{BB962C8B-B14F-4D97-AF65-F5344CB8AC3E}">
        <p14:creationId xmlns:p14="http://schemas.microsoft.com/office/powerpoint/2010/main" val="4857559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21920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/>
              <a:t>Таблицы </a:t>
            </a:r>
            <a:r>
              <a:rPr lang="ru-RU" sz="2400" dirty="0"/>
              <a:t>в SQL (</a:t>
            </a:r>
            <a:r>
              <a:rPr lang="ru-RU" sz="2400" dirty="0" err="1"/>
              <a:t>Structured</a:t>
            </a:r>
            <a:r>
              <a:rPr lang="ru-RU" sz="2400" dirty="0"/>
              <a:t> </a:t>
            </a:r>
            <a:r>
              <a:rPr lang="ru-RU" sz="2400" dirty="0" err="1"/>
              <a:t>Query</a:t>
            </a:r>
            <a:r>
              <a:rPr lang="ru-RU" sz="2400" dirty="0"/>
              <a:t> </a:t>
            </a:r>
            <a:r>
              <a:rPr lang="ru-RU" sz="2400" dirty="0" err="1"/>
              <a:t>Language</a:t>
            </a:r>
            <a:r>
              <a:rPr lang="ru-RU" sz="2400" dirty="0"/>
              <a:t>) — это объекты реляционных баз данных, предназначенные для хранения данных в структурированном </a:t>
            </a:r>
            <a:r>
              <a:rPr lang="ru-RU" sz="2400" dirty="0" smtClean="0"/>
              <a:t>формате</a:t>
            </a:r>
            <a:endParaRPr lang="ru-RU" sz="2400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755" y="830997"/>
            <a:ext cx="5856737" cy="3368470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6185492" y="830997"/>
            <a:ext cx="6006508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/>
              <a:t>•	Название таблицы должно быть уникально в рамках одной базы данных.</a:t>
            </a:r>
          </a:p>
          <a:p>
            <a:r>
              <a:rPr lang="ru-RU" sz="2400" dirty="0"/>
              <a:t>•	Столбцы имеют уникальное имя, которое идентифицирует их внутри таблицы.</a:t>
            </a:r>
          </a:p>
          <a:p>
            <a:r>
              <a:rPr lang="ru-RU" sz="2400" dirty="0"/>
              <a:t>•	Тип данных столбца ограничивает набор допустимых значений, которые можно присвоить 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351" y="4199467"/>
            <a:ext cx="9723963" cy="2694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99003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/>
          <p:cNvSpPr>
            <a:spLocks noChangeArrowheads="1"/>
          </p:cNvSpPr>
          <p:nvPr/>
        </p:nvSpPr>
        <p:spPr bwMode="auto">
          <a:xfrm>
            <a:off x="435635" y="463138"/>
            <a:ext cx="581890" cy="843149"/>
          </a:xfrm>
          <a:prstGeom prst="rect">
            <a:avLst/>
          </a:prstGeom>
          <a:gradFill rotWithShape="1">
            <a:gsLst>
              <a:gs pos="0">
                <a:srgbClr val="770000"/>
              </a:gs>
              <a:gs pos="50000">
                <a:srgbClr val="AD0000"/>
              </a:gs>
              <a:gs pos="100000">
                <a:srgbClr val="CE0000"/>
              </a:gs>
            </a:gsLst>
            <a:lin ang="0" scaled="1"/>
          </a:gradFill>
          <a:ln w="9525" algn="ctr">
            <a:noFill/>
            <a:round/>
            <a:headEnd/>
            <a:tailEnd/>
          </a:ln>
        </p:spPr>
        <p:txBody>
          <a:bodyPr/>
          <a:lstStyle/>
          <a:p>
            <a:pPr defTabSz="1043001"/>
            <a:endParaRPr lang="ru-RU" sz="2100" dirty="0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F3A33-6A4A-4395-8324-C6DCD486F135}" type="slidenum">
              <a:rPr lang="ru-RU" smtClean="0">
                <a:solidFill>
                  <a:schemeClr val="bg2">
                    <a:lumMod val="75000"/>
                  </a:schemeClr>
                </a:solidFill>
              </a:rPr>
              <a:pPr/>
              <a:t>10</a:t>
            </a:fld>
            <a:endParaRPr lang="ru-RU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16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0250" y="463138"/>
            <a:ext cx="2827683" cy="8805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726580" y="2341171"/>
            <a:ext cx="1025419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/>
            <a:r>
              <a:rPr lang="ru-RU" sz="4000" b="1" dirty="0">
                <a:solidFill>
                  <a:srgbClr val="FF0000"/>
                </a:solidFill>
              </a:rPr>
              <a:t>Типы таблиц в SQL</a:t>
            </a:r>
            <a:endParaRPr lang="ru-RU" sz="4000" b="1" dirty="0" smtClean="0">
              <a:solidFill>
                <a:srgbClr val="FF0000"/>
              </a:solidFill>
            </a:endParaRPr>
          </a:p>
          <a:p>
            <a:pPr lvl="1" algn="ctr"/>
            <a:r>
              <a:rPr lang="ru-RU" sz="4000" b="1" dirty="0" smtClean="0"/>
              <a:t>Вопрос 3</a:t>
            </a:r>
            <a:endParaRPr lang="ru-RU" sz="4000" dirty="0"/>
          </a:p>
        </p:txBody>
      </p:sp>
    </p:spTree>
    <p:extLst>
      <p:ext uri="{BB962C8B-B14F-4D97-AF65-F5344CB8AC3E}">
        <p14:creationId xmlns:p14="http://schemas.microsoft.com/office/powerpoint/2010/main" val="796222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743200" y="0"/>
            <a:ext cx="517307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/>
              <a:t>Постоянные и временные таблицы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389467" y="461666"/>
            <a:ext cx="5604933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/>
              <a:t>Есть разные типы таблиц SQL: </a:t>
            </a:r>
          </a:p>
          <a:p>
            <a:r>
              <a:rPr lang="ru-RU" sz="2400" dirty="0"/>
              <a:t>•	 обычные, </a:t>
            </a:r>
          </a:p>
          <a:p>
            <a:r>
              <a:rPr lang="ru-RU" sz="2400" dirty="0"/>
              <a:t>•	 секционированные, </a:t>
            </a:r>
          </a:p>
          <a:p>
            <a:r>
              <a:rPr lang="ru-RU" sz="2400" dirty="0"/>
              <a:t>•	временные, </a:t>
            </a:r>
          </a:p>
          <a:p>
            <a:r>
              <a:rPr lang="ru-RU" sz="2400" dirty="0"/>
              <a:t>•	 системные, </a:t>
            </a:r>
          </a:p>
          <a:p>
            <a:r>
              <a:rPr lang="ru-RU" sz="2400" dirty="0"/>
              <a:t>•	 широкие. </a:t>
            </a:r>
          </a:p>
          <a:p>
            <a:r>
              <a:rPr lang="ru-RU" sz="2400" dirty="0"/>
              <a:t>•	связанные таблицы SQL</a:t>
            </a:r>
          </a:p>
        </p:txBody>
      </p:sp>
    </p:spTree>
    <p:extLst>
      <p:ext uri="{BB962C8B-B14F-4D97-AF65-F5344CB8AC3E}">
        <p14:creationId xmlns:p14="http://schemas.microsoft.com/office/powerpoint/2010/main" val="10210903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1"/>
            <a:ext cx="121920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/>
              <a:t>Обычные таблицы </a:t>
            </a:r>
            <a:r>
              <a:rPr lang="ru-RU" sz="2400" dirty="0"/>
              <a:t>— базовый и наиболее распространённый тип таблиц в реляционных базах </a:t>
            </a:r>
            <a:r>
              <a:rPr lang="ru-RU" sz="2400" dirty="0" smtClean="0"/>
              <a:t>данных</a:t>
            </a:r>
          </a:p>
          <a:p>
            <a:r>
              <a:rPr lang="ru-RU" sz="2400" b="1" dirty="0"/>
              <a:t>Основные типы ограничений:</a:t>
            </a:r>
          </a:p>
          <a:p>
            <a:pPr marL="457200" indent="-457200">
              <a:buAutoNum type="arabicPeriod"/>
            </a:pPr>
            <a:r>
              <a:rPr lang="ru-RU" sz="2400" dirty="0" smtClean="0"/>
              <a:t>PRIMARY </a:t>
            </a:r>
            <a:r>
              <a:rPr lang="ru-RU" sz="2400" dirty="0"/>
              <a:t>KEY — первичный ключ таблицы SQL. </a:t>
            </a:r>
            <a:endParaRPr lang="ru-RU" sz="2400" dirty="0" smtClean="0"/>
          </a:p>
          <a:p>
            <a:pPr marL="457200" indent="-457200">
              <a:buAutoNum type="arabicPeriod"/>
            </a:pPr>
            <a:r>
              <a:rPr lang="ru-RU" sz="2400" dirty="0" smtClean="0"/>
              <a:t> </a:t>
            </a:r>
            <a:r>
              <a:rPr lang="ru-RU" sz="2400" dirty="0"/>
              <a:t>FOREIGN KEY — внешний ключ таблицы SQL. </a:t>
            </a:r>
            <a:endParaRPr lang="ru-RU" sz="2400" dirty="0" smtClean="0"/>
          </a:p>
          <a:p>
            <a:pPr marL="457200" indent="-457200">
              <a:buAutoNum type="arabicPeriod"/>
            </a:pPr>
            <a:r>
              <a:rPr lang="ru-RU" sz="2400" dirty="0" smtClean="0"/>
              <a:t> </a:t>
            </a:r>
            <a:r>
              <a:rPr lang="ru-RU" sz="2400" dirty="0"/>
              <a:t>UNIQUE — уникальное значение. </a:t>
            </a:r>
            <a:endParaRPr lang="ru-RU" sz="2400" dirty="0" smtClean="0"/>
          </a:p>
          <a:p>
            <a:r>
              <a:rPr lang="ru-RU" sz="2400" dirty="0" smtClean="0"/>
              <a:t>4</a:t>
            </a:r>
            <a:r>
              <a:rPr lang="ru-RU" sz="2400" dirty="0"/>
              <a:t>. NOT NULL — не допускается значение NULL. </a:t>
            </a:r>
          </a:p>
          <a:p>
            <a:r>
              <a:rPr lang="ru-RU" sz="2400" dirty="0"/>
              <a:t>5. CHECK — проверка</a:t>
            </a:r>
            <a:r>
              <a:rPr lang="ru-RU" sz="2400" dirty="0" smtClean="0"/>
              <a:t>.</a:t>
            </a:r>
            <a:endParaRPr lang="ru-RU" sz="2400" dirty="0"/>
          </a:p>
          <a:p>
            <a:r>
              <a:rPr lang="ru-RU" sz="2400" dirty="0"/>
              <a:t>6. DEFAULT — значение по умолчанию. 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 rotWithShape="1">
          <a:blip r:embed="rId2"/>
          <a:srcRect r="50447" b="1834"/>
          <a:stretch/>
        </p:blipFill>
        <p:spPr>
          <a:xfrm>
            <a:off x="718553" y="3416321"/>
            <a:ext cx="6003980" cy="3255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52340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" y="0"/>
            <a:ext cx="48259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/>
              <a:t>Секционированные таблицы 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826" y="461665"/>
            <a:ext cx="6273814" cy="3314468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 flipH="1">
            <a:off x="7523218" y="0"/>
            <a:ext cx="466878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/>
              <a:t>Временные таблицы в </a:t>
            </a:r>
            <a:r>
              <a:rPr lang="en-US" sz="2400" b="1" dirty="0"/>
              <a:t>SQL </a:t>
            </a:r>
            <a:endParaRPr lang="ru-RU" sz="2400" b="1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5781" y="461665"/>
            <a:ext cx="5486219" cy="3179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59883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" y="0"/>
            <a:ext cx="33019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/>
              <a:t>Системные таблицы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2" y="461665"/>
            <a:ext cx="242146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AutoNum type="arabicPeriod"/>
            </a:pPr>
            <a:r>
              <a:rPr lang="ru-RU" sz="2400" dirty="0" err="1" smtClean="0"/>
              <a:t>sys.objects</a:t>
            </a:r>
            <a:r>
              <a:rPr lang="ru-RU" sz="2400" dirty="0"/>
              <a:t>: </a:t>
            </a:r>
            <a:endParaRPr lang="ru-RU" sz="2400" dirty="0" smtClean="0"/>
          </a:p>
          <a:p>
            <a:pPr marL="457200" indent="-457200">
              <a:buAutoNum type="arabicPeriod"/>
            </a:pPr>
            <a:r>
              <a:rPr lang="ru-RU" sz="2400" dirty="0" err="1" smtClean="0"/>
              <a:t>sys.columns</a:t>
            </a:r>
            <a:r>
              <a:rPr lang="ru-RU" sz="2400" dirty="0"/>
              <a:t>: </a:t>
            </a:r>
            <a:endParaRPr lang="ru-RU" sz="2400" dirty="0" smtClean="0"/>
          </a:p>
          <a:p>
            <a:pPr marL="457200" indent="-457200">
              <a:buAutoNum type="arabicPeriod"/>
            </a:pPr>
            <a:r>
              <a:rPr lang="ru-RU" sz="2400" dirty="0" err="1" smtClean="0"/>
              <a:t>sys.tables</a:t>
            </a:r>
            <a:r>
              <a:rPr lang="ru-RU" sz="2400" dirty="0" smtClean="0"/>
              <a:t>:</a:t>
            </a:r>
            <a:endParaRPr lang="ru-RU" sz="24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3886" y="461664"/>
            <a:ext cx="7571428" cy="1062335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2" y="1985664"/>
            <a:ext cx="386079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/>
              <a:t>Широкие таблицы в </a:t>
            </a:r>
            <a:r>
              <a:rPr lang="en-US" sz="2400" b="1" dirty="0"/>
              <a:t>SQL </a:t>
            </a:r>
            <a:endParaRPr lang="ru-RU" sz="2400" b="1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 rotWithShape="1">
          <a:blip r:embed="rId3"/>
          <a:srcRect l="-2981" t="2877" r="42379" b="3636"/>
          <a:stretch/>
        </p:blipFill>
        <p:spPr>
          <a:xfrm>
            <a:off x="12144" y="2447329"/>
            <a:ext cx="4818648" cy="2751204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5012266" y="2573866"/>
            <a:ext cx="7027334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/>
              <a:t>Некоторые преимущества широких таблиц в SQL: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 smtClean="0"/>
              <a:t>Возможность </a:t>
            </a:r>
            <a:r>
              <a:rPr lang="ru-RU" sz="2400" dirty="0"/>
              <a:t>хранить большое количество данных. </a:t>
            </a:r>
            <a:endParaRPr lang="ru-RU" sz="24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 smtClean="0"/>
              <a:t>Поддержка </a:t>
            </a:r>
            <a:r>
              <a:rPr lang="ru-RU" sz="2400" dirty="0"/>
              <a:t>гибкой схемы данных. </a:t>
            </a:r>
            <a:endParaRPr lang="ru-RU" sz="24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 smtClean="0"/>
              <a:t>Работа </a:t>
            </a:r>
            <a:r>
              <a:rPr lang="ru-RU" sz="2400" dirty="0"/>
              <a:t>с широким набором данных.</a:t>
            </a:r>
          </a:p>
        </p:txBody>
      </p:sp>
    </p:spTree>
    <p:extLst>
      <p:ext uri="{BB962C8B-B14F-4D97-AF65-F5344CB8AC3E}">
        <p14:creationId xmlns:p14="http://schemas.microsoft.com/office/powerpoint/2010/main" val="31472911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3657600" y="0"/>
            <a:ext cx="37163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/>
              <a:t>Связанные таблицы </a:t>
            </a:r>
            <a:r>
              <a:rPr lang="en-US" sz="2400" b="1" dirty="0"/>
              <a:t>SQL</a:t>
            </a:r>
            <a:endParaRPr lang="ru-RU" sz="2400" b="1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135467" y="461666"/>
            <a:ext cx="12056533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/>
              <a:t>•	Уменьшают количество дублированных </a:t>
            </a:r>
            <a:r>
              <a:rPr lang="ru-RU" sz="2400" dirty="0" smtClean="0"/>
              <a:t>данных</a:t>
            </a:r>
            <a:endParaRPr lang="ru-RU" sz="2400" dirty="0"/>
          </a:p>
          <a:p>
            <a:r>
              <a:rPr lang="ru-RU" sz="2400" dirty="0"/>
              <a:t>•	Данные удобно обновляются </a:t>
            </a:r>
            <a:endParaRPr lang="ru-RU" sz="2400" dirty="0" smtClean="0"/>
          </a:p>
          <a:p>
            <a:r>
              <a:rPr lang="ru-RU" sz="2400" dirty="0" smtClean="0"/>
              <a:t>•</a:t>
            </a:r>
            <a:r>
              <a:rPr lang="ru-RU" sz="2400" dirty="0"/>
              <a:t>	Повышается производительность </a:t>
            </a:r>
            <a:endParaRPr lang="ru-RU" sz="2400" dirty="0" smtClean="0"/>
          </a:p>
          <a:p>
            <a:r>
              <a:rPr lang="ru-RU" sz="2400" b="1" dirty="0"/>
              <a:t>Ключи </a:t>
            </a:r>
            <a:r>
              <a:rPr lang="ru-RU" sz="2400" dirty="0"/>
              <a:t>— это специальные поля или комбинации полей в таблице, которые делают записи уникальными и задают связи между </a:t>
            </a:r>
            <a:r>
              <a:rPr lang="ru-RU" sz="2400" dirty="0" smtClean="0"/>
              <a:t>таблицами</a:t>
            </a:r>
          </a:p>
          <a:p>
            <a:r>
              <a:rPr lang="ru-RU" sz="2400" b="1" dirty="0"/>
              <a:t>Первичный ключ </a:t>
            </a:r>
            <a:r>
              <a:rPr lang="ru-RU" sz="2400" dirty="0"/>
              <a:t>— это столбец или комбинация столбцов, которые однозначно идентифицируют каждую запись в таблице. </a:t>
            </a:r>
            <a:r>
              <a:rPr lang="ru-RU" sz="2400" dirty="0" smtClean="0"/>
              <a:t>:</a:t>
            </a:r>
            <a:endParaRPr lang="ru-RU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ru-RU" sz="2400" dirty="0"/>
              <a:t>не может содержать повторяющихся </a:t>
            </a:r>
            <a:r>
              <a:rPr lang="ru-RU" sz="2400" dirty="0" smtClean="0"/>
              <a:t>значений;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ru-RU" sz="2400" dirty="0" smtClean="0"/>
              <a:t>не </a:t>
            </a:r>
            <a:r>
              <a:rPr lang="ru-RU" sz="2400" dirty="0"/>
              <a:t>может быть пустым (NULL</a:t>
            </a:r>
            <a:r>
              <a:rPr lang="ru-RU" sz="2400" dirty="0" smtClean="0"/>
              <a:t>);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ru-RU" sz="2400" dirty="0" smtClean="0"/>
              <a:t>часто </a:t>
            </a:r>
            <a:r>
              <a:rPr lang="ru-RU" sz="2400" dirty="0"/>
              <a:t>используется для связи с другими таблицами как внешний </a:t>
            </a:r>
            <a:r>
              <a:rPr lang="ru-RU" sz="2400" dirty="0" smtClean="0"/>
              <a:t>ключ</a:t>
            </a:r>
          </a:p>
          <a:p>
            <a:pPr lvl="0"/>
            <a:r>
              <a:rPr lang="ru-RU" sz="2400" b="1" dirty="0"/>
              <a:t>Составной ключ </a:t>
            </a:r>
            <a:r>
              <a:rPr lang="ru-RU" sz="2400" dirty="0"/>
              <a:t>— это первичный ключ, который состоит из двух (или больше) столбцов</a:t>
            </a:r>
            <a:r>
              <a:rPr lang="ru-RU" sz="2400" dirty="0" smtClean="0"/>
              <a:t>.</a:t>
            </a:r>
          </a:p>
          <a:p>
            <a:pPr lvl="0"/>
            <a:r>
              <a:rPr lang="ru-RU" sz="2400" b="1" dirty="0"/>
              <a:t>Уникальный ключ </a:t>
            </a:r>
            <a:r>
              <a:rPr lang="ru-RU" sz="2400" dirty="0"/>
              <a:t>гарантирует, что значения в столбце (или их комбинации) не будут </a:t>
            </a:r>
            <a:r>
              <a:rPr lang="ru-RU" sz="2400" dirty="0" smtClean="0"/>
              <a:t>повторяться</a:t>
            </a:r>
          </a:p>
          <a:p>
            <a:pPr lvl="0"/>
            <a:r>
              <a:rPr lang="ru-RU" sz="2400" b="1" dirty="0"/>
              <a:t>Внешний ключ </a:t>
            </a:r>
            <a:r>
              <a:rPr lang="ru-RU" sz="2400" dirty="0"/>
              <a:t>— это поле, которое указывает на первичный ключ другой таблицы</a:t>
            </a:r>
          </a:p>
        </p:txBody>
      </p:sp>
    </p:spTree>
    <p:extLst>
      <p:ext uri="{BB962C8B-B14F-4D97-AF65-F5344CB8AC3E}">
        <p14:creationId xmlns:p14="http://schemas.microsoft.com/office/powerpoint/2010/main" val="7258962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491067" y="1"/>
            <a:ext cx="865293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/>
              <a:t>Существует три основных типа связей между таблицами в SQL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0" y="461666"/>
            <a:ext cx="12192000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/>
              <a:t>«Один к одному» (</a:t>
            </a:r>
            <a:r>
              <a:rPr lang="ru-RU" sz="2400" dirty="0" err="1"/>
              <a:t>One-to-One</a:t>
            </a:r>
            <a:r>
              <a:rPr lang="ru-RU" sz="2400" dirty="0"/>
              <a:t>) — каждая запись в одной таблице связана только с одной записью в другой таблице, и </a:t>
            </a:r>
            <a:r>
              <a:rPr lang="ru-RU" sz="2400" dirty="0" smtClean="0"/>
              <a:t>наоборот</a:t>
            </a:r>
          </a:p>
          <a:p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0075" y="1294490"/>
            <a:ext cx="5712724" cy="5563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05468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2192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/>
              <a:t>«</a:t>
            </a:r>
            <a:r>
              <a:rPr lang="ru-RU" sz="2400" b="1" dirty="0"/>
              <a:t>Один ко многим</a:t>
            </a:r>
            <a:r>
              <a:rPr lang="ru-RU" sz="2400" dirty="0"/>
              <a:t>» (</a:t>
            </a:r>
            <a:r>
              <a:rPr lang="ru-RU" sz="2400" dirty="0" err="1"/>
              <a:t>One-to-Many</a:t>
            </a:r>
            <a:r>
              <a:rPr lang="ru-RU" sz="2400" dirty="0"/>
              <a:t>) — одна запись в первой таблице может быть связана с несколькими записями во второй таблице, но каждая запись во второй таблице соответствует только одной записи в первой таблице. 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4990" y="1200328"/>
            <a:ext cx="5692488" cy="5657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67840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21920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/>
              <a:t>«Многие ко многим» (</a:t>
            </a:r>
            <a:r>
              <a:rPr lang="ru-RU" sz="2400" dirty="0" err="1"/>
              <a:t>Many-to-Many</a:t>
            </a:r>
            <a:r>
              <a:rPr lang="ru-RU" sz="2400" dirty="0"/>
              <a:t>) — записи в обеих таблицах могут быть связаны с несколькими записями в другой таблице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0019" y="830997"/>
            <a:ext cx="4352914" cy="6002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20328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4995333" y="0"/>
            <a:ext cx="176844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/>
              <a:t>Реализация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0" y="461665"/>
            <a:ext cx="121920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/>
              <a:t>Основную роль в установлении и поддержании связей между таблицами в SQL играет внешний ключ (FOREIGN KEY). </a:t>
            </a:r>
            <a:endParaRPr lang="ru-RU" sz="2400" dirty="0" smtClean="0"/>
          </a:p>
          <a:p>
            <a:r>
              <a:rPr lang="ru-RU" sz="2400" dirty="0"/>
              <a:t>INNER </a:t>
            </a:r>
            <a:r>
              <a:rPr lang="ru-RU" sz="2400" dirty="0" smtClean="0"/>
              <a:t>JOIN -возвращает </a:t>
            </a:r>
            <a:r>
              <a:rPr lang="ru-RU" sz="2400" dirty="0"/>
              <a:t>только строки, которые имеют соответствие в обеих таблицах, а </a:t>
            </a:r>
          </a:p>
          <a:p>
            <a:r>
              <a:rPr lang="ru-RU" sz="2400" dirty="0"/>
              <a:t>LEFT </a:t>
            </a:r>
            <a:r>
              <a:rPr lang="ru-RU" sz="2400" dirty="0" smtClean="0"/>
              <a:t>JOIN - (</a:t>
            </a:r>
            <a:r>
              <a:rPr lang="ru-RU" sz="2400" dirty="0"/>
              <a:t>или LEFT OUTER JOIN) объединяет данные из двух таблиц на основе условия, которое включает все строки из левой таблицы и только соответствующие строки из правой таблицы</a:t>
            </a:r>
            <a:r>
              <a:rPr lang="ru-RU" sz="2400" dirty="0" smtClean="0"/>
              <a:t>.</a:t>
            </a:r>
          </a:p>
          <a:p>
            <a:pPr algn="ctr"/>
            <a:r>
              <a:rPr lang="ru-RU" sz="2400" dirty="0"/>
              <a:t> </a:t>
            </a:r>
            <a:r>
              <a:rPr lang="ru-RU" sz="2400" b="1" dirty="0" smtClean="0"/>
              <a:t>ошибки </a:t>
            </a:r>
          </a:p>
          <a:p>
            <a:pPr algn="ctr"/>
            <a:r>
              <a:rPr lang="ru-RU" sz="2400" b="1" dirty="0"/>
              <a:t>Ошибка 1452</a:t>
            </a:r>
            <a:r>
              <a:rPr lang="ru-RU" sz="2400" dirty="0"/>
              <a:t> — попытка связать запись подчинённой таблицы с несуществующей записью в главной таблице. </a:t>
            </a:r>
            <a:endParaRPr lang="ru-RU" sz="2400" b="1" dirty="0"/>
          </a:p>
        </p:txBody>
      </p:sp>
    </p:spTree>
    <p:extLst>
      <p:ext uri="{BB962C8B-B14F-4D97-AF65-F5344CB8AC3E}">
        <p14:creationId xmlns:p14="http://schemas.microsoft.com/office/powerpoint/2010/main" val="42269291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/>
          <p:cNvSpPr>
            <a:spLocks noChangeArrowheads="1"/>
          </p:cNvSpPr>
          <p:nvPr/>
        </p:nvSpPr>
        <p:spPr bwMode="auto">
          <a:xfrm>
            <a:off x="435635" y="463138"/>
            <a:ext cx="581890" cy="843149"/>
          </a:xfrm>
          <a:prstGeom prst="rect">
            <a:avLst/>
          </a:prstGeom>
          <a:gradFill rotWithShape="1">
            <a:gsLst>
              <a:gs pos="0">
                <a:srgbClr val="770000"/>
              </a:gs>
              <a:gs pos="50000">
                <a:srgbClr val="AD0000"/>
              </a:gs>
              <a:gs pos="100000">
                <a:srgbClr val="CE0000"/>
              </a:gs>
            </a:gsLst>
            <a:lin ang="0" scaled="1"/>
          </a:gradFill>
          <a:ln w="9525" algn="ctr">
            <a:noFill/>
            <a:round/>
            <a:headEnd/>
            <a:tailEnd/>
          </a:ln>
        </p:spPr>
        <p:txBody>
          <a:bodyPr/>
          <a:lstStyle/>
          <a:p>
            <a:pPr defTabSz="1043001"/>
            <a:endParaRPr lang="ru-RU" sz="2100" dirty="0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F3A33-6A4A-4395-8324-C6DCD486F135}" type="slidenum">
              <a:rPr lang="ru-RU" smtClean="0">
                <a:solidFill>
                  <a:schemeClr val="bg2">
                    <a:lumMod val="75000"/>
                  </a:schemeClr>
                </a:solidFill>
              </a:rPr>
              <a:pPr/>
              <a:t>20</a:t>
            </a:fld>
            <a:endParaRPr lang="ru-RU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16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0250" y="463138"/>
            <a:ext cx="2827683" cy="8805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804041" y="1844565"/>
            <a:ext cx="10176734" cy="32008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000" b="1" dirty="0">
                <a:solidFill>
                  <a:srgbClr val="FF0000"/>
                </a:solidFill>
              </a:rPr>
              <a:t> </a:t>
            </a:r>
          </a:p>
          <a:p>
            <a:pPr algn="ctr"/>
            <a:r>
              <a:rPr lang="ru-RU" sz="5400" b="1" dirty="0">
                <a:solidFill>
                  <a:srgbClr val="FF0000"/>
                </a:solidFill>
              </a:rPr>
              <a:t>Основные операции над таблицами в SQL</a:t>
            </a:r>
            <a:endParaRPr lang="ru-RU" sz="5400" b="1" dirty="0" smtClean="0"/>
          </a:p>
          <a:p>
            <a:pPr algn="ctr"/>
            <a:r>
              <a:rPr lang="ru-RU" sz="5400" b="1" dirty="0" smtClean="0"/>
              <a:t>Вопрос 4</a:t>
            </a:r>
            <a:endParaRPr lang="ru-RU" sz="5400" dirty="0"/>
          </a:p>
        </p:txBody>
      </p:sp>
    </p:spTree>
    <p:extLst>
      <p:ext uri="{BB962C8B-B14F-4D97-AF65-F5344CB8AC3E}">
        <p14:creationId xmlns:p14="http://schemas.microsoft.com/office/powerpoint/2010/main" val="32289766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4419600" y="0"/>
            <a:ext cx="261040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/>
              <a:t>Создание таблиц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750" y="461665"/>
            <a:ext cx="7062431" cy="2258135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3166534" y="2719800"/>
            <a:ext cx="432103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/>
              <a:t>Вставка данных в таблицу 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934" y="3181465"/>
            <a:ext cx="8165331" cy="3122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41195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810933" y="0"/>
            <a:ext cx="473770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/>
              <a:t>Выборка данных из таблиц 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541" y="461665"/>
            <a:ext cx="9772802" cy="1045402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3262" y="1663932"/>
            <a:ext cx="6593049" cy="1533333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4460199" y="3244334"/>
            <a:ext cx="440043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b="1" dirty="0"/>
              <a:t>Обновление данных в таблице </a:t>
            </a: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000" y="3938504"/>
            <a:ext cx="7372119" cy="2360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06009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506133" y="0"/>
            <a:ext cx="536307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/>
              <a:t>Удаление данных из таблицы SQL 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61665"/>
            <a:ext cx="9846191" cy="2038276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3031067" y="2961606"/>
            <a:ext cx="6112933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CREATE TABLE products ( </a:t>
            </a:r>
          </a:p>
          <a:p>
            <a:endParaRPr lang="en-US" sz="2400" dirty="0"/>
          </a:p>
          <a:p>
            <a:r>
              <a:rPr lang="en-US" sz="2400" dirty="0"/>
              <a:t>    </a:t>
            </a:r>
            <a:r>
              <a:rPr lang="en-US" sz="2400" dirty="0" err="1"/>
              <a:t>product_id</a:t>
            </a:r>
            <a:r>
              <a:rPr lang="en-US" sz="2400" dirty="0"/>
              <a:t> INT PRIMARY KEY, </a:t>
            </a:r>
          </a:p>
          <a:p>
            <a:endParaRPr lang="en-US" sz="2400" dirty="0"/>
          </a:p>
          <a:p>
            <a:r>
              <a:rPr lang="en-US" sz="2400" dirty="0"/>
              <a:t>    </a:t>
            </a:r>
            <a:r>
              <a:rPr lang="en-US" sz="2400" dirty="0" err="1"/>
              <a:t>product_name</a:t>
            </a:r>
            <a:r>
              <a:rPr lang="en-US" sz="2400" dirty="0"/>
              <a:t> VARCHAR(100) UNIQUE, </a:t>
            </a:r>
          </a:p>
          <a:p>
            <a:endParaRPr lang="en-US" sz="2400" dirty="0"/>
          </a:p>
          <a:p>
            <a:r>
              <a:rPr lang="en-US" sz="2400" dirty="0"/>
              <a:t>    price DECIMAL(10, 2) CHECK (price &gt; 0)</a:t>
            </a:r>
          </a:p>
          <a:p>
            <a:endParaRPr lang="en-US" sz="2400" dirty="0"/>
          </a:p>
          <a:p>
            <a:r>
              <a:rPr lang="en-US" sz="2400" dirty="0"/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34248019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1243734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/>
              <a:t>•	в одной таблице каждый столбец должен иметь уникальное имя;</a:t>
            </a:r>
          </a:p>
          <a:p>
            <a:r>
              <a:rPr lang="ru-RU" sz="2400" dirty="0"/>
              <a:t>•	имя столбца не должно совпадать с ключевыми словами (SELECT и другие);</a:t>
            </a:r>
          </a:p>
          <a:p>
            <a:r>
              <a:rPr lang="ru-RU" sz="2400" dirty="0"/>
              <a:t>•	лучше именовать столбцы кратко и в соответствии с их содержимым, </a:t>
            </a:r>
            <a:endParaRPr lang="ru-RU" sz="2400" dirty="0" smtClean="0"/>
          </a:p>
          <a:p>
            <a:r>
              <a:rPr lang="ru-RU" sz="2400" dirty="0" smtClean="0"/>
              <a:t>•</a:t>
            </a:r>
            <a:r>
              <a:rPr lang="ru-RU" sz="2400" dirty="0"/>
              <a:t>	как правило, используются стили именования </a:t>
            </a:r>
            <a:r>
              <a:rPr lang="ru-RU" sz="2400" dirty="0" err="1"/>
              <a:t>snake_case</a:t>
            </a:r>
            <a:r>
              <a:rPr lang="ru-RU" sz="2400" dirty="0"/>
              <a:t> или </a:t>
            </a:r>
            <a:r>
              <a:rPr lang="ru-RU" sz="2400" dirty="0" err="1"/>
              <a:t>CamelCase</a:t>
            </a:r>
            <a:r>
              <a:rPr lang="ru-RU" sz="2400" dirty="0"/>
              <a:t>.</a:t>
            </a:r>
          </a:p>
          <a:p>
            <a:r>
              <a:rPr lang="ru-RU" sz="2400" dirty="0" smtClean="0"/>
              <a:t>•</a:t>
            </a:r>
            <a:r>
              <a:rPr lang="ru-RU" sz="2400" dirty="0"/>
              <a:t>	</a:t>
            </a:r>
            <a:r>
              <a:rPr lang="ru-RU" sz="2400" dirty="0" err="1"/>
              <a:t>int</a:t>
            </a:r>
            <a:r>
              <a:rPr lang="ru-RU" sz="2400" dirty="0"/>
              <a:t> — для хранения целых чисел. </a:t>
            </a:r>
            <a:endParaRPr lang="ru-RU" sz="2400" dirty="0" smtClean="0"/>
          </a:p>
          <a:p>
            <a:r>
              <a:rPr lang="ru-RU" sz="2400" dirty="0" smtClean="0"/>
              <a:t>•</a:t>
            </a:r>
            <a:r>
              <a:rPr lang="ru-RU" sz="2400" dirty="0"/>
              <a:t>	</a:t>
            </a:r>
            <a:r>
              <a:rPr lang="ru-RU" sz="2400" dirty="0" err="1"/>
              <a:t>decimal</a:t>
            </a:r>
            <a:r>
              <a:rPr lang="ru-RU" sz="2400" dirty="0"/>
              <a:t> — для хранения точных чисел с фиксированным количеством знаков после запятой. </a:t>
            </a:r>
          </a:p>
          <a:p>
            <a:r>
              <a:rPr lang="ru-RU" sz="2400" dirty="0"/>
              <a:t>•	Для хранения дат есть три основных типа данных: </a:t>
            </a:r>
            <a:r>
              <a:rPr lang="ru-RU" sz="2400" dirty="0" err="1"/>
              <a:t>date</a:t>
            </a:r>
            <a:r>
              <a:rPr lang="ru-RU" sz="2400" dirty="0"/>
              <a:t> (хранит только дату), </a:t>
            </a:r>
            <a:r>
              <a:rPr lang="ru-RU" sz="2400" dirty="0" err="1"/>
              <a:t>time</a:t>
            </a:r>
            <a:r>
              <a:rPr lang="ru-RU" sz="2400" dirty="0"/>
              <a:t> (хранит только время), </a:t>
            </a:r>
            <a:r>
              <a:rPr lang="ru-RU" sz="2400" dirty="0" err="1"/>
              <a:t>timestamp</a:t>
            </a:r>
            <a:r>
              <a:rPr lang="ru-RU" sz="2400" dirty="0"/>
              <a:t> (хранит дату и время без учета часового пояса);</a:t>
            </a:r>
          </a:p>
          <a:p>
            <a:r>
              <a:rPr lang="ru-RU" sz="2400" dirty="0"/>
              <a:t>•	</a:t>
            </a:r>
            <a:r>
              <a:rPr lang="ru-RU" sz="2400" dirty="0" err="1"/>
              <a:t>boolean</a:t>
            </a:r>
            <a:r>
              <a:rPr lang="ru-RU" sz="2400" dirty="0"/>
              <a:t> — для хранения значений </a:t>
            </a:r>
            <a:r>
              <a:rPr lang="ru-RU" sz="2400" dirty="0" err="1"/>
              <a:t>true</a:t>
            </a:r>
            <a:r>
              <a:rPr lang="ru-RU" sz="2400" dirty="0"/>
              <a:t> и </a:t>
            </a:r>
            <a:r>
              <a:rPr lang="ru-RU" sz="2400" dirty="0" err="1"/>
              <a:t>false</a:t>
            </a:r>
            <a:r>
              <a:rPr lang="ru-RU" sz="2400" dirty="0"/>
              <a:t>;</a:t>
            </a:r>
          </a:p>
          <a:p>
            <a:r>
              <a:rPr lang="ru-RU" sz="2400" dirty="0"/>
              <a:t>•	</a:t>
            </a:r>
            <a:r>
              <a:rPr lang="ru-RU" sz="2400" dirty="0" err="1"/>
              <a:t>varchar</a:t>
            </a:r>
            <a:r>
              <a:rPr lang="ru-RU" sz="2400" dirty="0"/>
              <a:t> — для строк с ограничением максимальной длины. </a:t>
            </a:r>
          </a:p>
          <a:p>
            <a:r>
              <a:rPr lang="ru-RU" sz="2400" dirty="0"/>
              <a:t>•	</a:t>
            </a:r>
            <a:r>
              <a:rPr lang="ru-RU" sz="2400" dirty="0" err="1"/>
              <a:t>text</a:t>
            </a:r>
            <a:r>
              <a:rPr lang="ru-RU" sz="2400" dirty="0"/>
              <a:t> — для строк без ограничения длины. </a:t>
            </a:r>
          </a:p>
        </p:txBody>
      </p:sp>
    </p:spTree>
    <p:extLst>
      <p:ext uri="{BB962C8B-B14F-4D97-AF65-F5344CB8AC3E}">
        <p14:creationId xmlns:p14="http://schemas.microsoft.com/office/powerpoint/2010/main" val="36424175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35467" y="-1"/>
            <a:ext cx="12056533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/>
              <a:t>в </a:t>
            </a:r>
            <a:r>
              <a:rPr lang="en-US" sz="2400" b="1" dirty="0"/>
              <a:t>SQL </a:t>
            </a:r>
            <a:r>
              <a:rPr lang="ru-RU" sz="2400" b="1" dirty="0"/>
              <a:t>существуют ограничения, которые указываются после типа столбца:</a:t>
            </a:r>
          </a:p>
          <a:p>
            <a:r>
              <a:rPr lang="ru-RU" sz="2400" dirty="0"/>
              <a:t>•	</a:t>
            </a:r>
            <a:r>
              <a:rPr lang="en-US" sz="2400" dirty="0"/>
              <a:t>PRIMARY KEY — </a:t>
            </a:r>
            <a:r>
              <a:rPr lang="ru-RU" sz="2400" dirty="0"/>
              <a:t>это ограничение задает уникальный идентификатор для каждой записи (строки). </a:t>
            </a:r>
            <a:r>
              <a:rPr lang="ru-RU" sz="2400" dirty="0" smtClean="0"/>
              <a:t>Столбцы с этим ограничением не могут содержать </a:t>
            </a:r>
            <a:r>
              <a:rPr lang="en-US" sz="2400" dirty="0" smtClean="0"/>
              <a:t>NULL </a:t>
            </a:r>
            <a:r>
              <a:rPr lang="ru-RU" sz="2400" dirty="0" smtClean="0"/>
              <a:t>и повторяющиеся значения:</a:t>
            </a:r>
          </a:p>
          <a:p>
            <a:r>
              <a:rPr lang="en-US" sz="2400" dirty="0" err="1" smtClean="0"/>
              <a:t>product_id</a:t>
            </a:r>
            <a:r>
              <a:rPr lang="en-US" sz="2400" dirty="0" smtClean="0"/>
              <a:t> INT PRIMARY KEY</a:t>
            </a:r>
          </a:p>
          <a:p>
            <a:r>
              <a:rPr lang="en-US" sz="2400" dirty="0" smtClean="0"/>
              <a:t>•</a:t>
            </a:r>
            <a:r>
              <a:rPr lang="en-US" sz="2400" dirty="0"/>
              <a:t>	FOREIGN KEY — </a:t>
            </a:r>
            <a:r>
              <a:rPr lang="ru-RU" sz="2400" dirty="0"/>
              <a:t>это ограничение, которое означает, что столбец (или несколько столбцов) в данной таблице ссылается на столбец с </a:t>
            </a:r>
            <a:r>
              <a:rPr lang="en-US" sz="2400" dirty="0"/>
              <a:t>PRIMARY KEY </a:t>
            </a:r>
            <a:r>
              <a:rPr lang="ru-RU" sz="2400" dirty="0"/>
              <a:t>в другой:</a:t>
            </a:r>
          </a:p>
          <a:p>
            <a:r>
              <a:rPr lang="en-US" sz="2400" dirty="0"/>
              <a:t>FOREIGN KEY (</a:t>
            </a:r>
            <a:r>
              <a:rPr lang="en-US" sz="2400" dirty="0" err="1"/>
              <a:t>product_id</a:t>
            </a:r>
            <a:r>
              <a:rPr lang="en-US" sz="2400" dirty="0"/>
              <a:t>) REFERENCES products(</a:t>
            </a:r>
            <a:r>
              <a:rPr lang="en-US" sz="2400" dirty="0" err="1"/>
              <a:t>product_id</a:t>
            </a:r>
            <a:r>
              <a:rPr lang="en-US" sz="2400" dirty="0"/>
              <a:t>)</a:t>
            </a:r>
          </a:p>
          <a:p>
            <a:r>
              <a:rPr lang="en-US" sz="2400" dirty="0" smtClean="0"/>
              <a:t>•</a:t>
            </a:r>
            <a:r>
              <a:rPr lang="en-US" sz="2400" dirty="0"/>
              <a:t>	UNIQUE — </a:t>
            </a:r>
            <a:r>
              <a:rPr lang="ru-RU" sz="2400" dirty="0"/>
              <a:t>значение столбца должно быть уникальным (если попробовать добавить уже существующее значение, то будет выдана ошибка):</a:t>
            </a:r>
          </a:p>
          <a:p>
            <a:r>
              <a:rPr lang="en-US" sz="2400" dirty="0" err="1"/>
              <a:t>product_name</a:t>
            </a:r>
            <a:r>
              <a:rPr lang="en-US" sz="2400" dirty="0"/>
              <a:t> VARCHAR(100) UNIQUE</a:t>
            </a:r>
          </a:p>
          <a:p>
            <a:r>
              <a:rPr lang="en-US" sz="2400" dirty="0" smtClean="0"/>
              <a:t>•</a:t>
            </a:r>
            <a:r>
              <a:rPr lang="en-US" sz="2400" dirty="0"/>
              <a:t>	NOT NULL — </a:t>
            </a:r>
            <a:r>
              <a:rPr lang="ru-RU" sz="2400" dirty="0"/>
              <a:t>значение столбца не может быть </a:t>
            </a:r>
            <a:r>
              <a:rPr lang="en-US" sz="2400" dirty="0"/>
              <a:t>NULL:</a:t>
            </a:r>
          </a:p>
          <a:p>
            <a:r>
              <a:rPr lang="en-US" sz="2400" dirty="0" err="1"/>
              <a:t>product_name</a:t>
            </a:r>
            <a:r>
              <a:rPr lang="en-US" sz="2400" dirty="0"/>
              <a:t> VARCHAR(100) NOT NULL</a:t>
            </a:r>
          </a:p>
          <a:p>
            <a:r>
              <a:rPr lang="en-US" sz="2400" dirty="0" smtClean="0"/>
              <a:t>•</a:t>
            </a:r>
            <a:r>
              <a:rPr lang="en-US" sz="2400" dirty="0"/>
              <a:t>	DEFAULT — </a:t>
            </a:r>
            <a:r>
              <a:rPr lang="ru-RU" sz="2400" dirty="0"/>
              <a:t>позволяет задать значение столбца по умолчанию:</a:t>
            </a:r>
          </a:p>
          <a:p>
            <a:r>
              <a:rPr lang="en-US" sz="2400" dirty="0" err="1"/>
              <a:t>product_name</a:t>
            </a:r>
            <a:r>
              <a:rPr lang="en-US" sz="2400" dirty="0"/>
              <a:t> VARCHAR(100) DEFAULT '</a:t>
            </a:r>
            <a:r>
              <a:rPr lang="ru-RU" sz="2400" dirty="0"/>
              <a:t>Наименование не указано'</a:t>
            </a:r>
          </a:p>
        </p:txBody>
      </p:sp>
    </p:spTree>
    <p:extLst>
      <p:ext uri="{BB962C8B-B14F-4D97-AF65-F5344CB8AC3E}">
        <p14:creationId xmlns:p14="http://schemas.microsoft.com/office/powerpoint/2010/main" val="75486932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455333" y="0"/>
            <a:ext cx="536129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/>
              <a:t>Управление данными в таблицах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0" y="461666"/>
            <a:ext cx="12192000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/>
              <a:t>•	Для того чтобы вставить новые данные, используется команда </a:t>
            </a:r>
            <a:r>
              <a:rPr lang="en-US" sz="2400" dirty="0"/>
              <a:t>INSERT INTO:</a:t>
            </a:r>
          </a:p>
          <a:p>
            <a:pPr algn="just"/>
            <a:r>
              <a:rPr lang="en-US" sz="2400" dirty="0"/>
              <a:t>INSERT INTO products (</a:t>
            </a:r>
            <a:r>
              <a:rPr lang="en-US" sz="2400" dirty="0" err="1"/>
              <a:t>product_id</a:t>
            </a:r>
            <a:r>
              <a:rPr lang="en-US" sz="2400" dirty="0"/>
              <a:t>, </a:t>
            </a:r>
            <a:r>
              <a:rPr lang="en-US" sz="2400" dirty="0" err="1"/>
              <a:t>product_name</a:t>
            </a:r>
            <a:r>
              <a:rPr lang="en-US" sz="2400" dirty="0"/>
              <a:t>, price) </a:t>
            </a:r>
          </a:p>
          <a:p>
            <a:pPr algn="just"/>
            <a:r>
              <a:rPr lang="en-US" sz="2400" dirty="0"/>
              <a:t>VALUES (1, '</a:t>
            </a:r>
            <a:r>
              <a:rPr lang="ru-RU" sz="2400" dirty="0"/>
              <a:t>Телефон', 30000.00</a:t>
            </a:r>
            <a:r>
              <a:rPr lang="ru-RU" sz="2400" dirty="0" smtClean="0"/>
              <a:t>);</a:t>
            </a:r>
          </a:p>
          <a:p>
            <a:pPr algn="just"/>
            <a:r>
              <a:rPr lang="ru-RU" sz="2400" dirty="0"/>
              <a:t>•	Чтобы изменить данные в строке, можно использовать команду </a:t>
            </a:r>
            <a:r>
              <a:rPr lang="en-US" sz="2400" dirty="0"/>
              <a:t>UPDATE:</a:t>
            </a:r>
          </a:p>
          <a:p>
            <a:pPr algn="just"/>
            <a:r>
              <a:rPr lang="en-US" sz="2400" dirty="0"/>
              <a:t>UPDATE products </a:t>
            </a:r>
          </a:p>
          <a:p>
            <a:pPr algn="just"/>
            <a:r>
              <a:rPr lang="en-US" sz="2400" dirty="0" smtClean="0"/>
              <a:t>SET </a:t>
            </a:r>
            <a:r>
              <a:rPr lang="en-US" sz="2400" dirty="0"/>
              <a:t>price = 18000.00, </a:t>
            </a:r>
            <a:r>
              <a:rPr lang="en-US" sz="2400" dirty="0" err="1"/>
              <a:t>product_id</a:t>
            </a:r>
            <a:r>
              <a:rPr lang="en-US" sz="2400" dirty="0"/>
              <a:t> = 2</a:t>
            </a:r>
          </a:p>
          <a:p>
            <a:pPr algn="just"/>
            <a:r>
              <a:rPr lang="en-US" sz="2400" dirty="0" smtClean="0"/>
              <a:t>WHERE </a:t>
            </a:r>
            <a:r>
              <a:rPr lang="en-US" sz="2400" dirty="0" err="1"/>
              <a:t>product_name</a:t>
            </a:r>
            <a:r>
              <a:rPr lang="en-US" sz="2400" dirty="0"/>
              <a:t> = '</a:t>
            </a:r>
            <a:r>
              <a:rPr lang="ru-RU" sz="2400" dirty="0"/>
              <a:t>Телефон'</a:t>
            </a:r>
          </a:p>
          <a:p>
            <a:pPr algn="just"/>
            <a:r>
              <a:rPr lang="ru-RU" sz="2400" dirty="0"/>
              <a:t>•	Для выбора столбцов используется команда </a:t>
            </a:r>
            <a:r>
              <a:rPr lang="en-US" sz="2400" dirty="0"/>
              <a:t>SELECT. </a:t>
            </a:r>
            <a:r>
              <a:rPr lang="ru-RU" sz="2400" dirty="0"/>
              <a:t>Так можно выбрать все столбцы таблицы </a:t>
            </a:r>
            <a:r>
              <a:rPr lang="en-US" sz="2400" dirty="0"/>
              <a:t>products:</a:t>
            </a:r>
          </a:p>
          <a:p>
            <a:pPr algn="just"/>
            <a:r>
              <a:rPr lang="en-US" sz="2400" dirty="0"/>
              <a:t>SELECT * FROM products;</a:t>
            </a:r>
          </a:p>
          <a:p>
            <a:pPr algn="just"/>
            <a:r>
              <a:rPr lang="ru-RU" sz="2400" dirty="0" smtClean="0"/>
              <a:t>Для </a:t>
            </a:r>
            <a:r>
              <a:rPr lang="ru-RU" sz="2400" dirty="0"/>
              <a:t>выбора конкретных столбцов нужно просто перечислить их имена:</a:t>
            </a:r>
          </a:p>
          <a:p>
            <a:pPr algn="just"/>
            <a:r>
              <a:rPr lang="en-US" sz="2400" dirty="0"/>
              <a:t>SELECT </a:t>
            </a:r>
            <a:r>
              <a:rPr lang="en-US" sz="2400" dirty="0" err="1"/>
              <a:t>product_name</a:t>
            </a:r>
            <a:r>
              <a:rPr lang="en-US" sz="2400" dirty="0"/>
              <a:t>, price FROM products;</a:t>
            </a:r>
          </a:p>
          <a:p>
            <a:pPr algn="just"/>
            <a:r>
              <a:rPr lang="ru-RU" sz="2400" dirty="0"/>
              <a:t>В комбинации с SELECT также можно использовать WHERE для фильтрации данных:</a:t>
            </a:r>
          </a:p>
          <a:p>
            <a:pPr algn="just"/>
            <a:r>
              <a:rPr lang="ru-RU" sz="2400" dirty="0"/>
              <a:t>SELECT * FROM </a:t>
            </a:r>
            <a:r>
              <a:rPr lang="ru-RU" sz="2400" dirty="0" err="1"/>
              <a:t>products</a:t>
            </a:r>
            <a:r>
              <a:rPr lang="ru-RU" sz="2400" dirty="0"/>
              <a:t> </a:t>
            </a:r>
          </a:p>
          <a:p>
            <a:pPr algn="just"/>
            <a:r>
              <a:rPr lang="ru-RU" sz="2400" dirty="0" smtClean="0"/>
              <a:t>WHERE </a:t>
            </a:r>
            <a:r>
              <a:rPr lang="ru-RU" sz="2400" dirty="0" err="1"/>
              <a:t>price</a:t>
            </a:r>
            <a:r>
              <a:rPr lang="ru-RU" sz="2400" dirty="0"/>
              <a:t> &gt; 15000.00;</a:t>
            </a:r>
          </a:p>
          <a:p>
            <a:pPr algn="just"/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426737248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208214" y="1700213"/>
            <a:ext cx="1811337" cy="533400"/>
          </a:xfrm>
        </p:spPr>
        <p:txBody>
          <a:bodyPr/>
          <a:lstStyle/>
          <a:p>
            <a:pPr>
              <a:buFontTx/>
              <a:buNone/>
            </a:pPr>
            <a:r>
              <a:rPr lang="ru-RU">
                <a:solidFill>
                  <a:srgbClr val="C0C0C0"/>
                </a:solidFill>
              </a:rPr>
              <a:t>Спасибо</a:t>
            </a:r>
          </a:p>
        </p:txBody>
      </p:sp>
      <p:sp>
        <p:nvSpPr>
          <p:cNvPr id="36866" name="Rectangle 3"/>
          <p:cNvSpPr>
            <a:spLocks noChangeArrowheads="1"/>
          </p:cNvSpPr>
          <p:nvPr/>
        </p:nvSpPr>
        <p:spPr bwMode="auto">
          <a:xfrm rot="-1966961">
            <a:off x="4249739" y="1474788"/>
            <a:ext cx="2376487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3200">
                <a:solidFill>
                  <a:srgbClr val="C0C0C0"/>
                </a:solidFill>
              </a:rPr>
              <a:t>thank you</a:t>
            </a:r>
          </a:p>
        </p:txBody>
      </p:sp>
      <p:sp>
        <p:nvSpPr>
          <p:cNvPr id="36867" name="Rectangle 4"/>
          <p:cNvSpPr>
            <a:spLocks noChangeArrowheads="1"/>
          </p:cNvSpPr>
          <p:nvPr/>
        </p:nvSpPr>
        <p:spPr bwMode="auto">
          <a:xfrm rot="1339931">
            <a:off x="3287714" y="3429000"/>
            <a:ext cx="1811337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2800">
                <a:solidFill>
                  <a:srgbClr val="C0C0C0"/>
                </a:solidFill>
              </a:rPr>
              <a:t>Спасибо</a:t>
            </a:r>
          </a:p>
        </p:txBody>
      </p:sp>
      <p:sp>
        <p:nvSpPr>
          <p:cNvPr id="36868" name="Rectangle 5"/>
          <p:cNvSpPr>
            <a:spLocks noChangeArrowheads="1"/>
          </p:cNvSpPr>
          <p:nvPr/>
        </p:nvSpPr>
        <p:spPr bwMode="auto">
          <a:xfrm rot="932178">
            <a:off x="5016500" y="2347913"/>
            <a:ext cx="1811338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2800">
                <a:solidFill>
                  <a:srgbClr val="C0C0C0"/>
                </a:solidFill>
              </a:rPr>
              <a:t>Спасибо</a:t>
            </a:r>
          </a:p>
        </p:txBody>
      </p:sp>
      <p:sp>
        <p:nvSpPr>
          <p:cNvPr id="36869" name="Rectangle 6"/>
          <p:cNvSpPr>
            <a:spLocks noChangeArrowheads="1"/>
          </p:cNvSpPr>
          <p:nvPr/>
        </p:nvSpPr>
        <p:spPr bwMode="auto">
          <a:xfrm>
            <a:off x="6024564" y="3068638"/>
            <a:ext cx="1811337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2800">
                <a:solidFill>
                  <a:srgbClr val="C0C0C0"/>
                </a:solidFill>
              </a:rPr>
              <a:t>Спасибо</a:t>
            </a:r>
          </a:p>
        </p:txBody>
      </p:sp>
      <p:sp>
        <p:nvSpPr>
          <p:cNvPr id="36870" name="Rectangle 7"/>
          <p:cNvSpPr>
            <a:spLocks noChangeArrowheads="1"/>
          </p:cNvSpPr>
          <p:nvPr/>
        </p:nvSpPr>
        <p:spPr bwMode="auto">
          <a:xfrm rot="-634205">
            <a:off x="2063751" y="2060575"/>
            <a:ext cx="2879725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3200">
                <a:solidFill>
                  <a:srgbClr val="C0C0C0"/>
                </a:solidFill>
              </a:rPr>
              <a:t>thank you</a:t>
            </a:r>
          </a:p>
        </p:txBody>
      </p:sp>
      <p:sp>
        <p:nvSpPr>
          <p:cNvPr id="36871" name="Rectangle 8"/>
          <p:cNvSpPr>
            <a:spLocks noChangeArrowheads="1"/>
          </p:cNvSpPr>
          <p:nvPr/>
        </p:nvSpPr>
        <p:spPr bwMode="auto">
          <a:xfrm>
            <a:off x="6743700" y="1484313"/>
            <a:ext cx="1811338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3200">
                <a:solidFill>
                  <a:srgbClr val="C0C0C0"/>
                </a:solidFill>
              </a:rPr>
              <a:t>gracias</a:t>
            </a:r>
          </a:p>
        </p:txBody>
      </p:sp>
      <p:sp>
        <p:nvSpPr>
          <p:cNvPr id="36872" name="Rectangle 9"/>
          <p:cNvSpPr>
            <a:spLocks noChangeArrowheads="1"/>
          </p:cNvSpPr>
          <p:nvPr/>
        </p:nvSpPr>
        <p:spPr bwMode="auto">
          <a:xfrm rot="-2708425">
            <a:off x="1353344" y="1331119"/>
            <a:ext cx="1811338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2800">
                <a:solidFill>
                  <a:srgbClr val="C0C0C0"/>
                </a:solidFill>
              </a:rPr>
              <a:t>Спасибо</a:t>
            </a:r>
          </a:p>
        </p:txBody>
      </p:sp>
      <p:sp>
        <p:nvSpPr>
          <p:cNvPr id="36873" name="Rectangle 10"/>
          <p:cNvSpPr>
            <a:spLocks noChangeArrowheads="1"/>
          </p:cNvSpPr>
          <p:nvPr/>
        </p:nvSpPr>
        <p:spPr bwMode="auto">
          <a:xfrm rot="-1124404">
            <a:off x="7175500" y="4437063"/>
            <a:ext cx="1811338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2800">
                <a:solidFill>
                  <a:srgbClr val="C0C0C0"/>
                </a:solidFill>
              </a:rPr>
              <a:t>Спасибо</a:t>
            </a:r>
          </a:p>
        </p:txBody>
      </p:sp>
      <p:sp>
        <p:nvSpPr>
          <p:cNvPr id="36874" name="Rectangle 11"/>
          <p:cNvSpPr>
            <a:spLocks noChangeArrowheads="1"/>
          </p:cNvSpPr>
          <p:nvPr/>
        </p:nvSpPr>
        <p:spPr bwMode="auto">
          <a:xfrm>
            <a:off x="2486025" y="3465513"/>
            <a:ext cx="1811338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3200">
                <a:solidFill>
                  <a:srgbClr val="C0C0C0"/>
                </a:solidFill>
              </a:rPr>
              <a:t>merci</a:t>
            </a:r>
          </a:p>
        </p:txBody>
      </p:sp>
      <p:sp>
        <p:nvSpPr>
          <p:cNvPr id="36875" name="Rectangle 12"/>
          <p:cNvSpPr>
            <a:spLocks noChangeArrowheads="1"/>
          </p:cNvSpPr>
          <p:nvPr/>
        </p:nvSpPr>
        <p:spPr bwMode="auto">
          <a:xfrm rot="-1966961">
            <a:off x="3000375" y="620713"/>
            <a:ext cx="1811338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3200">
                <a:solidFill>
                  <a:srgbClr val="C0C0C0"/>
                </a:solidFill>
              </a:rPr>
              <a:t>danke</a:t>
            </a:r>
          </a:p>
        </p:txBody>
      </p:sp>
      <p:sp>
        <p:nvSpPr>
          <p:cNvPr id="36876" name="Rectangle 13"/>
          <p:cNvSpPr>
            <a:spLocks noChangeArrowheads="1"/>
          </p:cNvSpPr>
          <p:nvPr/>
        </p:nvSpPr>
        <p:spPr bwMode="auto">
          <a:xfrm rot="1339931">
            <a:off x="3071814" y="5078413"/>
            <a:ext cx="1811337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2800">
                <a:solidFill>
                  <a:srgbClr val="C0C0C0"/>
                </a:solidFill>
              </a:rPr>
              <a:t>Спасибо</a:t>
            </a:r>
          </a:p>
        </p:txBody>
      </p:sp>
      <p:sp>
        <p:nvSpPr>
          <p:cNvPr id="36877" name="Rectangle 14"/>
          <p:cNvSpPr>
            <a:spLocks noChangeArrowheads="1"/>
          </p:cNvSpPr>
          <p:nvPr/>
        </p:nvSpPr>
        <p:spPr bwMode="auto">
          <a:xfrm rot="932178">
            <a:off x="5521325" y="4357688"/>
            <a:ext cx="1811338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3200">
                <a:solidFill>
                  <a:srgbClr val="C0C0C0"/>
                </a:solidFill>
              </a:rPr>
              <a:t>gracias</a:t>
            </a:r>
          </a:p>
        </p:txBody>
      </p:sp>
      <p:sp>
        <p:nvSpPr>
          <p:cNvPr id="36878" name="Rectangle 15"/>
          <p:cNvSpPr>
            <a:spLocks noChangeArrowheads="1"/>
          </p:cNvSpPr>
          <p:nvPr/>
        </p:nvSpPr>
        <p:spPr bwMode="auto">
          <a:xfrm>
            <a:off x="6529389" y="5078413"/>
            <a:ext cx="1811337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3200">
                <a:solidFill>
                  <a:srgbClr val="C0C0C0"/>
                </a:solidFill>
              </a:rPr>
              <a:t>danke</a:t>
            </a:r>
          </a:p>
        </p:txBody>
      </p:sp>
      <p:sp>
        <p:nvSpPr>
          <p:cNvPr id="36879" name="Rectangle 16"/>
          <p:cNvSpPr>
            <a:spLocks noChangeArrowheads="1"/>
          </p:cNvSpPr>
          <p:nvPr/>
        </p:nvSpPr>
        <p:spPr bwMode="auto">
          <a:xfrm rot="-634205">
            <a:off x="3144839" y="4141788"/>
            <a:ext cx="1811337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2800">
                <a:solidFill>
                  <a:srgbClr val="C0C0C0"/>
                </a:solidFill>
              </a:rPr>
              <a:t>Спасибо</a:t>
            </a:r>
          </a:p>
        </p:txBody>
      </p:sp>
      <p:sp>
        <p:nvSpPr>
          <p:cNvPr id="36880" name="Rectangle 17"/>
          <p:cNvSpPr>
            <a:spLocks noChangeArrowheads="1"/>
          </p:cNvSpPr>
          <p:nvPr/>
        </p:nvSpPr>
        <p:spPr bwMode="auto">
          <a:xfrm rot="932178">
            <a:off x="7608889" y="3571875"/>
            <a:ext cx="1811337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2800">
                <a:solidFill>
                  <a:srgbClr val="C0C0C0"/>
                </a:solidFill>
              </a:rPr>
              <a:t>Спасибо</a:t>
            </a:r>
          </a:p>
        </p:txBody>
      </p:sp>
      <p:sp>
        <p:nvSpPr>
          <p:cNvPr id="36881" name="Rectangle 18"/>
          <p:cNvSpPr>
            <a:spLocks noChangeArrowheads="1"/>
          </p:cNvSpPr>
          <p:nvPr/>
        </p:nvSpPr>
        <p:spPr bwMode="auto">
          <a:xfrm rot="-2708425">
            <a:off x="4945857" y="4933157"/>
            <a:ext cx="1811337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2800">
                <a:solidFill>
                  <a:srgbClr val="C0C0C0"/>
                </a:solidFill>
              </a:rPr>
              <a:t>Спасибо</a:t>
            </a:r>
          </a:p>
        </p:txBody>
      </p:sp>
      <p:sp>
        <p:nvSpPr>
          <p:cNvPr id="36882" name="Rectangle 19"/>
          <p:cNvSpPr>
            <a:spLocks noChangeArrowheads="1"/>
          </p:cNvSpPr>
          <p:nvPr/>
        </p:nvSpPr>
        <p:spPr bwMode="auto">
          <a:xfrm rot="-2055057">
            <a:off x="8616950" y="5589588"/>
            <a:ext cx="1811338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2800">
                <a:solidFill>
                  <a:srgbClr val="C0C0C0"/>
                </a:solidFill>
              </a:rPr>
              <a:t>Спасибо</a:t>
            </a:r>
          </a:p>
        </p:txBody>
      </p:sp>
      <p:sp>
        <p:nvSpPr>
          <p:cNvPr id="36883" name="Rectangle 20"/>
          <p:cNvSpPr>
            <a:spLocks noChangeArrowheads="1"/>
          </p:cNvSpPr>
          <p:nvPr/>
        </p:nvSpPr>
        <p:spPr bwMode="auto">
          <a:xfrm rot="-1966961">
            <a:off x="8856664" y="2132013"/>
            <a:ext cx="1811337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3200">
                <a:solidFill>
                  <a:srgbClr val="C0C0C0"/>
                </a:solidFill>
              </a:rPr>
              <a:t>gracias</a:t>
            </a:r>
          </a:p>
        </p:txBody>
      </p:sp>
      <p:sp>
        <p:nvSpPr>
          <p:cNvPr id="36884" name="Rectangle 21"/>
          <p:cNvSpPr>
            <a:spLocks noChangeArrowheads="1"/>
          </p:cNvSpPr>
          <p:nvPr/>
        </p:nvSpPr>
        <p:spPr bwMode="auto">
          <a:xfrm rot="932178">
            <a:off x="7535864" y="2276475"/>
            <a:ext cx="1811337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2800">
                <a:solidFill>
                  <a:srgbClr val="C0C0C0"/>
                </a:solidFill>
              </a:rPr>
              <a:t>Спасибо</a:t>
            </a:r>
          </a:p>
        </p:txBody>
      </p:sp>
      <p:sp>
        <p:nvSpPr>
          <p:cNvPr id="36885" name="Rectangle 22"/>
          <p:cNvSpPr>
            <a:spLocks noChangeArrowheads="1"/>
          </p:cNvSpPr>
          <p:nvPr/>
        </p:nvSpPr>
        <p:spPr bwMode="auto">
          <a:xfrm>
            <a:off x="8543925" y="2997200"/>
            <a:ext cx="1811338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2800">
                <a:solidFill>
                  <a:srgbClr val="C0C0C0"/>
                </a:solidFill>
              </a:rPr>
              <a:t>Спасибо</a:t>
            </a:r>
          </a:p>
        </p:txBody>
      </p:sp>
      <p:sp>
        <p:nvSpPr>
          <p:cNvPr id="36886" name="Rectangle 23"/>
          <p:cNvSpPr>
            <a:spLocks noChangeArrowheads="1"/>
          </p:cNvSpPr>
          <p:nvPr/>
        </p:nvSpPr>
        <p:spPr bwMode="auto">
          <a:xfrm rot="550398">
            <a:off x="5664200" y="1916113"/>
            <a:ext cx="1811338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3200">
                <a:solidFill>
                  <a:srgbClr val="C0C0C0"/>
                </a:solidFill>
              </a:rPr>
              <a:t>thanks</a:t>
            </a:r>
          </a:p>
        </p:txBody>
      </p:sp>
      <p:sp>
        <p:nvSpPr>
          <p:cNvPr id="36887" name="Rectangle 24"/>
          <p:cNvSpPr>
            <a:spLocks noChangeArrowheads="1"/>
          </p:cNvSpPr>
          <p:nvPr/>
        </p:nvSpPr>
        <p:spPr bwMode="auto">
          <a:xfrm>
            <a:off x="5005389" y="3394075"/>
            <a:ext cx="1811337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3200">
                <a:solidFill>
                  <a:srgbClr val="C0C0C0"/>
                </a:solidFill>
              </a:rPr>
              <a:t>danke</a:t>
            </a:r>
          </a:p>
        </p:txBody>
      </p:sp>
      <p:sp>
        <p:nvSpPr>
          <p:cNvPr id="36888" name="Rectangle 25"/>
          <p:cNvSpPr>
            <a:spLocks noChangeArrowheads="1"/>
          </p:cNvSpPr>
          <p:nvPr/>
        </p:nvSpPr>
        <p:spPr bwMode="auto">
          <a:xfrm rot="1339931">
            <a:off x="4151314" y="4724400"/>
            <a:ext cx="1811337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3200">
                <a:solidFill>
                  <a:srgbClr val="C0C0C0"/>
                </a:solidFill>
              </a:rPr>
              <a:t>grazie</a:t>
            </a:r>
          </a:p>
        </p:txBody>
      </p:sp>
      <p:sp>
        <p:nvSpPr>
          <p:cNvPr id="36889" name="Rectangle 26"/>
          <p:cNvSpPr>
            <a:spLocks noChangeArrowheads="1"/>
          </p:cNvSpPr>
          <p:nvPr/>
        </p:nvSpPr>
        <p:spPr bwMode="auto">
          <a:xfrm rot="-1966961">
            <a:off x="3333750" y="2349500"/>
            <a:ext cx="1811338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3200">
                <a:solidFill>
                  <a:srgbClr val="C0C0C0"/>
                </a:solidFill>
              </a:rPr>
              <a:t>merci</a:t>
            </a:r>
          </a:p>
        </p:txBody>
      </p:sp>
      <p:sp>
        <p:nvSpPr>
          <p:cNvPr id="36890" name="Rectangle 27"/>
          <p:cNvSpPr>
            <a:spLocks noChangeArrowheads="1"/>
          </p:cNvSpPr>
          <p:nvPr/>
        </p:nvSpPr>
        <p:spPr bwMode="auto">
          <a:xfrm rot="932178">
            <a:off x="6240464" y="3716338"/>
            <a:ext cx="1811337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2800">
                <a:solidFill>
                  <a:srgbClr val="C0C0C0"/>
                </a:solidFill>
              </a:rPr>
              <a:t>Спасибо</a:t>
            </a:r>
          </a:p>
        </p:txBody>
      </p:sp>
      <p:sp>
        <p:nvSpPr>
          <p:cNvPr id="36891" name="Rectangle 28"/>
          <p:cNvSpPr>
            <a:spLocks noChangeArrowheads="1"/>
          </p:cNvSpPr>
          <p:nvPr/>
        </p:nvSpPr>
        <p:spPr bwMode="auto">
          <a:xfrm>
            <a:off x="6888164" y="2563813"/>
            <a:ext cx="1811337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3200">
                <a:solidFill>
                  <a:srgbClr val="C0C0C0"/>
                </a:solidFill>
              </a:rPr>
              <a:t>grazie</a:t>
            </a:r>
          </a:p>
        </p:txBody>
      </p:sp>
      <p:sp>
        <p:nvSpPr>
          <p:cNvPr id="36892" name="Rectangle 29"/>
          <p:cNvSpPr>
            <a:spLocks noChangeArrowheads="1"/>
          </p:cNvSpPr>
          <p:nvPr/>
        </p:nvSpPr>
        <p:spPr bwMode="auto">
          <a:xfrm rot="-634205">
            <a:off x="1524000" y="2708275"/>
            <a:ext cx="1811338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3200">
                <a:solidFill>
                  <a:srgbClr val="C0C0C0"/>
                </a:solidFill>
              </a:rPr>
              <a:t>grazie</a:t>
            </a:r>
          </a:p>
        </p:txBody>
      </p:sp>
      <p:sp>
        <p:nvSpPr>
          <p:cNvPr id="36893" name="Rectangle 30"/>
          <p:cNvSpPr>
            <a:spLocks noChangeArrowheads="1"/>
          </p:cNvSpPr>
          <p:nvPr/>
        </p:nvSpPr>
        <p:spPr bwMode="auto">
          <a:xfrm>
            <a:off x="1524000" y="4076700"/>
            <a:ext cx="1811338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3200">
                <a:solidFill>
                  <a:srgbClr val="C0C0C0"/>
                </a:solidFill>
              </a:rPr>
              <a:t>thank you</a:t>
            </a:r>
          </a:p>
        </p:txBody>
      </p:sp>
      <p:sp>
        <p:nvSpPr>
          <p:cNvPr id="36894" name="Rectangle 31"/>
          <p:cNvSpPr>
            <a:spLocks noChangeArrowheads="1"/>
          </p:cNvSpPr>
          <p:nvPr/>
        </p:nvSpPr>
        <p:spPr bwMode="auto">
          <a:xfrm rot="1339931">
            <a:off x="1524000" y="5948363"/>
            <a:ext cx="1811338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2800">
                <a:solidFill>
                  <a:srgbClr val="C0C0C0"/>
                </a:solidFill>
              </a:rPr>
              <a:t>Спасибо</a:t>
            </a:r>
          </a:p>
        </p:txBody>
      </p:sp>
      <p:sp>
        <p:nvSpPr>
          <p:cNvPr id="36895" name="Rectangle 32"/>
          <p:cNvSpPr>
            <a:spLocks noChangeArrowheads="1"/>
          </p:cNvSpPr>
          <p:nvPr/>
        </p:nvSpPr>
        <p:spPr bwMode="auto">
          <a:xfrm>
            <a:off x="2351089" y="5516563"/>
            <a:ext cx="1811337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en-US" sz="3200">
                <a:solidFill>
                  <a:srgbClr val="C0C0C0"/>
                </a:solidFill>
              </a:rPr>
              <a:t>thanks</a:t>
            </a:r>
            <a:endParaRPr lang="ru-RU" sz="3200">
              <a:solidFill>
                <a:srgbClr val="C0C0C0"/>
              </a:solidFill>
            </a:endParaRPr>
          </a:p>
        </p:txBody>
      </p:sp>
      <p:sp>
        <p:nvSpPr>
          <p:cNvPr id="36896" name="Rectangle 33"/>
          <p:cNvSpPr>
            <a:spLocks noChangeArrowheads="1"/>
          </p:cNvSpPr>
          <p:nvPr/>
        </p:nvSpPr>
        <p:spPr bwMode="auto">
          <a:xfrm>
            <a:off x="6743700" y="6021388"/>
            <a:ext cx="1811338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2800">
                <a:solidFill>
                  <a:srgbClr val="C0C0C0"/>
                </a:solidFill>
              </a:rPr>
              <a:t>Спасибо</a:t>
            </a:r>
          </a:p>
        </p:txBody>
      </p:sp>
      <p:sp>
        <p:nvSpPr>
          <p:cNvPr id="36897" name="Rectangle 34"/>
          <p:cNvSpPr>
            <a:spLocks noChangeArrowheads="1"/>
          </p:cNvSpPr>
          <p:nvPr/>
        </p:nvSpPr>
        <p:spPr bwMode="auto">
          <a:xfrm rot="932178">
            <a:off x="7896225" y="5156200"/>
            <a:ext cx="1811338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3200">
                <a:solidFill>
                  <a:srgbClr val="C0C0C0"/>
                </a:solidFill>
              </a:rPr>
              <a:t>merci</a:t>
            </a:r>
          </a:p>
        </p:txBody>
      </p:sp>
      <p:sp>
        <p:nvSpPr>
          <p:cNvPr id="36898" name="Rectangle 35"/>
          <p:cNvSpPr>
            <a:spLocks noChangeArrowheads="1"/>
          </p:cNvSpPr>
          <p:nvPr/>
        </p:nvSpPr>
        <p:spPr bwMode="auto">
          <a:xfrm rot="-634205">
            <a:off x="4943476" y="5589588"/>
            <a:ext cx="2447925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3200">
                <a:solidFill>
                  <a:srgbClr val="C0C0C0"/>
                </a:solidFill>
              </a:rPr>
              <a:t>thank you</a:t>
            </a:r>
          </a:p>
        </p:txBody>
      </p:sp>
      <p:sp>
        <p:nvSpPr>
          <p:cNvPr id="36899" name="Rectangle 36"/>
          <p:cNvSpPr>
            <a:spLocks noChangeArrowheads="1"/>
          </p:cNvSpPr>
          <p:nvPr/>
        </p:nvSpPr>
        <p:spPr bwMode="auto">
          <a:xfrm rot="-1966961">
            <a:off x="3478214" y="5805488"/>
            <a:ext cx="1811337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3200">
                <a:solidFill>
                  <a:srgbClr val="C0C0C0"/>
                </a:solidFill>
              </a:rPr>
              <a:t>merci</a:t>
            </a:r>
          </a:p>
        </p:txBody>
      </p:sp>
      <p:sp>
        <p:nvSpPr>
          <p:cNvPr id="36900" name="Rectangle 37"/>
          <p:cNvSpPr>
            <a:spLocks noGrp="1" noChangeArrowheads="1"/>
          </p:cNvSpPr>
          <p:nvPr>
            <p:ph type="title"/>
          </p:nvPr>
        </p:nvSpPr>
        <p:spPr>
          <a:xfrm>
            <a:off x="2063750" y="2492376"/>
            <a:ext cx="8229600" cy="1439863"/>
          </a:xfrm>
        </p:spPr>
        <p:txBody>
          <a:bodyPr/>
          <a:lstStyle/>
          <a:p>
            <a:r>
              <a:rPr lang="ru-RU" sz="4800" b="1">
                <a:solidFill>
                  <a:srgbClr val="000099"/>
                </a:solidFill>
              </a:rPr>
              <a:t>Спасибо за внимание!</a:t>
            </a:r>
          </a:p>
        </p:txBody>
      </p:sp>
      <p:sp>
        <p:nvSpPr>
          <p:cNvPr id="36901" name="Rectangle 38"/>
          <p:cNvSpPr>
            <a:spLocks noChangeArrowheads="1"/>
          </p:cNvSpPr>
          <p:nvPr/>
        </p:nvSpPr>
        <p:spPr bwMode="auto">
          <a:xfrm>
            <a:off x="1847850" y="260350"/>
            <a:ext cx="1811338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2800">
                <a:solidFill>
                  <a:srgbClr val="C0C0C0"/>
                </a:solidFill>
              </a:rPr>
              <a:t>Спасибо</a:t>
            </a:r>
          </a:p>
        </p:txBody>
      </p:sp>
      <p:sp>
        <p:nvSpPr>
          <p:cNvPr id="36902" name="Rectangle 39"/>
          <p:cNvSpPr>
            <a:spLocks noChangeArrowheads="1"/>
          </p:cNvSpPr>
          <p:nvPr/>
        </p:nvSpPr>
        <p:spPr bwMode="auto">
          <a:xfrm rot="-1966961">
            <a:off x="6743700" y="260350"/>
            <a:ext cx="1811338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3200">
                <a:solidFill>
                  <a:srgbClr val="C0C0C0"/>
                </a:solidFill>
              </a:rPr>
              <a:t>merci</a:t>
            </a:r>
          </a:p>
        </p:txBody>
      </p:sp>
      <p:sp>
        <p:nvSpPr>
          <p:cNvPr id="36903" name="Rectangle 40"/>
          <p:cNvSpPr>
            <a:spLocks noChangeArrowheads="1"/>
          </p:cNvSpPr>
          <p:nvPr/>
        </p:nvSpPr>
        <p:spPr bwMode="auto">
          <a:xfrm rot="932178">
            <a:off x="8543925" y="260350"/>
            <a:ext cx="1811338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2800">
                <a:solidFill>
                  <a:srgbClr val="C0C0C0"/>
                </a:solidFill>
              </a:rPr>
              <a:t>Спасибо</a:t>
            </a:r>
          </a:p>
        </p:txBody>
      </p:sp>
      <p:sp>
        <p:nvSpPr>
          <p:cNvPr id="36904" name="Rectangle 41"/>
          <p:cNvSpPr>
            <a:spLocks noChangeArrowheads="1"/>
          </p:cNvSpPr>
          <p:nvPr/>
        </p:nvSpPr>
        <p:spPr bwMode="auto">
          <a:xfrm rot="-634205">
            <a:off x="5303839" y="836613"/>
            <a:ext cx="1811337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3200">
                <a:solidFill>
                  <a:srgbClr val="C0C0C0"/>
                </a:solidFill>
              </a:rPr>
              <a:t>grazie</a:t>
            </a:r>
          </a:p>
        </p:txBody>
      </p:sp>
      <p:sp>
        <p:nvSpPr>
          <p:cNvPr id="36905" name="Rectangle 42"/>
          <p:cNvSpPr>
            <a:spLocks noChangeArrowheads="1"/>
          </p:cNvSpPr>
          <p:nvPr/>
        </p:nvSpPr>
        <p:spPr bwMode="auto">
          <a:xfrm rot="-1966961">
            <a:off x="3719514" y="1123950"/>
            <a:ext cx="1811337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3200">
                <a:solidFill>
                  <a:srgbClr val="C0C0C0"/>
                </a:solidFill>
              </a:rPr>
              <a:t>gracias</a:t>
            </a:r>
          </a:p>
        </p:txBody>
      </p:sp>
      <p:sp>
        <p:nvSpPr>
          <p:cNvPr id="36906" name="Rectangle 43"/>
          <p:cNvSpPr>
            <a:spLocks noChangeArrowheads="1"/>
          </p:cNvSpPr>
          <p:nvPr/>
        </p:nvSpPr>
        <p:spPr bwMode="auto">
          <a:xfrm rot="1073047">
            <a:off x="7535864" y="1052513"/>
            <a:ext cx="1811337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3200">
                <a:solidFill>
                  <a:srgbClr val="C0C0C0"/>
                </a:solidFill>
              </a:rPr>
              <a:t>grazie</a:t>
            </a:r>
          </a:p>
        </p:txBody>
      </p:sp>
      <p:sp>
        <p:nvSpPr>
          <p:cNvPr id="36907" name="Rectangle 44"/>
          <p:cNvSpPr>
            <a:spLocks noChangeArrowheads="1"/>
          </p:cNvSpPr>
          <p:nvPr/>
        </p:nvSpPr>
        <p:spPr bwMode="auto">
          <a:xfrm rot="-1124404">
            <a:off x="8856664" y="4292600"/>
            <a:ext cx="1811337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3200">
                <a:solidFill>
                  <a:srgbClr val="C0C0C0"/>
                </a:solidFill>
              </a:rPr>
              <a:t>danke</a:t>
            </a:r>
          </a:p>
        </p:txBody>
      </p:sp>
      <p:sp>
        <p:nvSpPr>
          <p:cNvPr id="36908" name="Rectangle 45"/>
          <p:cNvSpPr>
            <a:spLocks noChangeArrowheads="1"/>
          </p:cNvSpPr>
          <p:nvPr/>
        </p:nvSpPr>
        <p:spPr bwMode="auto">
          <a:xfrm rot="-1966961">
            <a:off x="8129589" y="1374775"/>
            <a:ext cx="2484437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3200">
                <a:solidFill>
                  <a:srgbClr val="C0C0C0"/>
                </a:solidFill>
              </a:rPr>
              <a:t>thank you</a:t>
            </a:r>
          </a:p>
        </p:txBody>
      </p:sp>
      <p:sp>
        <p:nvSpPr>
          <p:cNvPr id="36909" name="Rectangle 46"/>
          <p:cNvSpPr>
            <a:spLocks noChangeArrowheads="1"/>
          </p:cNvSpPr>
          <p:nvPr/>
        </p:nvSpPr>
        <p:spPr bwMode="auto">
          <a:xfrm rot="-634205">
            <a:off x="4800600" y="188913"/>
            <a:ext cx="1811338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2800">
                <a:solidFill>
                  <a:srgbClr val="C0C0C0"/>
                </a:solidFill>
              </a:rPr>
              <a:t>Спасибо</a:t>
            </a:r>
          </a:p>
        </p:txBody>
      </p:sp>
      <p:sp>
        <p:nvSpPr>
          <p:cNvPr id="36910" name="Rectangle 47"/>
          <p:cNvSpPr>
            <a:spLocks noChangeArrowheads="1"/>
          </p:cNvSpPr>
          <p:nvPr/>
        </p:nvSpPr>
        <p:spPr bwMode="auto">
          <a:xfrm rot="932178">
            <a:off x="8975725" y="3571875"/>
            <a:ext cx="1811338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3200">
                <a:solidFill>
                  <a:srgbClr val="C0C0C0"/>
                </a:solidFill>
              </a:rPr>
              <a:t>merci</a:t>
            </a:r>
          </a:p>
        </p:txBody>
      </p:sp>
    </p:spTree>
    <p:extLst>
      <p:ext uri="{BB962C8B-B14F-4D97-AF65-F5344CB8AC3E}">
        <p14:creationId xmlns:p14="http://schemas.microsoft.com/office/powerpoint/2010/main" val="337812762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1608</TotalTime>
  <Words>653</Words>
  <Application>Microsoft Office PowerPoint</Application>
  <PresentationFormat>Широкоэкранный</PresentationFormat>
  <Paragraphs>206</Paragraphs>
  <Slides>27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27</vt:i4>
      </vt:variant>
    </vt:vector>
  </HeadingPairs>
  <TitlesOfParts>
    <vt:vector size="32" baseType="lpstr">
      <vt:lpstr>Arial</vt:lpstr>
      <vt:lpstr>Calibri</vt:lpstr>
      <vt:lpstr>Calibri Light</vt:lpstr>
      <vt:lpstr>Tahoma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Спасибо за внимание!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26. Информационно-вычислительные и ситуационные центры в государственном и региональном управлении.</dc:title>
  <dc:creator>Андрей Руфеев</dc:creator>
  <cp:lastModifiedBy>cluser</cp:lastModifiedBy>
  <cp:revision>149</cp:revision>
  <dcterms:created xsi:type="dcterms:W3CDTF">2021-10-24T19:59:40Z</dcterms:created>
  <dcterms:modified xsi:type="dcterms:W3CDTF">2025-09-26T13:35:43Z</dcterms:modified>
</cp:coreProperties>
</file>