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6">
  <p:sldMasterIdLst>
    <p:sldMasterId id="2147483648" r:id="rId1"/>
  </p:sldMasterIdLst>
  <p:notesMasterIdLst>
    <p:notesMasterId r:id="rId28"/>
  </p:notesMasterIdLst>
  <p:sldIdLst>
    <p:sldId id="319" r:id="rId2"/>
    <p:sldId id="257" r:id="rId3"/>
    <p:sldId id="627" r:id="rId4"/>
    <p:sldId id="696" r:id="rId5"/>
    <p:sldId id="480" r:id="rId6"/>
    <p:sldId id="628" r:id="rId7"/>
    <p:sldId id="699" r:id="rId8"/>
    <p:sldId id="698" r:id="rId9"/>
    <p:sldId id="697" r:id="rId10"/>
    <p:sldId id="701" r:id="rId11"/>
    <p:sldId id="483" r:id="rId12"/>
    <p:sldId id="653" r:id="rId13"/>
    <p:sldId id="704" r:id="rId14"/>
    <p:sldId id="703" r:id="rId15"/>
    <p:sldId id="706" r:id="rId16"/>
    <p:sldId id="705" r:id="rId17"/>
    <p:sldId id="702" r:id="rId18"/>
    <p:sldId id="707" r:id="rId19"/>
    <p:sldId id="481" r:id="rId20"/>
    <p:sldId id="708" r:id="rId21"/>
    <p:sldId id="711" r:id="rId22"/>
    <p:sldId id="710" r:id="rId23"/>
    <p:sldId id="709" r:id="rId24"/>
    <p:sldId id="712" r:id="rId25"/>
    <p:sldId id="713" r:id="rId26"/>
    <p:sldId id="338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29" autoAdjust="0"/>
    <p:restoredTop sz="94662" autoAdjust="0"/>
  </p:normalViewPr>
  <p:slideViewPr>
    <p:cSldViewPr snapToGrid="0">
      <p:cViewPr varScale="1">
        <p:scale>
          <a:sx n="109" d="100"/>
          <a:sy n="109" d="100"/>
        </p:scale>
        <p:origin x="1050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18" y="223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D1E16D-40AE-4F7B-89DA-08FA8576FE62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7B180-2896-4825-A371-C953116C1F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748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Образ слайда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ln/>
        </p:spPr>
      </p:sp>
      <p:sp>
        <p:nvSpPr>
          <p:cNvPr id="34819" name="Заметки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ru-RU" altLang="ru-RU" smtClean="0">
              <a:latin typeface="Arial" pitchFamily="34" charset="0"/>
            </a:endParaRPr>
          </a:p>
        </p:txBody>
      </p:sp>
      <p:sp>
        <p:nvSpPr>
          <p:cNvPr id="34820" name="Номер слайда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fld id="{3995C959-3E6F-4A2D-BBCE-A1FF53A98587}" type="slidenum">
              <a:rPr lang="ru-RU" altLang="ru-RU">
                <a:solidFill>
                  <a:prstClr val="black"/>
                </a:solidFill>
              </a:rPr>
              <a:pPr/>
              <a:t>1</a:t>
            </a:fld>
            <a:endParaRPr lang="ru-RU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87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964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992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3067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104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800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878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135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13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202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8889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4585-7C67-480B-A3E7-2717674931C3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5443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54585-7C67-480B-A3E7-2717674931C3}" type="datetimeFigureOut">
              <a:rPr lang="ru-RU" smtClean="0"/>
              <a:t>14.03.2026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26E1B2-CEBD-427E-9745-F7D5EC90EFA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20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Relationship Id="rId9" Type="http://schemas.openxmlformats.org/officeDocument/2006/relationships/image" Target="../media/image7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ChangeArrowheads="1"/>
          </p:cNvSpPr>
          <p:nvPr/>
        </p:nvSpPr>
        <p:spPr bwMode="auto">
          <a:xfrm>
            <a:off x="4956265" y="510698"/>
            <a:ext cx="5691187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НИЖЕГОРОДСКИЙ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ИНСТИТУТ	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srgbClr val="A40000"/>
                </a:solidFill>
                <a:latin typeface="+mn-lt"/>
                <a:cs typeface="Tahoma" pitchFamily="34" charset="0"/>
              </a:rPr>
              <a:t>УПРАВЛЕНИЯ			</a:t>
            </a:r>
            <a:endParaRPr lang="en-US" altLang="ru-RU" sz="1400" b="1" dirty="0">
              <a:solidFill>
                <a:srgbClr val="A40000"/>
              </a:solidFill>
              <a:latin typeface="+mn-lt"/>
              <a:cs typeface="Tahoma" pitchFamily="34" charset="0"/>
            </a:endParaRPr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2475" y="854076"/>
            <a:ext cx="2344738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Прямоугольник 7"/>
          <p:cNvSpPr>
            <a:spLocks noChangeArrowheads="1"/>
          </p:cNvSpPr>
          <p:nvPr/>
        </p:nvSpPr>
        <p:spPr bwMode="auto">
          <a:xfrm flipH="1">
            <a:off x="351631" y="2762182"/>
            <a:ext cx="2843213" cy="1538287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defTabSz="1042988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defTabSz="1042988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defTabSz="1042988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1042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2400" b="1" dirty="0" smtClean="0">
                <a:solidFill>
                  <a:schemeClr val="bg1"/>
                </a:solidFill>
              </a:rPr>
              <a:t>ТЕМА № </a:t>
            </a:r>
            <a:r>
              <a:rPr lang="ru-RU" altLang="ru-RU" sz="2400" b="1" dirty="0" smtClean="0">
                <a:solidFill>
                  <a:schemeClr val="bg1"/>
                </a:solidFill>
              </a:rPr>
              <a:t>10.1.</a:t>
            </a:r>
            <a:endParaRPr lang="ru-RU" altLang="ru-RU" sz="2400" b="1" dirty="0">
              <a:solidFill>
                <a:schemeClr val="bg1"/>
              </a:solidFill>
            </a:endParaRPr>
          </a:p>
        </p:txBody>
      </p:sp>
      <p:sp>
        <p:nvSpPr>
          <p:cNvPr id="5127" name="Text Box 23"/>
          <p:cNvSpPr txBox="1">
            <a:spLocks noChangeArrowheads="1"/>
          </p:cNvSpPr>
          <p:nvPr/>
        </p:nvSpPr>
        <p:spPr bwMode="auto">
          <a:xfrm>
            <a:off x="7535435" y="4944070"/>
            <a:ext cx="443397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fontAlgn="base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1600" dirty="0" smtClean="0"/>
              <a:t>кафедра </a:t>
            </a:r>
            <a:r>
              <a:rPr lang="ru-RU" sz="1600" dirty="0"/>
              <a:t>информатики и информационных технологий, </a:t>
            </a:r>
            <a:r>
              <a:rPr lang="ru-RU" sz="1600" dirty="0" err="1"/>
              <a:t>к.т.н</a:t>
            </a:r>
            <a:r>
              <a:rPr lang="ru-RU" sz="1600" dirty="0"/>
              <a:t>, доцент, </a:t>
            </a:r>
            <a:r>
              <a:rPr lang="ru-RU" sz="1600" dirty="0" smtClean="0"/>
              <a:t>Гордеев А.Б.</a:t>
            </a:r>
            <a:endParaRPr lang="ru-RU" altLang="ru-RU" sz="1600" b="1" dirty="0">
              <a:solidFill>
                <a:srgbClr val="000000"/>
              </a:solidFill>
              <a:latin typeface="Arial"/>
              <a:cs typeface="Arial" charset="0"/>
            </a:endParaRPr>
          </a:p>
        </p:txBody>
      </p:sp>
      <p:grpSp>
        <p:nvGrpSpPr>
          <p:cNvPr id="17415" name="Группа 12"/>
          <p:cNvGrpSpPr>
            <a:grpSpLocks/>
          </p:cNvGrpSpPr>
          <p:nvPr/>
        </p:nvGrpSpPr>
        <p:grpSpPr bwMode="auto">
          <a:xfrm>
            <a:off x="4616451" y="1598613"/>
            <a:ext cx="5732463" cy="781050"/>
            <a:chOff x="0" y="0"/>
            <a:chExt cx="6210300" cy="781275"/>
          </a:xfrm>
        </p:grpSpPr>
        <p:pic>
          <p:nvPicPr>
            <p:cNvPr id="17416" name="Рисунок 13" descr="D:\ИПК\Фотографии\на стенд\на сайт\главная\Академия 2.JP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04900" y="0"/>
              <a:ext cx="1028700" cy="78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7" name="Рисунок 14" descr="D:\для фотопрезентации ФПК\Презид.программа\фото Открытие Президентской  Прогр\6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5" r="-2" b="1205"/>
            <a:stretch>
              <a:fillRect/>
            </a:stretch>
          </p:blipFill>
          <p:spPr bwMode="auto">
            <a:xfrm>
              <a:off x="0" y="1"/>
              <a:ext cx="1114425" cy="781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8" name="Рисунок 15" descr="D:\Презид.программа 20 мая-05 июня 2013\30.05.13\работа в проектных группах_30.05.13\DSCF8003.JPG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2300" y="9750"/>
              <a:ext cx="1038225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19" name="Рисунок 16" descr="D:\для фотопрезентации ФПК\Президентская программа (6) 17 сентября 2012 (З).JPG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33600" y="9525"/>
              <a:ext cx="102870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0" name="Рисунок 17" descr="D:\ИПК\Фотографии\для книги Академии\1.2.Здание.jpg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" b="1219"/>
            <a:stretch>
              <a:fillRect/>
            </a:stretch>
          </p:blipFill>
          <p:spPr bwMode="auto">
            <a:xfrm>
              <a:off x="4191000" y="9525"/>
              <a:ext cx="97155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421" name="Рисунок 18" descr="D:\ИПК\Фотографии\для книги Академии\5.2.JPG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550" y="9525"/>
              <a:ext cx="1047750" cy="771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TextBox 1"/>
          <p:cNvSpPr txBox="1"/>
          <p:nvPr/>
        </p:nvSpPr>
        <p:spPr>
          <a:xfrm>
            <a:off x="4295801" y="5998179"/>
            <a:ext cx="37188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Нижний Новгород 20</a:t>
            </a:r>
            <a:r>
              <a:rPr lang="en-US" sz="1600" b="1" dirty="0" smtClean="0"/>
              <a:t>2</a:t>
            </a:r>
            <a:r>
              <a:rPr lang="ru-RU" sz="1600" b="1" dirty="0" smtClean="0"/>
              <a:t>6</a:t>
            </a:r>
            <a:endParaRPr lang="ru-RU" sz="16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3736428" y="3244334"/>
            <a:ext cx="799311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4000" b="1" i="1" dirty="0">
                <a:solidFill>
                  <a:srgbClr val="FF0000"/>
                </a:solidFill>
              </a:rPr>
              <a:t>Повышение производительности</a:t>
            </a:r>
            <a:endParaRPr lang="ru-RU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745572"/>
      </p:ext>
    </p:extLst>
  </p:cSld>
  <p:clrMapOvr>
    <a:masterClrMapping/>
  </p:clrMapOvr>
  <p:transition advClick="0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2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b="1" dirty="0" smtClean="0">
                <a:solidFill>
                  <a:srgbClr val="FF0000"/>
                </a:solidFill>
              </a:rPr>
              <a:t>ОСНОВНЫЕ ПОНЯТИЯ</a:t>
            </a:r>
            <a:endParaRPr lang="ru-RU" sz="4000" b="1" dirty="0">
              <a:solidFill>
                <a:srgbClr val="FF0000"/>
              </a:solidFill>
            </a:endParaRPr>
          </a:p>
          <a:p>
            <a:pPr lvl="1" algn="ctr"/>
            <a:r>
              <a:rPr lang="ru-RU" sz="4000" b="1" dirty="0" smtClean="0"/>
              <a:t>Вопрос 1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801749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Повышение производительности </a:t>
            </a:r>
            <a:r>
              <a:rPr lang="ru-RU" sz="2000" dirty="0" err="1"/>
              <a:t>PostgreSQL</a:t>
            </a:r>
            <a:r>
              <a:rPr lang="ru-RU" sz="2000" dirty="0"/>
              <a:t> включает несколько аспектов</a:t>
            </a:r>
            <a:r>
              <a:rPr lang="ru-RU" sz="2000" dirty="0" smtClean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 </a:t>
            </a:r>
            <a:r>
              <a:rPr lang="ru-RU" sz="2000" dirty="0"/>
              <a:t>оптимизацию проектирования базы </a:t>
            </a:r>
            <a:r>
              <a:rPr lang="ru-RU" sz="2000" dirty="0" smtClean="0"/>
              <a:t>данных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настройку сервера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 </a:t>
            </a:r>
            <a:r>
              <a:rPr lang="ru-RU" sz="2000" dirty="0"/>
              <a:t>оптимизацию </a:t>
            </a:r>
            <a:r>
              <a:rPr lang="ru-RU" sz="2000" dirty="0" smtClean="0"/>
              <a:t>запросов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 мониторинг </a:t>
            </a:r>
          </a:p>
          <a:p>
            <a:pPr algn="ctr"/>
            <a:r>
              <a:rPr lang="ru-RU" sz="2000" dirty="0"/>
              <a:t>Проектирование базы </a:t>
            </a:r>
            <a:r>
              <a:rPr lang="ru-RU" sz="2000" dirty="0" smtClean="0"/>
              <a:t>данных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Использование </a:t>
            </a:r>
            <a:r>
              <a:rPr lang="ru-RU" sz="2000" dirty="0" smtClean="0"/>
              <a:t>индексов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smtClean="0"/>
              <a:t>Разбиение </a:t>
            </a:r>
            <a:r>
              <a:rPr lang="ru-RU" sz="2000" dirty="0"/>
              <a:t>на </a:t>
            </a:r>
            <a:r>
              <a:rPr lang="ru-RU" sz="2000" dirty="0" smtClean="0"/>
              <a:t>разделы </a:t>
            </a:r>
            <a:endParaRPr lang="ru-RU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smtClean="0"/>
              <a:t>Выбор </a:t>
            </a:r>
            <a:r>
              <a:rPr lang="ru-RU" sz="2000" dirty="0"/>
              <a:t>подходящих типов данных для </a:t>
            </a:r>
            <a:r>
              <a:rPr lang="ru-RU" sz="2000" dirty="0" smtClean="0"/>
              <a:t>столбцов</a:t>
            </a:r>
            <a:endParaRPr lang="ru-RU" sz="2000" dirty="0"/>
          </a:p>
          <a:p>
            <a:pPr algn="ctr"/>
            <a:r>
              <a:rPr lang="ru-RU" sz="2000" dirty="0"/>
              <a:t>Настройка сервера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Некоторые параметры сервера </a:t>
            </a:r>
            <a:r>
              <a:rPr lang="ru-RU" sz="2000" dirty="0" err="1"/>
              <a:t>PostgreSQL</a:t>
            </a:r>
            <a:r>
              <a:rPr lang="ru-RU" sz="2000" dirty="0"/>
              <a:t>, которые влияют на производительность: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err="1" smtClean="0"/>
              <a:t>shared_buffers</a:t>
            </a:r>
            <a:r>
              <a:rPr lang="ru-RU" sz="2000" dirty="0" smtClean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err="1" smtClean="0"/>
              <a:t>work_mem</a:t>
            </a:r>
            <a:r>
              <a:rPr lang="ru-RU" sz="2000" dirty="0" smtClean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err="1" smtClean="0"/>
              <a:t>maintenance_work_mem</a:t>
            </a:r>
            <a:r>
              <a:rPr lang="ru-RU" sz="2000" dirty="0" smtClean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err="1" smtClean="0"/>
              <a:t>autovacuum</a:t>
            </a:r>
            <a:r>
              <a:rPr lang="ru-RU" sz="2000" dirty="0" smtClean="0"/>
              <a:t>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ru-RU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339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Оптимизация запросов</a:t>
            </a:r>
          </a:p>
          <a:p>
            <a:pPr algn="just"/>
            <a:r>
              <a:rPr lang="ru-RU" sz="2000" dirty="0"/>
              <a:t>Некоторые методы оптимизации SQL-запросов в </a:t>
            </a:r>
            <a:r>
              <a:rPr lang="ru-RU" sz="2000" dirty="0" err="1"/>
              <a:t>PostgreSQL</a:t>
            </a:r>
            <a:r>
              <a:rPr lang="ru-RU" sz="2000" dirty="0"/>
              <a:t>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Анализ плана запроса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Оптимизация индексов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Ограничение набора результатов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err="1"/>
              <a:t>Рефакторинг</a:t>
            </a:r>
            <a:r>
              <a:rPr lang="ru-RU" sz="2000" dirty="0"/>
              <a:t> сложных запросов</a:t>
            </a:r>
          </a:p>
          <a:p>
            <a:pPr algn="ctr"/>
            <a:endParaRPr lang="ru-RU" sz="2000" b="1" dirty="0" smtClean="0"/>
          </a:p>
          <a:p>
            <a:pPr algn="ctr"/>
            <a:endParaRPr lang="ru-RU" sz="2000" b="1" dirty="0"/>
          </a:p>
          <a:p>
            <a:pPr algn="ctr"/>
            <a:r>
              <a:rPr lang="ru-RU" sz="2000" b="1" dirty="0" smtClean="0"/>
              <a:t>Мониторинг</a:t>
            </a:r>
            <a:endParaRPr lang="ru-RU" sz="2000" b="1" dirty="0"/>
          </a:p>
          <a:p>
            <a:pPr algn="just"/>
            <a:r>
              <a:rPr lang="ru-RU" sz="2000" dirty="0"/>
              <a:t>Для мониторинга производительности </a:t>
            </a:r>
            <a:r>
              <a:rPr lang="ru-RU" sz="2000" dirty="0" err="1"/>
              <a:t>PostgreSQL</a:t>
            </a:r>
            <a:r>
              <a:rPr lang="ru-RU" sz="2000" dirty="0"/>
              <a:t> и выявления проблем используют, например: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Встроенные инструменты </a:t>
            </a:r>
            <a:r>
              <a:rPr lang="ru-RU" sz="2000" dirty="0" err="1" smtClean="0"/>
              <a:t>PostgreSQL</a:t>
            </a:r>
            <a:r>
              <a:rPr lang="ru-RU" sz="2000" dirty="0" smtClean="0"/>
              <a:t> (</a:t>
            </a:r>
            <a:r>
              <a:rPr lang="ru-RU" sz="2000" dirty="0" err="1" smtClean="0"/>
              <a:t>pg_stat_activity</a:t>
            </a:r>
            <a:r>
              <a:rPr lang="ru-RU" sz="2000" dirty="0" smtClean="0"/>
              <a:t>, </a:t>
            </a:r>
            <a:r>
              <a:rPr lang="ru-RU" sz="2000" dirty="0" err="1" smtClean="0"/>
              <a:t>pg_stat_database</a:t>
            </a:r>
            <a:r>
              <a:rPr lang="ru-RU" sz="2000" dirty="0" smtClean="0"/>
              <a:t>).</a:t>
            </a:r>
            <a:endParaRPr lang="ru-RU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Специализированные инструменты. </a:t>
            </a:r>
            <a:r>
              <a:rPr lang="ru-RU" sz="2000" dirty="0" smtClean="0"/>
              <a:t>(</a:t>
            </a:r>
            <a:r>
              <a:rPr lang="ru-RU" sz="2000" dirty="0" err="1" smtClean="0"/>
              <a:t>pganalyze</a:t>
            </a:r>
            <a:r>
              <a:rPr lang="ru-RU" sz="2000" dirty="0" smtClean="0"/>
              <a:t>, </a:t>
            </a:r>
            <a:r>
              <a:rPr lang="ru-RU" sz="2000" dirty="0" err="1" smtClean="0"/>
              <a:t>pgBadger</a:t>
            </a:r>
            <a:r>
              <a:rPr lang="ru-RU" sz="2000" dirty="0" smtClean="0"/>
              <a:t>)</a:t>
            </a:r>
            <a:endParaRPr lang="ru-RU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Системы мониторинга. </a:t>
            </a:r>
            <a:r>
              <a:rPr lang="ru-RU" sz="2000" dirty="0" smtClean="0"/>
              <a:t>(</a:t>
            </a:r>
            <a:r>
              <a:rPr lang="ru-RU" sz="2000" dirty="0" err="1" smtClean="0"/>
              <a:t>Prometheus</a:t>
            </a:r>
            <a:r>
              <a:rPr lang="ru-RU" sz="2000" dirty="0" smtClean="0"/>
              <a:t> </a:t>
            </a:r>
            <a:r>
              <a:rPr lang="ru-RU" sz="2000" dirty="0"/>
              <a:t>или </a:t>
            </a:r>
            <a:r>
              <a:rPr lang="ru-RU" sz="2000" dirty="0" err="1" smtClean="0"/>
              <a:t>Zabbix</a:t>
            </a:r>
            <a:r>
              <a:rPr lang="ru-RU" sz="2000" dirty="0" smtClean="0"/>
              <a:t>)  </a:t>
            </a:r>
            <a:endParaRPr lang="ru-RU" sz="2000" dirty="0"/>
          </a:p>
          <a:p>
            <a:pPr algn="just"/>
            <a:r>
              <a:rPr lang="ru-RU" sz="2000" dirty="0" smtClean="0"/>
              <a:t> </a:t>
            </a:r>
            <a:r>
              <a:rPr lang="ru-RU" sz="2000" dirty="0"/>
              <a:t>Например, высокая загрузка CPU вместе с низким </a:t>
            </a:r>
            <a:r>
              <a:rPr lang="ru-RU" sz="2000" dirty="0" err="1"/>
              <a:t>cache</a:t>
            </a:r>
            <a:r>
              <a:rPr lang="ru-RU" sz="2000" dirty="0"/>
              <a:t> </a:t>
            </a:r>
            <a:r>
              <a:rPr lang="ru-RU" sz="2000" dirty="0" err="1"/>
              <a:t>hit</a:t>
            </a:r>
            <a:r>
              <a:rPr lang="ru-RU" sz="2000" dirty="0"/>
              <a:t> </a:t>
            </a:r>
            <a:r>
              <a:rPr lang="ru-RU" sz="2000" dirty="0" err="1"/>
              <a:t>ratio</a:t>
            </a:r>
            <a:r>
              <a:rPr lang="ru-RU" sz="2000" dirty="0"/>
              <a:t> </a:t>
            </a:r>
            <a:r>
              <a:rPr lang="ru-RU" sz="2000" dirty="0" smtClean="0"/>
              <a:t>.</a:t>
            </a:r>
          </a:p>
          <a:p>
            <a:pPr algn="just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450021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5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 smtClean="0">
                <a:solidFill>
                  <a:srgbClr val="FF0000"/>
                </a:solidFill>
              </a:rPr>
              <a:t>МЕТОДЫ ПРОСМОТРА ТАБЛИЦ</a:t>
            </a:r>
          </a:p>
          <a:p>
            <a:pPr lvl="1" algn="ctr"/>
            <a:r>
              <a:rPr lang="ru-RU" sz="4000" b="1" dirty="0" smtClean="0"/>
              <a:t>Вопрос 2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48575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4842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  <a:p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0" y="1"/>
            <a:ext cx="12192000" cy="5601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dirty="0"/>
              <a:t>В </a:t>
            </a:r>
            <a:r>
              <a:rPr lang="ru-RU" sz="2000" dirty="0" err="1"/>
              <a:t>PostgreSQL</a:t>
            </a:r>
            <a:r>
              <a:rPr lang="ru-RU" sz="2000" dirty="0"/>
              <a:t> для просмотра таблиц (списка таблиц в базе данных) используются разные </a:t>
            </a:r>
            <a:r>
              <a:rPr lang="ru-RU" sz="2000" dirty="0" smtClean="0"/>
              <a:t>методы: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dirty="0"/>
              <a:t>командную строку (</a:t>
            </a:r>
            <a:r>
              <a:rPr lang="ru-RU" dirty="0" err="1"/>
              <a:t>psql</a:t>
            </a:r>
            <a:r>
              <a:rPr lang="ru-RU" dirty="0" smtClean="0"/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представление </a:t>
            </a:r>
            <a:r>
              <a:rPr lang="en-US" sz="2000" dirty="0" err="1" smtClean="0"/>
              <a:t>information_schema</a:t>
            </a:r>
            <a:endParaRPr lang="ru-RU" sz="20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/>
              <a:t>представление </a:t>
            </a:r>
            <a:r>
              <a:rPr lang="ru-RU" sz="2000" dirty="0" err="1" smtClean="0"/>
              <a:t>pg_catalog</a:t>
            </a:r>
            <a:endParaRPr lang="ru-RU" sz="20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smtClean="0"/>
              <a:t>графические </a:t>
            </a:r>
            <a:r>
              <a:rPr lang="ru-RU" sz="2000" dirty="0"/>
              <a:t>пользовательские интерфейсы (GUI-инструменты). </a:t>
            </a:r>
            <a:endParaRPr lang="ru-RU" sz="2000" dirty="0" smtClean="0"/>
          </a:p>
          <a:p>
            <a:pPr algn="ctr"/>
            <a:r>
              <a:rPr lang="en-US" sz="2000" b="1" dirty="0" err="1"/>
              <a:t>psql</a:t>
            </a:r>
            <a:r>
              <a:rPr lang="en-US" sz="2000" b="1" dirty="0"/>
              <a:t> (</a:t>
            </a:r>
            <a:r>
              <a:rPr lang="ru-RU" sz="2000" b="1" dirty="0"/>
              <a:t>командная строка</a:t>
            </a:r>
            <a:r>
              <a:rPr lang="ru-RU" sz="2000" b="1" dirty="0" smtClean="0"/>
              <a:t>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smtClean="0"/>
              <a:t>Команда </a:t>
            </a:r>
            <a:r>
              <a:rPr lang="ru-RU" sz="2000" dirty="0"/>
              <a:t>\</a:t>
            </a:r>
            <a:r>
              <a:rPr lang="ru-RU" sz="2000" dirty="0" err="1" smtClean="0"/>
              <a:t>dt</a:t>
            </a:r>
            <a:endParaRPr lang="ru-RU" sz="20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smtClean="0"/>
              <a:t>Фильтрация </a:t>
            </a:r>
            <a:r>
              <a:rPr lang="ru-RU" sz="2000" dirty="0"/>
              <a:t>по схеме </a:t>
            </a:r>
            <a:r>
              <a:rPr lang="ru-RU" sz="2000" dirty="0" smtClean="0"/>
              <a:t>(</a:t>
            </a:r>
            <a:r>
              <a:rPr lang="ru-RU" sz="2000" dirty="0"/>
              <a:t>например, </a:t>
            </a:r>
            <a:r>
              <a:rPr lang="ru-RU" sz="2000" dirty="0" err="1"/>
              <a:t>public</a:t>
            </a:r>
            <a:r>
              <a:rPr lang="ru-RU" sz="2000" dirty="0"/>
              <a:t>), используется команда \</a:t>
            </a:r>
            <a:r>
              <a:rPr lang="ru-RU" sz="2000" dirty="0" err="1"/>
              <a:t>dt</a:t>
            </a:r>
            <a:r>
              <a:rPr lang="ru-RU" sz="2000" dirty="0"/>
              <a:t> public.*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smtClean="0"/>
              <a:t>Фильтрация </a:t>
            </a:r>
            <a:r>
              <a:rPr lang="ru-RU" sz="2000" dirty="0"/>
              <a:t>по </a:t>
            </a:r>
            <a:r>
              <a:rPr lang="ru-RU" sz="2000" dirty="0" smtClean="0"/>
              <a:t>шаблонам. </a:t>
            </a:r>
            <a:r>
              <a:rPr lang="ru-RU" sz="2000" dirty="0"/>
              <a:t>Например: чтобы показать все таблицы, которые начинаются с «</a:t>
            </a:r>
            <a:r>
              <a:rPr lang="ru-RU" sz="2000" dirty="0" err="1"/>
              <a:t>emp</a:t>
            </a:r>
            <a:r>
              <a:rPr lang="ru-RU" sz="2000" dirty="0"/>
              <a:t>», — \</a:t>
            </a:r>
            <a:r>
              <a:rPr lang="ru-RU" sz="2000" dirty="0" err="1"/>
              <a:t>dt</a:t>
            </a:r>
            <a:r>
              <a:rPr lang="ru-RU" sz="2000" dirty="0"/>
              <a:t> </a:t>
            </a:r>
            <a:r>
              <a:rPr lang="ru-RU" sz="2000" dirty="0" err="1"/>
              <a:t>emp</a:t>
            </a:r>
            <a:r>
              <a:rPr lang="ru-RU" sz="2000" dirty="0"/>
              <a:t>*, чтобы показать все таблицы, содержащие «</a:t>
            </a:r>
            <a:r>
              <a:rPr lang="ru-RU" sz="2000" dirty="0" err="1"/>
              <a:t>sal</a:t>
            </a:r>
            <a:r>
              <a:rPr lang="ru-RU" sz="2000" dirty="0"/>
              <a:t>», — \</a:t>
            </a:r>
            <a:r>
              <a:rPr lang="ru-RU" sz="2000" dirty="0" err="1"/>
              <a:t>dt</a:t>
            </a:r>
            <a:r>
              <a:rPr lang="ru-RU" sz="2000" dirty="0"/>
              <a:t> </a:t>
            </a:r>
            <a:r>
              <a:rPr lang="ru-RU" sz="2000" dirty="0" err="1"/>
              <a:t>sal</a:t>
            </a:r>
            <a:r>
              <a:rPr lang="ru-RU" sz="2000" dirty="0"/>
              <a:t>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smtClean="0"/>
              <a:t>Просмотр </a:t>
            </a:r>
            <a:r>
              <a:rPr lang="ru-RU" sz="2000" dirty="0"/>
              <a:t>деталей конкретной </a:t>
            </a:r>
            <a:r>
              <a:rPr lang="ru-RU" sz="2000" dirty="0" smtClean="0"/>
              <a:t>таблицы.  </a:t>
            </a:r>
            <a:endParaRPr lang="ru-RU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err="1"/>
              <a:t>psql</a:t>
            </a:r>
            <a:r>
              <a:rPr lang="ru-RU" sz="2000" dirty="0"/>
              <a:t> — утилита для работы с базами данных </a:t>
            </a:r>
            <a:r>
              <a:rPr lang="ru-RU" sz="2000" dirty="0" err="1"/>
              <a:t>PostgreSQL</a:t>
            </a:r>
            <a:r>
              <a:rPr lang="ru-RU" sz="2000" dirty="0"/>
              <a:t> через командную </a:t>
            </a:r>
            <a:r>
              <a:rPr lang="ru-RU" sz="2000" dirty="0" smtClean="0"/>
              <a:t>строку. </a:t>
            </a:r>
          </a:p>
          <a:p>
            <a:pPr algn="ctr"/>
            <a:r>
              <a:rPr lang="ru-RU" sz="2000" dirty="0"/>
              <a:t>Установка</a:t>
            </a:r>
          </a:p>
          <a:p>
            <a:pPr algn="just"/>
            <a:r>
              <a:rPr lang="ru-RU" sz="2000" dirty="0" smtClean="0"/>
              <a:t>Проверить </a:t>
            </a:r>
            <a:r>
              <a:rPr lang="ru-RU" sz="2000" dirty="0"/>
              <a:t>наличие </a:t>
            </a:r>
            <a:r>
              <a:rPr lang="ru-RU" sz="2000" dirty="0" err="1"/>
              <a:t>psql</a:t>
            </a:r>
            <a:r>
              <a:rPr lang="ru-RU" sz="2000" dirty="0"/>
              <a:t> можно с помощью команды </a:t>
            </a:r>
            <a:r>
              <a:rPr lang="ru-RU" sz="2000" dirty="0" err="1"/>
              <a:t>psql</a:t>
            </a:r>
            <a:r>
              <a:rPr lang="ru-RU" sz="2000" dirty="0"/>
              <a:t> --</a:t>
            </a:r>
            <a:r>
              <a:rPr lang="ru-RU" sz="2000" dirty="0" err="1"/>
              <a:t>version</a:t>
            </a:r>
            <a:endParaRPr lang="ru-RU" sz="2000" dirty="0"/>
          </a:p>
          <a:p>
            <a:pPr algn="ctr"/>
            <a:r>
              <a:rPr lang="ru-RU" sz="2000" b="1" dirty="0" smtClean="0"/>
              <a:t>Подключение</a:t>
            </a:r>
            <a:endParaRPr lang="ru-RU" sz="2000" b="1" dirty="0"/>
          </a:p>
          <a:p>
            <a:pPr algn="just"/>
            <a:r>
              <a:rPr lang="ru-RU" sz="2000" dirty="0"/>
              <a:t>Шаблон для подключения к базе данных: </a:t>
            </a:r>
            <a:r>
              <a:rPr lang="ru-RU" sz="2000" dirty="0" err="1" smtClean="0"/>
              <a:t>psql</a:t>
            </a:r>
            <a:r>
              <a:rPr lang="ru-RU" sz="2000" dirty="0" smtClean="0"/>
              <a:t> </a:t>
            </a:r>
            <a:r>
              <a:rPr lang="ru-RU" sz="2000" dirty="0"/>
              <a:t>-U [имя пользователя] -d [база данных]</a:t>
            </a:r>
          </a:p>
          <a:p>
            <a:pPr algn="just"/>
            <a:r>
              <a:rPr lang="ru-RU" sz="2000" dirty="0"/>
              <a:t>Если база на удалённом сервере: </a:t>
            </a:r>
            <a:r>
              <a:rPr lang="ru-RU" sz="2000" dirty="0" err="1" smtClean="0"/>
              <a:t>psql</a:t>
            </a:r>
            <a:r>
              <a:rPr lang="ru-RU" sz="2000" dirty="0" smtClean="0"/>
              <a:t> </a:t>
            </a:r>
            <a:r>
              <a:rPr lang="ru-RU" sz="2000" dirty="0"/>
              <a:t>-h &lt;хост&gt; -p &lt;порт&gt; -U &lt;пользователь&gt; -d &lt;</a:t>
            </a:r>
            <a:r>
              <a:rPr lang="ru-RU" sz="2000" dirty="0" err="1"/>
              <a:t>имя_бд</a:t>
            </a:r>
            <a:r>
              <a:rPr lang="ru-RU" sz="2000" dirty="0"/>
              <a:t>&gt;</a:t>
            </a:r>
          </a:p>
          <a:p>
            <a:pPr algn="just"/>
            <a:r>
              <a:rPr lang="ru-RU" sz="2000" dirty="0"/>
              <a:t>. По умолчанию порт </a:t>
            </a:r>
            <a:r>
              <a:rPr lang="ru-RU" sz="2000" dirty="0" err="1"/>
              <a:t>PostgreSQL</a:t>
            </a:r>
            <a:r>
              <a:rPr lang="ru-RU" sz="2000" dirty="0"/>
              <a:t> — </a:t>
            </a:r>
            <a:r>
              <a:rPr lang="ru-RU" sz="2000" dirty="0" smtClean="0"/>
              <a:t>5432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945459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4842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  <a:p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0" y="0"/>
            <a:ext cx="1219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Некоторые команды утилиты </a:t>
            </a:r>
            <a:r>
              <a:rPr lang="ru-RU" sz="2000" b="1" dirty="0" err="1"/>
              <a:t>psql</a:t>
            </a:r>
            <a:r>
              <a:rPr lang="ru-RU" sz="2000" b="1" dirty="0"/>
              <a:t>:</a:t>
            </a:r>
          </a:p>
          <a:p>
            <a:r>
              <a:rPr lang="ru-RU" sz="2000" dirty="0"/>
              <a:t>•	\l или \</a:t>
            </a:r>
            <a:r>
              <a:rPr lang="ru-RU" sz="2000" dirty="0" err="1"/>
              <a:t>list</a:t>
            </a:r>
            <a:r>
              <a:rPr lang="ru-RU" sz="2000" dirty="0"/>
              <a:t> — список всех баз данных;</a:t>
            </a:r>
          </a:p>
          <a:p>
            <a:r>
              <a:rPr lang="ru-RU" sz="2000" dirty="0"/>
              <a:t>•	\c [база данных] — подключиться к другой базе данных;</a:t>
            </a:r>
          </a:p>
          <a:p>
            <a:r>
              <a:rPr lang="ru-RU" sz="2000" dirty="0"/>
              <a:t>•	\</a:t>
            </a:r>
            <a:r>
              <a:rPr lang="ru-RU" sz="2000" dirty="0" err="1"/>
              <a:t>dt</a:t>
            </a:r>
            <a:r>
              <a:rPr lang="ru-RU" sz="2000" dirty="0"/>
              <a:t> — список таблиц в текущей базе данных;</a:t>
            </a:r>
          </a:p>
          <a:p>
            <a:r>
              <a:rPr lang="ru-RU" sz="2000" dirty="0"/>
              <a:t>•	\d [таблица] — описание структуры таблицы;</a:t>
            </a:r>
          </a:p>
          <a:p>
            <a:r>
              <a:rPr lang="ru-RU" sz="2000" dirty="0"/>
              <a:t>•	\</a:t>
            </a:r>
            <a:r>
              <a:rPr lang="ru-RU" sz="2000" dirty="0" err="1"/>
              <a:t>dn</a:t>
            </a:r>
            <a:r>
              <a:rPr lang="ru-RU" sz="2000" dirty="0"/>
              <a:t> — список схем;</a:t>
            </a:r>
          </a:p>
          <a:p>
            <a:r>
              <a:rPr lang="ru-RU" sz="2000" dirty="0"/>
              <a:t>•	\</a:t>
            </a:r>
            <a:r>
              <a:rPr lang="ru-RU" sz="2000" dirty="0" err="1"/>
              <a:t>df</a:t>
            </a:r>
            <a:r>
              <a:rPr lang="ru-RU" sz="2000" dirty="0"/>
              <a:t> — список функций;</a:t>
            </a:r>
          </a:p>
          <a:p>
            <a:r>
              <a:rPr lang="ru-RU" sz="2000" dirty="0"/>
              <a:t>•	\</a:t>
            </a:r>
            <a:r>
              <a:rPr lang="ru-RU" sz="2000" dirty="0" err="1"/>
              <a:t>du</a:t>
            </a:r>
            <a:r>
              <a:rPr lang="ru-RU" sz="2000" dirty="0"/>
              <a:t> — список пользователей и их ролей.</a:t>
            </a:r>
          </a:p>
          <a:p>
            <a:r>
              <a:rPr lang="ru-RU" sz="2000" dirty="0" smtClean="0"/>
              <a:t>Например</a:t>
            </a:r>
            <a:r>
              <a:rPr lang="ru-RU" sz="2000" dirty="0"/>
              <a:t>, </a:t>
            </a:r>
            <a:r>
              <a:rPr lang="ru-RU" sz="2000" dirty="0" smtClean="0"/>
              <a:t>SELECT </a:t>
            </a:r>
            <a:r>
              <a:rPr lang="ru-RU" sz="2000" dirty="0"/>
              <a:t>* FROM </a:t>
            </a:r>
            <a:r>
              <a:rPr lang="ru-RU" sz="2000" dirty="0" err="1"/>
              <a:t>table_name</a:t>
            </a:r>
            <a:r>
              <a:rPr lang="ru-RU" sz="2000" dirty="0"/>
              <a:t>;</a:t>
            </a:r>
          </a:p>
          <a:p>
            <a:r>
              <a:rPr lang="ru-RU" sz="2000" dirty="0" smtClean="0"/>
              <a:t>Выход </a:t>
            </a:r>
            <a:r>
              <a:rPr lang="ru-RU" sz="2000" dirty="0"/>
              <a:t>из </a:t>
            </a:r>
            <a:r>
              <a:rPr lang="ru-RU" sz="2000" dirty="0" err="1"/>
              <a:t>psql</a:t>
            </a:r>
            <a:r>
              <a:rPr lang="ru-RU" sz="2000" dirty="0"/>
              <a:t> — нужно набрать \q и нажать </a:t>
            </a:r>
            <a:r>
              <a:rPr lang="ru-RU" sz="2000" dirty="0" err="1"/>
              <a:t>Enter</a:t>
            </a:r>
            <a:r>
              <a:rPr lang="ru-RU" sz="2000" dirty="0"/>
              <a:t>. </a:t>
            </a:r>
          </a:p>
          <a:p>
            <a:pPr algn="ctr"/>
            <a:r>
              <a:rPr lang="ru-RU" sz="2000" b="1" dirty="0"/>
              <a:t>Скрипты</a:t>
            </a:r>
          </a:p>
          <a:p>
            <a:r>
              <a:rPr lang="ru-RU" sz="2000" dirty="0"/>
              <a:t>Можно выполнять команды SQL, сохранённые в файле, с помощью команды </a:t>
            </a:r>
          </a:p>
          <a:p>
            <a:r>
              <a:rPr lang="ru-RU" sz="2000" dirty="0" err="1"/>
              <a:t>psql</a:t>
            </a:r>
            <a:r>
              <a:rPr lang="ru-RU" sz="2000" dirty="0"/>
              <a:t> -U [имя пользователя] -d [база данных] -a -f [</a:t>
            </a:r>
            <a:r>
              <a:rPr lang="ru-RU" sz="2000" dirty="0" err="1"/>
              <a:t>file.sql</a:t>
            </a:r>
            <a:r>
              <a:rPr lang="ru-RU" sz="2000" dirty="0"/>
              <a:t>]</a:t>
            </a:r>
          </a:p>
          <a:p>
            <a:r>
              <a:rPr lang="ru-RU" sz="2000" dirty="0" smtClean="0"/>
              <a:t>Например</a:t>
            </a:r>
            <a:r>
              <a:rPr lang="ru-RU" sz="2000" dirty="0"/>
              <a:t>, </a:t>
            </a:r>
            <a:r>
              <a:rPr lang="ru-RU" sz="2000" dirty="0" err="1" smtClean="0"/>
              <a:t>echo</a:t>
            </a:r>
            <a:r>
              <a:rPr lang="ru-RU" sz="2000" dirty="0" smtClean="0"/>
              <a:t> </a:t>
            </a:r>
            <a:r>
              <a:rPr lang="ru-RU" sz="2000" dirty="0"/>
              <a:t>"SELECT * FROM </a:t>
            </a:r>
            <a:r>
              <a:rPr lang="ru-RU" sz="2000" dirty="0" err="1"/>
              <a:t>table_name</a:t>
            </a:r>
            <a:r>
              <a:rPr lang="ru-RU" sz="2000" dirty="0"/>
              <a:t>;" | </a:t>
            </a:r>
            <a:r>
              <a:rPr lang="ru-RU" sz="2000" dirty="0" err="1"/>
              <a:t>psql</a:t>
            </a:r>
            <a:r>
              <a:rPr lang="ru-RU" sz="2000" dirty="0"/>
              <a:t> -U [имя пользователя] -d [база данных]</a:t>
            </a:r>
          </a:p>
          <a:p>
            <a:r>
              <a:rPr lang="ru-RU" sz="2000" dirty="0"/>
              <a:t>Помощь и документация: для получения помощи по командам </a:t>
            </a:r>
            <a:r>
              <a:rPr lang="ru-RU" sz="2000" dirty="0" err="1"/>
              <a:t>psql</a:t>
            </a:r>
            <a:r>
              <a:rPr lang="ru-RU" sz="2000" dirty="0"/>
              <a:t> нужно набрать  \? , для помощи по командам SQL — \h</a:t>
            </a:r>
          </a:p>
        </p:txBody>
      </p:sp>
    </p:spTree>
    <p:extLst>
      <p:ext uri="{BB962C8B-B14F-4D97-AF65-F5344CB8AC3E}">
        <p14:creationId xmlns:p14="http://schemas.microsoft.com/office/powerpoint/2010/main" val="368893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4842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  <a:p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1" y="0"/>
            <a:ext cx="12192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 smtClean="0"/>
              <a:t>information_schema</a:t>
            </a:r>
            <a:endParaRPr lang="ru-RU" sz="2000" b="1" dirty="0" smtClean="0"/>
          </a:p>
          <a:p>
            <a:pPr algn="just"/>
            <a:r>
              <a:rPr lang="ru-RU" sz="2000" dirty="0" smtClean="0"/>
              <a:t>Представление </a:t>
            </a:r>
            <a:r>
              <a:rPr lang="en-US" sz="2000" i="1" dirty="0" err="1" smtClean="0"/>
              <a:t>information_schema.tables</a:t>
            </a:r>
            <a:r>
              <a:rPr lang="en-US" sz="2000" dirty="0" smtClean="0"/>
              <a:t> — </a:t>
            </a:r>
            <a:r>
              <a:rPr lang="ru-RU" sz="2000" dirty="0" smtClean="0"/>
              <a:t>содержит метаданные о таблицах в базе данных. Чтобы показать все таблицы в текущей базе данных, можно использовать запрос: </a:t>
            </a:r>
          </a:p>
          <a:p>
            <a:pPr algn="just"/>
            <a:r>
              <a:rPr lang="en-US" sz="2000" dirty="0" smtClean="0"/>
              <a:t>SELECT </a:t>
            </a:r>
            <a:r>
              <a:rPr lang="en-US" sz="2000" dirty="0" err="1" smtClean="0"/>
              <a:t>table_name</a:t>
            </a:r>
            <a:r>
              <a:rPr lang="en-US" sz="2000" dirty="0" smtClean="0"/>
              <a:t> FROM </a:t>
            </a:r>
            <a:r>
              <a:rPr lang="en-US" sz="2000" dirty="0" err="1" smtClean="0"/>
              <a:t>information_schema.tables</a:t>
            </a:r>
            <a:r>
              <a:rPr lang="en-US" sz="2000" dirty="0" smtClean="0"/>
              <a:t> WHERE </a:t>
            </a:r>
            <a:r>
              <a:rPr lang="en-US" sz="2000" dirty="0" err="1" smtClean="0"/>
              <a:t>table_schema</a:t>
            </a:r>
            <a:r>
              <a:rPr lang="en-US" sz="2000" dirty="0" smtClean="0"/>
              <a:t> NOT IN ('</a:t>
            </a:r>
            <a:r>
              <a:rPr lang="en-US" sz="2000" dirty="0" err="1" smtClean="0"/>
              <a:t>information_schema</a:t>
            </a:r>
            <a:r>
              <a:rPr lang="en-US" sz="2000" dirty="0" smtClean="0"/>
              <a:t>', '</a:t>
            </a:r>
            <a:r>
              <a:rPr lang="en-US" sz="2000" dirty="0" err="1" smtClean="0"/>
              <a:t>pg_catalog</a:t>
            </a:r>
            <a:r>
              <a:rPr lang="en-US" sz="2000" dirty="0" smtClean="0"/>
              <a:t>'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smtClean="0"/>
              <a:t>Фильтрация </a:t>
            </a:r>
            <a:r>
              <a:rPr lang="ru-RU" sz="2000" dirty="0"/>
              <a:t>по типу таблицы </a:t>
            </a:r>
            <a:r>
              <a:rPr lang="ru-RU" sz="2000" dirty="0" smtClean="0"/>
              <a:t>(</a:t>
            </a:r>
            <a:r>
              <a:rPr lang="ru-RU" sz="2000" dirty="0"/>
              <a:t>например, BASE TABLE или VIEW).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smtClean="0"/>
              <a:t>Сортировка </a:t>
            </a:r>
            <a:r>
              <a:rPr lang="ru-RU" sz="2000" dirty="0"/>
              <a:t>результатов </a:t>
            </a:r>
            <a:endParaRPr lang="ru-RU" sz="2000" dirty="0" smtClean="0"/>
          </a:p>
          <a:p>
            <a:pPr algn="just"/>
            <a:r>
              <a:rPr lang="ru-RU" sz="2000" b="1" dirty="0" err="1" smtClean="0"/>
              <a:t>Information</a:t>
            </a:r>
            <a:r>
              <a:rPr lang="ru-RU" sz="2000" b="1" dirty="0" smtClean="0"/>
              <a:t> </a:t>
            </a:r>
            <a:r>
              <a:rPr lang="ru-RU" sz="2000" b="1" dirty="0" err="1"/>
              <a:t>Schema</a:t>
            </a:r>
            <a:r>
              <a:rPr lang="ru-RU" sz="2000" b="1" dirty="0"/>
              <a:t> </a:t>
            </a:r>
            <a:r>
              <a:rPr lang="ru-RU" sz="2000" dirty="0"/>
              <a:t>— это схема системного каталога в </a:t>
            </a:r>
            <a:r>
              <a:rPr lang="ru-RU" sz="2000" dirty="0" err="1"/>
              <a:t>PostgreSQL</a:t>
            </a:r>
            <a:r>
              <a:rPr lang="ru-RU" sz="2000" dirty="0"/>
              <a:t>, которая хранит метаданные о базе данных, включая информацию о таблицах, представлениях, столбцах, ограничениях и других </a:t>
            </a:r>
            <a:r>
              <a:rPr lang="ru-RU" sz="2000" dirty="0" smtClean="0"/>
              <a:t>объектах.</a:t>
            </a:r>
          </a:p>
          <a:p>
            <a:pPr algn="ctr"/>
            <a:r>
              <a:rPr lang="ru-RU" sz="2000" b="1" dirty="0"/>
              <a:t>Структура</a:t>
            </a:r>
          </a:p>
          <a:p>
            <a:pPr algn="just"/>
            <a:r>
              <a:rPr lang="ru-RU" sz="2000" dirty="0"/>
              <a:t>Представления в схеме </a:t>
            </a:r>
            <a:r>
              <a:rPr lang="ru-RU" sz="2000" dirty="0" err="1"/>
              <a:t>Information</a:t>
            </a:r>
            <a:r>
              <a:rPr lang="ru-RU" sz="2000" dirty="0"/>
              <a:t> </a:t>
            </a:r>
            <a:r>
              <a:rPr lang="ru-RU" sz="2000" dirty="0" err="1"/>
              <a:t>Schema</a:t>
            </a:r>
            <a:r>
              <a:rPr lang="ru-RU" sz="2000" dirty="0"/>
              <a:t> не содержат информацию о специфических для </a:t>
            </a:r>
            <a:r>
              <a:rPr lang="ru-RU" sz="2000" dirty="0" err="1"/>
              <a:t>PostgreSQL</a:t>
            </a:r>
            <a:r>
              <a:rPr lang="ru-RU" sz="2000" dirty="0"/>
              <a:t> функциях </a:t>
            </a:r>
            <a:endParaRPr lang="ru-RU" sz="2000" dirty="0" smtClean="0"/>
          </a:p>
          <a:p>
            <a:pPr algn="ctr"/>
            <a:r>
              <a:rPr lang="ru-RU" sz="2000" b="1" dirty="0"/>
              <a:t>Виды</a:t>
            </a:r>
          </a:p>
          <a:p>
            <a:pPr algn="just"/>
            <a:r>
              <a:rPr lang="ru-RU" sz="2000" dirty="0"/>
              <a:t>Для получения информации из схемы </a:t>
            </a:r>
            <a:r>
              <a:rPr lang="en-US" sz="2000" dirty="0"/>
              <a:t>Information Schema </a:t>
            </a:r>
            <a:r>
              <a:rPr lang="ru-RU" sz="2000" dirty="0"/>
              <a:t>можно использовать запросы к представлениям и таблицам. Например: </a:t>
            </a:r>
          </a:p>
          <a:p>
            <a:pPr algn="just"/>
            <a:r>
              <a:rPr lang="ru-RU" sz="2000" dirty="0"/>
              <a:t>•	Чтобы получить список всех таблиц в базе данных, можно выполнить запрос: </a:t>
            </a:r>
          </a:p>
          <a:p>
            <a:pPr algn="just"/>
            <a:r>
              <a:rPr lang="en-US" sz="2000" dirty="0"/>
              <a:t>SELECT </a:t>
            </a:r>
            <a:r>
              <a:rPr lang="en-US" sz="2000" dirty="0" err="1"/>
              <a:t>table_name</a:t>
            </a:r>
            <a:r>
              <a:rPr lang="en-US" sz="2000" dirty="0"/>
              <a:t> FROM </a:t>
            </a:r>
            <a:r>
              <a:rPr lang="en-US" sz="2000" dirty="0" err="1"/>
              <a:t>information_schema.tables</a:t>
            </a:r>
            <a:r>
              <a:rPr lang="en-US" sz="2000" dirty="0"/>
              <a:t> WHERE </a:t>
            </a:r>
            <a:r>
              <a:rPr lang="en-US" sz="2000" dirty="0" err="1"/>
              <a:t>table_schema</a:t>
            </a:r>
            <a:r>
              <a:rPr lang="en-US" sz="2000" dirty="0"/>
              <a:t> = 'public'</a:t>
            </a:r>
          </a:p>
          <a:p>
            <a:pPr algn="just"/>
            <a:r>
              <a:rPr lang="en-US" sz="2000" dirty="0" smtClean="0"/>
              <a:t>•</a:t>
            </a:r>
            <a:r>
              <a:rPr lang="en-US" sz="2000" dirty="0"/>
              <a:t>	</a:t>
            </a:r>
            <a:r>
              <a:rPr lang="ru-RU" sz="2000" dirty="0"/>
              <a:t>Чтобы получить информацию о столбцах конкретной таблицы, можно использовать запрос: </a:t>
            </a:r>
          </a:p>
          <a:p>
            <a:pPr algn="just"/>
            <a:r>
              <a:rPr lang="en-US" sz="2000" dirty="0"/>
              <a:t>SELECT </a:t>
            </a:r>
            <a:r>
              <a:rPr lang="en-US" sz="2000" dirty="0" err="1"/>
              <a:t>column_name</a:t>
            </a:r>
            <a:r>
              <a:rPr lang="en-US" sz="2000" dirty="0"/>
              <a:t>, </a:t>
            </a:r>
            <a:r>
              <a:rPr lang="en-US" sz="2000" dirty="0" err="1"/>
              <a:t>data_type</a:t>
            </a:r>
            <a:r>
              <a:rPr lang="en-US" sz="2000" dirty="0"/>
              <a:t> FROM </a:t>
            </a:r>
            <a:r>
              <a:rPr lang="en-US" sz="2000" dirty="0" err="1"/>
              <a:t>information_schema.columns</a:t>
            </a:r>
            <a:r>
              <a:rPr lang="en-US" sz="2000" dirty="0"/>
              <a:t> WHERE </a:t>
            </a:r>
            <a:r>
              <a:rPr lang="en-US" sz="2000" dirty="0" err="1"/>
              <a:t>table_name</a:t>
            </a:r>
            <a:r>
              <a:rPr lang="en-US" sz="2000" dirty="0"/>
              <a:t> = 'album'</a:t>
            </a:r>
          </a:p>
          <a:p>
            <a:pPr algn="just"/>
            <a:r>
              <a:rPr lang="en-US" sz="2000" dirty="0" smtClean="0"/>
              <a:t>•</a:t>
            </a:r>
            <a:r>
              <a:rPr lang="en-US" sz="2000" dirty="0"/>
              <a:t>	</a:t>
            </a:r>
            <a:r>
              <a:rPr lang="ru-RU" sz="2000" dirty="0"/>
              <a:t>Чтобы получить ограничения для конкретной таблицы, можно использовать запрос: </a:t>
            </a:r>
          </a:p>
          <a:p>
            <a:pPr algn="just"/>
            <a:r>
              <a:rPr lang="en-US" sz="2000" dirty="0"/>
              <a:t>SELECT </a:t>
            </a:r>
            <a:r>
              <a:rPr lang="en-US" sz="2000" dirty="0" err="1"/>
              <a:t>constraint_name</a:t>
            </a:r>
            <a:r>
              <a:rPr lang="en-US" sz="2000" dirty="0"/>
              <a:t>, </a:t>
            </a:r>
            <a:r>
              <a:rPr lang="en-US" sz="2000" dirty="0" err="1"/>
              <a:t>constraint_type</a:t>
            </a:r>
            <a:r>
              <a:rPr lang="en-US" sz="2000" dirty="0"/>
              <a:t> FROM </a:t>
            </a:r>
            <a:r>
              <a:rPr lang="en-US" sz="2000" dirty="0" err="1"/>
              <a:t>information_schema.table_constraints</a:t>
            </a:r>
            <a:r>
              <a:rPr lang="en-US" sz="2000" dirty="0"/>
              <a:t> WHERE </a:t>
            </a:r>
            <a:r>
              <a:rPr lang="en-US" sz="2000" dirty="0" err="1"/>
              <a:t>table_name</a:t>
            </a:r>
            <a:r>
              <a:rPr lang="en-US" sz="2000" dirty="0"/>
              <a:t>='album</a:t>
            </a:r>
            <a:r>
              <a:rPr lang="en-US" sz="2000" dirty="0" smtClean="0"/>
              <a:t>'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29008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4842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  <a:p>
            <a:endParaRPr lang="ru-RU" sz="2400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 smtClean="0"/>
              <a:t>pg_catalog</a:t>
            </a:r>
            <a:endParaRPr lang="ru-RU" sz="2000" b="1" dirty="0" smtClean="0"/>
          </a:p>
          <a:p>
            <a:pPr algn="just"/>
            <a:r>
              <a:rPr lang="ru-RU" sz="2000" dirty="0" smtClean="0"/>
              <a:t>Представление </a:t>
            </a:r>
            <a:r>
              <a:rPr lang="ru-RU" sz="2000" b="1" dirty="0" err="1"/>
              <a:t>pg_catalog.pg_tables</a:t>
            </a:r>
            <a:r>
              <a:rPr lang="ru-RU" sz="2000" dirty="0"/>
              <a:t> — содержит информацию о таблицах. </a:t>
            </a:r>
            <a:endParaRPr lang="ru-RU" sz="2000" dirty="0" smtClean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smtClean="0"/>
              <a:t>SELECT </a:t>
            </a:r>
            <a:r>
              <a:rPr lang="ru-RU" sz="2000" dirty="0" err="1"/>
              <a:t>tablename</a:t>
            </a:r>
            <a:r>
              <a:rPr lang="ru-RU" sz="2000" dirty="0"/>
              <a:t> FROM </a:t>
            </a:r>
            <a:r>
              <a:rPr lang="ru-RU" sz="2000" dirty="0" err="1"/>
              <a:t>pg_catalog.pg_tables</a:t>
            </a:r>
            <a:r>
              <a:rPr lang="ru-RU" sz="2000" dirty="0"/>
              <a:t> WHERE </a:t>
            </a:r>
            <a:r>
              <a:rPr lang="ru-RU" sz="2000" dirty="0" err="1"/>
              <a:t>schemaname</a:t>
            </a:r>
            <a:r>
              <a:rPr lang="ru-RU" sz="2000" dirty="0"/>
              <a:t> = '</a:t>
            </a:r>
            <a:r>
              <a:rPr lang="ru-RU" sz="2000" dirty="0" err="1"/>
              <a:t>public</a:t>
            </a:r>
            <a:r>
              <a:rPr lang="ru-RU" sz="2000" dirty="0"/>
              <a:t>'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ru-RU" sz="2000" dirty="0" smtClean="0"/>
              <a:t>Настройка фильтрации.</a:t>
            </a:r>
            <a:endParaRPr lang="ru-RU" sz="2000" dirty="0"/>
          </a:p>
          <a:p>
            <a:pPr algn="ctr"/>
            <a:r>
              <a:rPr lang="ru-RU" sz="2000" dirty="0"/>
              <a:t> </a:t>
            </a:r>
            <a:r>
              <a:rPr lang="ru-RU" sz="2000" b="1" dirty="0"/>
              <a:t>GUI-инструменты</a:t>
            </a:r>
          </a:p>
          <a:p>
            <a:pPr algn="just"/>
            <a:r>
              <a:rPr lang="ru-RU" sz="2000" dirty="0"/>
              <a:t>•	</a:t>
            </a:r>
            <a:r>
              <a:rPr lang="ru-RU" sz="2000" dirty="0" err="1" smtClean="0"/>
              <a:t>pgAdmin</a:t>
            </a:r>
            <a:r>
              <a:rPr lang="ru-RU" sz="2000" dirty="0" smtClean="0"/>
              <a:t>. нужно </a:t>
            </a:r>
            <a:r>
              <a:rPr lang="ru-RU" sz="2000" dirty="0"/>
              <a:t>перейти по структуре дерева </a:t>
            </a:r>
            <a:r>
              <a:rPr lang="ru-RU" sz="2000" dirty="0" err="1"/>
              <a:t>Object</a:t>
            </a:r>
            <a:r>
              <a:rPr lang="ru-RU" sz="2000" dirty="0"/>
              <a:t> </a:t>
            </a:r>
            <a:r>
              <a:rPr lang="ru-RU" sz="2000" dirty="0" err="1"/>
              <a:t>Browser</a:t>
            </a:r>
            <a:r>
              <a:rPr lang="ru-RU" sz="2000" dirty="0"/>
              <a:t> к узлу «Таблицы», чтобы увидеть список всех доступных таблиц.  </a:t>
            </a:r>
          </a:p>
          <a:p>
            <a:pPr algn="just"/>
            <a:r>
              <a:rPr lang="ru-RU" sz="2000" dirty="0"/>
              <a:t>•	</a:t>
            </a:r>
            <a:r>
              <a:rPr lang="ru-RU" sz="2000" dirty="0" err="1"/>
              <a:t>Beekeeper</a:t>
            </a:r>
            <a:r>
              <a:rPr lang="ru-RU" sz="2000" dirty="0"/>
              <a:t> </a:t>
            </a:r>
            <a:r>
              <a:rPr lang="ru-RU" sz="2000" dirty="0" err="1"/>
              <a:t>Studio</a:t>
            </a:r>
            <a:r>
              <a:rPr lang="ru-RU" sz="2000" dirty="0"/>
              <a:t> </a:t>
            </a:r>
            <a:endParaRPr lang="ru-RU" sz="2000" dirty="0" smtClean="0"/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</a:t>
            </a:r>
            <a:r>
              <a:rPr lang="ru-RU" sz="2000" dirty="0" err="1"/>
              <a:t>TablePlus</a:t>
            </a:r>
            <a:r>
              <a:rPr lang="ru-RU" sz="2000" dirty="0"/>
              <a:t> </a:t>
            </a:r>
            <a:r>
              <a:rPr lang="ru-RU" sz="2000" dirty="0" smtClean="0"/>
              <a:t>-GUI-клиент</a:t>
            </a:r>
            <a:r>
              <a:rPr lang="ru-RU" sz="2000" dirty="0"/>
              <a:t>, </a:t>
            </a:r>
            <a:r>
              <a:rPr lang="ru-RU" sz="2000" dirty="0" smtClean="0"/>
              <a:t>(</a:t>
            </a:r>
            <a:r>
              <a:rPr lang="ru-RU" sz="2000" dirty="0"/>
              <a:t>запросы, просмотр таблиц, редактирование строк).</a:t>
            </a:r>
          </a:p>
          <a:p>
            <a:pPr algn="ctr"/>
            <a:r>
              <a:rPr lang="ru-RU" sz="2000" b="1" dirty="0" err="1"/>
              <a:t>pg_catalog</a:t>
            </a:r>
            <a:r>
              <a:rPr lang="ru-RU" sz="2000" b="1" dirty="0"/>
              <a:t> </a:t>
            </a:r>
            <a:r>
              <a:rPr lang="ru-RU" sz="2000" dirty="0"/>
              <a:t>— схема в </a:t>
            </a:r>
            <a:r>
              <a:rPr lang="ru-RU" sz="2000" dirty="0" err="1"/>
              <a:t>PostgreSQL</a:t>
            </a:r>
            <a:r>
              <a:rPr lang="ru-RU" sz="2000" dirty="0"/>
              <a:t>, в которой находятся системные таблицы и </a:t>
            </a:r>
            <a:r>
              <a:rPr lang="ru-RU" sz="2000" dirty="0" smtClean="0"/>
              <a:t>представления.</a:t>
            </a:r>
          </a:p>
          <a:p>
            <a:pPr algn="ctr"/>
            <a:r>
              <a:rPr lang="ru-RU" sz="2000" b="1" dirty="0" smtClean="0"/>
              <a:t>Структура</a:t>
            </a:r>
            <a:endParaRPr lang="ru-RU" sz="2000" b="1" dirty="0"/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</a:t>
            </a:r>
            <a:r>
              <a:rPr lang="ru-RU" sz="2000" dirty="0" err="1"/>
              <a:t>pg_class</a:t>
            </a:r>
            <a:r>
              <a:rPr lang="ru-RU" sz="2000" dirty="0"/>
              <a:t> — хранит информацию о таблицах, индексах, последовательностях;</a:t>
            </a:r>
          </a:p>
          <a:p>
            <a:pPr algn="just"/>
            <a:r>
              <a:rPr lang="ru-RU" sz="2000" dirty="0"/>
              <a:t>•	</a:t>
            </a:r>
            <a:r>
              <a:rPr lang="ru-RU" sz="2000" dirty="0" err="1"/>
              <a:t>pg_attribute</a:t>
            </a:r>
            <a:r>
              <a:rPr lang="ru-RU" sz="2000" dirty="0"/>
              <a:t> — содержит данные о столбцах таблиц;</a:t>
            </a:r>
          </a:p>
          <a:p>
            <a:pPr algn="just"/>
            <a:r>
              <a:rPr lang="ru-RU" sz="2000" dirty="0"/>
              <a:t>•	</a:t>
            </a:r>
            <a:r>
              <a:rPr lang="ru-RU" sz="2000" dirty="0" err="1"/>
              <a:t>pg_index</a:t>
            </a:r>
            <a:r>
              <a:rPr lang="ru-RU" sz="2000" dirty="0"/>
              <a:t> — информация об индексах;</a:t>
            </a:r>
          </a:p>
          <a:p>
            <a:pPr algn="just"/>
            <a:r>
              <a:rPr lang="ru-RU" sz="2000" dirty="0"/>
              <a:t>•	</a:t>
            </a:r>
            <a:r>
              <a:rPr lang="ru-RU" sz="2000" dirty="0" err="1"/>
              <a:t>pg_database</a:t>
            </a:r>
            <a:r>
              <a:rPr lang="ru-RU" sz="2000" dirty="0"/>
              <a:t> — список всех баз данных;</a:t>
            </a:r>
          </a:p>
          <a:p>
            <a:pPr algn="just"/>
            <a:r>
              <a:rPr lang="ru-RU" sz="2000" dirty="0"/>
              <a:t>•	</a:t>
            </a:r>
            <a:r>
              <a:rPr lang="ru-RU" sz="2000" dirty="0" err="1"/>
              <a:t>pg_user</a:t>
            </a:r>
            <a:r>
              <a:rPr lang="ru-RU" sz="2000" dirty="0"/>
              <a:t>/</a:t>
            </a:r>
            <a:r>
              <a:rPr lang="ru-RU" sz="2000" dirty="0" err="1"/>
              <a:t>pg_roles</a:t>
            </a:r>
            <a:r>
              <a:rPr lang="ru-RU" sz="2000" dirty="0"/>
              <a:t> — данные о пользователях и ролях;</a:t>
            </a:r>
          </a:p>
          <a:p>
            <a:pPr algn="just"/>
            <a:r>
              <a:rPr lang="ru-RU" sz="2000" dirty="0"/>
              <a:t>•	</a:t>
            </a:r>
            <a:r>
              <a:rPr lang="ru-RU" sz="2000" dirty="0" err="1"/>
              <a:t>pg_tablespace</a:t>
            </a:r>
            <a:r>
              <a:rPr lang="ru-RU" sz="2000" dirty="0"/>
              <a:t> — информация о табличных пространствах.</a:t>
            </a:r>
          </a:p>
          <a:p>
            <a:pPr algn="ctr"/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474576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354842"/>
            <a:ext cx="12192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  <a:p>
            <a:endParaRPr lang="ru-RU" sz="24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2192000" cy="66479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/>
              <a:t>Особенности структуры:</a:t>
            </a:r>
          </a:p>
          <a:p>
            <a:r>
              <a:rPr lang="ru-RU" dirty="0"/>
              <a:t>•	Все имена таблиц имеют префикс </a:t>
            </a:r>
            <a:r>
              <a:rPr lang="ru-RU" dirty="0" err="1"/>
              <a:t>pg</a:t>
            </a:r>
            <a:r>
              <a:rPr lang="ru-RU" dirty="0"/>
              <a:t>_, например </a:t>
            </a:r>
            <a:r>
              <a:rPr lang="ru-RU" dirty="0" err="1"/>
              <a:t>pg_database</a:t>
            </a:r>
            <a:r>
              <a:rPr lang="ru-RU" dirty="0"/>
              <a:t>.  </a:t>
            </a:r>
          </a:p>
          <a:p>
            <a:r>
              <a:rPr lang="ru-RU" dirty="0"/>
              <a:t>•	Во всех таблицах столбец с первичным ключом называется </a:t>
            </a:r>
            <a:r>
              <a:rPr lang="ru-RU" dirty="0" err="1"/>
              <a:t>oid</a:t>
            </a:r>
            <a:r>
              <a:rPr lang="ru-RU" dirty="0"/>
              <a:t> и имеет одноимённый тип </a:t>
            </a:r>
            <a:r>
              <a:rPr lang="ru-RU" dirty="0" err="1"/>
              <a:t>oid</a:t>
            </a:r>
            <a:r>
              <a:rPr lang="ru-RU" dirty="0"/>
              <a:t> (</a:t>
            </a:r>
            <a:r>
              <a:rPr lang="ru-RU" dirty="0" err="1"/>
              <a:t>object</a:t>
            </a:r>
            <a:r>
              <a:rPr lang="ru-RU" dirty="0"/>
              <a:t> </a:t>
            </a:r>
            <a:r>
              <a:rPr lang="ru-RU" dirty="0" err="1"/>
              <a:t>identifier</a:t>
            </a:r>
            <a:r>
              <a:rPr lang="ru-RU" dirty="0"/>
              <a:t>) </a:t>
            </a:r>
            <a:endParaRPr lang="ru-RU" dirty="0" smtClean="0"/>
          </a:p>
          <a:p>
            <a:r>
              <a:rPr lang="ru-RU" dirty="0" smtClean="0"/>
              <a:t>•</a:t>
            </a:r>
            <a:r>
              <a:rPr lang="ru-RU" dirty="0"/>
              <a:t>	Названия столбцов имеют трёхбуквенный префикс, который, как правило, соответствует имени таблицы. </a:t>
            </a:r>
          </a:p>
          <a:p>
            <a:r>
              <a:rPr lang="ru-RU" dirty="0"/>
              <a:t>•	Названия объектов в системном каталоге всегда хранятся в нижнем регистре.  </a:t>
            </a:r>
          </a:p>
          <a:p>
            <a:pPr algn="ctr"/>
            <a:r>
              <a:rPr lang="ru-RU" b="1" dirty="0"/>
              <a:t>Функции</a:t>
            </a:r>
          </a:p>
          <a:p>
            <a:r>
              <a:rPr lang="ru-RU" dirty="0"/>
              <a:t>Системный каталог помогает:</a:t>
            </a:r>
          </a:p>
          <a:p>
            <a:r>
              <a:rPr lang="ru-RU" dirty="0"/>
              <a:t>•	анализировать схемы базы данных на изменения или миграции;</a:t>
            </a:r>
          </a:p>
          <a:p>
            <a:r>
              <a:rPr lang="ru-RU" dirty="0"/>
              <a:t>•	поддерживать документацию, генерируя отчёты по схемам;</a:t>
            </a:r>
          </a:p>
          <a:p>
            <a:r>
              <a:rPr lang="ru-RU" dirty="0"/>
              <a:t>•	контролировать производительность, изучая использование индексов и планы запросов;</a:t>
            </a:r>
          </a:p>
          <a:p>
            <a:r>
              <a:rPr lang="ru-RU" dirty="0"/>
              <a:t>•	устранять проблемы, проверяя зависимости объектов и </a:t>
            </a:r>
            <a:r>
              <a:rPr lang="ru-RU" dirty="0" smtClean="0"/>
              <a:t>ограничения</a:t>
            </a:r>
          </a:p>
          <a:p>
            <a:pPr algn="ctr"/>
            <a:r>
              <a:rPr lang="ru-RU" b="1" dirty="0"/>
              <a:t>Доступ</a:t>
            </a:r>
          </a:p>
          <a:p>
            <a:r>
              <a:rPr lang="ru-RU" dirty="0"/>
              <a:t>К системному каталогу можно обращаться с помощью запросов </a:t>
            </a:r>
            <a:r>
              <a:rPr lang="en-US" dirty="0"/>
              <a:t>SQL. </a:t>
            </a:r>
          </a:p>
          <a:p>
            <a:r>
              <a:rPr lang="ru-RU" dirty="0"/>
              <a:t>Например:  </a:t>
            </a:r>
          </a:p>
          <a:p>
            <a:r>
              <a:rPr lang="ru-RU" dirty="0" smtClean="0"/>
              <a:t>• Получить </a:t>
            </a:r>
            <a:r>
              <a:rPr lang="ru-RU" dirty="0"/>
              <a:t>список всех таблиц — </a:t>
            </a:r>
            <a:r>
              <a:rPr lang="en-US" dirty="0"/>
              <a:t>SELECT </a:t>
            </a:r>
            <a:r>
              <a:rPr lang="en-US" dirty="0" err="1"/>
              <a:t>tablename</a:t>
            </a:r>
            <a:r>
              <a:rPr lang="en-US" dirty="0"/>
              <a:t> FROM </a:t>
            </a:r>
            <a:r>
              <a:rPr lang="en-US" dirty="0" err="1"/>
              <a:t>pg_tables</a:t>
            </a:r>
            <a:r>
              <a:rPr lang="en-US" dirty="0"/>
              <a:t> WHERE </a:t>
            </a:r>
            <a:r>
              <a:rPr lang="en-US" dirty="0" err="1"/>
              <a:t>schemaname</a:t>
            </a:r>
            <a:r>
              <a:rPr lang="en-US" dirty="0"/>
              <a:t> = 'public'</a:t>
            </a:r>
          </a:p>
          <a:p>
            <a:r>
              <a:rPr lang="en-US" dirty="0" smtClean="0"/>
              <a:t>.•</a:t>
            </a:r>
            <a:r>
              <a:rPr lang="ru-RU" dirty="0" smtClean="0"/>
              <a:t> Найти </a:t>
            </a:r>
            <a:r>
              <a:rPr lang="ru-RU" dirty="0"/>
              <a:t>все индексы таблицы — </a:t>
            </a:r>
            <a:r>
              <a:rPr lang="en-US" dirty="0"/>
              <a:t>SELECT </a:t>
            </a:r>
            <a:r>
              <a:rPr lang="en-US" dirty="0" err="1"/>
              <a:t>indexname</a:t>
            </a:r>
            <a:r>
              <a:rPr lang="en-US" dirty="0"/>
              <a:t>, </a:t>
            </a:r>
            <a:r>
              <a:rPr lang="en-US" dirty="0" err="1"/>
              <a:t>indexdef</a:t>
            </a:r>
            <a:r>
              <a:rPr lang="en-US" dirty="0"/>
              <a:t> FROM </a:t>
            </a:r>
            <a:r>
              <a:rPr lang="en-US" dirty="0" err="1"/>
              <a:t>pg_indexes</a:t>
            </a:r>
            <a:r>
              <a:rPr lang="en-US" dirty="0"/>
              <a:t> WHERE </a:t>
            </a:r>
            <a:r>
              <a:rPr lang="en-US" dirty="0" err="1"/>
              <a:t>tablename</a:t>
            </a:r>
            <a:r>
              <a:rPr lang="en-US" dirty="0"/>
              <a:t> = '</a:t>
            </a:r>
            <a:r>
              <a:rPr lang="en-US" dirty="0" err="1"/>
              <a:t>your_table</a:t>
            </a:r>
            <a:r>
              <a:rPr lang="en-US" dirty="0"/>
              <a:t>'</a:t>
            </a:r>
          </a:p>
          <a:p>
            <a:r>
              <a:rPr lang="en-US" dirty="0" smtClean="0"/>
              <a:t>.•</a:t>
            </a:r>
            <a:r>
              <a:rPr lang="ru-RU" dirty="0" smtClean="0"/>
              <a:t> Просмотреть </a:t>
            </a:r>
            <a:r>
              <a:rPr lang="ru-RU" dirty="0"/>
              <a:t>активные подключения —</a:t>
            </a:r>
            <a:r>
              <a:rPr lang="en-US" dirty="0"/>
              <a:t>SELECT </a:t>
            </a:r>
            <a:r>
              <a:rPr lang="en-US" dirty="0" err="1"/>
              <a:t>pid</a:t>
            </a:r>
            <a:r>
              <a:rPr lang="en-US" dirty="0"/>
              <a:t>, </a:t>
            </a:r>
            <a:r>
              <a:rPr lang="en-US" dirty="0" err="1"/>
              <a:t>usename</a:t>
            </a:r>
            <a:r>
              <a:rPr lang="en-US" dirty="0"/>
              <a:t>, </a:t>
            </a:r>
            <a:r>
              <a:rPr lang="en-US" dirty="0" err="1"/>
              <a:t>application_name</a:t>
            </a:r>
            <a:r>
              <a:rPr lang="en-US" dirty="0"/>
              <a:t>, state FROM </a:t>
            </a:r>
            <a:r>
              <a:rPr lang="en-US" dirty="0" err="1"/>
              <a:t>pg_stat_activity</a:t>
            </a:r>
            <a:endParaRPr lang="en-US" dirty="0"/>
          </a:p>
          <a:p>
            <a:r>
              <a:rPr lang="ru-RU" sz="2000" dirty="0" smtClean="0"/>
              <a:t>для </a:t>
            </a:r>
            <a:r>
              <a:rPr lang="ru-RU" sz="2000" dirty="0"/>
              <a:t>работы с системным каталогом используется утилита </a:t>
            </a:r>
            <a:r>
              <a:rPr lang="ru-RU" sz="2000" dirty="0" err="1"/>
              <a:t>psql</a:t>
            </a:r>
            <a:r>
              <a:rPr lang="ru-RU" sz="2000" dirty="0"/>
              <a:t>, которая предлагает встроенные </a:t>
            </a:r>
            <a:r>
              <a:rPr lang="ru-RU" sz="2000" dirty="0" smtClean="0"/>
              <a:t>команды: </a:t>
            </a:r>
            <a:endParaRPr lang="ru-RU" sz="2000" dirty="0"/>
          </a:p>
          <a:p>
            <a:r>
              <a:rPr lang="ru-RU" sz="2000" dirty="0"/>
              <a:t>\</a:t>
            </a:r>
            <a:r>
              <a:rPr lang="ru-RU" sz="2000" dirty="0" err="1"/>
              <a:t>dt</a:t>
            </a:r>
            <a:r>
              <a:rPr lang="ru-RU" sz="2000" dirty="0"/>
              <a:t> — таблицы, </a:t>
            </a:r>
          </a:p>
          <a:p>
            <a:r>
              <a:rPr lang="ru-RU" sz="2000" dirty="0"/>
              <a:t>\</a:t>
            </a:r>
            <a:r>
              <a:rPr lang="ru-RU" sz="2000" dirty="0" err="1"/>
              <a:t>dv</a:t>
            </a:r>
            <a:r>
              <a:rPr lang="ru-RU" sz="2000" dirty="0"/>
              <a:t> — представления, </a:t>
            </a:r>
          </a:p>
          <a:p>
            <a:r>
              <a:rPr lang="ru-RU" sz="2000" dirty="0"/>
              <a:t>\</a:t>
            </a:r>
            <a:r>
              <a:rPr lang="ru-RU" sz="2000" dirty="0" err="1"/>
              <a:t>dn</a:t>
            </a:r>
            <a:r>
              <a:rPr lang="ru-RU" sz="2000" dirty="0"/>
              <a:t> — схемы.  </a:t>
            </a:r>
          </a:p>
          <a:p>
            <a:pPr algn="ctr"/>
            <a:r>
              <a:rPr lang="ru-RU" sz="2000" b="1" dirty="0"/>
              <a:t>Управление</a:t>
            </a:r>
          </a:p>
          <a:p>
            <a:r>
              <a:rPr lang="ru-RU" sz="2000" dirty="0" err="1"/>
              <a:t>pg_catalog</a:t>
            </a:r>
            <a:r>
              <a:rPr lang="ru-RU" sz="2000" dirty="0"/>
              <a:t> фактически всегда является частью пути поиска</a:t>
            </a:r>
          </a:p>
        </p:txBody>
      </p:sp>
    </p:spTree>
    <p:extLst>
      <p:ext uri="{BB962C8B-B14F-4D97-AF65-F5344CB8AC3E}">
        <p14:creationId xmlns:p14="http://schemas.microsoft.com/office/powerpoint/2010/main" val="815978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11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726580" y="2341171"/>
            <a:ext cx="1025419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ru-RU" sz="4000" b="1" dirty="0">
                <a:solidFill>
                  <a:srgbClr val="FF0000"/>
                </a:solidFill>
              </a:rPr>
              <a:t>Методы формирования соединений наборов </a:t>
            </a:r>
            <a:r>
              <a:rPr lang="ru-RU" sz="4000" b="1" dirty="0" smtClean="0">
                <a:solidFill>
                  <a:srgbClr val="FF0000"/>
                </a:solidFill>
              </a:rPr>
              <a:t>строк</a:t>
            </a:r>
          </a:p>
          <a:p>
            <a:pPr lvl="1" algn="ctr"/>
            <a:r>
              <a:rPr lang="ru-RU" sz="4000" b="1" dirty="0" smtClean="0"/>
              <a:t>Вопрос 3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79622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В </a:t>
            </a:r>
            <a:r>
              <a:rPr lang="ru-RU" sz="2000" dirty="0" err="1"/>
              <a:t>PostgreSQL</a:t>
            </a:r>
            <a:r>
              <a:rPr lang="ru-RU" sz="2000" dirty="0"/>
              <a:t> для формирования соединений наборов строк (</a:t>
            </a:r>
            <a:r>
              <a:rPr lang="ru-RU" sz="2000" dirty="0" err="1"/>
              <a:t>join</a:t>
            </a:r>
            <a:r>
              <a:rPr lang="ru-RU" sz="2000" dirty="0"/>
              <a:t>) используются три метода: </a:t>
            </a:r>
            <a:endParaRPr lang="ru-RU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«</a:t>
            </a:r>
            <a:r>
              <a:rPr lang="ru-RU" sz="2000" dirty="0"/>
              <a:t>вложенный цикл» (</a:t>
            </a:r>
            <a:r>
              <a:rPr lang="ru-RU" sz="2000" dirty="0" err="1"/>
              <a:t>nested</a:t>
            </a:r>
            <a:r>
              <a:rPr lang="ru-RU" sz="2000" dirty="0"/>
              <a:t> </a:t>
            </a:r>
            <a:r>
              <a:rPr lang="ru-RU" sz="2000" dirty="0" err="1"/>
              <a:t>loop</a:t>
            </a:r>
            <a:r>
              <a:rPr lang="ru-RU" sz="2000" dirty="0" smtClean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хеширование </a:t>
            </a:r>
            <a:r>
              <a:rPr lang="ru-RU" sz="2000" dirty="0"/>
              <a:t>(</a:t>
            </a:r>
            <a:r>
              <a:rPr lang="ru-RU" sz="2000" dirty="0" err="1"/>
              <a:t>hash</a:t>
            </a:r>
            <a:r>
              <a:rPr lang="ru-RU" sz="2000" dirty="0"/>
              <a:t> </a:t>
            </a:r>
            <a:r>
              <a:rPr lang="ru-RU" sz="2000" dirty="0" err="1"/>
              <a:t>join</a:t>
            </a:r>
            <a:r>
              <a:rPr lang="ru-RU" sz="2000" dirty="0"/>
              <a:t>) </a:t>
            </a:r>
            <a:endParaRPr lang="ru-RU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слияние (</a:t>
            </a:r>
            <a:r>
              <a:rPr lang="ru-RU" sz="2000" dirty="0" err="1" smtClean="0"/>
              <a:t>merge</a:t>
            </a:r>
            <a:r>
              <a:rPr lang="ru-RU" sz="2000" dirty="0" smtClean="0"/>
              <a:t> </a:t>
            </a:r>
            <a:r>
              <a:rPr lang="ru-RU" sz="2000" dirty="0" err="1" smtClean="0"/>
              <a:t>join</a:t>
            </a:r>
            <a:r>
              <a:rPr lang="ru-RU" sz="2000" dirty="0" smtClean="0"/>
              <a:t>). </a:t>
            </a:r>
          </a:p>
          <a:p>
            <a:pPr algn="ctr"/>
            <a:r>
              <a:rPr lang="ru-RU" sz="2000" b="1" dirty="0" smtClean="0"/>
              <a:t>Вложенный цикл (</a:t>
            </a:r>
            <a:r>
              <a:rPr lang="en-US" sz="2000" b="1" dirty="0" smtClean="0"/>
              <a:t>nested loop)</a:t>
            </a:r>
            <a:endParaRPr lang="ru-RU" sz="2000" b="1" dirty="0" smtClean="0"/>
          </a:p>
          <a:p>
            <a:pPr algn="just"/>
            <a:r>
              <a:rPr lang="ru-RU" sz="2000" b="1" dirty="0"/>
              <a:t>Алгоритм: </a:t>
            </a:r>
            <a:r>
              <a:rPr lang="ru-RU" sz="2000" dirty="0"/>
              <a:t>для каждой строки одного из наборов перебираются и возвращаются соответствующие ему строки второго </a:t>
            </a:r>
            <a:r>
              <a:rPr lang="ru-RU" sz="2000" dirty="0" smtClean="0"/>
              <a:t>набора</a:t>
            </a:r>
          </a:p>
          <a:p>
            <a:pPr algn="just"/>
            <a:r>
              <a:rPr lang="ru-RU" sz="2000" b="1" dirty="0"/>
              <a:t>Особенности:</a:t>
            </a:r>
          </a:p>
          <a:p>
            <a:pPr algn="just"/>
            <a:r>
              <a:rPr lang="ru-RU" sz="2000" dirty="0"/>
              <a:t>•	Поддерживает соединения как на основе равенства значений атрибутов (</a:t>
            </a:r>
            <a:r>
              <a:rPr lang="ru-RU" sz="2000" dirty="0" smtClean="0"/>
              <a:t>эквисоединения)</a:t>
            </a:r>
            <a:endParaRPr lang="ru-RU" sz="2000" dirty="0"/>
          </a:p>
          <a:p>
            <a:pPr algn="just"/>
            <a:r>
              <a:rPr lang="ru-RU" sz="2000" dirty="0"/>
              <a:t>•	Не требует подготовительных </a:t>
            </a:r>
            <a:r>
              <a:rPr lang="ru-RU" sz="2000" dirty="0" smtClean="0"/>
              <a:t>действий.</a:t>
            </a:r>
            <a:endParaRPr lang="ru-RU" sz="2000" dirty="0"/>
          </a:p>
          <a:p>
            <a:pPr algn="just"/>
            <a:r>
              <a:rPr lang="ru-RU" sz="2000" dirty="0"/>
              <a:t>•	Эффективен для небольших </a:t>
            </a:r>
            <a:r>
              <a:rPr lang="ru-RU" sz="2000" dirty="0" smtClean="0"/>
              <a:t>выборок.</a:t>
            </a:r>
            <a:endParaRPr lang="ru-RU" sz="2000" dirty="0"/>
          </a:p>
          <a:p>
            <a:pPr algn="just"/>
            <a:r>
              <a:rPr lang="ru-RU" sz="2000" b="1" dirty="0" err="1"/>
              <a:t>Nested</a:t>
            </a:r>
            <a:r>
              <a:rPr lang="ru-RU" sz="2000" b="1" dirty="0"/>
              <a:t> </a:t>
            </a:r>
            <a:r>
              <a:rPr lang="ru-RU" sz="2000" b="1" dirty="0" err="1"/>
              <a:t>Loop</a:t>
            </a:r>
            <a:r>
              <a:rPr lang="ru-RU" sz="2000" b="1" dirty="0"/>
              <a:t> </a:t>
            </a:r>
            <a:r>
              <a:rPr lang="ru-RU" sz="2000" dirty="0"/>
              <a:t>— метод соединения в </a:t>
            </a:r>
            <a:r>
              <a:rPr lang="ru-RU" sz="2000" dirty="0" err="1"/>
              <a:t>PostgreSQL</a:t>
            </a:r>
            <a:r>
              <a:rPr lang="ru-RU" sz="2000" dirty="0"/>
              <a:t>, использующий вложенные циклы. </a:t>
            </a:r>
            <a:endParaRPr lang="ru-RU" sz="2000" dirty="0" smtClean="0"/>
          </a:p>
          <a:p>
            <a:pPr algn="just"/>
            <a:r>
              <a:rPr lang="ru-RU" sz="2000" i="1" dirty="0"/>
              <a:t>Когда планировщик использует этот алгоритм:</a:t>
            </a:r>
          </a:p>
          <a:p>
            <a:pPr algn="just"/>
            <a:r>
              <a:rPr lang="ru-RU" sz="2000" dirty="0"/>
              <a:t>•	Внешняя (ведущая) таблица мала.</a:t>
            </a:r>
          </a:p>
          <a:p>
            <a:pPr algn="just"/>
            <a:r>
              <a:rPr lang="ru-RU" sz="2000" dirty="0"/>
              <a:t>•	На столбце соединения внутренней таблицы существует индекс.</a:t>
            </a:r>
          </a:p>
          <a:p>
            <a:pPr algn="just"/>
            <a:r>
              <a:rPr lang="ru-RU" sz="2000" dirty="0"/>
              <a:t>•	Соединение использует условие неравенства (&lt;, &gt;, BETWEEN) — </a:t>
            </a:r>
            <a:r>
              <a:rPr lang="ru-RU" sz="2000" dirty="0" err="1"/>
              <a:t>Hash</a:t>
            </a:r>
            <a:r>
              <a:rPr lang="ru-RU" sz="2000" dirty="0"/>
              <a:t> </a:t>
            </a:r>
            <a:r>
              <a:rPr lang="ru-RU" sz="2000" dirty="0" err="1"/>
              <a:t>Join</a:t>
            </a:r>
            <a:r>
              <a:rPr lang="ru-RU" sz="2000" dirty="0"/>
              <a:t> и </a:t>
            </a:r>
            <a:r>
              <a:rPr lang="ru-RU" sz="2000" dirty="0" err="1"/>
              <a:t>Merge</a:t>
            </a:r>
            <a:r>
              <a:rPr lang="ru-RU" sz="2000" dirty="0"/>
              <a:t> </a:t>
            </a:r>
            <a:r>
              <a:rPr lang="ru-RU" sz="2000" dirty="0" err="1"/>
              <a:t>Join</a:t>
            </a:r>
            <a:r>
              <a:rPr lang="ru-RU" sz="2000" dirty="0"/>
              <a:t> требуют равенства, поэтому </a:t>
            </a:r>
            <a:r>
              <a:rPr lang="ru-RU" sz="2000" dirty="0" err="1"/>
              <a:t>Nested</a:t>
            </a:r>
            <a:r>
              <a:rPr lang="ru-RU" sz="2000" dirty="0"/>
              <a:t> </a:t>
            </a:r>
            <a:r>
              <a:rPr lang="ru-RU" sz="2000" dirty="0" err="1"/>
              <a:t>Loop</a:t>
            </a:r>
            <a:r>
              <a:rPr lang="ru-RU" sz="2000" dirty="0"/>
              <a:t> — единственный вариант в таком случае.</a:t>
            </a:r>
          </a:p>
          <a:p>
            <a:pPr algn="just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6138156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i="1" dirty="0"/>
              <a:t>Преимущества:</a:t>
            </a:r>
          </a:p>
          <a:p>
            <a:r>
              <a:rPr lang="ru-RU" sz="2000" dirty="0"/>
              <a:t>•	Работает с любым условием соединения, включая условия диапазона.</a:t>
            </a:r>
          </a:p>
          <a:p>
            <a:r>
              <a:rPr lang="ru-RU" sz="2000" dirty="0"/>
              <a:t>•	Крайне быстр, когда внешняя таблица мала, а внутренняя индексирована.</a:t>
            </a:r>
          </a:p>
          <a:p>
            <a:r>
              <a:rPr lang="ru-RU" sz="2000" dirty="0"/>
              <a:t>•	Низкое потребление памяти — не требует построения вспомогательных структур данных.</a:t>
            </a:r>
          </a:p>
          <a:p>
            <a:r>
              <a:rPr lang="ru-RU" sz="2000" dirty="0"/>
              <a:t>•	Начинает возвращать первые результаты немедленно (хорошо для запросов с LIMIT).</a:t>
            </a:r>
          </a:p>
          <a:p>
            <a:r>
              <a:rPr lang="ru-RU" sz="2000" i="1" dirty="0"/>
              <a:t> Недостатки:</a:t>
            </a:r>
          </a:p>
          <a:p>
            <a:r>
              <a:rPr lang="ru-RU" sz="2000" dirty="0"/>
              <a:t>•	Очень медленен на больших таблицах без индексов — O(N × M) в худшем случае.</a:t>
            </a:r>
          </a:p>
          <a:p>
            <a:r>
              <a:rPr lang="ru-RU" sz="2000" dirty="0"/>
              <a:t>•	Производительность быстро деградирует по мере роста обеих таблиц.</a:t>
            </a:r>
          </a:p>
          <a:p>
            <a:pPr algn="ctr"/>
            <a:r>
              <a:rPr lang="ru-RU" sz="2000" b="1" dirty="0"/>
              <a:t>Принцип работы</a:t>
            </a:r>
          </a:p>
          <a:p>
            <a:r>
              <a:rPr lang="ru-RU" sz="2000" dirty="0"/>
              <a:t>Например, запрос, в котором соединяются две таблицы: «Места» (</a:t>
            </a:r>
            <a:r>
              <a:rPr lang="ru-RU" sz="2000" dirty="0" err="1"/>
              <a:t>seats</a:t>
            </a:r>
            <a:r>
              <a:rPr lang="ru-RU" sz="2000" dirty="0"/>
              <a:t>) и «Самолёты» (</a:t>
            </a:r>
            <a:r>
              <a:rPr lang="ru-RU" sz="2000" dirty="0" err="1"/>
              <a:t>aircrafts</a:t>
            </a:r>
            <a:r>
              <a:rPr lang="ru-RU" sz="2000" dirty="0"/>
              <a:t>):</a:t>
            </a:r>
          </a:p>
          <a:p>
            <a:r>
              <a:rPr lang="ru-RU" sz="2000" dirty="0"/>
              <a:t>SELECT </a:t>
            </a:r>
            <a:r>
              <a:rPr lang="ru-RU" sz="2000" dirty="0" err="1"/>
              <a:t>a.aircraft_code</a:t>
            </a:r>
            <a:r>
              <a:rPr lang="ru-RU" sz="2000" dirty="0"/>
              <a:t>, </a:t>
            </a:r>
            <a:r>
              <a:rPr lang="ru-RU" sz="2000" dirty="0" err="1"/>
              <a:t>a.model</a:t>
            </a:r>
            <a:r>
              <a:rPr lang="ru-RU" sz="2000" dirty="0"/>
              <a:t>, </a:t>
            </a:r>
            <a:r>
              <a:rPr lang="ru-RU" sz="2000" dirty="0" err="1"/>
              <a:t>s.seat_no</a:t>
            </a:r>
            <a:r>
              <a:rPr lang="ru-RU" sz="2000" dirty="0"/>
              <a:t>, </a:t>
            </a:r>
            <a:r>
              <a:rPr lang="ru-RU" sz="2000" dirty="0" err="1"/>
              <a:t>s.fare_conditions</a:t>
            </a:r>
            <a:r>
              <a:rPr lang="ru-RU" sz="2000" dirty="0"/>
              <a:t> FROM </a:t>
            </a:r>
            <a:r>
              <a:rPr lang="ru-RU" sz="2000" dirty="0" err="1"/>
              <a:t>seats</a:t>
            </a:r>
            <a:r>
              <a:rPr lang="ru-RU" sz="2000" dirty="0"/>
              <a:t> s JOIN </a:t>
            </a:r>
            <a:r>
              <a:rPr lang="ru-RU" sz="2000" dirty="0" err="1"/>
              <a:t>aircrafts</a:t>
            </a:r>
            <a:r>
              <a:rPr lang="ru-RU" sz="2000" dirty="0"/>
              <a:t> a ON </a:t>
            </a:r>
            <a:r>
              <a:rPr lang="ru-RU" sz="2000" dirty="0" err="1"/>
              <a:t>s.aircraft_code</a:t>
            </a:r>
            <a:r>
              <a:rPr lang="ru-RU" sz="2000" dirty="0"/>
              <a:t> = </a:t>
            </a:r>
            <a:r>
              <a:rPr lang="ru-RU" sz="2000" dirty="0" err="1"/>
              <a:t>a.aircraft_code</a:t>
            </a:r>
            <a:r>
              <a:rPr lang="ru-RU" sz="2000" dirty="0"/>
              <a:t> WHERE </a:t>
            </a:r>
            <a:r>
              <a:rPr lang="ru-RU" sz="2000" dirty="0" err="1"/>
              <a:t>a.model</a:t>
            </a:r>
            <a:r>
              <a:rPr lang="ru-RU" sz="2000" dirty="0"/>
              <a:t> ~ '^</a:t>
            </a:r>
            <a:r>
              <a:rPr lang="ru-RU" sz="2000" dirty="0" err="1"/>
              <a:t>Air</a:t>
            </a:r>
            <a:r>
              <a:rPr lang="ru-RU" sz="2000" dirty="0"/>
              <a:t>' ORDER BY </a:t>
            </a:r>
            <a:r>
              <a:rPr lang="ru-RU" sz="2000" dirty="0" err="1" smtClean="0"/>
              <a:t>s.seat_no</a:t>
            </a:r>
            <a:r>
              <a:rPr lang="ru-RU" sz="2000" dirty="0" smtClean="0"/>
              <a:t>.</a:t>
            </a:r>
          </a:p>
          <a:p>
            <a:endParaRPr lang="ru-RU" sz="2000" dirty="0" smtClean="0"/>
          </a:p>
          <a:p>
            <a:r>
              <a:rPr lang="ru-RU" sz="2000" dirty="0" smtClean="0"/>
              <a:t>Некоторые </a:t>
            </a:r>
            <a:r>
              <a:rPr lang="ru-RU" sz="2000" dirty="0"/>
              <a:t>методы оптимизации запросов с соединением вложенным циклом:</a:t>
            </a:r>
          </a:p>
          <a:p>
            <a:r>
              <a:rPr lang="ru-RU" sz="2000" dirty="0"/>
              <a:t>•	Создание индексов на ключах </a:t>
            </a:r>
            <a:r>
              <a:rPr lang="ru-RU" sz="2000" dirty="0" smtClean="0"/>
              <a:t>соединения.</a:t>
            </a:r>
            <a:endParaRPr lang="ru-RU" sz="2000" dirty="0"/>
          </a:p>
          <a:p>
            <a:r>
              <a:rPr lang="ru-RU" sz="2000" dirty="0"/>
              <a:t>•	Использование ANALYZE и VACUUM — ANALYZE обновляет статистику </a:t>
            </a:r>
            <a:r>
              <a:rPr lang="ru-RU" sz="2000" dirty="0" smtClean="0"/>
              <a:t>таблиц.</a:t>
            </a:r>
            <a:endParaRPr lang="ru-RU" sz="2000" dirty="0"/>
          </a:p>
          <a:p>
            <a:r>
              <a:rPr lang="ru-RU" sz="2000" dirty="0"/>
              <a:t>•	Разбиение таблиц (</a:t>
            </a:r>
            <a:r>
              <a:rPr lang="ru-RU" sz="2000" dirty="0" err="1"/>
              <a:t>Partitioning</a:t>
            </a:r>
            <a:r>
              <a:rPr lang="ru-RU" sz="2000" dirty="0"/>
              <a:t>) </a:t>
            </a:r>
            <a:r>
              <a:rPr lang="ru-RU" sz="2000" dirty="0" smtClean="0"/>
              <a:t>.</a:t>
            </a:r>
            <a:endParaRPr lang="ru-RU" sz="2000" dirty="0"/>
          </a:p>
          <a:p>
            <a:r>
              <a:rPr lang="ru-RU" sz="2000" dirty="0"/>
              <a:t>Для анализа плана выполнения запросов с соединением вложенным циклом можно использовать команду </a:t>
            </a:r>
          </a:p>
          <a:p>
            <a:r>
              <a:rPr lang="ru-RU" sz="2000" dirty="0"/>
              <a:t>EXPLAIN ANALYZE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798466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Хеширование (</a:t>
            </a:r>
            <a:r>
              <a:rPr lang="en-US" sz="2000" b="1" dirty="0"/>
              <a:t>hash join</a:t>
            </a:r>
            <a:r>
              <a:rPr lang="en-US" sz="2000" b="1" dirty="0" smtClean="0"/>
              <a:t>)</a:t>
            </a:r>
            <a:endParaRPr lang="ru-RU" sz="2000" b="1" dirty="0" smtClean="0"/>
          </a:p>
          <a:p>
            <a:pPr algn="just"/>
            <a:r>
              <a:rPr lang="ru-RU" sz="2000" b="1" dirty="0"/>
              <a:t>Алгоритм</a:t>
            </a:r>
            <a:r>
              <a:rPr lang="ru-RU" sz="2000" dirty="0"/>
              <a:t>: строки одного набора помещаются в хеш-таблицу, содержащуюся в памяти, а строки из второго набора перебираются, и для каждой из них проверяется наличие соответствующих строк в хеш-таблице. </a:t>
            </a:r>
          </a:p>
          <a:p>
            <a:pPr algn="just"/>
            <a:r>
              <a:rPr lang="ru-RU" sz="2000" b="1" dirty="0"/>
              <a:t>Особенности:</a:t>
            </a:r>
          </a:p>
          <a:p>
            <a:pPr algn="just"/>
            <a:r>
              <a:rPr lang="ru-RU" sz="2000" dirty="0"/>
              <a:t>•	Ключом хеш-таблицы является тот столбец, по которому выполняется соединение наборов строк.</a:t>
            </a:r>
          </a:p>
          <a:p>
            <a:pPr algn="just"/>
            <a:r>
              <a:rPr lang="ru-RU" sz="2000" dirty="0"/>
              <a:t>•	</a:t>
            </a:r>
            <a:r>
              <a:rPr lang="ru-RU" sz="2000" dirty="0" smtClean="0"/>
              <a:t>Число </a:t>
            </a:r>
            <a:r>
              <a:rPr lang="ru-RU" sz="2000" dirty="0"/>
              <a:t>строк в том наборе, на основе которого строится хеш-таблица, меньше, чем во втором наборе, что позволяет уменьшить её размер и ускорить процесс обращения к ней.</a:t>
            </a:r>
          </a:p>
          <a:p>
            <a:pPr algn="just"/>
            <a:r>
              <a:rPr lang="ru-RU" sz="2000" dirty="0"/>
              <a:t>•	Метод работает только при выполнении эквисоединений, поскольку для хеш-таблицы имеет смысл только проверка на равенство проверяемого значения одному из её ключей.</a:t>
            </a:r>
          </a:p>
          <a:p>
            <a:pPr algn="just"/>
            <a:r>
              <a:rPr lang="ru-RU" sz="2000" b="1" dirty="0" err="1"/>
              <a:t>Hash</a:t>
            </a:r>
            <a:r>
              <a:rPr lang="ru-RU" sz="2000" b="1" dirty="0"/>
              <a:t> </a:t>
            </a:r>
            <a:r>
              <a:rPr lang="ru-RU" sz="2000" b="1" dirty="0" err="1"/>
              <a:t>join</a:t>
            </a:r>
            <a:r>
              <a:rPr lang="ru-RU" sz="2000" b="1" dirty="0"/>
              <a:t> </a:t>
            </a:r>
            <a:r>
              <a:rPr lang="ru-RU" sz="2000" dirty="0"/>
              <a:t>— метод соединения в </a:t>
            </a:r>
            <a:r>
              <a:rPr lang="ru-RU" sz="2000" dirty="0" err="1" smtClean="0"/>
              <a:t>PostgreSQL</a:t>
            </a:r>
            <a:r>
              <a:rPr lang="ru-RU" sz="2000" dirty="0" smtClean="0"/>
              <a:t>. </a:t>
            </a:r>
            <a:r>
              <a:rPr lang="ru-RU" sz="2000" dirty="0"/>
              <a:t>Чаще всего применяется, когда:  </a:t>
            </a:r>
          </a:p>
          <a:p>
            <a:pPr algn="just"/>
            <a:r>
              <a:rPr lang="ru-RU" sz="2000" dirty="0"/>
              <a:t>•	данные не отсортированы; </a:t>
            </a:r>
          </a:p>
          <a:p>
            <a:pPr algn="just"/>
            <a:r>
              <a:rPr lang="ru-RU" sz="2000" dirty="0"/>
              <a:t>•	условие соединения основано на равенстве (=); </a:t>
            </a:r>
          </a:p>
          <a:p>
            <a:pPr algn="just"/>
            <a:r>
              <a:rPr lang="ru-RU" sz="2000" dirty="0"/>
              <a:t>•	размер одной из таблиц значительно меньше другой. </a:t>
            </a:r>
          </a:p>
          <a:p>
            <a:pPr algn="ctr"/>
            <a:r>
              <a:rPr lang="ru-RU" sz="2000" b="1" dirty="0"/>
              <a:t>Принцип работы</a:t>
            </a:r>
          </a:p>
          <a:p>
            <a:pPr algn="ctr"/>
            <a:r>
              <a:rPr lang="ru-RU" sz="2000" dirty="0"/>
              <a:t>Размер хеш-таблицы в памяти ограничен значением параметра </a:t>
            </a:r>
            <a:r>
              <a:rPr lang="ru-RU" sz="2000" b="1" dirty="0" err="1"/>
              <a:t>work_mem</a:t>
            </a:r>
            <a:r>
              <a:rPr lang="ru-RU" sz="2000" b="1" dirty="0"/>
              <a:t>. </a:t>
            </a:r>
            <a:endParaRPr lang="ru-RU" sz="2000" b="1" dirty="0" smtClean="0"/>
          </a:p>
          <a:p>
            <a:pPr algn="ctr"/>
            <a:r>
              <a:rPr lang="ru-RU" sz="2000" b="1" dirty="0"/>
              <a:t>Также на эффективность влияют: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Параметр </a:t>
            </a:r>
            <a:r>
              <a:rPr lang="ru-RU" sz="2000" dirty="0" err="1" smtClean="0"/>
              <a:t>hash_mem_multiplier</a:t>
            </a:r>
            <a:endParaRPr lang="ru-RU" sz="2000" dirty="0" smtClean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000" dirty="0" smtClean="0"/>
              <a:t>Структура </a:t>
            </a:r>
            <a:r>
              <a:rPr lang="ru-RU" sz="2000" dirty="0"/>
              <a:t>запроса </a:t>
            </a:r>
          </a:p>
        </p:txBody>
      </p:sp>
    </p:spTree>
    <p:extLst>
      <p:ext uri="{BB962C8B-B14F-4D97-AF65-F5344CB8AC3E}">
        <p14:creationId xmlns:p14="http://schemas.microsoft.com/office/powerpoint/2010/main" val="204644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Параметры</a:t>
            </a:r>
          </a:p>
          <a:p>
            <a:pPr algn="just"/>
            <a:r>
              <a:rPr lang="ru-RU" sz="2000" dirty="0"/>
              <a:t>Пример запроса, использующего алгоритм </a:t>
            </a:r>
            <a:r>
              <a:rPr lang="en-US" sz="2000" dirty="0"/>
              <a:t>hash join: </a:t>
            </a:r>
            <a:endParaRPr lang="en-US" sz="2000" dirty="0" smtClean="0"/>
          </a:p>
          <a:p>
            <a:pPr algn="just"/>
            <a:r>
              <a:rPr lang="en-US" sz="2000" dirty="0" smtClean="0"/>
              <a:t>SELECT * FROM tickets t JOIN </a:t>
            </a:r>
            <a:r>
              <a:rPr lang="en-US" sz="2000" dirty="0" err="1" smtClean="0"/>
              <a:t>ticket_flights</a:t>
            </a:r>
            <a:r>
              <a:rPr lang="en-US" sz="2000" dirty="0" smtClean="0"/>
              <a:t> </a:t>
            </a:r>
            <a:r>
              <a:rPr lang="en-US" sz="2000" dirty="0" err="1" smtClean="0"/>
              <a:t>tf</a:t>
            </a:r>
            <a:r>
              <a:rPr lang="en-US" sz="2000" dirty="0" smtClean="0"/>
              <a:t> ON </a:t>
            </a:r>
            <a:r>
              <a:rPr lang="en-US" sz="2000" dirty="0" err="1" smtClean="0"/>
              <a:t>tf.ticket_no</a:t>
            </a:r>
            <a:r>
              <a:rPr lang="en-US" sz="2000" dirty="0" smtClean="0"/>
              <a:t> = </a:t>
            </a:r>
            <a:r>
              <a:rPr lang="en-US" sz="2000" dirty="0" err="1" smtClean="0"/>
              <a:t>t.ticket_no</a:t>
            </a:r>
            <a:endParaRPr lang="ru-RU" sz="2000" dirty="0" smtClean="0"/>
          </a:p>
          <a:p>
            <a:pPr algn="ctr"/>
            <a:r>
              <a:rPr lang="ru-RU" sz="2000" b="1" dirty="0"/>
              <a:t>Примеры запросов</a:t>
            </a:r>
          </a:p>
          <a:p>
            <a:pPr algn="just"/>
            <a:r>
              <a:rPr lang="ru-RU" sz="2000" dirty="0"/>
              <a:t>Некоторые методы оптимизации запросов с хешированием в </a:t>
            </a:r>
            <a:r>
              <a:rPr lang="ru-RU" sz="2000" dirty="0" err="1"/>
              <a:t>PostgreSQL</a:t>
            </a:r>
            <a:r>
              <a:rPr lang="ru-RU" sz="2000" dirty="0"/>
              <a:t>:</a:t>
            </a:r>
          </a:p>
          <a:p>
            <a:pPr algn="just"/>
            <a:r>
              <a:rPr lang="ru-RU" sz="2000" dirty="0"/>
              <a:t>•	Настроить </a:t>
            </a:r>
            <a:r>
              <a:rPr lang="ru-RU" sz="2000" dirty="0" err="1"/>
              <a:t>work_mem</a:t>
            </a:r>
            <a:r>
              <a:rPr lang="ru-RU" sz="2000" dirty="0"/>
              <a:t> — увеличение этого параметра помогает </a:t>
            </a:r>
            <a:r>
              <a:rPr lang="ru-RU" sz="2000" dirty="0" err="1"/>
              <a:t>Hash</a:t>
            </a:r>
            <a:r>
              <a:rPr lang="ru-RU" sz="2000" dirty="0"/>
              <a:t> </a:t>
            </a:r>
            <a:r>
              <a:rPr lang="ru-RU" sz="2000" dirty="0" err="1"/>
              <a:t>Join</a:t>
            </a:r>
            <a:r>
              <a:rPr lang="ru-RU" sz="2000" dirty="0"/>
              <a:t> работать </a:t>
            </a:r>
            <a:r>
              <a:rPr lang="ru-RU" sz="2000" dirty="0" smtClean="0"/>
              <a:t>быстрее</a:t>
            </a:r>
            <a:endParaRPr lang="ru-RU" sz="2000" dirty="0"/>
          </a:p>
          <a:p>
            <a:pPr algn="just"/>
            <a:r>
              <a:rPr lang="ru-RU" sz="2000" dirty="0"/>
              <a:t>•	Использовать ANALYZE и VACUUM — они обновляют статистику </a:t>
            </a:r>
            <a:r>
              <a:rPr lang="ru-RU" sz="2000" dirty="0" smtClean="0"/>
              <a:t>таблиц</a:t>
            </a:r>
            <a:endParaRPr lang="ru-RU" sz="2000" dirty="0"/>
          </a:p>
          <a:p>
            <a:pPr algn="just"/>
            <a:r>
              <a:rPr lang="ru-RU" sz="2000" dirty="0"/>
              <a:t>•	Разбивать таблицы (</a:t>
            </a:r>
            <a:r>
              <a:rPr lang="ru-RU" sz="2000" dirty="0" err="1"/>
              <a:t>Partitioning</a:t>
            </a:r>
            <a:r>
              <a:rPr lang="ru-RU" sz="2000" dirty="0"/>
              <a:t>) — разделение больших таблиц на части снижает объём сканируемых данных. </a:t>
            </a:r>
            <a:r>
              <a:rPr lang="ru-RU" sz="2000" dirty="0" smtClean="0"/>
              <a:t>(</a:t>
            </a:r>
            <a:r>
              <a:rPr lang="ru-RU" sz="2000" dirty="0" err="1" smtClean="0"/>
              <a:t>range</a:t>
            </a:r>
            <a:r>
              <a:rPr lang="ru-RU" sz="2000" dirty="0"/>
              <a:t>, </a:t>
            </a:r>
            <a:r>
              <a:rPr lang="ru-RU" sz="2000" dirty="0" err="1"/>
              <a:t>list</a:t>
            </a:r>
            <a:r>
              <a:rPr lang="ru-RU" sz="2000" dirty="0"/>
              <a:t> и </a:t>
            </a:r>
            <a:r>
              <a:rPr lang="ru-RU" sz="2000" dirty="0" err="1"/>
              <a:t>hash</a:t>
            </a:r>
            <a:r>
              <a:rPr lang="ru-RU" sz="2000" dirty="0"/>
              <a:t> </a:t>
            </a:r>
            <a:r>
              <a:rPr lang="ru-RU" sz="2000" dirty="0" err="1"/>
              <a:t>partitioning</a:t>
            </a:r>
            <a:r>
              <a:rPr lang="ru-RU" sz="2000" dirty="0" smtClean="0"/>
              <a:t>.)</a:t>
            </a:r>
            <a:endParaRPr lang="ru-RU" sz="2000" dirty="0"/>
          </a:p>
          <a:p>
            <a:pPr algn="just"/>
            <a:r>
              <a:rPr lang="ru-RU" sz="2000" dirty="0"/>
              <a:t>•	Проверять планы выполнения запросов через EXPLAIN ANALYZE — в выводе плана может быть строка «</a:t>
            </a:r>
            <a:r>
              <a:rPr lang="ru-RU" sz="2000" dirty="0" err="1"/>
              <a:t>Hash</a:t>
            </a:r>
            <a:r>
              <a:rPr lang="ru-RU" sz="2000" dirty="0"/>
              <a:t> </a:t>
            </a:r>
            <a:r>
              <a:rPr lang="ru-RU" sz="2000" dirty="0" err="1"/>
              <a:t>Join</a:t>
            </a:r>
            <a:r>
              <a:rPr lang="ru-RU" sz="2000" dirty="0" smtClean="0"/>
              <a:t>»</a:t>
            </a:r>
          </a:p>
          <a:p>
            <a:pPr algn="just"/>
            <a:endParaRPr lang="ru-RU" sz="2000" dirty="0"/>
          </a:p>
          <a:p>
            <a:pPr algn="just"/>
            <a:r>
              <a:rPr lang="ru-RU" sz="2000" b="1" dirty="0"/>
              <a:t>Важно</a:t>
            </a:r>
            <a:r>
              <a:rPr lang="ru-RU" sz="2000" dirty="0"/>
              <a:t>: соединение хешированием требует достаточно памяти, так как нужно хранить хеш-таблицу, созданную из внутреннего набора. 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0375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Слияние (</a:t>
            </a:r>
            <a:r>
              <a:rPr lang="en-US" sz="2000" b="1" dirty="0"/>
              <a:t>merge join</a:t>
            </a:r>
            <a:r>
              <a:rPr lang="en-US" sz="2000" b="1" dirty="0" smtClean="0"/>
              <a:t>)</a:t>
            </a:r>
            <a:endParaRPr lang="ru-RU" sz="2000" b="1" dirty="0" smtClean="0"/>
          </a:p>
          <a:p>
            <a:pPr algn="just"/>
            <a:r>
              <a:rPr lang="ru-RU" sz="2000" b="1" dirty="0"/>
              <a:t>Алгоритм: </a:t>
            </a:r>
            <a:r>
              <a:rPr lang="ru-RU" sz="2000" dirty="0"/>
              <a:t>оба набора строк должны быть предварительно отсортированы по тем столбцам, по которым производится </a:t>
            </a:r>
            <a:r>
              <a:rPr lang="ru-RU" sz="2000" dirty="0" smtClean="0"/>
              <a:t>соединение</a:t>
            </a:r>
          </a:p>
          <a:p>
            <a:pPr algn="just"/>
            <a:r>
              <a:rPr lang="ru-RU" sz="2000" b="1" dirty="0"/>
              <a:t>Особенности</a:t>
            </a:r>
            <a:r>
              <a:rPr lang="ru-RU" sz="2000" dirty="0"/>
              <a:t>:</a:t>
            </a:r>
          </a:p>
          <a:p>
            <a:pPr algn="just"/>
            <a:r>
              <a:rPr lang="ru-RU" sz="2000" dirty="0"/>
              <a:t>•	Соединение выполняется за один проход по обоим наборам данных и не требует дополнительной памяти.</a:t>
            </a:r>
          </a:p>
          <a:p>
            <a:pPr algn="just"/>
            <a:r>
              <a:rPr lang="ru-RU" sz="2000" dirty="0"/>
              <a:t>•	Используются два указателя на текущие (изначально — первые) строки внутреннего и внешнего наборов. Если ключи двух текущих строк не совпадают, один из указателей — тот, что ссылается на строку с меньшим ключом — продвигается на одну позицию вперёд, пока не будет найдено совпадение.</a:t>
            </a:r>
          </a:p>
          <a:p>
            <a:pPr algn="just"/>
            <a:r>
              <a:rPr lang="ru-RU" sz="2000" dirty="0"/>
              <a:t>•	Алгоритм продолжается, пока один из наборов не закончится.</a:t>
            </a:r>
          </a:p>
          <a:p>
            <a:pPr algn="just"/>
            <a:r>
              <a:rPr lang="ru-RU" sz="2000" b="1" dirty="0" err="1"/>
              <a:t>Merge</a:t>
            </a:r>
            <a:r>
              <a:rPr lang="ru-RU" sz="2000" b="1" dirty="0"/>
              <a:t> </a:t>
            </a:r>
            <a:r>
              <a:rPr lang="ru-RU" sz="2000" b="1" dirty="0" err="1"/>
              <a:t>Join</a:t>
            </a:r>
            <a:r>
              <a:rPr lang="ru-RU" sz="2000" b="1" dirty="0"/>
              <a:t> в </a:t>
            </a:r>
            <a:r>
              <a:rPr lang="ru-RU" sz="2000" b="1" dirty="0" err="1"/>
              <a:t>PostgreSQL</a:t>
            </a:r>
            <a:r>
              <a:rPr lang="ru-RU" sz="2000" b="1" dirty="0"/>
              <a:t> </a:t>
            </a:r>
            <a:r>
              <a:rPr lang="ru-RU" sz="2000" dirty="0"/>
              <a:t>— это метод соединения, при котором отсортированные данные из двух таблиц </a:t>
            </a:r>
            <a:r>
              <a:rPr lang="ru-RU" sz="2000" dirty="0" smtClean="0"/>
              <a:t>объединяются.</a:t>
            </a:r>
          </a:p>
          <a:p>
            <a:pPr algn="ctr"/>
            <a:r>
              <a:rPr lang="ru-RU" sz="2000" b="1" dirty="0"/>
              <a:t>Алгоритм</a:t>
            </a:r>
          </a:p>
          <a:p>
            <a:pPr algn="just"/>
            <a:r>
              <a:rPr lang="ru-RU" sz="2000" dirty="0" err="1"/>
              <a:t>Merge</a:t>
            </a:r>
            <a:r>
              <a:rPr lang="ru-RU" sz="2000" dirty="0"/>
              <a:t> </a:t>
            </a:r>
            <a:r>
              <a:rPr lang="ru-RU" sz="2000" dirty="0" err="1"/>
              <a:t>Join</a:t>
            </a:r>
            <a:r>
              <a:rPr lang="ru-RU" sz="2000" dirty="0"/>
              <a:t> состоит из двух фаз:  </a:t>
            </a:r>
          </a:p>
          <a:p>
            <a:pPr algn="just"/>
            <a:r>
              <a:rPr lang="ru-RU" sz="2000" dirty="0"/>
              <a:t>1.	</a:t>
            </a:r>
            <a:r>
              <a:rPr lang="ru-RU" sz="2000" b="1" dirty="0"/>
              <a:t>Фаза сортировки. </a:t>
            </a:r>
            <a:r>
              <a:rPr lang="ru-RU" sz="2000" dirty="0"/>
              <a:t>Оба входных набора (таблицы) сортируются по ключу соединения</a:t>
            </a:r>
            <a:r>
              <a:rPr lang="ru-RU" sz="2000" dirty="0" smtClean="0"/>
              <a:t>. </a:t>
            </a:r>
            <a:r>
              <a:rPr lang="ru-RU" sz="2000" dirty="0" err="1"/>
              <a:t>PostgreSQL</a:t>
            </a:r>
            <a:r>
              <a:rPr lang="ru-RU" sz="2000" dirty="0"/>
              <a:t> использует эффективные алгоритмы сортировки, например </a:t>
            </a:r>
            <a:r>
              <a:rPr lang="ru-RU" sz="2000" dirty="0" err="1"/>
              <a:t>QuickSort</a:t>
            </a:r>
            <a:r>
              <a:rPr lang="ru-RU" sz="2000" dirty="0"/>
              <a:t> или </a:t>
            </a:r>
            <a:r>
              <a:rPr lang="ru-RU" sz="2000" dirty="0" err="1"/>
              <a:t>External</a:t>
            </a:r>
            <a:r>
              <a:rPr lang="ru-RU" sz="2000" dirty="0"/>
              <a:t> </a:t>
            </a:r>
            <a:r>
              <a:rPr lang="ru-RU" sz="2000" dirty="0" err="1"/>
              <a:t>Merge</a:t>
            </a:r>
            <a:r>
              <a:rPr lang="ru-RU" sz="2000" dirty="0"/>
              <a:t> </a:t>
            </a:r>
            <a:r>
              <a:rPr lang="ru-RU" sz="2000" dirty="0" err="1"/>
              <a:t>Sort</a:t>
            </a:r>
            <a:r>
              <a:rPr lang="ru-RU" sz="2000" dirty="0"/>
              <a:t>.</a:t>
            </a:r>
          </a:p>
          <a:p>
            <a:pPr algn="just"/>
            <a:r>
              <a:rPr lang="ru-RU" sz="2000" dirty="0"/>
              <a:t>2.	</a:t>
            </a:r>
            <a:r>
              <a:rPr lang="ru-RU" sz="2000" b="1" dirty="0"/>
              <a:t>Фаза слияния</a:t>
            </a:r>
            <a:r>
              <a:rPr lang="ru-RU" sz="2000" dirty="0"/>
              <a:t>. Отсортированные наборы сканируются, и кортежи (строки) с совпадающими ключами соединения объединяются, чтобы сформировать результат. </a:t>
            </a:r>
          </a:p>
          <a:p>
            <a:pPr algn="just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55479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Особенности:</a:t>
            </a:r>
          </a:p>
          <a:p>
            <a:r>
              <a:rPr lang="ru-RU" sz="2000" dirty="0"/>
              <a:t>•	Используются два указателя на текущие (изначально — первые) строки внутреннего и внешнего наборов.</a:t>
            </a:r>
          </a:p>
          <a:p>
            <a:r>
              <a:rPr lang="ru-RU" sz="2000" dirty="0"/>
              <a:t>•	Если ключи двух текущих строк не совпадают, один из указателей — тот, что ссылается на строку с меньшим ключом — продвигается на одну позицию вперёд, пока не будет найдено совпадение.</a:t>
            </a:r>
          </a:p>
          <a:p>
            <a:r>
              <a:rPr lang="ru-RU" sz="2000" dirty="0"/>
              <a:t>•	Соответствующие друг другу строки возвращаются вышестоящему узлу, а указатель внутреннего набора данных продвигается на одну позицию вперёд.</a:t>
            </a:r>
          </a:p>
          <a:p>
            <a:r>
              <a:rPr lang="ru-RU" sz="2000" dirty="0"/>
              <a:t>•	Алгоритм продолжается, пока один из наборов не закончится.</a:t>
            </a:r>
          </a:p>
          <a:p>
            <a:r>
              <a:rPr lang="ru-RU" sz="2000" b="1" dirty="0"/>
              <a:t>Ограничени</a:t>
            </a:r>
            <a:r>
              <a:rPr lang="ru-RU" sz="2000" dirty="0"/>
              <a:t>е: соединение слиянием поддерживает только эквисоединения, соединения по операциям «больше» или «меньше» не реализованы.  </a:t>
            </a:r>
          </a:p>
          <a:p>
            <a:r>
              <a:rPr lang="ru-RU" sz="2000" b="1" dirty="0"/>
              <a:t>Условия</a:t>
            </a:r>
          </a:p>
          <a:p>
            <a:r>
              <a:rPr lang="ru-RU" sz="2000" dirty="0" err="1"/>
              <a:t>Merge</a:t>
            </a:r>
            <a:r>
              <a:rPr lang="ru-RU" sz="2000" dirty="0"/>
              <a:t> </a:t>
            </a:r>
            <a:r>
              <a:rPr lang="ru-RU" sz="2000" dirty="0" err="1"/>
              <a:t>Join</a:t>
            </a:r>
            <a:r>
              <a:rPr lang="ru-RU" sz="2000" dirty="0"/>
              <a:t> эффективен, если:  </a:t>
            </a:r>
          </a:p>
          <a:p>
            <a:r>
              <a:rPr lang="ru-RU" sz="2000" dirty="0"/>
              <a:t>•	Обе таблицы уже отсортированы по ключу </a:t>
            </a:r>
            <a:r>
              <a:rPr lang="ru-RU" sz="2000" dirty="0" smtClean="0"/>
              <a:t>соединения.</a:t>
            </a:r>
            <a:endParaRPr lang="ru-RU" sz="2000" dirty="0"/>
          </a:p>
          <a:p>
            <a:r>
              <a:rPr lang="ru-RU" sz="2000" dirty="0"/>
              <a:t>•	Данные большие, особенно если наборы не могут поместиться в память и нужно обрабатывать их с помощью внешней сортировки.</a:t>
            </a:r>
          </a:p>
          <a:p>
            <a:r>
              <a:rPr lang="ru-RU" sz="2000" dirty="0"/>
              <a:t>•	Размеры входных наборов примерно сбалансированы </a:t>
            </a:r>
            <a:endParaRPr lang="ru-RU" sz="2000" dirty="0" smtClean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093391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Пример</a:t>
            </a:r>
          </a:p>
          <a:p>
            <a:r>
              <a:rPr lang="ru-RU" sz="2000" dirty="0"/>
              <a:t>Рассмотрим две таблицы — </a:t>
            </a:r>
            <a:r>
              <a:rPr lang="ru-RU" sz="2000" dirty="0" err="1"/>
              <a:t>orders</a:t>
            </a:r>
            <a:r>
              <a:rPr lang="ru-RU" sz="2000" dirty="0"/>
              <a:t> и </a:t>
            </a:r>
            <a:r>
              <a:rPr lang="ru-RU" sz="2000" dirty="0" err="1"/>
              <a:t>customers</a:t>
            </a:r>
            <a:r>
              <a:rPr lang="ru-RU" sz="2000" dirty="0"/>
              <a:t> — с условием соединения </a:t>
            </a:r>
            <a:r>
              <a:rPr lang="ru-RU" sz="2000" dirty="0" err="1"/>
              <a:t>orders.customer_id</a:t>
            </a:r>
            <a:r>
              <a:rPr lang="ru-RU" sz="2000" dirty="0"/>
              <a:t> = customers.id. </a:t>
            </a:r>
            <a:r>
              <a:rPr lang="ru-RU" sz="2000" b="1" dirty="0"/>
              <a:t>SQL-запрос: </a:t>
            </a:r>
          </a:p>
          <a:p>
            <a:r>
              <a:rPr lang="ru-RU" sz="2000" dirty="0"/>
              <a:t>SELECT </a:t>
            </a:r>
            <a:r>
              <a:rPr lang="ru-RU" sz="2000" dirty="0" err="1"/>
              <a:t>orders.order_id</a:t>
            </a:r>
            <a:r>
              <a:rPr lang="ru-RU" sz="2000" dirty="0"/>
              <a:t>, customers.name FROM </a:t>
            </a:r>
            <a:r>
              <a:rPr lang="ru-RU" sz="2000" dirty="0" err="1"/>
              <a:t>orders</a:t>
            </a:r>
            <a:r>
              <a:rPr lang="ru-RU" sz="2000" dirty="0"/>
              <a:t> JOIN </a:t>
            </a:r>
            <a:r>
              <a:rPr lang="ru-RU" sz="2000" dirty="0" err="1"/>
              <a:t>customers</a:t>
            </a:r>
            <a:r>
              <a:rPr lang="ru-RU" sz="2000" dirty="0"/>
              <a:t> ON </a:t>
            </a:r>
            <a:r>
              <a:rPr lang="ru-RU" sz="2000" dirty="0" err="1"/>
              <a:t>orders.customer_id</a:t>
            </a:r>
            <a:r>
              <a:rPr lang="ru-RU" sz="2000" dirty="0"/>
              <a:t> = customers.id</a:t>
            </a:r>
          </a:p>
          <a:p>
            <a:r>
              <a:rPr lang="ru-RU" sz="2000" dirty="0"/>
              <a:t>В </a:t>
            </a:r>
            <a:r>
              <a:rPr lang="ru-RU" sz="2000" dirty="0" err="1"/>
              <a:t>PostgreSQL</a:t>
            </a:r>
            <a:r>
              <a:rPr lang="ru-RU" sz="2000" dirty="0"/>
              <a:t> алгоритм </a:t>
            </a:r>
            <a:r>
              <a:rPr lang="ru-RU" sz="2000" dirty="0" err="1"/>
              <a:t>Merge</a:t>
            </a:r>
            <a:r>
              <a:rPr lang="ru-RU" sz="2000" dirty="0"/>
              <a:t> </a:t>
            </a:r>
            <a:r>
              <a:rPr lang="ru-RU" sz="2000" dirty="0" err="1"/>
              <a:t>Join</a:t>
            </a:r>
            <a:r>
              <a:rPr lang="ru-RU" sz="2000" dirty="0"/>
              <a:t> будет работать так: </a:t>
            </a:r>
          </a:p>
          <a:p>
            <a:r>
              <a:rPr lang="ru-RU" sz="2000" dirty="0"/>
              <a:t>1.	</a:t>
            </a:r>
            <a:r>
              <a:rPr lang="ru-RU" sz="2000" b="1" dirty="0"/>
              <a:t>Фаза сортировки</a:t>
            </a:r>
            <a:r>
              <a:rPr lang="ru-RU" sz="2000" dirty="0"/>
              <a:t>: отсортировать </a:t>
            </a:r>
            <a:r>
              <a:rPr lang="ru-RU" sz="2000" dirty="0" err="1"/>
              <a:t>orders</a:t>
            </a:r>
            <a:r>
              <a:rPr lang="ru-RU" sz="2000" dirty="0"/>
              <a:t> по </a:t>
            </a:r>
            <a:r>
              <a:rPr lang="ru-RU" sz="2000" dirty="0" err="1"/>
              <a:t>customer_id</a:t>
            </a:r>
            <a:r>
              <a:rPr lang="ru-RU" sz="2000" dirty="0"/>
              <a:t>, отсортировать </a:t>
            </a:r>
            <a:r>
              <a:rPr lang="ru-RU" sz="2000" dirty="0" err="1"/>
              <a:t>customers</a:t>
            </a:r>
            <a:r>
              <a:rPr lang="ru-RU" sz="2000" dirty="0"/>
              <a:t> по </a:t>
            </a:r>
            <a:r>
              <a:rPr lang="ru-RU" sz="2000" dirty="0" err="1"/>
              <a:t>id</a:t>
            </a:r>
            <a:r>
              <a:rPr lang="ru-RU" sz="2000" dirty="0"/>
              <a:t>.</a:t>
            </a:r>
          </a:p>
          <a:p>
            <a:r>
              <a:rPr lang="ru-RU" sz="2000" dirty="0"/>
              <a:t>2.	</a:t>
            </a:r>
            <a:r>
              <a:rPr lang="ru-RU" sz="2000" b="1" dirty="0"/>
              <a:t>Фаза слияния</a:t>
            </a:r>
            <a:r>
              <a:rPr lang="ru-RU" sz="2000" dirty="0"/>
              <a:t>: инициализировать указатели на начало обеих отсортированных таблиц, сравнить </a:t>
            </a:r>
            <a:r>
              <a:rPr lang="ru-RU" sz="2000" dirty="0" err="1"/>
              <a:t>orders.customer_id</a:t>
            </a:r>
            <a:r>
              <a:rPr lang="ru-RU" sz="2000" dirty="0"/>
              <a:t> с customers.id. Если они совпадают, вывести результирующую строку, соответственно переместить указатели на основе сравнения.</a:t>
            </a:r>
          </a:p>
          <a:p>
            <a:r>
              <a:rPr lang="ru-RU" sz="2000" b="1" dirty="0"/>
              <a:t>Оптимизация</a:t>
            </a:r>
          </a:p>
          <a:p>
            <a:r>
              <a:rPr lang="ru-RU" sz="2000" dirty="0"/>
              <a:t>•	Создать индексы на ключе соединения, чтобы избежать сортировки. 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Использовать параллельное </a:t>
            </a:r>
            <a:r>
              <a:rPr lang="ru-RU" sz="2000" dirty="0" smtClean="0"/>
              <a:t>выполнение</a:t>
            </a:r>
          </a:p>
          <a:p>
            <a:endParaRPr lang="ru-RU" sz="2000" dirty="0"/>
          </a:p>
          <a:p>
            <a:r>
              <a:rPr lang="ru-RU" sz="2000" b="1" dirty="0"/>
              <a:t>Важно</a:t>
            </a:r>
            <a:r>
              <a:rPr lang="ru-RU" sz="2000" dirty="0"/>
              <a:t>: не рекомендуется вручную настраивать конкретный алгоритм соединения </a:t>
            </a:r>
            <a:r>
              <a:rPr lang="ru-RU" sz="2000" dirty="0" smtClean="0"/>
              <a:t>Наборы </a:t>
            </a:r>
            <a:r>
              <a:rPr lang="ru-RU" sz="2000" dirty="0"/>
              <a:t>данных должны быть отсортированы в правильном порядке. Если подходящих индексов нет, то наборы данных придётся сортировать, а сортировка требует памяти и имеет сложность выше линейной.</a:t>
            </a:r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905709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>
            <a:spLocks noChangeArrowheads="1"/>
          </p:cNvSpPr>
          <p:nvPr/>
        </p:nvSpPr>
        <p:spPr bwMode="auto">
          <a:xfrm>
            <a:off x="435635" y="463138"/>
            <a:ext cx="581890" cy="843149"/>
          </a:xfrm>
          <a:prstGeom prst="rect">
            <a:avLst/>
          </a:prstGeom>
          <a:gradFill rotWithShape="1">
            <a:gsLst>
              <a:gs pos="0">
                <a:srgbClr val="770000"/>
              </a:gs>
              <a:gs pos="50000">
                <a:srgbClr val="AD0000"/>
              </a:gs>
              <a:gs pos="100000">
                <a:srgbClr val="CE0000"/>
              </a:gs>
            </a:gsLst>
            <a:lin ang="0" scaled="1"/>
          </a:gradFill>
          <a:ln w="9525" algn="ctr">
            <a:noFill/>
            <a:round/>
            <a:headEnd/>
            <a:tailEnd/>
          </a:ln>
        </p:spPr>
        <p:txBody>
          <a:bodyPr/>
          <a:lstStyle/>
          <a:p>
            <a:pPr defTabSz="1043001"/>
            <a:endParaRPr lang="ru-RU" sz="2100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F3A33-6A4A-4395-8324-C6DCD486F135}" type="slidenum">
              <a:rPr lang="ru-RU" smtClean="0">
                <a:solidFill>
                  <a:schemeClr val="bg2">
                    <a:lumMod val="75000"/>
                  </a:schemeClr>
                </a:solidFill>
              </a:rPr>
              <a:pPr/>
              <a:t>19</a:t>
            </a:fld>
            <a:endParaRPr lang="ru-RU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250" y="463138"/>
            <a:ext cx="2827683" cy="880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04041" y="1844565"/>
            <a:ext cx="101767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 </a:t>
            </a:r>
          </a:p>
          <a:p>
            <a:pPr algn="ctr"/>
            <a:r>
              <a:rPr lang="ru-RU" sz="4000" b="1" dirty="0">
                <a:solidFill>
                  <a:srgbClr val="FF0000"/>
                </a:solidFill>
              </a:rPr>
              <a:t>Управление </a:t>
            </a:r>
            <a:r>
              <a:rPr lang="ru-RU" sz="4000" b="1" dirty="0" smtClean="0">
                <a:solidFill>
                  <a:srgbClr val="FF0000"/>
                </a:solidFill>
              </a:rPr>
              <a:t>планировщиком</a:t>
            </a:r>
            <a:endParaRPr lang="ru-RU" sz="4000" b="1" dirty="0">
              <a:solidFill>
                <a:srgbClr val="FF0000"/>
              </a:solidFill>
            </a:endParaRPr>
          </a:p>
          <a:p>
            <a:pPr algn="ctr"/>
            <a:r>
              <a:rPr lang="ru-RU" sz="5400" b="1" dirty="0" smtClean="0"/>
              <a:t>Вопрос 4</a:t>
            </a:r>
            <a:endParaRPr lang="ru-RU" sz="5400" dirty="0"/>
          </a:p>
        </p:txBody>
      </p:sp>
    </p:spTree>
    <p:extLst>
      <p:ext uri="{BB962C8B-B14F-4D97-AF65-F5344CB8AC3E}">
        <p14:creationId xmlns:p14="http://schemas.microsoft.com/office/powerpoint/2010/main" val="3228976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В </a:t>
            </a:r>
            <a:r>
              <a:rPr lang="ru-RU" sz="2000" b="1" dirty="0" err="1"/>
              <a:t>PostgreSQL</a:t>
            </a:r>
            <a:r>
              <a:rPr lang="ru-RU" sz="2000" b="1" dirty="0"/>
              <a:t> для управления планировщиком </a:t>
            </a:r>
            <a:r>
              <a:rPr lang="ru-RU" sz="2000" dirty="0"/>
              <a:t>(задачами) используются разные инструменты. </a:t>
            </a:r>
            <a:r>
              <a:rPr lang="ru-RU" sz="2000" dirty="0" smtClean="0"/>
              <a:t>Некоторые </a:t>
            </a:r>
            <a:r>
              <a:rPr lang="ru-RU" sz="2000" dirty="0"/>
              <a:t>из них: расширение</a:t>
            </a:r>
            <a:r>
              <a:rPr lang="ru-RU" sz="2000" b="1" dirty="0"/>
              <a:t> </a:t>
            </a:r>
            <a:r>
              <a:rPr lang="ru-RU" sz="2000" b="1" dirty="0" err="1"/>
              <a:t>pg_cron</a:t>
            </a:r>
            <a:r>
              <a:rPr lang="ru-RU" sz="2000" dirty="0"/>
              <a:t>, агент </a:t>
            </a:r>
            <a:r>
              <a:rPr lang="ru-RU" sz="2000" b="1" dirty="0" err="1"/>
              <a:t>pgAgent</a:t>
            </a:r>
            <a:r>
              <a:rPr lang="ru-RU" sz="2000" dirty="0"/>
              <a:t> и системный планировщик </a:t>
            </a:r>
            <a:r>
              <a:rPr lang="ru-RU" sz="2000" dirty="0" err="1"/>
              <a:t>Cron</a:t>
            </a:r>
            <a:r>
              <a:rPr lang="ru-RU" sz="2000" dirty="0" smtClean="0"/>
              <a:t>.</a:t>
            </a:r>
          </a:p>
          <a:p>
            <a:pPr algn="ctr"/>
            <a:r>
              <a:rPr lang="ru-RU" sz="2000" b="1" dirty="0" err="1"/>
              <a:t>pg_cron</a:t>
            </a:r>
            <a:endParaRPr lang="ru-RU" sz="2000" b="1" dirty="0"/>
          </a:p>
          <a:p>
            <a:pPr algn="just"/>
            <a:r>
              <a:rPr lang="ru-RU" sz="2000" dirty="0"/>
              <a:t>Расширение </a:t>
            </a:r>
            <a:r>
              <a:rPr lang="ru-RU" sz="2000" dirty="0" err="1"/>
              <a:t>pg_cron</a:t>
            </a:r>
            <a:r>
              <a:rPr lang="ru-RU" sz="2000" dirty="0"/>
              <a:t> позволяет запускать SQL-запросы по расписанию прямо из базы данных</a:t>
            </a:r>
            <a:r>
              <a:rPr lang="ru-RU" sz="2000" dirty="0" smtClean="0"/>
              <a:t>.</a:t>
            </a:r>
          </a:p>
          <a:p>
            <a:pPr algn="just"/>
            <a:r>
              <a:rPr lang="ru-RU" sz="2000" b="1" dirty="0" smtClean="0"/>
              <a:t>Некоторые </a:t>
            </a:r>
            <a:r>
              <a:rPr lang="ru-RU" sz="2000" b="1" dirty="0"/>
              <a:t>особенности:  </a:t>
            </a:r>
          </a:p>
          <a:p>
            <a:pPr algn="just"/>
            <a:r>
              <a:rPr lang="ru-RU" sz="2000" dirty="0"/>
              <a:t>•	Поддерживает стандартный синтаксис </a:t>
            </a:r>
            <a:r>
              <a:rPr lang="ru-RU" sz="2000" dirty="0" err="1"/>
              <a:t>cron</a:t>
            </a:r>
            <a:r>
              <a:rPr lang="ru-RU" sz="2000" dirty="0"/>
              <a:t> (минута, час, день, месяц, день недели).</a:t>
            </a:r>
          </a:p>
          <a:p>
            <a:pPr algn="just"/>
            <a:r>
              <a:rPr lang="ru-RU" sz="2000" dirty="0"/>
              <a:t>•	Может запускать задания в одной базе данных или в разных базах.</a:t>
            </a:r>
          </a:p>
          <a:p>
            <a:pPr algn="just"/>
            <a:r>
              <a:rPr lang="ru-RU" sz="2000" dirty="0"/>
              <a:t>•	Задания хранятся в таблицах </a:t>
            </a:r>
            <a:r>
              <a:rPr lang="ru-RU" sz="2000" dirty="0" err="1"/>
              <a:t>PostgreSQL</a:t>
            </a:r>
            <a:r>
              <a:rPr lang="ru-RU" sz="2000" dirty="0"/>
              <a:t>.</a:t>
            </a:r>
          </a:p>
          <a:p>
            <a:pPr algn="just"/>
            <a:r>
              <a:rPr lang="ru-RU" sz="2000" dirty="0"/>
              <a:t>•	Для создания задачи используется функция </a:t>
            </a:r>
            <a:r>
              <a:rPr lang="ru-RU" sz="2000" dirty="0" err="1"/>
              <a:t>cron.schedule</a:t>
            </a:r>
            <a:r>
              <a:rPr lang="ru-RU" sz="2000" dirty="0"/>
              <a:t> </a:t>
            </a:r>
            <a:endParaRPr lang="ru-RU" sz="2000" dirty="0" smtClean="0"/>
          </a:p>
          <a:p>
            <a:pPr algn="ctr"/>
            <a:r>
              <a:rPr lang="ru-RU" sz="2000" b="1" dirty="0"/>
              <a:t>Функции</a:t>
            </a:r>
          </a:p>
          <a:p>
            <a:pPr algn="just"/>
            <a:r>
              <a:rPr lang="ru-RU" sz="2000" dirty="0" smtClean="0"/>
              <a:t>•</a:t>
            </a:r>
            <a:r>
              <a:rPr lang="ru-RU" sz="2000" dirty="0"/>
              <a:t>	Мониторинг выполнения через таблицу </a:t>
            </a:r>
            <a:r>
              <a:rPr lang="ru-RU" sz="2000" dirty="0" err="1"/>
              <a:t>cron.job_run_details</a:t>
            </a:r>
            <a:endParaRPr lang="ru-RU" sz="2000" dirty="0"/>
          </a:p>
          <a:p>
            <a:pPr algn="just"/>
            <a:r>
              <a:rPr lang="ru-RU" sz="2000" dirty="0"/>
              <a:t>•	По умолчанию только </a:t>
            </a:r>
            <a:r>
              <a:rPr lang="ru-RU" sz="2000" dirty="0" err="1"/>
              <a:t>суперпользователи</a:t>
            </a:r>
            <a:r>
              <a:rPr lang="ru-RU" sz="2000" dirty="0"/>
              <a:t> могут управлять </a:t>
            </a:r>
            <a:r>
              <a:rPr lang="ru-RU" sz="2000" dirty="0" err="1"/>
              <a:t>pg_cron</a:t>
            </a:r>
            <a:r>
              <a:rPr lang="ru-RU" sz="2000" dirty="0"/>
              <a:t>. Для делегирования прав можно создать специальную роль с ограниченными привилегиями и использовать функции SECURITY DEFINER. </a:t>
            </a:r>
          </a:p>
          <a:p>
            <a:pPr algn="ctr"/>
            <a:r>
              <a:rPr lang="ru-RU" sz="2000" b="1" dirty="0"/>
              <a:t>Установка</a:t>
            </a:r>
          </a:p>
          <a:p>
            <a:pPr algn="just"/>
            <a:r>
              <a:rPr lang="ru-RU" sz="2000" dirty="0"/>
              <a:t>Перед установкой </a:t>
            </a:r>
            <a:r>
              <a:rPr lang="en-US" sz="2000" dirty="0" err="1"/>
              <a:t>pg_cron</a:t>
            </a:r>
            <a:r>
              <a:rPr lang="en-US" sz="2000" dirty="0"/>
              <a:t> </a:t>
            </a:r>
            <a:r>
              <a:rPr lang="ru-RU" sz="2000" dirty="0"/>
              <a:t>необходимо:  </a:t>
            </a:r>
          </a:p>
          <a:p>
            <a:pPr algn="just"/>
            <a:r>
              <a:rPr lang="ru-RU" sz="2000" dirty="0"/>
              <a:t>•	иметь </a:t>
            </a:r>
            <a:r>
              <a:rPr lang="en-US" sz="2000" dirty="0"/>
              <a:t>PostgreSQL </a:t>
            </a:r>
            <a:r>
              <a:rPr lang="ru-RU" sz="2000" dirty="0"/>
              <a:t>версии 9.5 или выше (рекомендуется 12+);</a:t>
            </a:r>
          </a:p>
          <a:p>
            <a:pPr algn="just"/>
            <a:r>
              <a:rPr lang="ru-RU" sz="2000" dirty="0"/>
              <a:t>•	иметь права </a:t>
            </a:r>
            <a:r>
              <a:rPr lang="ru-RU" sz="2000" dirty="0" err="1"/>
              <a:t>суперпользователя</a:t>
            </a:r>
            <a:r>
              <a:rPr lang="ru-RU" sz="2000" dirty="0"/>
              <a:t> (</a:t>
            </a:r>
            <a:r>
              <a:rPr lang="en-US" sz="2000" dirty="0" err="1"/>
              <a:t>superuser</a:t>
            </a:r>
            <a:r>
              <a:rPr lang="en-US" sz="2000" dirty="0"/>
              <a:t>) </a:t>
            </a:r>
            <a:r>
              <a:rPr lang="ru-RU" sz="2000" dirty="0"/>
              <a:t>в </a:t>
            </a:r>
            <a:r>
              <a:rPr lang="en-US" sz="2000" dirty="0"/>
              <a:t>PostgreSQL;</a:t>
            </a:r>
          </a:p>
          <a:p>
            <a:pPr algn="just"/>
            <a:r>
              <a:rPr lang="en-US" sz="2000" dirty="0"/>
              <a:t>•	</a:t>
            </a:r>
            <a:r>
              <a:rPr lang="ru-RU" sz="2000" dirty="0"/>
              <a:t>иметь доступ к командной строке сервера;</a:t>
            </a:r>
          </a:p>
          <a:p>
            <a:pPr algn="just"/>
            <a:r>
              <a:rPr lang="ru-RU" sz="2000" dirty="0"/>
              <a:t>•	иметь установленные инструменты для сборки (</a:t>
            </a:r>
            <a:r>
              <a:rPr lang="en-US" sz="2000" dirty="0" err="1"/>
              <a:t>gcc</a:t>
            </a:r>
            <a:r>
              <a:rPr lang="en-US" sz="2000" dirty="0"/>
              <a:t>, make, </a:t>
            </a:r>
            <a:r>
              <a:rPr lang="en-US" sz="2000" dirty="0" err="1"/>
              <a:t>postgresql</a:t>
            </a:r>
            <a:r>
              <a:rPr lang="en-US" sz="2000" dirty="0"/>
              <a:t>-server-dev).</a:t>
            </a:r>
          </a:p>
          <a:p>
            <a:pPr algn="just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996046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32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900" b="1" dirty="0" smtClean="0"/>
              <a:t>Метод установки зависит от платформы</a:t>
            </a:r>
            <a:r>
              <a:rPr lang="ru-RU" sz="1900" dirty="0" smtClean="0"/>
              <a:t>: на </a:t>
            </a:r>
            <a:r>
              <a:rPr lang="en-US" sz="1900" dirty="0" smtClean="0"/>
              <a:t>Ubuntu/</a:t>
            </a:r>
            <a:r>
              <a:rPr lang="en-US" sz="1900" dirty="0" err="1" smtClean="0"/>
              <a:t>Debian</a:t>
            </a:r>
            <a:r>
              <a:rPr lang="en-US" sz="1900" dirty="0" smtClean="0"/>
              <a:t> — </a:t>
            </a:r>
            <a:r>
              <a:rPr lang="en-US" sz="1900" dirty="0" err="1" smtClean="0"/>
              <a:t>sudo</a:t>
            </a:r>
            <a:r>
              <a:rPr lang="en-US" sz="1900" dirty="0" smtClean="0"/>
              <a:t> apt-get install postgresql-14-cron;</a:t>
            </a:r>
            <a:r>
              <a:rPr lang="ru-RU" sz="1900" dirty="0" smtClean="0"/>
              <a:t>на </a:t>
            </a:r>
            <a:r>
              <a:rPr lang="en-US" sz="1900" dirty="0" smtClean="0"/>
              <a:t>RHEL/CentOS — </a:t>
            </a:r>
            <a:r>
              <a:rPr lang="en-US" sz="1900" dirty="0" err="1" smtClean="0"/>
              <a:t>sudo</a:t>
            </a:r>
            <a:r>
              <a:rPr lang="en-US" sz="1900" dirty="0" smtClean="0"/>
              <a:t> yum install pg_cron_14;</a:t>
            </a:r>
            <a:r>
              <a:rPr lang="ru-RU" sz="1900" dirty="0" smtClean="0"/>
              <a:t>на </a:t>
            </a:r>
            <a:r>
              <a:rPr lang="en-US" sz="1900" dirty="0" err="1" smtClean="0"/>
              <a:t>macOS</a:t>
            </a:r>
            <a:r>
              <a:rPr lang="en-US" sz="1900" dirty="0" smtClean="0"/>
              <a:t> </a:t>
            </a:r>
            <a:r>
              <a:rPr lang="ru-RU" sz="1900" dirty="0" smtClean="0"/>
              <a:t>с </a:t>
            </a:r>
            <a:r>
              <a:rPr lang="en-US" sz="1900" dirty="0" smtClean="0"/>
              <a:t>Homebrew — brew install </a:t>
            </a:r>
            <a:r>
              <a:rPr lang="en-US" sz="1900" dirty="0" err="1" smtClean="0"/>
              <a:t>pg_cron</a:t>
            </a:r>
            <a:endParaRPr lang="ru-RU" sz="1900" dirty="0" smtClean="0"/>
          </a:p>
          <a:p>
            <a:pPr algn="ctr"/>
            <a:r>
              <a:rPr lang="ru-RU" sz="1900" b="1" dirty="0" smtClean="0"/>
              <a:t>Настройка</a:t>
            </a:r>
          </a:p>
          <a:p>
            <a:r>
              <a:rPr lang="ru-RU" sz="1900" dirty="0" smtClean="0"/>
              <a:t>После установки нужно добавить </a:t>
            </a:r>
            <a:r>
              <a:rPr lang="en-US" sz="1900" dirty="0" err="1" smtClean="0"/>
              <a:t>pg_cron</a:t>
            </a:r>
            <a:r>
              <a:rPr lang="en-US" sz="1900" dirty="0" smtClean="0"/>
              <a:t> </a:t>
            </a:r>
            <a:r>
              <a:rPr lang="ru-RU" sz="1900" dirty="0" smtClean="0"/>
              <a:t>в библиотеки общего предварительного загрузки </a:t>
            </a:r>
            <a:r>
              <a:rPr lang="en-US" sz="1900" dirty="0" smtClean="0"/>
              <a:t>PostgreSQL: </a:t>
            </a:r>
          </a:p>
          <a:p>
            <a:r>
              <a:rPr lang="en-US" sz="1900" dirty="0" smtClean="0"/>
              <a:t>•	</a:t>
            </a:r>
            <a:r>
              <a:rPr lang="ru-RU" sz="1900" dirty="0" smtClean="0"/>
              <a:t>Открыть файл </a:t>
            </a:r>
            <a:r>
              <a:rPr lang="en-US" sz="1900" dirty="0" err="1" smtClean="0"/>
              <a:t>postgresql.conf</a:t>
            </a:r>
            <a:r>
              <a:rPr lang="en-US" sz="1900" dirty="0" smtClean="0"/>
              <a:t> </a:t>
            </a:r>
            <a:r>
              <a:rPr lang="ru-RU" sz="1900" dirty="0" smtClean="0"/>
              <a:t>и изменить параметр </a:t>
            </a:r>
            <a:r>
              <a:rPr lang="en-US" sz="1900" dirty="0" err="1" smtClean="0"/>
              <a:t>shared_preload_libraries</a:t>
            </a:r>
            <a:r>
              <a:rPr lang="en-US" sz="1900" dirty="0" smtClean="0"/>
              <a:t>  </a:t>
            </a:r>
          </a:p>
          <a:p>
            <a:r>
              <a:rPr lang="en-US" sz="1900" dirty="0" err="1" smtClean="0"/>
              <a:t>shared_preload_libraries</a:t>
            </a:r>
            <a:r>
              <a:rPr lang="en-US" sz="1900" dirty="0" smtClean="0"/>
              <a:t> = '</a:t>
            </a:r>
            <a:r>
              <a:rPr lang="en-US" sz="1900" dirty="0" err="1" smtClean="0"/>
              <a:t>pg_cron</a:t>
            </a:r>
            <a:r>
              <a:rPr lang="en-US" sz="1900" dirty="0" smtClean="0"/>
              <a:t>'</a:t>
            </a:r>
          </a:p>
          <a:p>
            <a:r>
              <a:rPr lang="en-US" sz="1900" dirty="0" smtClean="0"/>
              <a:t>. </a:t>
            </a:r>
            <a:r>
              <a:rPr lang="ru-RU" sz="1900" dirty="0" smtClean="0"/>
              <a:t>Если уже загружены другие расширения, добавить </a:t>
            </a:r>
            <a:r>
              <a:rPr lang="en-US" sz="1900" dirty="0" err="1" smtClean="0"/>
              <a:t>pg_cron</a:t>
            </a:r>
            <a:r>
              <a:rPr lang="en-US" sz="1900" dirty="0" smtClean="0"/>
              <a:t> </a:t>
            </a:r>
            <a:r>
              <a:rPr lang="ru-RU" sz="1900" dirty="0" smtClean="0"/>
              <a:t>в существующий список с разделителем запятыми.</a:t>
            </a:r>
          </a:p>
          <a:p>
            <a:r>
              <a:rPr lang="ru-RU" sz="1900" dirty="0" smtClean="0"/>
              <a:t>•	Перезапустить </a:t>
            </a:r>
            <a:r>
              <a:rPr lang="en-US" sz="1900" dirty="0" smtClean="0"/>
              <a:t>PostgreSQL, </a:t>
            </a:r>
            <a:r>
              <a:rPr lang="ru-RU" sz="1900" dirty="0" smtClean="0"/>
              <a:t>чтобы применить изменения: </a:t>
            </a:r>
            <a:r>
              <a:rPr lang="en-US" sz="1900" dirty="0" err="1" smtClean="0"/>
              <a:t>sudo</a:t>
            </a:r>
            <a:r>
              <a:rPr lang="en-US" sz="1900" dirty="0" smtClean="0"/>
              <a:t> </a:t>
            </a:r>
            <a:r>
              <a:rPr lang="en-US" sz="1900" dirty="0" err="1" smtClean="0"/>
              <a:t>systemctl</a:t>
            </a:r>
            <a:r>
              <a:rPr lang="en-US" sz="1900" dirty="0" smtClean="0"/>
              <a:t> restart </a:t>
            </a:r>
            <a:r>
              <a:rPr lang="en-US" sz="1900" dirty="0" err="1" smtClean="0"/>
              <a:t>postgresql</a:t>
            </a:r>
            <a:endParaRPr lang="en-US" sz="1900" dirty="0" smtClean="0"/>
          </a:p>
          <a:p>
            <a:r>
              <a:rPr lang="en-US" sz="1900" dirty="0" smtClean="0"/>
              <a:t>.</a:t>
            </a:r>
            <a:r>
              <a:rPr lang="ru-RU" sz="1900" dirty="0" smtClean="0"/>
              <a:t>Создать расширение в целевой базе данных:  </a:t>
            </a:r>
            <a:r>
              <a:rPr lang="en-US" sz="1900" dirty="0" smtClean="0"/>
              <a:t>CREATE EXTENSION </a:t>
            </a:r>
            <a:r>
              <a:rPr lang="en-US" sz="1900" dirty="0" err="1" smtClean="0"/>
              <a:t>pg</a:t>
            </a:r>
            <a:endParaRPr lang="en-US" sz="1900" dirty="0" smtClean="0"/>
          </a:p>
          <a:p>
            <a:r>
              <a:rPr lang="ru-RU" sz="1900" dirty="0" smtClean="0"/>
              <a:t> </a:t>
            </a:r>
            <a:r>
              <a:rPr lang="ru-RU" sz="1900" b="1" dirty="0" smtClean="0"/>
              <a:t>Некоторые параметры настройки:</a:t>
            </a:r>
          </a:p>
          <a:p>
            <a:r>
              <a:rPr lang="ru-RU" sz="1900" dirty="0" smtClean="0"/>
              <a:t>•	</a:t>
            </a:r>
            <a:r>
              <a:rPr lang="ru-RU" sz="1900" dirty="0" err="1" smtClean="0"/>
              <a:t>cron.database_name</a:t>
            </a:r>
            <a:r>
              <a:rPr lang="ru-RU" sz="1900" dirty="0" smtClean="0"/>
              <a:t> </a:t>
            </a:r>
          </a:p>
          <a:p>
            <a:r>
              <a:rPr lang="ru-RU" sz="1900" dirty="0" smtClean="0"/>
              <a:t>•	</a:t>
            </a:r>
            <a:r>
              <a:rPr lang="ru-RU" sz="1900" dirty="0" err="1" smtClean="0"/>
              <a:t>cron.timezone</a:t>
            </a:r>
            <a:r>
              <a:rPr lang="ru-RU" sz="1900" dirty="0" smtClean="0"/>
              <a:t> (по умолчанию — GMT).  </a:t>
            </a:r>
          </a:p>
          <a:p>
            <a:r>
              <a:rPr lang="ru-RU" sz="1900" dirty="0" smtClean="0"/>
              <a:t>•	</a:t>
            </a:r>
            <a:r>
              <a:rPr lang="ru-RU" sz="1900" dirty="0" err="1" smtClean="0"/>
              <a:t>cron.use_background_workers</a:t>
            </a:r>
            <a:r>
              <a:rPr lang="ru-RU" sz="1900" dirty="0" smtClean="0"/>
              <a:t>. количество одновременных заданий ограничено параметром </a:t>
            </a:r>
            <a:r>
              <a:rPr lang="ru-RU" sz="1900" dirty="0" err="1" smtClean="0"/>
              <a:t>cron.max_running_jobs</a:t>
            </a:r>
            <a:endParaRPr lang="ru-RU" sz="1900" dirty="0" smtClean="0"/>
          </a:p>
          <a:p>
            <a:pPr algn="ctr"/>
            <a:r>
              <a:rPr lang="ru-RU" sz="1900" b="1" dirty="0" smtClean="0"/>
              <a:t>Некоторые примеры использования </a:t>
            </a:r>
            <a:r>
              <a:rPr lang="en-US" sz="1900" b="1" dirty="0" err="1" smtClean="0"/>
              <a:t>pg_cron</a:t>
            </a:r>
            <a:r>
              <a:rPr lang="en-US" sz="1900" b="1" dirty="0" smtClean="0"/>
              <a:t>:</a:t>
            </a:r>
          </a:p>
          <a:p>
            <a:r>
              <a:rPr lang="en-US" sz="1900" dirty="0" smtClean="0"/>
              <a:t>•	</a:t>
            </a:r>
            <a:r>
              <a:rPr lang="ru-RU" sz="1900" dirty="0" smtClean="0"/>
              <a:t>Ежедневная очистка старых записей. Например, удаление записей старше 30 дней из таблицы </a:t>
            </a:r>
            <a:r>
              <a:rPr lang="en-US" sz="1900" dirty="0" smtClean="0"/>
              <a:t>logs: </a:t>
            </a:r>
          </a:p>
          <a:p>
            <a:r>
              <a:rPr lang="en-US" sz="1900" dirty="0" smtClean="0"/>
              <a:t>SELECT </a:t>
            </a:r>
            <a:r>
              <a:rPr lang="en-US" sz="1900" dirty="0" err="1" smtClean="0"/>
              <a:t>cron.schedule</a:t>
            </a:r>
            <a:r>
              <a:rPr lang="en-US" sz="1900" dirty="0" smtClean="0"/>
              <a:t>( 'clean-old-logs', '0 2 * * *', 'DELETE FROM logs WHERE </a:t>
            </a:r>
            <a:r>
              <a:rPr lang="en-US" sz="1900" dirty="0" err="1" smtClean="0"/>
              <a:t>created_at</a:t>
            </a:r>
            <a:r>
              <a:rPr lang="en-US" sz="1900" dirty="0" smtClean="0"/>
              <a:t> &lt; NOW() - INTERVAL ''30 days'';')</a:t>
            </a:r>
          </a:p>
          <a:p>
            <a:r>
              <a:rPr lang="en-US" sz="1900" dirty="0" smtClean="0"/>
              <a:t>•	</a:t>
            </a:r>
            <a:r>
              <a:rPr lang="ru-RU" sz="1900" dirty="0" smtClean="0"/>
              <a:t>Еженедельная агрегация статистики. Создание сводной таблицы каждое воскресенье в 3:00: `</a:t>
            </a:r>
            <a:r>
              <a:rPr lang="en-US" sz="1900" dirty="0" smtClean="0"/>
              <a:t>SELECT </a:t>
            </a:r>
            <a:r>
              <a:rPr lang="en-US" sz="1900" dirty="0" err="1" smtClean="0"/>
              <a:t>cron.schedule</a:t>
            </a:r>
            <a:r>
              <a:rPr lang="en-US" sz="1900" dirty="0" smtClean="0"/>
              <a:t>( 'weekly-stats-aggregation', '0 3 * * 0', $$INSERT INTO </a:t>
            </a:r>
            <a:r>
              <a:rPr lang="en-US" sz="1900" dirty="0" err="1" smtClean="0"/>
              <a:t>weekly_stats</a:t>
            </a:r>
            <a:r>
              <a:rPr lang="en-US" sz="1900" dirty="0" smtClean="0"/>
              <a:t> SELECT</a:t>
            </a:r>
          </a:p>
          <a:p>
            <a:r>
              <a:rPr lang="en-US" sz="1900" dirty="0" smtClean="0"/>
              <a:t>•	</a:t>
            </a:r>
            <a:r>
              <a:rPr lang="ru-RU" sz="1900" dirty="0" smtClean="0"/>
              <a:t>Периодическое обновление материализованного представления. Например, обновление представления каждые 30 минут: </a:t>
            </a:r>
            <a:r>
              <a:rPr lang="en-US" sz="1900" dirty="0" smtClean="0"/>
              <a:t>SELECT </a:t>
            </a:r>
            <a:r>
              <a:rPr lang="en-US" sz="1900" dirty="0" err="1" smtClean="0"/>
              <a:t>cron.schedule</a:t>
            </a:r>
            <a:r>
              <a:rPr lang="en-US" sz="1900" dirty="0" smtClean="0"/>
              <a:t>( 'refresh-sales-summary', '*/30 * * * *', 'REFRESH MATERIALIZED VIEW CONCURRENTLY </a:t>
            </a:r>
            <a:r>
              <a:rPr lang="en-US" sz="1900" dirty="0" err="1" smtClean="0"/>
              <a:t>sales_summary</a:t>
            </a:r>
            <a:r>
              <a:rPr lang="en-US" sz="1900" dirty="0" smtClean="0"/>
              <a:t>'$$)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82815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" y="0"/>
            <a:ext cx="12192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err="1" smtClean="0"/>
              <a:t>pgAgent</a:t>
            </a:r>
            <a:endParaRPr lang="ru-RU" sz="2000" b="1" dirty="0" smtClean="0"/>
          </a:p>
          <a:p>
            <a:pPr algn="just"/>
            <a:r>
              <a:rPr lang="ru-RU" sz="2000" b="1" dirty="0"/>
              <a:t>Агент </a:t>
            </a:r>
            <a:r>
              <a:rPr lang="ru-RU" sz="2000" b="1" dirty="0" err="1"/>
              <a:t>pgAgent</a:t>
            </a:r>
            <a:r>
              <a:rPr lang="ru-RU" sz="2000" b="1" dirty="0"/>
              <a:t> </a:t>
            </a:r>
            <a:r>
              <a:rPr lang="ru-RU" sz="2000" dirty="0"/>
              <a:t>позволяет определять задания как SQL-скрипты или внешние скрипты оболочки, а новые задания — запускать по расписанию</a:t>
            </a:r>
            <a:r>
              <a:rPr lang="ru-RU" sz="2000" dirty="0" smtClean="0"/>
              <a:t>.</a:t>
            </a:r>
          </a:p>
          <a:p>
            <a:pPr algn="just"/>
            <a:r>
              <a:rPr lang="ru-RU" sz="2000" b="1" dirty="0" smtClean="0"/>
              <a:t> </a:t>
            </a:r>
            <a:r>
              <a:rPr lang="ru-RU" sz="2000" b="1" dirty="0"/>
              <a:t>Некоторые особенности:  </a:t>
            </a:r>
          </a:p>
          <a:p>
            <a:pPr algn="just"/>
            <a:r>
              <a:rPr lang="ru-RU" sz="2000" dirty="0"/>
              <a:t>•	Задания можно определять с помощью GUI </a:t>
            </a:r>
            <a:r>
              <a:rPr lang="ru-RU" sz="2000" dirty="0" err="1"/>
              <a:t>pgAdmin</a:t>
            </a:r>
            <a:r>
              <a:rPr lang="ru-RU" sz="2000" dirty="0"/>
              <a:t> или инструментов командной строки (например, </a:t>
            </a:r>
            <a:r>
              <a:rPr lang="ru-RU" sz="2000" dirty="0" err="1"/>
              <a:t>psql</a:t>
            </a:r>
            <a:r>
              <a:rPr lang="ru-RU" sz="2000" dirty="0"/>
              <a:t>).</a:t>
            </a:r>
          </a:p>
          <a:p>
            <a:pPr algn="just"/>
            <a:r>
              <a:rPr lang="ru-RU" sz="2000" dirty="0"/>
              <a:t>•	Можно настраивать расписание с точным контролем частоты и времени.</a:t>
            </a:r>
          </a:p>
          <a:p>
            <a:pPr algn="just"/>
            <a:r>
              <a:rPr lang="ru-RU" sz="2000" dirty="0"/>
              <a:t>•	Агент запускается как отдельный сервис (демон) вне сервера </a:t>
            </a:r>
            <a:r>
              <a:rPr lang="ru-RU" sz="2000" dirty="0" err="1"/>
              <a:t>PostgreSQL</a:t>
            </a:r>
            <a:r>
              <a:rPr lang="ru-RU" sz="2000" dirty="0"/>
              <a:t>, подключается к базе данных, чтобы читать определения заданий и писать </a:t>
            </a:r>
            <a:r>
              <a:rPr lang="ru-RU" sz="2000" dirty="0" err="1"/>
              <a:t>логи</a:t>
            </a:r>
            <a:r>
              <a:rPr lang="ru-RU" sz="2000" dirty="0"/>
              <a:t>.</a:t>
            </a:r>
          </a:p>
          <a:p>
            <a:pPr algn="just"/>
            <a:r>
              <a:rPr lang="ru-RU" sz="2000" b="1" dirty="0" err="1"/>
              <a:t>PgAgent</a:t>
            </a:r>
            <a:r>
              <a:rPr lang="ru-RU" sz="2000" dirty="0"/>
              <a:t> — инструмент для автоматизации повторяющихся задач в </a:t>
            </a:r>
            <a:r>
              <a:rPr lang="ru-RU" sz="2000" dirty="0" err="1"/>
              <a:t>PostgreSQL</a:t>
            </a:r>
            <a:r>
              <a:rPr lang="ru-RU" sz="2000" dirty="0"/>
              <a:t>, работающий как расширение СУБД. </a:t>
            </a:r>
            <a:endParaRPr lang="ru-RU" sz="2000" dirty="0" smtClean="0"/>
          </a:p>
          <a:p>
            <a:pPr algn="just"/>
            <a:r>
              <a:rPr lang="ru-RU" sz="2000" b="1" dirty="0"/>
              <a:t>Архитектура</a:t>
            </a:r>
            <a:r>
              <a:rPr lang="ru-RU" sz="2000" dirty="0"/>
              <a:t>: состоит из службы (демона) </a:t>
            </a:r>
            <a:r>
              <a:rPr lang="ru-RU" sz="2000" dirty="0" err="1"/>
              <a:t>PgAgent</a:t>
            </a:r>
            <a:r>
              <a:rPr lang="ru-RU" sz="2000" dirty="0"/>
              <a:t> и набора служебных таблиц внутри </a:t>
            </a:r>
            <a:r>
              <a:rPr lang="ru-RU" sz="2000" dirty="0" err="1" smtClean="0"/>
              <a:t>PostgreSQL</a:t>
            </a:r>
            <a:endParaRPr lang="ru-RU" sz="2000" dirty="0" smtClean="0"/>
          </a:p>
          <a:p>
            <a:pPr algn="ctr"/>
            <a:r>
              <a:rPr lang="ru-RU" sz="2000" b="1" dirty="0"/>
              <a:t>Функции</a:t>
            </a:r>
          </a:p>
          <a:p>
            <a:pPr algn="just"/>
            <a:r>
              <a:rPr lang="ru-RU" sz="2000" dirty="0"/>
              <a:t>Процесс установки </a:t>
            </a:r>
            <a:r>
              <a:rPr lang="ru-RU" sz="2000" dirty="0" err="1"/>
              <a:t>PgAgent</a:t>
            </a:r>
            <a:r>
              <a:rPr lang="ru-RU" sz="2000" dirty="0"/>
              <a:t> немного отличается в зависимости от операционной системы, но в целом включает три этапа:  </a:t>
            </a:r>
          </a:p>
          <a:p>
            <a:pPr algn="just"/>
            <a:r>
              <a:rPr lang="ru-RU" sz="2000" dirty="0"/>
              <a:t>1.	Установка самого приложения. На большинстве дистрибутивов </a:t>
            </a:r>
            <a:r>
              <a:rPr lang="ru-RU" sz="2000" dirty="0" err="1"/>
              <a:t>Linux</a:t>
            </a:r>
            <a:r>
              <a:rPr lang="ru-RU" sz="2000" dirty="0"/>
              <a:t> </a:t>
            </a:r>
            <a:r>
              <a:rPr lang="ru-RU" sz="2000" dirty="0" err="1"/>
              <a:t>PgAgent</a:t>
            </a:r>
            <a:r>
              <a:rPr lang="ru-RU" sz="2000" dirty="0"/>
              <a:t> можно установить через пакетный менеджер. Для RHEL/</a:t>
            </a:r>
            <a:r>
              <a:rPr lang="ru-RU" sz="2000" dirty="0" err="1"/>
              <a:t>CentOS</a:t>
            </a:r>
            <a:r>
              <a:rPr lang="ru-RU" sz="2000" dirty="0"/>
              <a:t> используется </a:t>
            </a:r>
            <a:r>
              <a:rPr lang="ru-RU" sz="2000" dirty="0" err="1"/>
              <a:t>yum</a:t>
            </a:r>
            <a:r>
              <a:rPr lang="ru-RU" sz="2000" dirty="0"/>
              <a:t> или </a:t>
            </a:r>
            <a:r>
              <a:rPr lang="ru-RU" sz="2000" dirty="0" err="1"/>
              <a:t>dnf</a:t>
            </a:r>
            <a:r>
              <a:rPr lang="ru-RU" sz="2000" dirty="0"/>
              <a:t>.</a:t>
            </a:r>
          </a:p>
          <a:p>
            <a:pPr algn="just"/>
            <a:r>
              <a:rPr lang="ru-RU" sz="2000" dirty="0"/>
              <a:t>2.	Создание служебных объектов в базе данных. При установке расширения создаётся схема </a:t>
            </a:r>
          </a:p>
          <a:p>
            <a:pPr algn="just"/>
            <a:r>
              <a:rPr lang="ru-RU" sz="2000" dirty="0" err="1"/>
              <a:t>pgagent</a:t>
            </a:r>
            <a:endParaRPr lang="ru-RU" sz="2000" dirty="0"/>
          </a:p>
          <a:p>
            <a:pPr algn="just"/>
            <a:r>
              <a:rPr lang="ru-RU" sz="2000" dirty="0"/>
              <a:t>3.	Запуск службы.</a:t>
            </a:r>
          </a:p>
        </p:txBody>
      </p:sp>
    </p:spTree>
    <p:extLst>
      <p:ext uri="{BB962C8B-B14F-4D97-AF65-F5344CB8AC3E}">
        <p14:creationId xmlns:p14="http://schemas.microsoft.com/office/powerpoint/2010/main" val="33859443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1"/>
            <a:ext cx="121920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/>
              <a:t>Установка</a:t>
            </a:r>
          </a:p>
          <a:p>
            <a:r>
              <a:rPr lang="ru-RU" sz="2000" dirty="0"/>
              <a:t>Некоторые особенности настройки </a:t>
            </a:r>
            <a:r>
              <a:rPr lang="ru-RU" sz="2000" dirty="0" err="1"/>
              <a:t>PgAgent</a:t>
            </a:r>
            <a:r>
              <a:rPr lang="ru-RU" sz="2000" dirty="0"/>
              <a:t>:</a:t>
            </a:r>
          </a:p>
          <a:p>
            <a:r>
              <a:rPr lang="ru-RU" sz="2000" dirty="0"/>
              <a:t>•	Создание заданий</a:t>
            </a:r>
            <a:r>
              <a:rPr lang="ru-RU" sz="2000" dirty="0" smtClean="0"/>
              <a:t>.</a:t>
            </a:r>
            <a:endParaRPr lang="ru-RU" sz="2000" dirty="0"/>
          </a:p>
          <a:p>
            <a:r>
              <a:rPr lang="ru-RU" sz="2000" dirty="0"/>
              <a:t>•	Изменение заданий. 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Настройка </a:t>
            </a:r>
            <a:r>
              <a:rPr lang="ru-RU" sz="2000" dirty="0" smtClean="0"/>
              <a:t>расписания</a:t>
            </a:r>
          </a:p>
          <a:p>
            <a:pPr algn="ctr"/>
            <a:r>
              <a:rPr lang="en-US" sz="2000" b="1" dirty="0" err="1" smtClean="0"/>
              <a:t>Cron</a:t>
            </a:r>
            <a:endParaRPr lang="ru-RU" sz="2000" b="1" dirty="0" smtClean="0"/>
          </a:p>
          <a:p>
            <a:pPr algn="just"/>
            <a:r>
              <a:rPr lang="ru-RU" sz="2000" b="1" dirty="0"/>
              <a:t>Системный планировщик</a:t>
            </a:r>
            <a:r>
              <a:rPr lang="ru-RU" sz="2000" dirty="0"/>
              <a:t> </a:t>
            </a:r>
            <a:r>
              <a:rPr lang="ru-RU" sz="2000" dirty="0" err="1"/>
              <a:t>Cron</a:t>
            </a:r>
            <a:r>
              <a:rPr lang="ru-RU" sz="2000" dirty="0"/>
              <a:t> не является инструментом для управления задачами в </a:t>
            </a:r>
            <a:r>
              <a:rPr lang="ru-RU" sz="2000" dirty="0" err="1" smtClean="0"/>
              <a:t>PostgreSQL</a:t>
            </a:r>
            <a:endParaRPr lang="ru-RU" sz="2000" dirty="0" smtClean="0"/>
          </a:p>
          <a:p>
            <a:pPr algn="ctr"/>
            <a:r>
              <a:rPr lang="ru-RU" sz="2000" b="1" dirty="0"/>
              <a:t>Оптимизация</a:t>
            </a:r>
          </a:p>
          <a:p>
            <a:pPr algn="just"/>
            <a:r>
              <a:rPr lang="ru-RU" sz="2000" dirty="0"/>
              <a:t>Планировщик запросов в </a:t>
            </a:r>
            <a:r>
              <a:rPr lang="ru-RU" sz="2000" dirty="0" err="1"/>
              <a:t>PostgreSQL</a:t>
            </a:r>
            <a:r>
              <a:rPr lang="ru-RU" sz="2000" dirty="0"/>
              <a:t> анализирует запрос и определяет оптимальный план выполнения. </a:t>
            </a:r>
            <a:r>
              <a:rPr lang="ru-RU" sz="2000" b="1" dirty="0"/>
              <a:t>Некоторые методы оптимизации: </a:t>
            </a:r>
          </a:p>
          <a:p>
            <a:pPr algn="just"/>
            <a:r>
              <a:rPr lang="ru-RU" sz="2000" dirty="0"/>
              <a:t>•	Использовать инструменты для анализа запросов. </a:t>
            </a:r>
            <a:r>
              <a:rPr lang="ru-RU" sz="2000" dirty="0" smtClean="0"/>
              <a:t>EXPLAIN </a:t>
            </a:r>
            <a:r>
              <a:rPr lang="ru-RU" sz="2000" dirty="0"/>
              <a:t>ANALYZE — выполняет запрос и показывает реальные затраты.</a:t>
            </a:r>
          </a:p>
          <a:p>
            <a:pPr algn="just"/>
            <a:r>
              <a:rPr lang="ru-RU" sz="2000" dirty="0"/>
              <a:t>•	Идентифицировать проблемные запросы. Например, </a:t>
            </a:r>
            <a:r>
              <a:rPr lang="ru-RU" sz="2000" dirty="0" smtClean="0"/>
              <a:t>неоптимальный </a:t>
            </a:r>
            <a:r>
              <a:rPr lang="ru-RU" sz="2000" dirty="0"/>
              <a:t>метод соединения таблиц (</a:t>
            </a:r>
            <a:r>
              <a:rPr lang="ru-RU" sz="2000" dirty="0" err="1"/>
              <a:t>Hash</a:t>
            </a:r>
            <a:r>
              <a:rPr lang="ru-RU" sz="2000" dirty="0"/>
              <a:t> </a:t>
            </a:r>
            <a:r>
              <a:rPr lang="ru-RU" sz="2000" dirty="0" err="1"/>
              <a:t>Join</a:t>
            </a:r>
            <a:r>
              <a:rPr lang="ru-RU" sz="2000" dirty="0"/>
              <a:t> вместо </a:t>
            </a:r>
            <a:r>
              <a:rPr lang="ru-RU" sz="2000" dirty="0" err="1"/>
              <a:t>Nested</a:t>
            </a:r>
            <a:r>
              <a:rPr lang="ru-RU" sz="2000" dirty="0"/>
              <a:t> </a:t>
            </a:r>
            <a:r>
              <a:rPr lang="ru-RU" sz="2000" dirty="0" err="1"/>
              <a:t>Loop</a:t>
            </a:r>
            <a:r>
              <a:rPr lang="ru-RU" sz="2000" dirty="0"/>
              <a:t> для небольших выборок).</a:t>
            </a:r>
          </a:p>
          <a:p>
            <a:pPr algn="just"/>
            <a:r>
              <a:rPr lang="ru-RU" sz="2000" dirty="0"/>
              <a:t>•	Оптимизировать </a:t>
            </a:r>
            <a:r>
              <a:rPr lang="ru-RU" sz="2000" dirty="0" smtClean="0"/>
              <a:t>запросы</a:t>
            </a:r>
          </a:p>
          <a:p>
            <a:pPr algn="just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533050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В </a:t>
            </a:r>
            <a:r>
              <a:rPr lang="ru-RU" sz="2000" dirty="0" err="1"/>
              <a:t>PostgreSQL</a:t>
            </a:r>
            <a:r>
              <a:rPr lang="ru-RU" sz="2000" dirty="0"/>
              <a:t> есть расширение </a:t>
            </a:r>
            <a:r>
              <a:rPr lang="ru-RU" sz="2000" b="1" dirty="0" err="1"/>
              <a:t>pg_cron</a:t>
            </a:r>
            <a:r>
              <a:rPr lang="ru-RU" sz="2000" dirty="0"/>
              <a:t> — планировщик задач на основе </a:t>
            </a:r>
            <a:r>
              <a:rPr lang="ru-RU" sz="2000" b="1" dirty="0" err="1"/>
              <a:t>cron</a:t>
            </a:r>
            <a:r>
              <a:rPr lang="ru-RU" sz="2000" dirty="0"/>
              <a:t>, который работает внутри базы </a:t>
            </a:r>
            <a:r>
              <a:rPr lang="ru-RU" sz="2000" dirty="0" smtClean="0"/>
              <a:t>данных</a:t>
            </a:r>
          </a:p>
          <a:p>
            <a:pPr algn="ctr"/>
            <a:r>
              <a:rPr lang="ru-RU" sz="2000" b="1" dirty="0"/>
              <a:t>Функции</a:t>
            </a:r>
          </a:p>
          <a:p>
            <a:r>
              <a:rPr lang="ru-RU" sz="2000" dirty="0"/>
              <a:t>Чтобы установить расширение </a:t>
            </a:r>
            <a:r>
              <a:rPr lang="en-US" sz="2000" dirty="0" err="1"/>
              <a:t>pg_cron</a:t>
            </a:r>
            <a:r>
              <a:rPr lang="en-US" sz="2000" dirty="0"/>
              <a:t> </a:t>
            </a:r>
            <a:r>
              <a:rPr lang="ru-RU" sz="2000" dirty="0"/>
              <a:t>в </a:t>
            </a:r>
            <a:r>
              <a:rPr lang="en-US" sz="2000" dirty="0"/>
              <a:t>PostgreSQL, </a:t>
            </a:r>
            <a:r>
              <a:rPr lang="ru-RU" sz="2000" dirty="0"/>
              <a:t>нужно:  </a:t>
            </a:r>
          </a:p>
          <a:p>
            <a:r>
              <a:rPr lang="ru-RU" sz="2000" dirty="0"/>
              <a:t>1.	Установить </a:t>
            </a:r>
            <a:r>
              <a:rPr lang="en-US" sz="2000" dirty="0" err="1"/>
              <a:t>pg_cron</a:t>
            </a:r>
            <a:r>
              <a:rPr lang="en-US" sz="2000" dirty="0"/>
              <a:t>. </a:t>
            </a:r>
            <a:r>
              <a:rPr lang="ru-RU" sz="2000" dirty="0"/>
              <a:t>Метод установки зависит от платформы:</a:t>
            </a:r>
          </a:p>
          <a:p>
            <a:r>
              <a:rPr lang="en-US" sz="2000" dirty="0"/>
              <a:t>o	Ubuntu/</a:t>
            </a:r>
            <a:r>
              <a:rPr lang="en-US" sz="2000" dirty="0" err="1"/>
              <a:t>Debian</a:t>
            </a:r>
            <a:r>
              <a:rPr lang="en-US" sz="2000" dirty="0"/>
              <a:t> — </a:t>
            </a:r>
            <a:r>
              <a:rPr lang="en-US" sz="2000" dirty="0" err="1"/>
              <a:t>sudo</a:t>
            </a:r>
            <a:r>
              <a:rPr lang="en-US" sz="2000" dirty="0"/>
              <a:t> apt-get install postgresql-14-cron</a:t>
            </a:r>
          </a:p>
          <a:p>
            <a:r>
              <a:rPr lang="en-US" sz="2000" dirty="0"/>
              <a:t>o	RHEL/CentOS — </a:t>
            </a:r>
            <a:r>
              <a:rPr lang="en-US" sz="2000" dirty="0" err="1"/>
              <a:t>sudo</a:t>
            </a:r>
            <a:r>
              <a:rPr lang="en-US" sz="2000" dirty="0"/>
              <a:t> yum install pg_cron_14</a:t>
            </a:r>
          </a:p>
          <a:p>
            <a:r>
              <a:rPr lang="en-US" sz="2000" dirty="0"/>
              <a:t>o	</a:t>
            </a:r>
            <a:r>
              <a:rPr lang="en-US" sz="2000" dirty="0" err="1"/>
              <a:t>macOS</a:t>
            </a:r>
            <a:r>
              <a:rPr lang="en-US" sz="2000" dirty="0"/>
              <a:t> </a:t>
            </a:r>
            <a:r>
              <a:rPr lang="ru-RU" sz="2000" dirty="0"/>
              <a:t>с </a:t>
            </a:r>
            <a:r>
              <a:rPr lang="en-US" sz="2000" dirty="0"/>
              <a:t>Homebrew — brew install </a:t>
            </a:r>
            <a:r>
              <a:rPr lang="en-US" sz="2000" dirty="0" err="1"/>
              <a:t>pg_cron</a:t>
            </a:r>
            <a:endParaRPr lang="en-US" sz="2000" dirty="0"/>
          </a:p>
          <a:p>
            <a:pPr marL="457200" indent="-457200">
              <a:buAutoNum type="arabicPeriod" startAt="2"/>
            </a:pPr>
            <a:r>
              <a:rPr lang="ru-RU" sz="2000" dirty="0" smtClean="0"/>
              <a:t>Добавить </a:t>
            </a:r>
            <a:r>
              <a:rPr lang="en-US" sz="2000" dirty="0" err="1"/>
              <a:t>pg_cron</a:t>
            </a:r>
            <a:r>
              <a:rPr lang="en-US" sz="2000" dirty="0"/>
              <a:t> </a:t>
            </a:r>
            <a:r>
              <a:rPr lang="ru-RU" sz="2000" dirty="0"/>
              <a:t>в библиотеки общего пользования </a:t>
            </a:r>
            <a:r>
              <a:rPr lang="en-US" sz="2000" dirty="0"/>
              <a:t>PostgreSQL. </a:t>
            </a:r>
            <a:r>
              <a:rPr lang="ru-RU" sz="2000" dirty="0"/>
              <a:t>Для этого нужно изменить параметр </a:t>
            </a:r>
            <a:r>
              <a:rPr lang="en-US" sz="2000" dirty="0" err="1"/>
              <a:t>shared_preload_libraries</a:t>
            </a:r>
            <a:r>
              <a:rPr lang="en-US" sz="2000" dirty="0"/>
              <a:t> </a:t>
            </a:r>
            <a:r>
              <a:rPr lang="ru-RU" sz="2000" dirty="0"/>
              <a:t>в файле </a:t>
            </a:r>
            <a:r>
              <a:rPr lang="en-US" sz="2000" dirty="0" err="1"/>
              <a:t>postgresql.conf</a:t>
            </a:r>
            <a:r>
              <a:rPr lang="en-US" sz="2000" dirty="0"/>
              <a:t> </a:t>
            </a:r>
            <a:r>
              <a:rPr lang="en-US" sz="2000" dirty="0" err="1"/>
              <a:t>shared_preload_libraries</a:t>
            </a:r>
            <a:r>
              <a:rPr lang="en-US" sz="2000" dirty="0"/>
              <a:t> = '</a:t>
            </a:r>
            <a:r>
              <a:rPr lang="en-US" sz="2000" dirty="0" err="1"/>
              <a:t>pg_cron</a:t>
            </a:r>
            <a:r>
              <a:rPr lang="en-US" sz="2000" dirty="0" smtClean="0"/>
              <a:t>'. </a:t>
            </a:r>
            <a:endParaRPr lang="ru-RU" sz="2000" dirty="0" smtClean="0"/>
          </a:p>
          <a:p>
            <a:pPr marL="457200" indent="-457200">
              <a:buAutoNum type="arabicPeriod" startAt="2"/>
            </a:pPr>
            <a:r>
              <a:rPr lang="ru-RU" sz="2000" dirty="0" smtClean="0"/>
              <a:t>Перезапустить </a:t>
            </a:r>
            <a:r>
              <a:rPr lang="en-US" sz="2000" dirty="0"/>
              <a:t>PostgreSQL </a:t>
            </a:r>
            <a:r>
              <a:rPr lang="ru-RU" sz="2000" dirty="0"/>
              <a:t>для применения изменений: </a:t>
            </a:r>
            <a:r>
              <a:rPr lang="en-US" sz="2000" dirty="0" err="1"/>
              <a:t>sudo</a:t>
            </a:r>
            <a:r>
              <a:rPr lang="en-US" sz="2000" dirty="0"/>
              <a:t> </a:t>
            </a:r>
            <a:r>
              <a:rPr lang="en-US" sz="2000" dirty="0" err="1"/>
              <a:t>systemctl</a:t>
            </a:r>
            <a:r>
              <a:rPr lang="en-US" sz="2000" dirty="0"/>
              <a:t> restart </a:t>
            </a:r>
            <a:r>
              <a:rPr lang="en-US" sz="2000" dirty="0" err="1"/>
              <a:t>postgresql</a:t>
            </a:r>
            <a:endParaRPr lang="en-US" sz="2000" dirty="0"/>
          </a:p>
          <a:p>
            <a:pPr lvl="0"/>
            <a:r>
              <a:rPr lang="ru-RU" dirty="0" smtClean="0"/>
              <a:t>4</a:t>
            </a:r>
            <a:r>
              <a:rPr lang="ru-RU" b="1" dirty="0" smtClean="0"/>
              <a:t>. Создать </a:t>
            </a:r>
            <a:r>
              <a:rPr lang="ru-RU" b="1" dirty="0"/>
              <a:t>расширение</a:t>
            </a:r>
            <a:r>
              <a:rPr lang="ru-RU" dirty="0"/>
              <a:t> в целевой базе данных: CREATE EXTENSION </a:t>
            </a:r>
            <a:r>
              <a:rPr lang="ru-RU" dirty="0" err="1"/>
              <a:t>pg_cron</a:t>
            </a:r>
            <a:r>
              <a:rPr lang="ru-RU" dirty="0"/>
              <a:t>;</a:t>
            </a:r>
          </a:p>
          <a:p>
            <a:pPr algn="ctr"/>
            <a:r>
              <a:rPr lang="ru-RU" sz="2000" b="1" i="1" dirty="0"/>
              <a:t>Установка</a:t>
            </a:r>
          </a:p>
          <a:p>
            <a:r>
              <a:rPr lang="ru-RU" sz="2000" dirty="0"/>
              <a:t>Некоторые параметры, которые можно настроить:</a:t>
            </a:r>
          </a:p>
          <a:p>
            <a:r>
              <a:rPr lang="ru-RU" sz="2000" dirty="0"/>
              <a:t>•	</a:t>
            </a:r>
            <a:r>
              <a:rPr lang="ru-RU" sz="2000" dirty="0" err="1"/>
              <a:t>cron.database_name</a:t>
            </a:r>
            <a:r>
              <a:rPr lang="ru-RU" sz="2000" dirty="0"/>
              <a:t> </a:t>
            </a:r>
            <a:endParaRPr lang="ru-RU" sz="2000" dirty="0" smtClean="0"/>
          </a:p>
          <a:p>
            <a:r>
              <a:rPr lang="ru-RU" sz="2000" dirty="0" smtClean="0"/>
              <a:t>•</a:t>
            </a:r>
            <a:r>
              <a:rPr lang="ru-RU" sz="2000" dirty="0"/>
              <a:t>	</a:t>
            </a:r>
            <a:r>
              <a:rPr lang="ru-RU" sz="2000" dirty="0" err="1"/>
              <a:t>cron.timezone</a:t>
            </a:r>
            <a:r>
              <a:rPr lang="ru-RU" sz="2000" dirty="0"/>
              <a:t> </a:t>
            </a:r>
            <a:r>
              <a:rPr lang="ru-RU" sz="2000" dirty="0" smtClean="0"/>
              <a:t>(</a:t>
            </a:r>
            <a:r>
              <a:rPr lang="ru-RU" sz="2000" dirty="0"/>
              <a:t>по умолчанию — GMT).  </a:t>
            </a:r>
          </a:p>
          <a:p>
            <a:r>
              <a:rPr lang="ru-RU" sz="2000" dirty="0"/>
              <a:t>•	</a:t>
            </a:r>
            <a:r>
              <a:rPr lang="ru-RU" sz="2000" dirty="0" err="1"/>
              <a:t>cron.use_background_workers</a:t>
            </a:r>
            <a:r>
              <a:rPr lang="ru-RU" sz="2000" dirty="0"/>
              <a:t> </a:t>
            </a:r>
            <a:r>
              <a:rPr lang="ru-RU" sz="2000" dirty="0" smtClean="0"/>
              <a:t>—количество </a:t>
            </a:r>
            <a:r>
              <a:rPr lang="ru-RU" sz="2000" dirty="0"/>
              <a:t>одновременных заданий ограничено параметром </a:t>
            </a:r>
            <a:r>
              <a:rPr lang="ru-RU" sz="2000" dirty="0" err="1"/>
              <a:t>cron.max_worker_processes</a:t>
            </a:r>
            <a:endParaRPr lang="ru-RU" sz="2000" dirty="0"/>
          </a:p>
          <a:p>
            <a:r>
              <a:rPr lang="ru-RU" sz="2000" dirty="0"/>
              <a:t>•	</a:t>
            </a:r>
            <a:r>
              <a:rPr lang="ru-RU" sz="2000" dirty="0" err="1"/>
              <a:t>cron.log_run</a:t>
            </a:r>
            <a:r>
              <a:rPr lang="ru-RU" sz="2000" dirty="0"/>
              <a:t> и </a:t>
            </a:r>
            <a:r>
              <a:rPr lang="ru-RU" sz="2000" dirty="0" err="1"/>
              <a:t>cron.log_statement</a:t>
            </a:r>
            <a:r>
              <a:rPr lang="ru-RU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03382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i="1" dirty="0"/>
              <a:t>Настройка</a:t>
            </a:r>
          </a:p>
          <a:p>
            <a:r>
              <a:rPr lang="ru-RU" sz="2000" dirty="0"/>
              <a:t>Некоторые примеры использования </a:t>
            </a:r>
            <a:r>
              <a:rPr lang="en-US" sz="2000" dirty="0" err="1"/>
              <a:t>pg_cron</a:t>
            </a:r>
            <a:r>
              <a:rPr lang="en-US" sz="2000" dirty="0"/>
              <a:t>:</a:t>
            </a:r>
          </a:p>
          <a:p>
            <a:r>
              <a:rPr lang="en-US" sz="2000" dirty="0"/>
              <a:t>•	</a:t>
            </a:r>
            <a:r>
              <a:rPr lang="ru-RU" sz="2000" i="1" dirty="0"/>
              <a:t>Ежедневная очистка старых записей</a:t>
            </a:r>
            <a:r>
              <a:rPr lang="ru-RU" sz="2000" dirty="0"/>
              <a:t>. Запрос: </a:t>
            </a:r>
          </a:p>
          <a:p>
            <a:r>
              <a:rPr lang="en-US" sz="2000" dirty="0"/>
              <a:t>SELECT </a:t>
            </a:r>
            <a:r>
              <a:rPr lang="en-US" sz="2000" dirty="0" err="1"/>
              <a:t>cron.schedule</a:t>
            </a:r>
            <a:r>
              <a:rPr lang="en-US" sz="2000" dirty="0"/>
              <a:t>( 'clean-old-logs', '0 2 * * *', 'DELETE FROM logs WHERE </a:t>
            </a:r>
            <a:r>
              <a:rPr lang="en-US" sz="2000" dirty="0" err="1"/>
              <a:t>created_at</a:t>
            </a:r>
            <a:r>
              <a:rPr lang="en-US" sz="2000" dirty="0"/>
              <a:t> &lt; NOW() - INTERVAL ''30 days'';')</a:t>
            </a:r>
          </a:p>
          <a:p>
            <a:r>
              <a:rPr lang="en-US" sz="2000" dirty="0"/>
              <a:t>•	</a:t>
            </a:r>
            <a:r>
              <a:rPr lang="ru-RU" sz="2000" b="1" dirty="0"/>
              <a:t>Еженедельная агрегация статистики</a:t>
            </a:r>
            <a:r>
              <a:rPr lang="ru-RU" sz="2000" dirty="0"/>
              <a:t>. Запрос: `</a:t>
            </a:r>
            <a:r>
              <a:rPr lang="en-US" sz="2000" dirty="0"/>
              <a:t>SELECT </a:t>
            </a:r>
            <a:r>
              <a:rPr lang="en-US" sz="2000" dirty="0" err="1"/>
              <a:t>cron.schedule</a:t>
            </a:r>
            <a:r>
              <a:rPr lang="en-US" sz="2000" dirty="0"/>
              <a:t>( 'weekly-stats-aggregation', '0 3 * * 0', $$INSERT INTO </a:t>
            </a:r>
            <a:r>
              <a:rPr lang="en-US" sz="2000" dirty="0" err="1"/>
              <a:t>weekly_stats</a:t>
            </a:r>
            <a:r>
              <a:rPr lang="en-US" sz="2000" dirty="0"/>
              <a:t> SELECT</a:t>
            </a:r>
          </a:p>
          <a:p>
            <a:r>
              <a:rPr lang="en-US" sz="2000" dirty="0"/>
              <a:t>•	</a:t>
            </a:r>
            <a:r>
              <a:rPr lang="ru-RU" sz="2000" b="1" dirty="0"/>
              <a:t>Периодическое обновление материализованных представлений</a:t>
            </a:r>
            <a:r>
              <a:rPr lang="ru-RU" sz="2000" dirty="0"/>
              <a:t>. Запрос: </a:t>
            </a:r>
          </a:p>
          <a:p>
            <a:r>
              <a:rPr lang="en-US" sz="2000" dirty="0"/>
              <a:t>SELECT </a:t>
            </a:r>
            <a:r>
              <a:rPr lang="en-US" sz="2000" dirty="0" err="1"/>
              <a:t>cron.schedule</a:t>
            </a:r>
            <a:r>
              <a:rPr lang="en-US" sz="2000" dirty="0"/>
              <a:t>( 'refresh-sales-summary', '*/30 * * * *', $$REFRESH MATERIALIZED VIEW CONCURRENTLY </a:t>
            </a:r>
            <a:r>
              <a:rPr lang="en-US" sz="2000" dirty="0" err="1"/>
              <a:t>sales_summary</a:t>
            </a:r>
            <a:r>
              <a:rPr lang="en-US" sz="2000" dirty="0"/>
              <a:t>$$)</a:t>
            </a:r>
          </a:p>
          <a:p>
            <a:r>
              <a:rPr lang="en-US" sz="2000" dirty="0"/>
              <a:t>•	</a:t>
            </a:r>
            <a:r>
              <a:rPr lang="ru-RU" sz="2000" b="1" dirty="0"/>
              <a:t>Агрегация данных временных рядов</a:t>
            </a:r>
            <a:r>
              <a:rPr lang="ru-RU" sz="2000" dirty="0"/>
              <a:t>. Запрос: `</a:t>
            </a:r>
            <a:r>
              <a:rPr lang="en-US" sz="2000" dirty="0"/>
              <a:t>SELECT </a:t>
            </a:r>
            <a:r>
              <a:rPr lang="en-US" sz="2000" dirty="0" err="1"/>
              <a:t>cron.schedule</a:t>
            </a:r>
            <a:r>
              <a:rPr lang="en-US" sz="2000" dirty="0"/>
              <a:t>( 'aggregate-hourly-metrics', '5 * * * *', $$INSERT INTO </a:t>
            </a:r>
            <a:r>
              <a:rPr lang="en-US" sz="2000" dirty="0" err="1"/>
              <a:t>metrics_hourly</a:t>
            </a:r>
            <a:r>
              <a:rPr lang="en-US" sz="2000" dirty="0"/>
              <a:t> (</a:t>
            </a:r>
            <a:r>
              <a:rPr lang="en-US" sz="2000" dirty="0" err="1"/>
              <a:t>metric_name</a:t>
            </a:r>
            <a:r>
              <a:rPr lang="en-US" sz="2000" dirty="0"/>
              <a:t>, hour, </a:t>
            </a:r>
            <a:r>
              <a:rPr lang="en-US" sz="2000" dirty="0" err="1"/>
              <a:t>avg_value</a:t>
            </a:r>
            <a:r>
              <a:rPr lang="en-US" sz="2000" dirty="0"/>
              <a:t>, </a:t>
            </a:r>
            <a:r>
              <a:rPr lang="en-US" sz="2000" dirty="0" err="1"/>
              <a:t>max_value</a:t>
            </a:r>
            <a:r>
              <a:rPr lang="en-US" sz="2000" dirty="0"/>
              <a:t>, </a:t>
            </a:r>
            <a:r>
              <a:rPr lang="en-US" sz="2000" dirty="0" err="1"/>
              <a:t>min_value</a:t>
            </a:r>
            <a:r>
              <a:rPr lang="en-US" sz="2000" dirty="0"/>
              <a:t>) SELECT </a:t>
            </a:r>
            <a:r>
              <a:rPr lang="en-US" sz="2000" dirty="0" err="1"/>
              <a:t>metric_name</a:t>
            </a:r>
            <a:r>
              <a:rPr lang="en-US" sz="2000" dirty="0"/>
              <a:t>, DATE_TRUNC('hour', timestamp) AS hour,</a:t>
            </a:r>
          </a:p>
        </p:txBody>
      </p:sp>
    </p:spTree>
    <p:extLst>
      <p:ext uri="{BB962C8B-B14F-4D97-AF65-F5344CB8AC3E}">
        <p14:creationId xmlns:p14="http://schemas.microsoft.com/office/powerpoint/2010/main" val="13162737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08214" y="1700213"/>
            <a:ext cx="1811337" cy="533400"/>
          </a:xfrm>
        </p:spPr>
        <p:txBody>
          <a:bodyPr/>
          <a:lstStyle/>
          <a:p>
            <a:pPr>
              <a:buFontTx/>
              <a:buNone/>
            </a:pPr>
            <a:r>
              <a:rPr lang="ru-RU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6" name="Rectangle 3"/>
          <p:cNvSpPr>
            <a:spLocks noChangeArrowheads="1"/>
          </p:cNvSpPr>
          <p:nvPr/>
        </p:nvSpPr>
        <p:spPr bwMode="auto">
          <a:xfrm rot="-1966961">
            <a:off x="4249739" y="1474788"/>
            <a:ext cx="237648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 rot="1339931">
            <a:off x="3287714" y="34290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8" name="Rectangle 5"/>
          <p:cNvSpPr>
            <a:spLocks noChangeArrowheads="1"/>
          </p:cNvSpPr>
          <p:nvPr/>
        </p:nvSpPr>
        <p:spPr bwMode="auto">
          <a:xfrm rot="932178">
            <a:off x="5016500" y="23479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69" name="Rectangle 6"/>
          <p:cNvSpPr>
            <a:spLocks noChangeArrowheads="1"/>
          </p:cNvSpPr>
          <p:nvPr/>
        </p:nvSpPr>
        <p:spPr bwMode="auto">
          <a:xfrm>
            <a:off x="6024564" y="306863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0" name="Rectangle 7"/>
          <p:cNvSpPr>
            <a:spLocks noChangeArrowheads="1"/>
          </p:cNvSpPr>
          <p:nvPr/>
        </p:nvSpPr>
        <p:spPr bwMode="auto">
          <a:xfrm rot="-634205">
            <a:off x="2063751" y="2060575"/>
            <a:ext cx="28797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71" name="Rectangle 8"/>
          <p:cNvSpPr>
            <a:spLocks noChangeArrowheads="1"/>
          </p:cNvSpPr>
          <p:nvPr/>
        </p:nvSpPr>
        <p:spPr bwMode="auto">
          <a:xfrm>
            <a:off x="6743700" y="14843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72" name="Rectangle 9"/>
          <p:cNvSpPr>
            <a:spLocks noChangeArrowheads="1"/>
          </p:cNvSpPr>
          <p:nvPr/>
        </p:nvSpPr>
        <p:spPr bwMode="auto">
          <a:xfrm rot="-2708425">
            <a:off x="1353344" y="1331119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3" name="Rectangle 10"/>
          <p:cNvSpPr>
            <a:spLocks noChangeArrowheads="1"/>
          </p:cNvSpPr>
          <p:nvPr/>
        </p:nvSpPr>
        <p:spPr bwMode="auto">
          <a:xfrm rot="-1124404">
            <a:off x="7175500" y="443706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4" name="Rectangle 11"/>
          <p:cNvSpPr>
            <a:spLocks noChangeArrowheads="1"/>
          </p:cNvSpPr>
          <p:nvPr/>
        </p:nvSpPr>
        <p:spPr bwMode="auto">
          <a:xfrm>
            <a:off x="2486025" y="34655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75" name="Rectangle 12"/>
          <p:cNvSpPr>
            <a:spLocks noChangeArrowheads="1"/>
          </p:cNvSpPr>
          <p:nvPr/>
        </p:nvSpPr>
        <p:spPr bwMode="auto">
          <a:xfrm rot="-1966961">
            <a:off x="3000375" y="6207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76" name="Rectangle 13"/>
          <p:cNvSpPr>
            <a:spLocks noChangeArrowheads="1"/>
          </p:cNvSpPr>
          <p:nvPr/>
        </p:nvSpPr>
        <p:spPr bwMode="auto">
          <a:xfrm rot="1339931">
            <a:off x="3071814" y="50784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77" name="Rectangle 14"/>
          <p:cNvSpPr>
            <a:spLocks noChangeArrowheads="1"/>
          </p:cNvSpPr>
          <p:nvPr/>
        </p:nvSpPr>
        <p:spPr bwMode="auto">
          <a:xfrm rot="932178">
            <a:off x="5521325" y="43576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78" name="Rectangle 15"/>
          <p:cNvSpPr>
            <a:spLocks noChangeArrowheads="1"/>
          </p:cNvSpPr>
          <p:nvPr/>
        </p:nvSpPr>
        <p:spPr bwMode="auto">
          <a:xfrm>
            <a:off x="6529389" y="50784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79" name="Rectangle 16"/>
          <p:cNvSpPr>
            <a:spLocks noChangeArrowheads="1"/>
          </p:cNvSpPr>
          <p:nvPr/>
        </p:nvSpPr>
        <p:spPr bwMode="auto">
          <a:xfrm rot="-634205">
            <a:off x="3144839" y="414178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0" name="Rectangle 17"/>
          <p:cNvSpPr>
            <a:spLocks noChangeArrowheads="1"/>
          </p:cNvSpPr>
          <p:nvPr/>
        </p:nvSpPr>
        <p:spPr bwMode="auto">
          <a:xfrm rot="932178">
            <a:off x="7608889" y="35718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1" name="Rectangle 18"/>
          <p:cNvSpPr>
            <a:spLocks noChangeArrowheads="1"/>
          </p:cNvSpPr>
          <p:nvPr/>
        </p:nvSpPr>
        <p:spPr bwMode="auto">
          <a:xfrm rot="-2708425">
            <a:off x="4945857" y="4933157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2" name="Rectangle 19"/>
          <p:cNvSpPr>
            <a:spLocks noChangeArrowheads="1"/>
          </p:cNvSpPr>
          <p:nvPr/>
        </p:nvSpPr>
        <p:spPr bwMode="auto">
          <a:xfrm rot="-2055057">
            <a:off x="8616950" y="55895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3" name="Rectangle 20"/>
          <p:cNvSpPr>
            <a:spLocks noChangeArrowheads="1"/>
          </p:cNvSpPr>
          <p:nvPr/>
        </p:nvSpPr>
        <p:spPr bwMode="auto">
          <a:xfrm rot="-1966961">
            <a:off x="8856664" y="21320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884" name="Rectangle 21"/>
          <p:cNvSpPr>
            <a:spLocks noChangeArrowheads="1"/>
          </p:cNvSpPr>
          <p:nvPr/>
        </p:nvSpPr>
        <p:spPr bwMode="auto">
          <a:xfrm rot="932178">
            <a:off x="7535864" y="22764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5" name="Rectangle 22"/>
          <p:cNvSpPr>
            <a:spLocks noChangeArrowheads="1"/>
          </p:cNvSpPr>
          <p:nvPr/>
        </p:nvSpPr>
        <p:spPr bwMode="auto">
          <a:xfrm>
            <a:off x="8543925" y="29972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86" name="Rectangle 23"/>
          <p:cNvSpPr>
            <a:spLocks noChangeArrowheads="1"/>
          </p:cNvSpPr>
          <p:nvPr/>
        </p:nvSpPr>
        <p:spPr bwMode="auto">
          <a:xfrm rot="550398">
            <a:off x="5664200" y="19161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thanks</a:t>
            </a:r>
          </a:p>
        </p:txBody>
      </p:sp>
      <p:sp>
        <p:nvSpPr>
          <p:cNvPr id="36887" name="Rectangle 24"/>
          <p:cNvSpPr>
            <a:spLocks noChangeArrowheads="1"/>
          </p:cNvSpPr>
          <p:nvPr/>
        </p:nvSpPr>
        <p:spPr bwMode="auto">
          <a:xfrm>
            <a:off x="5005389" y="3394075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888" name="Rectangle 25"/>
          <p:cNvSpPr>
            <a:spLocks noChangeArrowheads="1"/>
          </p:cNvSpPr>
          <p:nvPr/>
        </p:nvSpPr>
        <p:spPr bwMode="auto">
          <a:xfrm rot="1339931">
            <a:off x="4151314" y="47244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89" name="Rectangle 26"/>
          <p:cNvSpPr>
            <a:spLocks noChangeArrowheads="1"/>
          </p:cNvSpPr>
          <p:nvPr/>
        </p:nvSpPr>
        <p:spPr bwMode="auto">
          <a:xfrm rot="-1966961">
            <a:off x="3333750" y="23495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90" name="Rectangle 27"/>
          <p:cNvSpPr>
            <a:spLocks noChangeArrowheads="1"/>
          </p:cNvSpPr>
          <p:nvPr/>
        </p:nvSpPr>
        <p:spPr bwMode="auto">
          <a:xfrm rot="932178">
            <a:off x="6240464" y="371633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1" name="Rectangle 28"/>
          <p:cNvSpPr>
            <a:spLocks noChangeArrowheads="1"/>
          </p:cNvSpPr>
          <p:nvPr/>
        </p:nvSpPr>
        <p:spPr bwMode="auto">
          <a:xfrm>
            <a:off x="6888164" y="25638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92" name="Rectangle 29"/>
          <p:cNvSpPr>
            <a:spLocks noChangeArrowheads="1"/>
          </p:cNvSpPr>
          <p:nvPr/>
        </p:nvSpPr>
        <p:spPr bwMode="auto">
          <a:xfrm rot="-634205">
            <a:off x="1524000" y="2708275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893" name="Rectangle 30"/>
          <p:cNvSpPr>
            <a:spLocks noChangeArrowheads="1"/>
          </p:cNvSpPr>
          <p:nvPr/>
        </p:nvSpPr>
        <p:spPr bwMode="auto">
          <a:xfrm>
            <a:off x="1524000" y="40767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94" name="Rectangle 31"/>
          <p:cNvSpPr>
            <a:spLocks noChangeArrowheads="1"/>
          </p:cNvSpPr>
          <p:nvPr/>
        </p:nvSpPr>
        <p:spPr bwMode="auto">
          <a:xfrm rot="1339931">
            <a:off x="1524000" y="594836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5" name="Rectangle 32"/>
          <p:cNvSpPr>
            <a:spLocks noChangeArrowheads="1"/>
          </p:cNvSpPr>
          <p:nvPr/>
        </p:nvSpPr>
        <p:spPr bwMode="auto">
          <a:xfrm>
            <a:off x="2351089" y="551656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en-US" sz="3200">
                <a:solidFill>
                  <a:srgbClr val="C0C0C0"/>
                </a:solidFill>
              </a:rPr>
              <a:t>thanks</a:t>
            </a:r>
            <a:endParaRPr lang="ru-RU" sz="3200">
              <a:solidFill>
                <a:srgbClr val="C0C0C0"/>
              </a:solidFill>
            </a:endParaRPr>
          </a:p>
        </p:txBody>
      </p:sp>
      <p:sp>
        <p:nvSpPr>
          <p:cNvPr id="36896" name="Rectangle 33"/>
          <p:cNvSpPr>
            <a:spLocks noChangeArrowheads="1"/>
          </p:cNvSpPr>
          <p:nvPr/>
        </p:nvSpPr>
        <p:spPr bwMode="auto">
          <a:xfrm>
            <a:off x="6743700" y="6021388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897" name="Rectangle 34"/>
          <p:cNvSpPr>
            <a:spLocks noChangeArrowheads="1"/>
          </p:cNvSpPr>
          <p:nvPr/>
        </p:nvSpPr>
        <p:spPr bwMode="auto">
          <a:xfrm rot="932178">
            <a:off x="7896225" y="515620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898" name="Rectangle 35"/>
          <p:cNvSpPr>
            <a:spLocks noChangeArrowheads="1"/>
          </p:cNvSpPr>
          <p:nvPr/>
        </p:nvSpPr>
        <p:spPr bwMode="auto">
          <a:xfrm rot="-634205">
            <a:off x="4943476" y="5589588"/>
            <a:ext cx="2447925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899" name="Rectangle 36"/>
          <p:cNvSpPr>
            <a:spLocks noChangeArrowheads="1"/>
          </p:cNvSpPr>
          <p:nvPr/>
        </p:nvSpPr>
        <p:spPr bwMode="auto">
          <a:xfrm rot="-1966961">
            <a:off x="3478214" y="5805488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900" name="Rectangle 37"/>
          <p:cNvSpPr>
            <a:spLocks noGrp="1" noChangeArrowheads="1"/>
          </p:cNvSpPr>
          <p:nvPr>
            <p:ph type="title"/>
          </p:nvPr>
        </p:nvSpPr>
        <p:spPr>
          <a:xfrm>
            <a:off x="2063750" y="2492376"/>
            <a:ext cx="8229600" cy="1439863"/>
          </a:xfrm>
        </p:spPr>
        <p:txBody>
          <a:bodyPr/>
          <a:lstStyle/>
          <a:p>
            <a:r>
              <a:rPr lang="ru-RU" sz="4800" b="1">
                <a:solidFill>
                  <a:srgbClr val="000099"/>
                </a:solidFill>
              </a:rPr>
              <a:t>Спасибо за внимание!</a:t>
            </a:r>
          </a:p>
        </p:txBody>
      </p:sp>
      <p:sp>
        <p:nvSpPr>
          <p:cNvPr id="36901" name="Rectangle 38"/>
          <p:cNvSpPr>
            <a:spLocks noChangeArrowheads="1"/>
          </p:cNvSpPr>
          <p:nvPr/>
        </p:nvSpPr>
        <p:spPr bwMode="auto">
          <a:xfrm>
            <a:off x="1847850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02" name="Rectangle 39"/>
          <p:cNvSpPr>
            <a:spLocks noChangeArrowheads="1"/>
          </p:cNvSpPr>
          <p:nvPr/>
        </p:nvSpPr>
        <p:spPr bwMode="auto">
          <a:xfrm rot="-1966961">
            <a:off x="6743700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  <p:sp>
        <p:nvSpPr>
          <p:cNvPr id="36903" name="Rectangle 40"/>
          <p:cNvSpPr>
            <a:spLocks noChangeArrowheads="1"/>
          </p:cNvSpPr>
          <p:nvPr/>
        </p:nvSpPr>
        <p:spPr bwMode="auto">
          <a:xfrm rot="932178">
            <a:off x="8543925" y="260350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04" name="Rectangle 41"/>
          <p:cNvSpPr>
            <a:spLocks noChangeArrowheads="1"/>
          </p:cNvSpPr>
          <p:nvPr/>
        </p:nvSpPr>
        <p:spPr bwMode="auto">
          <a:xfrm rot="-634205">
            <a:off x="5303839" y="8366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905" name="Rectangle 42"/>
          <p:cNvSpPr>
            <a:spLocks noChangeArrowheads="1"/>
          </p:cNvSpPr>
          <p:nvPr/>
        </p:nvSpPr>
        <p:spPr bwMode="auto">
          <a:xfrm rot="-1966961">
            <a:off x="3719514" y="112395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gracias</a:t>
            </a:r>
          </a:p>
        </p:txBody>
      </p:sp>
      <p:sp>
        <p:nvSpPr>
          <p:cNvPr id="36906" name="Rectangle 43"/>
          <p:cNvSpPr>
            <a:spLocks noChangeArrowheads="1"/>
          </p:cNvSpPr>
          <p:nvPr/>
        </p:nvSpPr>
        <p:spPr bwMode="auto">
          <a:xfrm rot="1073047">
            <a:off x="7535864" y="1052513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grazie</a:t>
            </a:r>
          </a:p>
        </p:txBody>
      </p:sp>
      <p:sp>
        <p:nvSpPr>
          <p:cNvPr id="36907" name="Rectangle 44"/>
          <p:cNvSpPr>
            <a:spLocks noChangeArrowheads="1"/>
          </p:cNvSpPr>
          <p:nvPr/>
        </p:nvSpPr>
        <p:spPr bwMode="auto">
          <a:xfrm rot="-1124404">
            <a:off x="8856664" y="4292600"/>
            <a:ext cx="18113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danke</a:t>
            </a:r>
          </a:p>
        </p:txBody>
      </p:sp>
      <p:sp>
        <p:nvSpPr>
          <p:cNvPr id="36908" name="Rectangle 45"/>
          <p:cNvSpPr>
            <a:spLocks noChangeArrowheads="1"/>
          </p:cNvSpPr>
          <p:nvPr/>
        </p:nvSpPr>
        <p:spPr bwMode="auto">
          <a:xfrm rot="-1966961">
            <a:off x="8129589" y="1374775"/>
            <a:ext cx="2484437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thank you</a:t>
            </a:r>
          </a:p>
        </p:txBody>
      </p:sp>
      <p:sp>
        <p:nvSpPr>
          <p:cNvPr id="36909" name="Rectangle 46"/>
          <p:cNvSpPr>
            <a:spLocks noChangeArrowheads="1"/>
          </p:cNvSpPr>
          <p:nvPr/>
        </p:nvSpPr>
        <p:spPr bwMode="auto">
          <a:xfrm rot="-634205">
            <a:off x="4800600" y="188913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2800">
                <a:solidFill>
                  <a:srgbClr val="C0C0C0"/>
                </a:solidFill>
              </a:rPr>
              <a:t>Спасибо</a:t>
            </a:r>
          </a:p>
        </p:txBody>
      </p:sp>
      <p:sp>
        <p:nvSpPr>
          <p:cNvPr id="36910" name="Rectangle 47"/>
          <p:cNvSpPr>
            <a:spLocks noChangeArrowheads="1"/>
          </p:cNvSpPr>
          <p:nvPr/>
        </p:nvSpPr>
        <p:spPr bwMode="auto">
          <a:xfrm rot="932178">
            <a:off x="8975725" y="3571875"/>
            <a:ext cx="1811338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</a:pPr>
            <a:r>
              <a:rPr lang="ru-RU" sz="3200">
                <a:solidFill>
                  <a:srgbClr val="C0C0C0"/>
                </a:solidFill>
              </a:rPr>
              <a:t>merci</a:t>
            </a:r>
          </a:p>
        </p:txBody>
      </p:sp>
    </p:spTree>
    <p:extLst>
      <p:ext uri="{BB962C8B-B14F-4D97-AF65-F5344CB8AC3E}">
        <p14:creationId xmlns:p14="http://schemas.microsoft.com/office/powerpoint/2010/main" val="33781276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2213</TotalTime>
  <Words>897</Words>
  <Application>Microsoft Office PowerPoint</Application>
  <PresentationFormat>Широкоэкранный</PresentationFormat>
  <Paragraphs>359</Paragraphs>
  <Slides>26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Tahoma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26. Информационно-вычислительные и ситуационные центры в государственном и региональном управлении.</dc:title>
  <dc:creator>Андрей Руфеев</dc:creator>
  <cp:lastModifiedBy>cluser</cp:lastModifiedBy>
  <cp:revision>201</cp:revision>
  <dcterms:created xsi:type="dcterms:W3CDTF">2021-10-24T19:59:40Z</dcterms:created>
  <dcterms:modified xsi:type="dcterms:W3CDTF">2026-03-14T09:57:42Z</dcterms:modified>
</cp:coreProperties>
</file>