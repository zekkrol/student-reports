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6">
  <p:sldMasterIdLst>
    <p:sldMasterId id="2147483648" r:id="rId1"/>
  </p:sldMasterIdLst>
  <p:notesMasterIdLst>
    <p:notesMasterId r:id="rId39"/>
  </p:notesMasterIdLst>
  <p:sldIdLst>
    <p:sldId id="319" r:id="rId2"/>
    <p:sldId id="257" r:id="rId3"/>
    <p:sldId id="627" r:id="rId4"/>
    <p:sldId id="696" r:id="rId5"/>
    <p:sldId id="708" r:id="rId6"/>
    <p:sldId id="709" r:id="rId7"/>
    <p:sldId id="711" r:id="rId8"/>
    <p:sldId id="699" r:id="rId9"/>
    <p:sldId id="704" r:id="rId10"/>
    <p:sldId id="712" r:id="rId11"/>
    <p:sldId id="716" r:id="rId12"/>
    <p:sldId id="717" r:id="rId13"/>
    <p:sldId id="703" r:id="rId14"/>
    <p:sldId id="705" r:id="rId15"/>
    <p:sldId id="713" r:id="rId16"/>
    <p:sldId id="702" r:id="rId17"/>
    <p:sldId id="706" r:id="rId18"/>
    <p:sldId id="714" r:id="rId19"/>
    <p:sldId id="701" r:id="rId20"/>
    <p:sldId id="707" r:id="rId21"/>
    <p:sldId id="700" r:id="rId22"/>
    <p:sldId id="719" r:id="rId23"/>
    <p:sldId id="723" r:id="rId24"/>
    <p:sldId id="722" r:id="rId25"/>
    <p:sldId id="724" r:id="rId26"/>
    <p:sldId id="718" r:id="rId27"/>
    <p:sldId id="721" r:id="rId28"/>
    <p:sldId id="725" r:id="rId29"/>
    <p:sldId id="720" r:id="rId30"/>
    <p:sldId id="729" r:id="rId31"/>
    <p:sldId id="726" r:id="rId32"/>
    <p:sldId id="730" r:id="rId33"/>
    <p:sldId id="727" r:id="rId34"/>
    <p:sldId id="731" r:id="rId35"/>
    <p:sldId id="728" r:id="rId36"/>
    <p:sldId id="732" r:id="rId37"/>
    <p:sldId id="338" r:id="rId3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429" autoAdjust="0"/>
    <p:restoredTop sz="94662" autoAdjust="0"/>
  </p:normalViewPr>
  <p:slideViewPr>
    <p:cSldViewPr snapToGrid="0">
      <p:cViewPr varScale="1">
        <p:scale>
          <a:sx n="109" d="100"/>
          <a:sy n="109" d="100"/>
        </p:scale>
        <p:origin x="1050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18" y="223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D1E16D-40AE-4F7B-89DA-08FA8576FE62}" type="datetimeFigureOut">
              <a:rPr lang="ru-RU" smtClean="0"/>
              <a:t>14.02.2026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E7B180-2896-4825-A371-C953116C1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6748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0488" y="744538"/>
            <a:ext cx="6616700" cy="3722687"/>
          </a:xfrm>
          <a:ln/>
        </p:spPr>
      </p:sp>
      <p:sp>
        <p:nvSpPr>
          <p:cNvPr id="34819" name="Заметки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ru-RU" altLang="ru-RU" smtClean="0">
              <a:latin typeface="Arial" pitchFamily="34" charset="0"/>
            </a:endParaRPr>
          </a:p>
        </p:txBody>
      </p:sp>
      <p:sp>
        <p:nvSpPr>
          <p:cNvPr id="34820" name="Номер слайда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3995C959-3E6F-4A2D-BBCE-A1FF53A98587}" type="slidenum">
              <a:rPr lang="ru-RU" altLang="ru-RU">
                <a:solidFill>
                  <a:prstClr val="black"/>
                </a:solidFill>
              </a:rPr>
              <a:pPr/>
              <a:t>1</a:t>
            </a:fld>
            <a:endParaRPr lang="ru-RU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18793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54585-7C67-480B-A3E7-2717674931C3}" type="datetimeFigureOut">
              <a:rPr lang="ru-RU" smtClean="0"/>
              <a:t>14.02.2026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E1B2-CEBD-427E-9745-F7D5EC90EF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964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54585-7C67-480B-A3E7-2717674931C3}" type="datetimeFigureOut">
              <a:rPr lang="ru-RU" smtClean="0"/>
              <a:t>14.02.2026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E1B2-CEBD-427E-9745-F7D5EC90EF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9928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54585-7C67-480B-A3E7-2717674931C3}" type="datetimeFigureOut">
              <a:rPr lang="ru-RU" smtClean="0"/>
              <a:t>14.02.2026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E1B2-CEBD-427E-9745-F7D5EC90EF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3067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54585-7C67-480B-A3E7-2717674931C3}" type="datetimeFigureOut">
              <a:rPr lang="ru-RU" smtClean="0"/>
              <a:t>14.02.2026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E1B2-CEBD-427E-9745-F7D5EC90EF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1046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54585-7C67-480B-A3E7-2717674931C3}" type="datetimeFigureOut">
              <a:rPr lang="ru-RU" smtClean="0"/>
              <a:t>14.02.2026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E1B2-CEBD-427E-9745-F7D5EC90EF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9800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54585-7C67-480B-A3E7-2717674931C3}" type="datetimeFigureOut">
              <a:rPr lang="ru-RU" smtClean="0"/>
              <a:t>14.02.2026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E1B2-CEBD-427E-9745-F7D5EC90EF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9878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54585-7C67-480B-A3E7-2717674931C3}" type="datetimeFigureOut">
              <a:rPr lang="ru-RU" smtClean="0"/>
              <a:t>14.02.2026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E1B2-CEBD-427E-9745-F7D5EC90EF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8135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54585-7C67-480B-A3E7-2717674931C3}" type="datetimeFigureOut">
              <a:rPr lang="ru-RU" smtClean="0"/>
              <a:t>14.02.2026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E1B2-CEBD-427E-9745-F7D5EC90EF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1137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54585-7C67-480B-A3E7-2717674931C3}" type="datetimeFigureOut">
              <a:rPr lang="ru-RU" smtClean="0"/>
              <a:t>14.02.2026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E1B2-CEBD-427E-9745-F7D5EC90EF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202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54585-7C67-480B-A3E7-2717674931C3}" type="datetimeFigureOut">
              <a:rPr lang="ru-RU" smtClean="0"/>
              <a:t>14.02.2026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E1B2-CEBD-427E-9745-F7D5EC90EF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8889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54585-7C67-480B-A3E7-2717674931C3}" type="datetimeFigureOut">
              <a:rPr lang="ru-RU" smtClean="0"/>
              <a:t>14.02.2026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E1B2-CEBD-427E-9745-F7D5EC90EF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5443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454585-7C67-480B-A3E7-2717674931C3}" type="datetimeFigureOut">
              <a:rPr lang="ru-RU" smtClean="0"/>
              <a:t>14.02.2026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26E1B2-CEBD-427E-9745-F7D5EC90EF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7208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Relationship Id="rId9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6"/>
          <p:cNvSpPr>
            <a:spLocks noChangeArrowheads="1"/>
          </p:cNvSpPr>
          <p:nvPr/>
        </p:nvSpPr>
        <p:spPr bwMode="auto">
          <a:xfrm>
            <a:off x="4956265" y="510698"/>
            <a:ext cx="5691187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1400" b="1" dirty="0">
                <a:solidFill>
                  <a:srgbClr val="A40000"/>
                </a:solidFill>
                <a:latin typeface="+mn-lt"/>
                <a:cs typeface="Tahoma" pitchFamily="34" charset="0"/>
              </a:rPr>
              <a:t>НИЖЕГОРОДСКИЙ			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1400" b="1" dirty="0">
                <a:solidFill>
                  <a:srgbClr val="A40000"/>
                </a:solidFill>
                <a:latin typeface="+mn-lt"/>
                <a:cs typeface="Tahoma" pitchFamily="34" charset="0"/>
              </a:rPr>
              <a:t>ИНСТИТУТ				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1400" b="1" dirty="0">
                <a:solidFill>
                  <a:srgbClr val="A40000"/>
                </a:solidFill>
                <a:latin typeface="+mn-lt"/>
                <a:cs typeface="Tahoma" pitchFamily="34" charset="0"/>
              </a:rPr>
              <a:t>УПРАВЛЕНИЯ			</a:t>
            </a:r>
            <a:endParaRPr lang="en-US" altLang="ru-RU" sz="1400" b="1" dirty="0">
              <a:solidFill>
                <a:srgbClr val="A40000"/>
              </a:solidFill>
              <a:latin typeface="+mn-lt"/>
              <a:cs typeface="Tahoma" pitchFamily="34" charset="0"/>
            </a:endParaRPr>
          </a:p>
        </p:txBody>
      </p:sp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2475" y="854076"/>
            <a:ext cx="2344738" cy="79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2" name="Прямоугольник 7"/>
          <p:cNvSpPr>
            <a:spLocks noChangeArrowheads="1"/>
          </p:cNvSpPr>
          <p:nvPr/>
        </p:nvSpPr>
        <p:spPr bwMode="auto">
          <a:xfrm flipH="1">
            <a:off x="351631" y="2762182"/>
            <a:ext cx="2843213" cy="1538287"/>
          </a:xfrm>
          <a:prstGeom prst="rect">
            <a:avLst/>
          </a:prstGeom>
          <a:gradFill rotWithShape="1">
            <a:gsLst>
              <a:gs pos="0">
                <a:srgbClr val="770000"/>
              </a:gs>
              <a:gs pos="50000">
                <a:srgbClr val="AD0000"/>
              </a:gs>
              <a:gs pos="100000">
                <a:srgbClr val="CE000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defTabSz="1042988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1042988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1042988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1042988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1042988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1042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1042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1042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1042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2400" b="1" dirty="0" smtClean="0">
                <a:solidFill>
                  <a:schemeClr val="bg1"/>
                </a:solidFill>
              </a:rPr>
              <a:t>ТЕМА № 6</a:t>
            </a:r>
            <a:endParaRPr lang="ru-RU" altLang="ru-RU" sz="2400" b="1" dirty="0">
              <a:solidFill>
                <a:schemeClr val="bg1"/>
              </a:solidFill>
            </a:endParaRPr>
          </a:p>
        </p:txBody>
      </p:sp>
      <p:sp>
        <p:nvSpPr>
          <p:cNvPr id="5127" name="Text Box 23"/>
          <p:cNvSpPr txBox="1">
            <a:spLocks noChangeArrowheads="1"/>
          </p:cNvSpPr>
          <p:nvPr/>
        </p:nvSpPr>
        <p:spPr bwMode="auto">
          <a:xfrm>
            <a:off x="7535435" y="4944070"/>
            <a:ext cx="443397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ru-RU" sz="1600" dirty="0" smtClean="0"/>
              <a:t>кафедра </a:t>
            </a:r>
            <a:r>
              <a:rPr lang="ru-RU" sz="1600" dirty="0"/>
              <a:t>информатики и информационных технологий, </a:t>
            </a:r>
            <a:r>
              <a:rPr lang="ru-RU" sz="1600" dirty="0" err="1"/>
              <a:t>к.т.н</a:t>
            </a:r>
            <a:r>
              <a:rPr lang="ru-RU" sz="1600" dirty="0"/>
              <a:t>, доцент, </a:t>
            </a:r>
            <a:r>
              <a:rPr lang="ru-RU" sz="1600" dirty="0" smtClean="0"/>
              <a:t>Гордеев А.Б.</a:t>
            </a:r>
            <a:endParaRPr lang="ru-RU" altLang="ru-RU" sz="1600" b="1" dirty="0">
              <a:solidFill>
                <a:srgbClr val="000000"/>
              </a:solidFill>
              <a:latin typeface="Arial"/>
              <a:cs typeface="Arial" charset="0"/>
            </a:endParaRPr>
          </a:p>
        </p:txBody>
      </p:sp>
      <p:grpSp>
        <p:nvGrpSpPr>
          <p:cNvPr id="17415" name="Группа 12"/>
          <p:cNvGrpSpPr>
            <a:grpSpLocks/>
          </p:cNvGrpSpPr>
          <p:nvPr/>
        </p:nvGrpSpPr>
        <p:grpSpPr bwMode="auto">
          <a:xfrm>
            <a:off x="4616451" y="1598613"/>
            <a:ext cx="5732463" cy="781050"/>
            <a:chOff x="0" y="0"/>
            <a:chExt cx="6210300" cy="781275"/>
          </a:xfrm>
        </p:grpSpPr>
        <p:pic>
          <p:nvPicPr>
            <p:cNvPr id="17416" name="Рисунок 13" descr="D:\ИПК\Фотографии\на стенд\на сайт\главная\Академия 2.JPG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04900" y="0"/>
              <a:ext cx="1028700" cy="781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417" name="Рисунок 14" descr="D:\для фотопрезентации ФПК\Презид.программа\фото Открытие Президентской  Прогр\6.jpg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75" r="-2" b="1205"/>
            <a:stretch>
              <a:fillRect/>
            </a:stretch>
          </p:blipFill>
          <p:spPr bwMode="auto">
            <a:xfrm>
              <a:off x="0" y="1"/>
              <a:ext cx="1114425" cy="781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418" name="Рисунок 15" descr="D:\Презид.программа 20 мая-05 июня 2013\30.05.13\работа в проектных группах_30.05.13\DSCF8003.JPG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62300" y="9750"/>
              <a:ext cx="1038225" cy="771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419" name="Рисунок 16" descr="D:\для фотопрезентации ФПК\Президентская программа (6) 17 сентября 2012 (З).JPG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3600" y="9525"/>
              <a:ext cx="1028700" cy="771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420" name="Рисунок 17" descr="D:\ИПК\Фотографии\для книги Академии\1.2.Здание.jpg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" b="1219"/>
            <a:stretch>
              <a:fillRect/>
            </a:stretch>
          </p:blipFill>
          <p:spPr bwMode="auto">
            <a:xfrm>
              <a:off x="4191000" y="9525"/>
              <a:ext cx="971550" cy="771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421" name="Рисунок 18" descr="D:\ИПК\Фотографии\для книги Академии\5.2.JPG"/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62550" y="9525"/>
              <a:ext cx="1047750" cy="771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" name="TextBox 1"/>
          <p:cNvSpPr txBox="1"/>
          <p:nvPr/>
        </p:nvSpPr>
        <p:spPr>
          <a:xfrm>
            <a:off x="4367213" y="6021288"/>
            <a:ext cx="37188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/>
              <a:t>Нижний Новгород 20</a:t>
            </a:r>
            <a:r>
              <a:rPr lang="en-US" sz="1600" b="1" dirty="0" smtClean="0"/>
              <a:t>2</a:t>
            </a:r>
            <a:r>
              <a:rPr lang="ru-RU" sz="1600" b="1" dirty="0" smtClean="0"/>
              <a:t>6</a:t>
            </a:r>
            <a:endParaRPr lang="ru-RU" sz="1600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3736428" y="3244334"/>
            <a:ext cx="799311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000" b="1" i="1" dirty="0" smtClean="0">
                <a:solidFill>
                  <a:srgbClr val="FF0000"/>
                </a:solidFill>
              </a:rPr>
              <a:t>ЗАПРОСЫ</a:t>
            </a:r>
            <a:endParaRPr lang="ru-RU" sz="4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1745572"/>
      </p:ext>
    </p:extLst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/>
          <p:cNvSpPr>
            <a:spLocks noChangeArrowheads="1"/>
          </p:cNvSpPr>
          <p:nvPr/>
        </p:nvSpPr>
        <p:spPr bwMode="auto">
          <a:xfrm>
            <a:off x="435635" y="463138"/>
            <a:ext cx="581890" cy="843149"/>
          </a:xfrm>
          <a:prstGeom prst="rect">
            <a:avLst/>
          </a:prstGeom>
          <a:gradFill rotWithShape="1">
            <a:gsLst>
              <a:gs pos="0">
                <a:srgbClr val="770000"/>
              </a:gs>
              <a:gs pos="50000">
                <a:srgbClr val="AD0000"/>
              </a:gs>
              <a:gs pos="100000">
                <a:srgbClr val="CE0000"/>
              </a:gs>
            </a:gsLst>
            <a:lin ang="0" scaled="1"/>
          </a:gradFill>
          <a:ln w="9525" algn="ctr">
            <a:noFill/>
            <a:round/>
            <a:headEnd/>
            <a:tailEnd/>
          </a:ln>
        </p:spPr>
        <p:txBody>
          <a:bodyPr/>
          <a:lstStyle/>
          <a:p>
            <a:pPr defTabSz="1043001"/>
            <a:endParaRPr lang="ru-RU" sz="2100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3A33-6A4A-4395-8324-C6DCD486F135}" type="slidenum">
              <a:rPr lang="ru-RU" smtClean="0">
                <a:solidFill>
                  <a:schemeClr val="bg2">
                    <a:lumMod val="75000"/>
                  </a:schemeClr>
                </a:solidFill>
              </a:rPr>
              <a:pPr/>
              <a:t>2</a:t>
            </a:fld>
            <a:endParaRPr lang="ru-RU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16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0250" y="463138"/>
            <a:ext cx="2827683" cy="880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726580" y="2341171"/>
            <a:ext cx="1025419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b="1" dirty="0" smtClean="0">
                <a:solidFill>
                  <a:srgbClr val="FF0000"/>
                </a:solidFill>
              </a:rPr>
              <a:t>ПОНЯТИЕ ЗАПРОСА</a:t>
            </a:r>
            <a:endParaRPr lang="ru-RU" sz="4000" b="1" dirty="0">
              <a:solidFill>
                <a:srgbClr val="FF0000"/>
              </a:solidFill>
            </a:endParaRPr>
          </a:p>
          <a:p>
            <a:pPr lvl="1" algn="ctr"/>
            <a:r>
              <a:rPr lang="ru-RU" sz="4000" b="1" dirty="0" smtClean="0"/>
              <a:t>Вопрос 1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1801749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6524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200" dirty="0"/>
              <a:t>Процесс извлечения данных из базы данных или команда для извлечения данных из базы данных называются </a:t>
            </a:r>
            <a:r>
              <a:rPr lang="ru-RU" sz="2200" b="1" dirty="0" smtClean="0"/>
              <a:t>запросом: </a:t>
            </a:r>
            <a:r>
              <a:rPr lang="ru-RU" sz="2200" dirty="0" smtClean="0"/>
              <a:t>[</a:t>
            </a:r>
            <a:r>
              <a:rPr lang="ru-RU" sz="2200" dirty="0"/>
              <a:t>С </a:t>
            </a:r>
            <a:r>
              <a:rPr lang="en-US" sz="2200" dirty="0" err="1"/>
              <a:t>with_queries</a:t>
            </a:r>
            <a:r>
              <a:rPr lang="en-US" sz="2200" dirty="0"/>
              <a:t>] </a:t>
            </a:r>
            <a:r>
              <a:rPr lang="ru-RU" sz="2200" dirty="0"/>
              <a:t>ВЫБРАТЬ </a:t>
            </a:r>
            <a:r>
              <a:rPr lang="en-US" sz="2200" dirty="0" err="1"/>
              <a:t>select_list</a:t>
            </a:r>
            <a:r>
              <a:rPr lang="en-US" sz="2200" dirty="0"/>
              <a:t> </a:t>
            </a:r>
            <a:r>
              <a:rPr lang="ru-RU" sz="2200" dirty="0"/>
              <a:t>ИЗ </a:t>
            </a:r>
            <a:r>
              <a:rPr lang="en-US" sz="2200" dirty="0" err="1"/>
              <a:t>table_expression</a:t>
            </a:r>
            <a:r>
              <a:rPr lang="en-US" sz="2200" dirty="0"/>
              <a:t> [</a:t>
            </a:r>
            <a:r>
              <a:rPr lang="en-US" sz="2200" dirty="0" err="1"/>
              <a:t>sort_specification</a:t>
            </a:r>
            <a:r>
              <a:rPr lang="en-US" sz="2200" dirty="0" smtClean="0"/>
              <a:t>]</a:t>
            </a:r>
            <a:endParaRPr lang="ru-RU" sz="2200" dirty="0" smtClean="0"/>
          </a:p>
          <a:p>
            <a:pPr algn="ctr"/>
            <a:endParaRPr lang="ru-RU" sz="2200" b="1" dirty="0" smtClean="0"/>
          </a:p>
          <a:p>
            <a:pPr algn="ctr"/>
            <a:r>
              <a:rPr lang="ru-RU" sz="2200" b="1" dirty="0" smtClean="0"/>
              <a:t>Некоторые </a:t>
            </a:r>
            <a:r>
              <a:rPr lang="ru-RU" sz="2200" b="1" dirty="0"/>
              <a:t>виды запросов в </a:t>
            </a:r>
            <a:r>
              <a:rPr lang="en-US" sz="2200" b="1" dirty="0"/>
              <a:t>PostgreSQL:</a:t>
            </a:r>
          </a:p>
          <a:p>
            <a:pPr algn="just"/>
            <a:r>
              <a:rPr lang="en-US" sz="2200" dirty="0"/>
              <a:t>•	</a:t>
            </a:r>
            <a:r>
              <a:rPr lang="ru-RU" sz="2200" dirty="0"/>
              <a:t>Выбор всех записей из таблицы — например, </a:t>
            </a:r>
            <a:r>
              <a:rPr lang="en-US" sz="2200" dirty="0" smtClean="0"/>
              <a:t>SELECT </a:t>
            </a:r>
            <a:r>
              <a:rPr lang="en-US" sz="2200" dirty="0"/>
              <a:t>* FROM employees</a:t>
            </a:r>
          </a:p>
          <a:p>
            <a:pPr algn="just"/>
            <a:r>
              <a:rPr lang="en-US" sz="2200" dirty="0" smtClean="0"/>
              <a:t>•</a:t>
            </a:r>
            <a:r>
              <a:rPr lang="en-US" sz="2200" dirty="0"/>
              <a:t>	</a:t>
            </a:r>
            <a:r>
              <a:rPr lang="ru-RU" sz="2200" dirty="0"/>
              <a:t>Фильтрация данных — например, </a:t>
            </a:r>
            <a:r>
              <a:rPr lang="en-US" sz="2200" dirty="0" smtClean="0"/>
              <a:t>SELECT </a:t>
            </a:r>
            <a:r>
              <a:rPr lang="en-US" sz="2200" dirty="0"/>
              <a:t>* FROM employees WHERE email LIKE '%@example.com'</a:t>
            </a:r>
          </a:p>
          <a:p>
            <a:pPr algn="just"/>
            <a:r>
              <a:rPr lang="en-US" sz="2200" dirty="0" smtClean="0"/>
              <a:t>•</a:t>
            </a:r>
            <a:r>
              <a:rPr lang="en-US" sz="2200" dirty="0"/>
              <a:t>	</a:t>
            </a:r>
            <a:r>
              <a:rPr lang="ru-RU" sz="2200" dirty="0"/>
              <a:t>Сортировка данных — например, </a:t>
            </a:r>
            <a:r>
              <a:rPr lang="en-US" sz="2200" dirty="0" smtClean="0"/>
              <a:t>SELECT </a:t>
            </a:r>
            <a:r>
              <a:rPr lang="en-US" sz="2200" dirty="0"/>
              <a:t>* FROM employees ORDER BY </a:t>
            </a:r>
            <a:r>
              <a:rPr lang="en-US" sz="2200" dirty="0" err="1"/>
              <a:t>hire_date</a:t>
            </a:r>
            <a:r>
              <a:rPr lang="en-US" sz="2200" dirty="0"/>
              <a:t> DESC</a:t>
            </a:r>
          </a:p>
          <a:p>
            <a:pPr algn="just"/>
            <a:r>
              <a:rPr lang="en-US" sz="2200" dirty="0"/>
              <a:t> — </a:t>
            </a:r>
            <a:r>
              <a:rPr lang="ru-RU" sz="2200" dirty="0"/>
              <a:t>команда сортирует записи по столбцу </a:t>
            </a:r>
            <a:r>
              <a:rPr lang="en-US" sz="2200" dirty="0" err="1"/>
              <a:t>hire_date</a:t>
            </a:r>
            <a:r>
              <a:rPr lang="en-US" sz="2200" dirty="0"/>
              <a:t> </a:t>
            </a:r>
            <a:r>
              <a:rPr lang="ru-RU" sz="2200" dirty="0"/>
              <a:t>в порядке убывания.</a:t>
            </a:r>
          </a:p>
          <a:p>
            <a:pPr algn="just"/>
            <a:r>
              <a:rPr lang="ru-RU" sz="2200" dirty="0"/>
              <a:t>•	Группировка данных — например, </a:t>
            </a:r>
            <a:r>
              <a:rPr lang="en-US" sz="2200" dirty="0" smtClean="0"/>
              <a:t>SELECT </a:t>
            </a:r>
            <a:r>
              <a:rPr lang="en-US" sz="2200" dirty="0" err="1"/>
              <a:t>department_id</a:t>
            </a:r>
            <a:r>
              <a:rPr lang="en-US" sz="2200" dirty="0"/>
              <a:t>, COUNT(*) FROM employees GROUP BY </a:t>
            </a:r>
            <a:r>
              <a:rPr lang="en-US" sz="2200" dirty="0" err="1" smtClean="0"/>
              <a:t>department_id</a:t>
            </a:r>
            <a:r>
              <a:rPr lang="ru-RU" sz="2200" dirty="0" smtClean="0"/>
              <a:t> </a:t>
            </a:r>
            <a:r>
              <a:rPr lang="en-US" sz="2200" dirty="0" smtClean="0"/>
              <a:t> </a:t>
            </a:r>
            <a:r>
              <a:rPr lang="en-US" sz="2200" dirty="0"/>
              <a:t>— </a:t>
            </a:r>
            <a:r>
              <a:rPr lang="ru-RU" sz="2200" dirty="0"/>
              <a:t>запрос вернёт список департаментов и количество сотрудников в каждом из них.</a:t>
            </a:r>
          </a:p>
          <a:p>
            <a:pPr algn="just"/>
            <a:r>
              <a:rPr lang="ru-RU" sz="2200" dirty="0"/>
              <a:t>•	Объединение данных — например, через оператор </a:t>
            </a:r>
            <a:r>
              <a:rPr lang="en-US" sz="2200" dirty="0"/>
              <a:t>JOIN (INNER JOIN, LEFT JOIN, RIGHT JOIN </a:t>
            </a:r>
            <a:r>
              <a:rPr lang="ru-RU" sz="2200" dirty="0"/>
              <a:t>и другие</a:t>
            </a:r>
            <a:r>
              <a:rPr lang="ru-RU" sz="2200" dirty="0" smtClean="0"/>
              <a:t>).</a:t>
            </a:r>
          </a:p>
          <a:p>
            <a:pPr algn="ctr"/>
            <a:r>
              <a:rPr lang="ru-RU" sz="2200" i="1" u="sng" dirty="0" smtClean="0"/>
              <a:t>ЭТАПЫ ВЫПОЛНЕНИЯ ЗАПРОСА</a:t>
            </a:r>
            <a:endParaRPr lang="ru-RU" sz="2200" i="1" u="sng" dirty="0"/>
          </a:p>
          <a:p>
            <a:r>
              <a:rPr lang="ru-RU" sz="2200" dirty="0"/>
              <a:t>•	Разбор — лексический, синтаксический и семантический разбор запроса.</a:t>
            </a:r>
          </a:p>
          <a:p>
            <a:r>
              <a:rPr lang="ru-RU" sz="2200" dirty="0"/>
              <a:t>•	Трансформация — </a:t>
            </a:r>
            <a:r>
              <a:rPr lang="ru-RU" sz="2200" dirty="0" err="1"/>
              <a:t>PostgreSQL</a:t>
            </a:r>
            <a:r>
              <a:rPr lang="ru-RU" sz="2200" dirty="0"/>
              <a:t> может трансформировать дерево </a:t>
            </a:r>
            <a:r>
              <a:rPr lang="ru-RU" sz="2200" dirty="0" smtClean="0"/>
              <a:t>разбора.</a:t>
            </a:r>
            <a:endParaRPr lang="ru-RU" sz="2200" dirty="0"/>
          </a:p>
          <a:p>
            <a:r>
              <a:rPr lang="ru-RU" sz="2200" dirty="0"/>
              <a:t>•	Планирование — построение наиболее оптимального плана запроса. </a:t>
            </a:r>
          </a:p>
          <a:p>
            <a:r>
              <a:rPr lang="ru-RU" sz="2200" dirty="0"/>
              <a:t>•	Выполнение — запрос выполняется и получаются его результаты</a:t>
            </a:r>
            <a:r>
              <a:rPr lang="ru-RU" sz="2200" dirty="0" smtClean="0"/>
              <a:t>.</a:t>
            </a: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605339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1"/>
            <a:ext cx="12192000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sz="2000" u="sng" dirty="0" smtClean="0"/>
          </a:p>
          <a:p>
            <a:pPr algn="ctr"/>
            <a:r>
              <a:rPr lang="ru-RU" sz="2200" u="sng" dirty="0"/>
              <a:t>стратегии оптимизации:</a:t>
            </a:r>
          </a:p>
          <a:p>
            <a:r>
              <a:rPr lang="ru-RU" sz="2200" dirty="0"/>
              <a:t>•	Оптимизация индексов —последовательное сканирование (</a:t>
            </a:r>
            <a:r>
              <a:rPr lang="ru-RU" sz="2200" dirty="0" err="1"/>
              <a:t>Seq</a:t>
            </a:r>
            <a:r>
              <a:rPr lang="ru-RU" sz="2200" dirty="0"/>
              <a:t> </a:t>
            </a:r>
            <a:r>
              <a:rPr lang="ru-RU" sz="2200" dirty="0" err="1"/>
              <a:t>Scan</a:t>
            </a:r>
            <a:r>
              <a:rPr lang="ru-RU" sz="2200" dirty="0"/>
              <a:t>) большой таблицы с высокой селективностью условий WHERE, рассматривается создание индекса.</a:t>
            </a:r>
          </a:p>
          <a:p>
            <a:r>
              <a:rPr lang="ru-RU" sz="2200" dirty="0"/>
              <a:t>•	Оптимизация соединений — если EXPLAIN ANALYZE показывает неэффективное соединение таблиц, возможность изменения порядка соединения таблиц. </a:t>
            </a:r>
          </a:p>
          <a:p>
            <a:endParaRPr lang="ru-RU" sz="2200" dirty="0"/>
          </a:p>
          <a:p>
            <a:r>
              <a:rPr lang="ru-RU" sz="2200" dirty="0" smtClean="0"/>
              <a:t>Простой </a:t>
            </a:r>
            <a:r>
              <a:rPr lang="ru-RU" sz="2200" dirty="0"/>
              <a:t>запрос имеет следующую форму</a:t>
            </a:r>
            <a:r>
              <a:rPr lang="ru-RU" sz="2200" dirty="0" smtClean="0"/>
              <a:t>: ВЫБЕРИТЕ </a:t>
            </a:r>
            <a:r>
              <a:rPr lang="ru-RU" sz="2200" dirty="0"/>
              <a:t>* ИЗ таблицы 1</a:t>
            </a:r>
            <a:r>
              <a:rPr lang="ru-RU" sz="2200" dirty="0" smtClean="0"/>
              <a:t>;</a:t>
            </a:r>
          </a:p>
          <a:p>
            <a:r>
              <a:rPr lang="ru-RU" sz="2200" dirty="0"/>
              <a:t>Например, если в table1 есть столбцы с именами a, b, и c (и, возможно, другими</a:t>
            </a:r>
            <a:r>
              <a:rPr lang="ru-RU" sz="2200" dirty="0" smtClean="0"/>
              <a:t>), </a:t>
            </a:r>
            <a:r>
              <a:rPr lang="ru-RU" sz="2200" dirty="0"/>
              <a:t>выполнить следующий запрос:</a:t>
            </a:r>
          </a:p>
          <a:p>
            <a:r>
              <a:rPr lang="ru-RU" sz="2200" dirty="0"/>
              <a:t>ВЫБЕРИТЕ a, b + c ИЗ таблицы table1;</a:t>
            </a:r>
          </a:p>
          <a:p>
            <a:r>
              <a:rPr lang="ru-RU" sz="2200" dirty="0"/>
              <a:t>(при условии, что b и c имеют числовой тип данных). </a:t>
            </a:r>
            <a:endParaRPr lang="ru-RU" sz="2200" dirty="0" smtClean="0"/>
          </a:p>
          <a:p>
            <a:endParaRPr lang="ru-RU" sz="2200" dirty="0"/>
          </a:p>
          <a:p>
            <a:r>
              <a:rPr lang="ru-RU" sz="2200" dirty="0" smtClean="0"/>
              <a:t>Отказаться </a:t>
            </a:r>
            <a:r>
              <a:rPr lang="ru-RU" sz="2200" dirty="0"/>
              <a:t>от табличного выражения и использовать команду SELECT в качестве калькулятора:</a:t>
            </a:r>
          </a:p>
          <a:p>
            <a:r>
              <a:rPr lang="ru-RU" sz="2200" dirty="0"/>
              <a:t>ВЫБЕРИТЕ 3 * 4;</a:t>
            </a:r>
          </a:p>
          <a:p>
            <a:r>
              <a:rPr lang="ru-RU" sz="2200" dirty="0"/>
              <a:t>Например, вы можете вызвать функцию следующим образом:</a:t>
            </a:r>
          </a:p>
          <a:p>
            <a:r>
              <a:rPr lang="ru-RU" sz="2200" dirty="0"/>
              <a:t>ВЫБЕРИТЕ случайным образом();</a:t>
            </a:r>
          </a:p>
          <a:p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450021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316480" y="0"/>
            <a:ext cx="666944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/>
              <a:t>Классификация запросов по функциональному признаку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0" y="316523"/>
            <a:ext cx="9144000" cy="64017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SELECT</a:t>
            </a:r>
            <a:endParaRPr lang="ru-RU" sz="2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 FROM</a:t>
            </a:r>
            <a:endParaRPr lang="ru-RU" sz="2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WHERE</a:t>
            </a:r>
            <a:endParaRPr lang="ru-RU" sz="2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 JOIN</a:t>
            </a:r>
            <a:endParaRPr lang="ru-RU" sz="2000" dirty="0" smtClean="0"/>
          </a:p>
          <a:p>
            <a:pPr algn="ctr"/>
            <a:r>
              <a:rPr lang="en-US" sz="2000" b="1" dirty="0" smtClean="0"/>
              <a:t>SELECT</a:t>
            </a:r>
            <a:endParaRPr lang="ru-RU" sz="2000" b="1" dirty="0" smtClean="0"/>
          </a:p>
          <a:p>
            <a:r>
              <a:rPr lang="ru-RU" sz="2000" dirty="0"/>
              <a:t>•	Указание столбцов </a:t>
            </a:r>
            <a:endParaRPr lang="ru-RU" sz="2000" dirty="0" smtClean="0"/>
          </a:p>
          <a:p>
            <a:r>
              <a:rPr lang="ru-RU" sz="2000" dirty="0" smtClean="0"/>
              <a:t>•</a:t>
            </a:r>
            <a:r>
              <a:rPr lang="ru-RU" sz="2000" dirty="0"/>
              <a:t>	Использование операторов </a:t>
            </a:r>
            <a:endParaRPr lang="ru-RU" sz="2000" dirty="0" smtClean="0"/>
          </a:p>
          <a:p>
            <a:r>
              <a:rPr lang="ru-RU" sz="2000" dirty="0" smtClean="0"/>
              <a:t>•</a:t>
            </a:r>
            <a:r>
              <a:rPr lang="ru-RU" sz="2000" dirty="0"/>
              <a:t>	Указание поведения по </a:t>
            </a:r>
            <a:r>
              <a:rPr lang="ru-RU" sz="2000" dirty="0" smtClean="0"/>
              <a:t>умолчанию</a:t>
            </a:r>
          </a:p>
          <a:p>
            <a:pPr algn="ctr"/>
            <a:r>
              <a:rPr lang="ru-RU" sz="2000" dirty="0"/>
              <a:t> </a:t>
            </a:r>
            <a:r>
              <a:rPr lang="ru-RU" sz="2000" b="1" dirty="0"/>
              <a:t>FROM</a:t>
            </a:r>
          </a:p>
          <a:p>
            <a:r>
              <a:rPr lang="ru-RU" sz="2000" dirty="0" smtClean="0"/>
              <a:t>•</a:t>
            </a:r>
            <a:r>
              <a:rPr lang="ru-RU" sz="2000" dirty="0"/>
              <a:t>	Перечисление таблиц </a:t>
            </a:r>
            <a:endParaRPr lang="ru-RU" sz="2000" dirty="0" smtClean="0"/>
          </a:p>
          <a:p>
            <a:r>
              <a:rPr lang="ru-RU" sz="2000" dirty="0" smtClean="0"/>
              <a:t>•</a:t>
            </a:r>
            <a:r>
              <a:rPr lang="ru-RU" sz="2000" dirty="0"/>
              <a:t>	</a:t>
            </a:r>
            <a:r>
              <a:rPr lang="ru-RU" sz="2000" dirty="0" smtClean="0"/>
              <a:t>Использование</a:t>
            </a:r>
            <a:endParaRPr lang="ru-RU" sz="2000" dirty="0"/>
          </a:p>
          <a:p>
            <a:r>
              <a:rPr lang="ru-RU" sz="2000" dirty="0"/>
              <a:t>•	Применение табличных функций </a:t>
            </a:r>
            <a:endParaRPr lang="ru-RU" sz="2000" dirty="0" smtClean="0"/>
          </a:p>
          <a:p>
            <a:pPr algn="ctr"/>
            <a:r>
              <a:rPr lang="ru-RU" sz="2000" b="1" dirty="0"/>
              <a:t>WHERE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2000" dirty="0" smtClean="0"/>
              <a:t>Определение </a:t>
            </a:r>
            <a:r>
              <a:rPr lang="ru-RU" sz="2000" dirty="0"/>
              <a:t>условия </a:t>
            </a:r>
            <a:endParaRPr lang="ru-RU" sz="2000" dirty="0" smtClean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2000" dirty="0" smtClean="0"/>
              <a:t>Использование </a:t>
            </a:r>
            <a:r>
              <a:rPr lang="ru-RU" sz="2000" dirty="0"/>
              <a:t>операторов </a:t>
            </a:r>
            <a:endParaRPr lang="ru-RU" sz="2000" dirty="0" smtClean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2000" dirty="0" smtClean="0"/>
              <a:t>Интеграция </a:t>
            </a:r>
            <a:r>
              <a:rPr lang="ru-RU" sz="2000" dirty="0"/>
              <a:t>с другими элементами </a:t>
            </a:r>
            <a:r>
              <a:rPr lang="ru-RU" sz="2000" dirty="0" smtClean="0"/>
              <a:t>запроса</a:t>
            </a:r>
          </a:p>
          <a:p>
            <a:pPr algn="ctr"/>
            <a:r>
              <a:rPr lang="ru-RU" b="1" dirty="0"/>
              <a:t>JOIN</a:t>
            </a:r>
            <a:endParaRPr lang="ru-RU" sz="28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 smtClean="0"/>
              <a:t>LEFT</a:t>
            </a:r>
            <a:r>
              <a:rPr lang="ru-RU" dirty="0"/>
              <a:t> </a:t>
            </a:r>
            <a:endParaRPr lang="ru-RU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 smtClean="0"/>
              <a:t>RIGHT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 smtClean="0"/>
              <a:t>FULL 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 smtClean="0"/>
              <a:t>Указание условия  </a:t>
            </a:r>
            <a:r>
              <a:rPr lang="ru-RU" sz="1400" dirty="0"/>
              <a:t>Использование специальных типов JOIN </a:t>
            </a:r>
            <a:r>
              <a:rPr lang="ru-RU" sz="1400" dirty="0" smtClean="0"/>
              <a:t> 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269145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1"/>
            <a:ext cx="12192000" cy="4985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dirty="0" err="1"/>
              <a:t>PostgreSQL</a:t>
            </a:r>
            <a:r>
              <a:rPr lang="ru-RU" sz="2000" dirty="0"/>
              <a:t> для работы с данными используются </a:t>
            </a:r>
            <a:r>
              <a:rPr lang="ru-RU" sz="2000" dirty="0" smtClean="0"/>
              <a:t>запросы-действия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SELECT</a:t>
            </a:r>
            <a:endParaRPr lang="ru-RU" sz="2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 INSERT</a:t>
            </a:r>
            <a:endParaRPr lang="ru-RU" sz="2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 UPDATE</a:t>
            </a:r>
            <a:endParaRPr lang="ru-RU" sz="2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DELETE</a:t>
            </a:r>
            <a:endParaRPr lang="ru-RU" sz="2000" dirty="0" smtClean="0"/>
          </a:p>
          <a:p>
            <a:pPr algn="ctr"/>
            <a:r>
              <a:rPr lang="en-US" sz="2000" dirty="0" smtClean="0"/>
              <a:t> </a:t>
            </a:r>
            <a:r>
              <a:rPr lang="ru-RU" sz="2000" b="1" dirty="0" smtClean="0"/>
              <a:t>SELECT</a:t>
            </a:r>
          </a:p>
          <a:p>
            <a:r>
              <a:rPr lang="en-US" sz="2000" dirty="0" err="1"/>
              <a:t>Синтаксис</a:t>
            </a:r>
            <a:r>
              <a:rPr lang="en-US" sz="2000" dirty="0" smtClean="0"/>
              <a:t>:</a:t>
            </a:r>
            <a:r>
              <a:rPr lang="ru-RU" sz="2000" dirty="0" smtClean="0"/>
              <a:t> </a:t>
            </a:r>
            <a:r>
              <a:rPr lang="en-US" sz="2000" dirty="0" smtClean="0"/>
              <a:t>SELECT </a:t>
            </a:r>
            <a:r>
              <a:rPr lang="en-US" sz="2000" dirty="0"/>
              <a:t>column1, column2, ... FROM </a:t>
            </a:r>
            <a:r>
              <a:rPr lang="en-US" sz="2000" dirty="0" err="1"/>
              <a:t>table_name</a:t>
            </a:r>
            <a:r>
              <a:rPr lang="en-US" sz="2000" dirty="0"/>
              <a:t> WHERE condition</a:t>
            </a:r>
          </a:p>
          <a:p>
            <a:r>
              <a:rPr lang="ru-RU" sz="2000" dirty="0"/>
              <a:t>•	Выборка всех столбцов — </a:t>
            </a:r>
            <a:r>
              <a:rPr lang="en-US" sz="2000" dirty="0"/>
              <a:t>SELECT * FROM employees</a:t>
            </a:r>
          </a:p>
          <a:p>
            <a:r>
              <a:rPr lang="ru-RU" sz="2000" dirty="0" smtClean="0"/>
              <a:t>Выборка </a:t>
            </a:r>
            <a:r>
              <a:rPr lang="ru-RU" sz="2000" dirty="0"/>
              <a:t>конкретных столбцов — </a:t>
            </a:r>
            <a:r>
              <a:rPr lang="en-US" sz="2000" dirty="0"/>
              <a:t>SELECT name, salary FROM employees</a:t>
            </a:r>
          </a:p>
          <a:p>
            <a:r>
              <a:rPr lang="ru-RU" sz="2000" dirty="0" smtClean="0"/>
              <a:t>Фильтрация </a:t>
            </a:r>
            <a:r>
              <a:rPr lang="ru-RU" sz="2000" dirty="0"/>
              <a:t>результатов с помощью условия — например, выборка сотрудников из </a:t>
            </a:r>
            <a:r>
              <a:rPr lang="en-US" sz="2000" dirty="0"/>
              <a:t>IT-</a:t>
            </a:r>
            <a:r>
              <a:rPr lang="ru-RU" sz="2000" dirty="0"/>
              <a:t>отдела: </a:t>
            </a:r>
          </a:p>
          <a:p>
            <a:r>
              <a:rPr lang="en-US" sz="2000" dirty="0"/>
              <a:t>SELECT * FROM employees WHERE department = </a:t>
            </a:r>
            <a:r>
              <a:rPr lang="en-US" sz="2000" dirty="0" smtClean="0"/>
              <a:t>'IT‘</a:t>
            </a:r>
            <a:endParaRPr lang="ru-RU" sz="2000" dirty="0" smtClean="0"/>
          </a:p>
          <a:p>
            <a:r>
              <a:rPr lang="ru-RU" sz="2000" dirty="0" smtClean="0"/>
              <a:t>Пример:</a:t>
            </a:r>
            <a:endParaRPr lang="en-US" sz="2000" dirty="0"/>
          </a:p>
          <a:p>
            <a:r>
              <a:rPr lang="en-US" sz="2000" dirty="0"/>
              <a:t>SELECT column1, column2, ...</a:t>
            </a:r>
          </a:p>
          <a:p>
            <a:r>
              <a:rPr lang="en-US" sz="2000" dirty="0"/>
              <a:t>FROM </a:t>
            </a:r>
            <a:r>
              <a:rPr lang="en-US" sz="2000" dirty="0" err="1"/>
              <a:t>table_name</a:t>
            </a:r>
            <a:endParaRPr lang="en-US" sz="2000" dirty="0"/>
          </a:p>
          <a:p>
            <a:r>
              <a:rPr lang="en-US" sz="2000" dirty="0"/>
              <a:t>WHERE condition;</a:t>
            </a:r>
          </a:p>
          <a:p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23693682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INSERT</a:t>
            </a:r>
          </a:p>
          <a:p>
            <a:r>
              <a:rPr lang="ru-RU" dirty="0" smtClean="0"/>
              <a:t>Синтаксис</a:t>
            </a:r>
            <a:r>
              <a:rPr lang="ru-RU" dirty="0"/>
              <a:t>: </a:t>
            </a:r>
          </a:p>
          <a:p>
            <a:r>
              <a:rPr lang="en-US" dirty="0"/>
              <a:t>INSERT INTO </a:t>
            </a:r>
            <a:r>
              <a:rPr lang="en-US" dirty="0" err="1"/>
              <a:t>table_name</a:t>
            </a:r>
            <a:r>
              <a:rPr lang="en-US" dirty="0"/>
              <a:t> (column1, column2, ...) VALUES (value1, value2, ...)</a:t>
            </a:r>
          </a:p>
          <a:p>
            <a:r>
              <a:rPr lang="ru-RU" dirty="0" smtClean="0"/>
              <a:t>Примеры</a:t>
            </a:r>
            <a:r>
              <a:rPr lang="ru-RU" dirty="0"/>
              <a:t>:</a:t>
            </a:r>
          </a:p>
          <a:p>
            <a:r>
              <a:rPr lang="ru-RU" dirty="0"/>
              <a:t>•	Добавление одной строки — </a:t>
            </a:r>
            <a:r>
              <a:rPr lang="en-US" dirty="0"/>
              <a:t>INSERT INTO Products VALUES (1, 'Galaxy S9', 'Samsung', 4, 63000)</a:t>
            </a:r>
          </a:p>
          <a:p>
            <a:r>
              <a:rPr lang="en-US" dirty="0"/>
              <a:t>.</a:t>
            </a:r>
            <a:r>
              <a:rPr lang="ru-RU" dirty="0"/>
              <a:t>Добавление сразу нескольких строк — </a:t>
            </a:r>
            <a:r>
              <a:rPr lang="en-US" dirty="0"/>
              <a:t>INSERT INTO Products (</a:t>
            </a:r>
            <a:r>
              <a:rPr lang="en-US" dirty="0" err="1"/>
              <a:t>ProductName</a:t>
            </a:r>
            <a:r>
              <a:rPr lang="en-US" dirty="0"/>
              <a:t>, Manufacturer, </a:t>
            </a:r>
            <a:r>
              <a:rPr lang="en-US" dirty="0" err="1"/>
              <a:t>ProductCount</a:t>
            </a:r>
            <a:r>
              <a:rPr lang="en-US" dirty="0"/>
              <a:t>, Price) VALUES ('iPhone 6', 'Apple', 3, 36000), ('Galaxy S8', 'Samsung', 2, 46000), ('Galaxy S8 Plus', 'Samsung', 1, 56000</a:t>
            </a:r>
            <a:r>
              <a:rPr lang="en-US" dirty="0" smtClean="0"/>
              <a:t>)</a:t>
            </a:r>
            <a:endParaRPr lang="ru-RU" dirty="0" smtClean="0"/>
          </a:p>
          <a:p>
            <a:r>
              <a:rPr lang="ru-RU" dirty="0" smtClean="0"/>
              <a:t>Пример: одна </a:t>
            </a:r>
            <a:r>
              <a:rPr lang="ru-RU" dirty="0"/>
              <a:t>запись или несколько записей.</a:t>
            </a:r>
          </a:p>
          <a:p>
            <a:r>
              <a:rPr lang="ru-RU" dirty="0"/>
              <a:t>Синтаксис:</a:t>
            </a:r>
          </a:p>
          <a:p>
            <a:r>
              <a:rPr lang="ru-RU" dirty="0"/>
              <a:t>Основной синтаксис оператора </a:t>
            </a:r>
            <a:r>
              <a:rPr lang="en-US" dirty="0"/>
              <a:t>INSERT:</a:t>
            </a:r>
          </a:p>
          <a:p>
            <a:r>
              <a:rPr lang="en-US" dirty="0"/>
              <a:t>INSERT INTO </a:t>
            </a:r>
            <a:r>
              <a:rPr lang="en-US" dirty="0" err="1"/>
              <a:t>table_name</a:t>
            </a:r>
            <a:r>
              <a:rPr lang="en-US" dirty="0"/>
              <a:t> (column1, column2, ...)</a:t>
            </a:r>
          </a:p>
          <a:p>
            <a:r>
              <a:rPr lang="en-US" dirty="0"/>
              <a:t>VALUES (value1, value2, ...);</a:t>
            </a:r>
          </a:p>
          <a:p>
            <a:pPr algn="ctr"/>
            <a:r>
              <a:rPr lang="en-US" b="1" dirty="0"/>
              <a:t>UPDATE</a:t>
            </a:r>
          </a:p>
          <a:p>
            <a:r>
              <a:rPr lang="ru-RU" dirty="0" smtClean="0"/>
              <a:t>Синтаксис</a:t>
            </a:r>
            <a:r>
              <a:rPr lang="ru-RU" dirty="0"/>
              <a:t>: </a:t>
            </a:r>
          </a:p>
          <a:p>
            <a:r>
              <a:rPr lang="en-US" dirty="0"/>
              <a:t>UPDATE </a:t>
            </a:r>
            <a:r>
              <a:rPr lang="en-US" dirty="0" err="1"/>
              <a:t>table_name</a:t>
            </a:r>
            <a:r>
              <a:rPr lang="en-US" dirty="0"/>
              <a:t> SET column1 = value1, column2 = value2, ... WHERE condition</a:t>
            </a:r>
          </a:p>
          <a:p>
            <a:r>
              <a:rPr lang="ru-RU" dirty="0" smtClean="0"/>
              <a:t>Примеры</a:t>
            </a:r>
            <a:r>
              <a:rPr lang="ru-RU" dirty="0"/>
              <a:t>:</a:t>
            </a:r>
          </a:p>
          <a:p>
            <a:r>
              <a:rPr lang="ru-RU" dirty="0"/>
              <a:t>•	Обновление одной строки — </a:t>
            </a:r>
            <a:r>
              <a:rPr lang="en-US" dirty="0"/>
              <a:t>UPDATE books SET price = 8.99 WHERE title = '1984'</a:t>
            </a:r>
          </a:p>
          <a:p>
            <a:r>
              <a:rPr lang="en-US" dirty="0"/>
              <a:t>.</a:t>
            </a:r>
            <a:r>
              <a:rPr lang="ru-RU" dirty="0"/>
              <a:t>Обновление нескольких строк — </a:t>
            </a:r>
            <a:r>
              <a:rPr lang="en-US" dirty="0"/>
              <a:t>UPDATE books SET price = price + 1 WHERE author = 'Jane Austen'</a:t>
            </a:r>
          </a:p>
          <a:p>
            <a:r>
              <a:rPr lang="en-US" dirty="0"/>
              <a:t>.</a:t>
            </a:r>
            <a:r>
              <a:rPr lang="ru-RU" dirty="0"/>
              <a:t>Обновление нескольких столбцов — </a:t>
            </a:r>
            <a:r>
              <a:rPr lang="en-US" dirty="0"/>
              <a:t>UPDATE books SET price = 12.99, pages = 200 WHERE title = 'The Great Gatsby'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4788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6017" y="287793"/>
            <a:ext cx="2828789" cy="877900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978" y="324372"/>
            <a:ext cx="585267" cy="841321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773723" y="3105835"/>
            <a:ext cx="9803423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000" b="1" dirty="0">
                <a:solidFill>
                  <a:srgbClr val="FF0000"/>
                </a:solidFill>
              </a:rPr>
              <a:t>Обновление данных в таблицах </a:t>
            </a:r>
            <a:r>
              <a:rPr lang="ru-RU" sz="4000" b="1" dirty="0" err="1">
                <a:solidFill>
                  <a:srgbClr val="FF0000"/>
                </a:solidFill>
              </a:rPr>
              <a:t>PostgreSQL</a:t>
            </a:r>
            <a:endParaRPr lang="ru-RU" sz="4000" b="1" dirty="0">
              <a:solidFill>
                <a:srgbClr val="FF0000"/>
              </a:solidFill>
            </a:endParaRPr>
          </a:p>
          <a:p>
            <a:pPr algn="ctr"/>
            <a:r>
              <a:rPr lang="ru-RU" sz="4000" b="1" dirty="0" smtClean="0"/>
              <a:t>Вопрос </a:t>
            </a:r>
            <a:r>
              <a:rPr lang="ru-RU" sz="4000" b="1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288303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/>
              <a:t>Обновление одной строки</a:t>
            </a:r>
          </a:p>
          <a:p>
            <a:r>
              <a:rPr lang="ru-RU" sz="2000" dirty="0"/>
              <a:t>Пример: Обновление цены конкретной книги</a:t>
            </a:r>
          </a:p>
          <a:p>
            <a:r>
              <a:rPr lang="ru-RU" sz="2000" dirty="0"/>
              <a:t>UPDATE </a:t>
            </a:r>
            <a:r>
              <a:rPr lang="ru-RU" sz="2000" dirty="0" err="1"/>
              <a:t>books</a:t>
            </a:r>
            <a:endParaRPr lang="ru-RU" sz="2000" dirty="0"/>
          </a:p>
          <a:p>
            <a:r>
              <a:rPr lang="ru-RU" sz="2000" dirty="0"/>
              <a:t>SET </a:t>
            </a:r>
            <a:r>
              <a:rPr lang="ru-RU" sz="2000" dirty="0" err="1"/>
              <a:t>price</a:t>
            </a:r>
            <a:r>
              <a:rPr lang="ru-RU" sz="2000" dirty="0"/>
              <a:t> = 8.99</a:t>
            </a:r>
          </a:p>
          <a:p>
            <a:r>
              <a:rPr lang="ru-RU" sz="2000" dirty="0"/>
              <a:t>WHERE </a:t>
            </a:r>
            <a:r>
              <a:rPr lang="ru-RU" sz="2000" dirty="0" err="1"/>
              <a:t>title</a:t>
            </a:r>
            <a:r>
              <a:rPr lang="ru-RU" sz="2000" dirty="0"/>
              <a:t> = '1984</a:t>
            </a:r>
            <a:r>
              <a:rPr lang="ru-RU" sz="2000" dirty="0" smtClean="0"/>
              <a:t>';</a:t>
            </a:r>
          </a:p>
          <a:p>
            <a:pPr algn="ctr"/>
            <a:r>
              <a:rPr lang="ru-RU" sz="2000" b="1" dirty="0"/>
              <a:t>Обновление нескольких строк</a:t>
            </a:r>
          </a:p>
          <a:p>
            <a:r>
              <a:rPr lang="ru-RU" sz="2000" dirty="0" smtClean="0"/>
              <a:t>Пример</a:t>
            </a:r>
            <a:r>
              <a:rPr lang="ru-RU" sz="2000" dirty="0"/>
              <a:t>: Увеличить цену всех книг Джейн </a:t>
            </a:r>
            <a:r>
              <a:rPr lang="ru-RU" sz="2000" dirty="0" err="1"/>
              <a:t>Остин</a:t>
            </a:r>
            <a:r>
              <a:rPr lang="ru-RU" sz="2000" dirty="0"/>
              <a:t> на $1</a:t>
            </a:r>
          </a:p>
          <a:p>
            <a:r>
              <a:rPr lang="ru-RU" sz="2000" dirty="0"/>
              <a:t>UPDATE </a:t>
            </a:r>
            <a:r>
              <a:rPr lang="ru-RU" sz="2000" dirty="0" err="1"/>
              <a:t>books</a:t>
            </a:r>
            <a:endParaRPr lang="ru-RU" sz="2000" dirty="0"/>
          </a:p>
          <a:p>
            <a:r>
              <a:rPr lang="ru-RU" sz="2000" dirty="0"/>
              <a:t>SET </a:t>
            </a:r>
            <a:r>
              <a:rPr lang="ru-RU" sz="2000" dirty="0" err="1"/>
              <a:t>price</a:t>
            </a:r>
            <a:r>
              <a:rPr lang="ru-RU" sz="2000" dirty="0"/>
              <a:t> = </a:t>
            </a:r>
            <a:r>
              <a:rPr lang="ru-RU" sz="2000" dirty="0" err="1"/>
              <a:t>price</a:t>
            </a:r>
            <a:r>
              <a:rPr lang="ru-RU" sz="2000" dirty="0"/>
              <a:t> + 1</a:t>
            </a:r>
          </a:p>
          <a:p>
            <a:r>
              <a:rPr lang="ru-RU" sz="2000" dirty="0"/>
              <a:t>WHERE </a:t>
            </a:r>
            <a:r>
              <a:rPr lang="ru-RU" sz="2000" dirty="0" err="1"/>
              <a:t>author</a:t>
            </a:r>
            <a:r>
              <a:rPr lang="ru-RU" sz="2000" dirty="0"/>
              <a:t> = '</a:t>
            </a:r>
            <a:r>
              <a:rPr lang="ru-RU" sz="2000" dirty="0" err="1"/>
              <a:t>Jane</a:t>
            </a:r>
            <a:r>
              <a:rPr lang="ru-RU" sz="2000" dirty="0"/>
              <a:t> </a:t>
            </a:r>
            <a:r>
              <a:rPr lang="ru-RU" sz="2000" dirty="0" err="1"/>
              <a:t>Austen</a:t>
            </a:r>
            <a:r>
              <a:rPr lang="ru-RU" sz="2000" dirty="0"/>
              <a:t>';</a:t>
            </a:r>
          </a:p>
          <a:p>
            <a:pPr algn="ctr"/>
            <a:r>
              <a:rPr lang="ru-RU" sz="2000" b="1" dirty="0" smtClean="0"/>
              <a:t>Обновление </a:t>
            </a:r>
            <a:r>
              <a:rPr lang="ru-RU" sz="2000" b="1" dirty="0"/>
              <a:t>нескольких столбцов</a:t>
            </a:r>
          </a:p>
          <a:p>
            <a:r>
              <a:rPr lang="ru-RU" sz="2000" dirty="0" smtClean="0"/>
              <a:t>Пример</a:t>
            </a:r>
            <a:r>
              <a:rPr lang="ru-RU" sz="2000" dirty="0"/>
              <a:t>: Обновление цены и количества страниц книги</a:t>
            </a:r>
          </a:p>
          <a:p>
            <a:r>
              <a:rPr lang="ru-RU" sz="2000" dirty="0"/>
              <a:t>UPDATE </a:t>
            </a:r>
            <a:r>
              <a:rPr lang="ru-RU" sz="2000" dirty="0" err="1"/>
              <a:t>books</a:t>
            </a:r>
            <a:endParaRPr lang="ru-RU" sz="2000" dirty="0"/>
          </a:p>
          <a:p>
            <a:r>
              <a:rPr lang="ru-RU" sz="2000" dirty="0"/>
              <a:t>SET </a:t>
            </a:r>
            <a:r>
              <a:rPr lang="ru-RU" sz="2000" dirty="0" err="1"/>
              <a:t>price</a:t>
            </a:r>
            <a:r>
              <a:rPr lang="ru-RU" sz="2000" dirty="0"/>
              <a:t> = 12.99, </a:t>
            </a:r>
            <a:r>
              <a:rPr lang="ru-RU" sz="2000" dirty="0" err="1"/>
              <a:t>pages</a:t>
            </a:r>
            <a:r>
              <a:rPr lang="ru-RU" sz="2000" dirty="0"/>
              <a:t> = 200</a:t>
            </a:r>
          </a:p>
          <a:p>
            <a:r>
              <a:rPr lang="ru-RU" sz="2000" dirty="0"/>
              <a:t>WHERE </a:t>
            </a:r>
            <a:r>
              <a:rPr lang="ru-RU" sz="2000" dirty="0" err="1"/>
              <a:t>title</a:t>
            </a:r>
            <a:r>
              <a:rPr lang="ru-RU" sz="2000" dirty="0"/>
              <a:t> = '</a:t>
            </a:r>
            <a:r>
              <a:rPr lang="ru-RU" sz="2000" dirty="0" err="1"/>
              <a:t>The</a:t>
            </a:r>
            <a:r>
              <a:rPr lang="ru-RU" sz="2000" dirty="0"/>
              <a:t> </a:t>
            </a:r>
            <a:r>
              <a:rPr lang="ru-RU" sz="2000" dirty="0" err="1"/>
              <a:t>Great</a:t>
            </a:r>
            <a:r>
              <a:rPr lang="ru-RU" sz="2000" dirty="0"/>
              <a:t> </a:t>
            </a:r>
            <a:r>
              <a:rPr lang="ru-RU" sz="2000" dirty="0" err="1"/>
              <a:t>Gatsby</a:t>
            </a:r>
            <a:r>
              <a:rPr lang="ru-RU" sz="2000" dirty="0"/>
              <a:t>';</a:t>
            </a:r>
          </a:p>
          <a:p>
            <a:pPr algn="ctr"/>
            <a:r>
              <a:rPr lang="ru-RU" sz="2000" b="1" dirty="0"/>
              <a:t>Обновление всех строк</a:t>
            </a:r>
          </a:p>
          <a:p>
            <a:r>
              <a:rPr lang="ru-RU" sz="2000" dirty="0" smtClean="0"/>
              <a:t>Пример</a:t>
            </a:r>
            <a:r>
              <a:rPr lang="ru-RU" sz="2000" dirty="0"/>
              <a:t>: Применить скидку 10% ко всем книгам</a:t>
            </a:r>
          </a:p>
          <a:p>
            <a:r>
              <a:rPr lang="ru-RU" sz="2000" dirty="0"/>
              <a:t>UPDATE </a:t>
            </a:r>
            <a:r>
              <a:rPr lang="ru-RU" sz="2000" dirty="0" err="1"/>
              <a:t>books</a:t>
            </a:r>
            <a:endParaRPr lang="ru-RU" sz="2000" dirty="0"/>
          </a:p>
          <a:p>
            <a:r>
              <a:rPr lang="ru-RU" sz="2000" dirty="0"/>
              <a:t>SET </a:t>
            </a:r>
            <a:r>
              <a:rPr lang="ru-RU" sz="2000" dirty="0" err="1"/>
              <a:t>price</a:t>
            </a:r>
            <a:r>
              <a:rPr lang="ru-RU" sz="2000" dirty="0"/>
              <a:t> = </a:t>
            </a:r>
            <a:r>
              <a:rPr lang="ru-RU" sz="2000" dirty="0" err="1"/>
              <a:t>price</a:t>
            </a:r>
            <a:r>
              <a:rPr lang="ru-RU" sz="2000" dirty="0"/>
              <a:t> * 0.9;</a:t>
            </a:r>
          </a:p>
          <a:p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7308484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66325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700" b="1" dirty="0"/>
              <a:t>Использование подзапросов в </a:t>
            </a:r>
            <a:r>
              <a:rPr lang="en-US" sz="1700" b="1" dirty="0"/>
              <a:t>UPDATE</a:t>
            </a:r>
          </a:p>
          <a:p>
            <a:r>
              <a:rPr lang="ru-RU" sz="1700" dirty="0" smtClean="0"/>
              <a:t>Пример</a:t>
            </a:r>
            <a:r>
              <a:rPr lang="ru-RU" sz="1700" dirty="0"/>
              <a:t>: Установить цену книг на уровне средней цены всех книг</a:t>
            </a:r>
          </a:p>
          <a:p>
            <a:r>
              <a:rPr lang="en-US" sz="1700" dirty="0"/>
              <a:t>UPDATE books</a:t>
            </a:r>
          </a:p>
          <a:p>
            <a:r>
              <a:rPr lang="en-US" sz="1700" dirty="0"/>
              <a:t>SET price = </a:t>
            </a:r>
            <a:r>
              <a:rPr lang="en-US" sz="1700" dirty="0" err="1"/>
              <a:t>sub.avg_price</a:t>
            </a:r>
            <a:endParaRPr lang="en-US" sz="1700" dirty="0"/>
          </a:p>
          <a:p>
            <a:r>
              <a:rPr lang="en-US" sz="1700" dirty="0"/>
              <a:t>FROM (</a:t>
            </a:r>
          </a:p>
          <a:p>
            <a:r>
              <a:rPr lang="en-US" sz="1700" dirty="0"/>
              <a:t>    SELECT AVG(price) AS </a:t>
            </a:r>
            <a:r>
              <a:rPr lang="en-US" sz="1700" dirty="0" err="1"/>
              <a:t>avg_price</a:t>
            </a:r>
            <a:endParaRPr lang="en-US" sz="1700" dirty="0"/>
          </a:p>
          <a:p>
            <a:r>
              <a:rPr lang="en-US" sz="1700" dirty="0"/>
              <a:t>    FROM books</a:t>
            </a:r>
          </a:p>
          <a:p>
            <a:r>
              <a:rPr lang="en-US" sz="1700" dirty="0"/>
              <a:t>) AS sub</a:t>
            </a:r>
            <a:r>
              <a:rPr lang="en-US" sz="1700" dirty="0" smtClean="0"/>
              <a:t>;</a:t>
            </a:r>
            <a:endParaRPr lang="ru-RU" sz="1700" dirty="0" smtClean="0"/>
          </a:p>
          <a:p>
            <a:pPr algn="ctr"/>
            <a:r>
              <a:rPr lang="ru-RU" sz="1700" b="1" dirty="0"/>
              <a:t>Использование выражения </a:t>
            </a:r>
            <a:r>
              <a:rPr lang="en-US" sz="1700" b="1" dirty="0"/>
              <a:t>CASE</a:t>
            </a:r>
          </a:p>
          <a:p>
            <a:r>
              <a:rPr lang="ru-RU" sz="1700" dirty="0" smtClean="0"/>
              <a:t>Пример</a:t>
            </a:r>
            <a:r>
              <a:rPr lang="ru-RU" sz="1700" dirty="0"/>
              <a:t>: Применение различных скидок в зависимости от цены</a:t>
            </a:r>
          </a:p>
          <a:p>
            <a:r>
              <a:rPr lang="en-US" sz="1700" dirty="0"/>
              <a:t>UPDATE books</a:t>
            </a:r>
          </a:p>
          <a:p>
            <a:r>
              <a:rPr lang="en-US" sz="1700" dirty="0"/>
              <a:t>SET price = CASE</a:t>
            </a:r>
          </a:p>
          <a:p>
            <a:r>
              <a:rPr lang="en-US" sz="1700" dirty="0"/>
              <a:t>    WHEN price &gt; 10 THEN price * 0.85</a:t>
            </a:r>
          </a:p>
          <a:p>
            <a:r>
              <a:rPr lang="en-US" sz="1700" dirty="0"/>
              <a:t>    ELSE price * 0.95</a:t>
            </a:r>
          </a:p>
          <a:p>
            <a:r>
              <a:rPr lang="en-US" sz="1700" dirty="0"/>
              <a:t>END;</a:t>
            </a:r>
          </a:p>
          <a:p>
            <a:pPr algn="ctr"/>
            <a:r>
              <a:rPr lang="ru-RU" sz="1700" b="1" dirty="0"/>
              <a:t>Обновление с подзапросами</a:t>
            </a:r>
          </a:p>
          <a:p>
            <a:r>
              <a:rPr lang="ru-RU" sz="1700" dirty="0" smtClean="0"/>
              <a:t>Пример</a:t>
            </a:r>
            <a:r>
              <a:rPr lang="ru-RU" sz="1700" dirty="0"/>
              <a:t>: Увеличить цену книг у авторов, которые написали более одной книги</a:t>
            </a:r>
          </a:p>
          <a:p>
            <a:r>
              <a:rPr lang="ru-RU" sz="1700" dirty="0"/>
              <a:t>UPDATE </a:t>
            </a:r>
            <a:r>
              <a:rPr lang="ru-RU" sz="1700" dirty="0" err="1"/>
              <a:t>books</a:t>
            </a:r>
            <a:endParaRPr lang="ru-RU" sz="1700" dirty="0"/>
          </a:p>
          <a:p>
            <a:r>
              <a:rPr lang="ru-RU" sz="1700" dirty="0"/>
              <a:t>SET </a:t>
            </a:r>
            <a:r>
              <a:rPr lang="ru-RU" sz="1700" dirty="0" err="1"/>
              <a:t>price</a:t>
            </a:r>
            <a:r>
              <a:rPr lang="ru-RU" sz="1700" dirty="0"/>
              <a:t> = </a:t>
            </a:r>
            <a:r>
              <a:rPr lang="ru-RU" sz="1700" dirty="0" err="1"/>
              <a:t>price</a:t>
            </a:r>
            <a:r>
              <a:rPr lang="ru-RU" sz="1700" dirty="0"/>
              <a:t> + 2</a:t>
            </a:r>
          </a:p>
          <a:p>
            <a:r>
              <a:rPr lang="ru-RU" sz="1700" dirty="0"/>
              <a:t>WHERE </a:t>
            </a:r>
            <a:r>
              <a:rPr lang="ru-RU" sz="1700" dirty="0" err="1"/>
              <a:t>author</a:t>
            </a:r>
            <a:r>
              <a:rPr lang="ru-RU" sz="1700" dirty="0"/>
              <a:t> IN (</a:t>
            </a:r>
          </a:p>
          <a:p>
            <a:r>
              <a:rPr lang="ru-RU" sz="1700" dirty="0"/>
              <a:t>    SELECT </a:t>
            </a:r>
            <a:r>
              <a:rPr lang="ru-RU" sz="1700" dirty="0" err="1"/>
              <a:t>author</a:t>
            </a:r>
            <a:endParaRPr lang="ru-RU" sz="1700" dirty="0"/>
          </a:p>
          <a:p>
            <a:r>
              <a:rPr lang="ru-RU" sz="1700" dirty="0"/>
              <a:t>    FROM </a:t>
            </a:r>
            <a:r>
              <a:rPr lang="ru-RU" sz="1700" dirty="0" err="1"/>
              <a:t>books</a:t>
            </a:r>
            <a:endParaRPr lang="ru-RU" sz="1700" dirty="0"/>
          </a:p>
          <a:p>
            <a:r>
              <a:rPr lang="ru-RU" sz="1700" dirty="0"/>
              <a:t>    GROUP BY </a:t>
            </a:r>
            <a:r>
              <a:rPr lang="ru-RU" sz="1700" dirty="0" err="1"/>
              <a:t>author</a:t>
            </a:r>
            <a:endParaRPr lang="ru-RU" sz="1700" dirty="0"/>
          </a:p>
          <a:p>
            <a:r>
              <a:rPr lang="ru-RU" sz="1700" dirty="0"/>
              <a:t>    HAVING COUNT(*) &gt; 1</a:t>
            </a:r>
          </a:p>
          <a:p>
            <a:r>
              <a:rPr lang="ru-RU" sz="1700" dirty="0" smtClean="0"/>
              <a:t>);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14754459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Использование </a:t>
            </a:r>
            <a:r>
              <a:rPr lang="en-US" b="1" dirty="0"/>
              <a:t>LIMIT </a:t>
            </a:r>
            <a:r>
              <a:rPr lang="ru-RU" b="1" dirty="0"/>
              <a:t>с </a:t>
            </a:r>
            <a:r>
              <a:rPr lang="en-US" b="1" dirty="0"/>
              <a:t>UPDATE</a:t>
            </a:r>
          </a:p>
          <a:p>
            <a:r>
              <a:rPr lang="ru-RU" dirty="0" smtClean="0"/>
              <a:t>Пример</a:t>
            </a:r>
            <a:r>
              <a:rPr lang="ru-RU" dirty="0"/>
              <a:t>: Обновление цены первых двух книг в алфавитном порядке</a:t>
            </a:r>
          </a:p>
          <a:p>
            <a:r>
              <a:rPr lang="en-US" dirty="0"/>
              <a:t>UPDATE books</a:t>
            </a:r>
          </a:p>
          <a:p>
            <a:r>
              <a:rPr lang="en-US" dirty="0"/>
              <a:t>SET price = price - 1</a:t>
            </a:r>
          </a:p>
          <a:p>
            <a:r>
              <a:rPr lang="en-US" dirty="0"/>
              <a:t>WHERE </a:t>
            </a:r>
            <a:r>
              <a:rPr lang="en-US" dirty="0" err="1"/>
              <a:t>ctid</a:t>
            </a:r>
            <a:r>
              <a:rPr lang="en-US" dirty="0"/>
              <a:t> IN (</a:t>
            </a:r>
          </a:p>
          <a:p>
            <a:r>
              <a:rPr lang="en-US" dirty="0"/>
              <a:t>    SELECT </a:t>
            </a:r>
            <a:r>
              <a:rPr lang="en-US" dirty="0" err="1"/>
              <a:t>ctid</a:t>
            </a:r>
            <a:endParaRPr lang="en-US" dirty="0"/>
          </a:p>
          <a:p>
            <a:r>
              <a:rPr lang="en-US" dirty="0"/>
              <a:t>    FROM books</a:t>
            </a:r>
          </a:p>
          <a:p>
            <a:r>
              <a:rPr lang="en-US" dirty="0"/>
              <a:t>    ORDER BY title</a:t>
            </a:r>
          </a:p>
          <a:p>
            <a:r>
              <a:rPr lang="en-US" dirty="0"/>
              <a:t>    LIMIT 2</a:t>
            </a:r>
          </a:p>
          <a:p>
            <a:r>
              <a:rPr lang="en-US" dirty="0" smtClean="0"/>
              <a:t>);</a:t>
            </a:r>
            <a:endParaRPr lang="ru-RU" dirty="0" smtClean="0"/>
          </a:p>
          <a:p>
            <a:pPr algn="ctr"/>
            <a:r>
              <a:rPr lang="ru-RU" b="1" dirty="0"/>
              <a:t>Возвращение обновленных данных</a:t>
            </a:r>
          </a:p>
          <a:p>
            <a:r>
              <a:rPr lang="ru-RU" dirty="0" smtClean="0"/>
              <a:t>Пример</a:t>
            </a:r>
            <a:r>
              <a:rPr lang="ru-RU" dirty="0"/>
              <a:t>: Обновление количества страниц и возврат обновленных книг</a:t>
            </a:r>
          </a:p>
          <a:p>
            <a:r>
              <a:rPr lang="ru-RU" dirty="0"/>
              <a:t>UPDATE </a:t>
            </a:r>
            <a:r>
              <a:rPr lang="ru-RU" dirty="0" err="1"/>
              <a:t>books</a:t>
            </a:r>
            <a:endParaRPr lang="ru-RU" dirty="0"/>
          </a:p>
          <a:p>
            <a:r>
              <a:rPr lang="ru-RU" dirty="0"/>
              <a:t>SET </a:t>
            </a:r>
            <a:r>
              <a:rPr lang="ru-RU" dirty="0" err="1"/>
              <a:t>pages</a:t>
            </a:r>
            <a:r>
              <a:rPr lang="ru-RU" dirty="0"/>
              <a:t> = </a:t>
            </a:r>
            <a:r>
              <a:rPr lang="ru-RU" dirty="0" err="1"/>
              <a:t>pages</a:t>
            </a:r>
            <a:r>
              <a:rPr lang="ru-RU" dirty="0"/>
              <a:t> + 10</a:t>
            </a:r>
          </a:p>
          <a:p>
            <a:r>
              <a:rPr lang="ru-RU" dirty="0"/>
              <a:t>RETURNING </a:t>
            </a:r>
            <a:r>
              <a:rPr lang="ru-RU" dirty="0" err="1"/>
              <a:t>title</a:t>
            </a:r>
            <a:r>
              <a:rPr lang="ru-RU" dirty="0"/>
              <a:t>, </a:t>
            </a:r>
            <a:r>
              <a:rPr lang="ru-RU" dirty="0" err="1"/>
              <a:t>pages</a:t>
            </a:r>
            <a:r>
              <a:rPr lang="ru-RU" dirty="0"/>
              <a:t>;</a:t>
            </a:r>
          </a:p>
          <a:p>
            <a:pPr algn="ctr"/>
            <a:r>
              <a:rPr lang="ru-RU" b="1" dirty="0"/>
              <a:t>Условные обновления с использованием </a:t>
            </a:r>
            <a:r>
              <a:rPr lang="en-US" b="1" dirty="0"/>
              <a:t>EXISTS</a:t>
            </a:r>
          </a:p>
          <a:p>
            <a:r>
              <a:rPr lang="ru-RU" dirty="0" smtClean="0"/>
              <a:t>Пример</a:t>
            </a:r>
            <a:r>
              <a:rPr lang="ru-RU" dirty="0"/>
              <a:t>: Обновить книги, только если автор существует в таблице авторов</a:t>
            </a:r>
          </a:p>
          <a:p>
            <a:r>
              <a:rPr lang="en-US" dirty="0"/>
              <a:t>UPDATE books</a:t>
            </a:r>
          </a:p>
          <a:p>
            <a:r>
              <a:rPr lang="en-US" dirty="0"/>
              <a:t>SET price = price * 0.95</a:t>
            </a:r>
          </a:p>
          <a:p>
            <a:r>
              <a:rPr lang="en-US" dirty="0"/>
              <a:t>WHERE EXISTS (</a:t>
            </a:r>
          </a:p>
          <a:p>
            <a:r>
              <a:rPr lang="en-US" dirty="0"/>
              <a:t>    SELECT 1</a:t>
            </a:r>
          </a:p>
          <a:p>
            <a:r>
              <a:rPr lang="en-US" dirty="0"/>
              <a:t>    FROM authors</a:t>
            </a:r>
          </a:p>
          <a:p>
            <a:r>
              <a:rPr lang="en-US" dirty="0"/>
              <a:t>    WHERE authors.name = </a:t>
            </a:r>
            <a:r>
              <a:rPr lang="en-US" dirty="0" err="1"/>
              <a:t>books.author</a:t>
            </a:r>
            <a:endParaRPr lang="en-US" dirty="0"/>
          </a:p>
          <a:p>
            <a:r>
              <a:rPr lang="en-US" dirty="0" smtClean="0"/>
              <a:t>);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726109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/>
              <a:t>DELETE</a:t>
            </a:r>
          </a:p>
          <a:p>
            <a:r>
              <a:rPr lang="ru-RU" sz="2000" dirty="0" smtClean="0"/>
              <a:t>Синтаксис</a:t>
            </a:r>
            <a:r>
              <a:rPr lang="ru-RU" sz="2000" dirty="0"/>
              <a:t>: </a:t>
            </a:r>
          </a:p>
          <a:p>
            <a:r>
              <a:rPr lang="ru-RU" sz="2000" dirty="0"/>
              <a:t>DELETE FROM </a:t>
            </a:r>
            <a:r>
              <a:rPr lang="ru-RU" sz="2000" dirty="0" err="1"/>
              <a:t>table_name</a:t>
            </a:r>
            <a:r>
              <a:rPr lang="ru-RU" sz="2000" dirty="0"/>
              <a:t> WHERE </a:t>
            </a:r>
            <a:r>
              <a:rPr lang="ru-RU" sz="2000" dirty="0" err="1" smtClean="0"/>
              <a:t>condition</a:t>
            </a:r>
            <a:endParaRPr lang="ru-RU" sz="2000" dirty="0" smtClean="0"/>
          </a:p>
          <a:p>
            <a:pPr algn="ctr"/>
            <a:r>
              <a:rPr lang="ru-RU" sz="2000" b="1" dirty="0" smtClean="0"/>
              <a:t>УДАЛЕНИЕ</a:t>
            </a:r>
          </a:p>
          <a:p>
            <a:r>
              <a:rPr lang="en-US" sz="2000" dirty="0" err="1" smtClean="0"/>
              <a:t>Синтаксис</a:t>
            </a:r>
            <a:r>
              <a:rPr lang="ru-RU" sz="2000" dirty="0" smtClean="0"/>
              <a:t>:</a:t>
            </a:r>
            <a:endParaRPr lang="en-US" sz="2000" dirty="0"/>
          </a:p>
          <a:p>
            <a:r>
              <a:rPr lang="en-US" sz="2000" dirty="0"/>
              <a:t>DELETE FROM </a:t>
            </a:r>
            <a:r>
              <a:rPr lang="en-US" sz="2000" dirty="0" err="1"/>
              <a:t>table_name</a:t>
            </a:r>
            <a:endParaRPr lang="en-US" sz="2000" dirty="0"/>
          </a:p>
          <a:p>
            <a:r>
              <a:rPr lang="en-US" sz="2000" dirty="0"/>
              <a:t>WHERE condition;</a:t>
            </a:r>
          </a:p>
          <a:p>
            <a:pPr algn="ctr"/>
            <a:r>
              <a:rPr lang="ru-RU" sz="2000" b="1" dirty="0"/>
              <a:t>сведения об операторе DELETE в </a:t>
            </a:r>
            <a:r>
              <a:rPr lang="ru-RU" sz="2000" b="1" dirty="0" err="1"/>
              <a:t>PostgreSQL</a:t>
            </a:r>
            <a:endParaRPr lang="ru-RU" sz="2000" b="1" dirty="0"/>
          </a:p>
          <a:p>
            <a:r>
              <a:rPr lang="ru-RU" sz="2000" dirty="0"/>
              <a:t>•	Оператор DELETE в </a:t>
            </a:r>
            <a:r>
              <a:rPr lang="ru-RU" sz="2000" dirty="0" err="1"/>
              <a:t>PostgreSQL</a:t>
            </a:r>
            <a:r>
              <a:rPr lang="ru-RU" sz="2000" dirty="0"/>
              <a:t> необходим для удаления данных из таблиц.</a:t>
            </a:r>
          </a:p>
          <a:p>
            <a:r>
              <a:rPr lang="ru-RU" sz="2000" dirty="0"/>
              <a:t>•	Используйте WHERE предложение , чтобы указать, какие строки нужно удалить.</a:t>
            </a:r>
          </a:p>
          <a:p>
            <a:r>
              <a:rPr lang="ru-RU" sz="2000" dirty="0"/>
              <a:t>•	Предложение ON DELETE CASCADE гарантирует, что при удалении родительской строки будут удалены и зависимые дочерние строки.</a:t>
            </a:r>
          </a:p>
          <a:p>
            <a:r>
              <a:rPr lang="ru-RU" sz="2000" dirty="0"/>
              <a:t>•	Используйте RETURNING предложение, чтобы вернуть удалённые строки, что полезно для проверки.</a:t>
            </a:r>
          </a:p>
          <a:p>
            <a:r>
              <a:rPr lang="ru-RU" sz="2000" dirty="0"/>
              <a:t>•	Включите ведение журнала операций удаления, чтобы отслеживать изменения и вести журнал аудита.</a:t>
            </a:r>
          </a:p>
          <a:p>
            <a:pPr algn="ctr"/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val="27572375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6017" y="287793"/>
            <a:ext cx="2828789" cy="877900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978" y="324372"/>
            <a:ext cx="585267" cy="841321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3048000" y="3105835"/>
            <a:ext cx="6096000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u-RU" sz="4000" b="1" dirty="0">
                <a:solidFill>
                  <a:srgbClr val="FF0000"/>
                </a:solidFill>
              </a:rPr>
              <a:t>ЗАПРОСЫ НА ВЫБОРКУ</a:t>
            </a:r>
          </a:p>
          <a:p>
            <a:pPr algn="ctr"/>
            <a:r>
              <a:rPr lang="ru-RU" sz="4000" b="1" dirty="0"/>
              <a:t>Вопрос 3</a:t>
            </a:r>
          </a:p>
        </p:txBody>
      </p:sp>
    </p:spTree>
    <p:extLst>
      <p:ext uri="{BB962C8B-B14F-4D97-AF65-F5344CB8AC3E}">
        <p14:creationId xmlns:p14="http://schemas.microsoft.com/office/powerpoint/2010/main" val="7954459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/>
              <a:t>Запросы на выборку: запросы с условием, запросы с групповыми </a:t>
            </a:r>
            <a:r>
              <a:rPr lang="ru-RU" sz="2000" b="1" dirty="0" smtClean="0"/>
              <a:t>операциями </a:t>
            </a:r>
            <a:endParaRPr lang="ru-RU" sz="2000" b="1" dirty="0"/>
          </a:p>
          <a:p>
            <a:r>
              <a:rPr lang="ru-RU" sz="2000" dirty="0"/>
              <a:t>В </a:t>
            </a:r>
            <a:r>
              <a:rPr lang="ru-RU" sz="2000" dirty="0" err="1"/>
              <a:t>PostgreSQL</a:t>
            </a:r>
            <a:r>
              <a:rPr lang="ru-RU" sz="2000" dirty="0"/>
              <a:t> для запросов на выборку (извлечения данных из таблиц) используется оператор </a:t>
            </a:r>
            <a:r>
              <a:rPr lang="ru-RU" sz="2000" dirty="0" smtClean="0"/>
              <a:t>SELECT</a:t>
            </a:r>
          </a:p>
          <a:p>
            <a:r>
              <a:rPr lang="ru-RU" sz="2000" dirty="0" smtClean="0"/>
              <a:t>Синтаксис:</a:t>
            </a:r>
            <a:endParaRPr lang="ru-RU" sz="2000" dirty="0"/>
          </a:p>
          <a:p>
            <a:r>
              <a:rPr lang="ru-RU" sz="2000" dirty="0"/>
              <a:t>Базовая форма запроса </a:t>
            </a:r>
            <a:r>
              <a:rPr lang="en-US" sz="2000" dirty="0"/>
              <a:t>SELECT:</a:t>
            </a:r>
          </a:p>
          <a:p>
            <a:r>
              <a:rPr lang="en-US" sz="2000" dirty="0"/>
              <a:t>SELECT </a:t>
            </a:r>
            <a:r>
              <a:rPr lang="en-US" sz="2000" dirty="0" err="1"/>
              <a:t>select_list</a:t>
            </a:r>
            <a:r>
              <a:rPr lang="en-US" sz="2000" dirty="0"/>
              <a:t> FROM </a:t>
            </a:r>
            <a:r>
              <a:rPr lang="en-US" sz="2000" dirty="0" err="1"/>
              <a:t>table_name</a:t>
            </a:r>
            <a:r>
              <a:rPr lang="en-US" sz="2000" dirty="0"/>
              <a:t>;</a:t>
            </a:r>
          </a:p>
          <a:p>
            <a:pPr algn="ctr"/>
            <a:r>
              <a:rPr lang="ru-RU" sz="2000" dirty="0"/>
              <a:t>Дополнительно в запросе можно использовать, например:</a:t>
            </a:r>
          </a:p>
          <a:p>
            <a:r>
              <a:rPr lang="ru-RU" sz="2000" dirty="0"/>
              <a:t>•	</a:t>
            </a:r>
            <a:r>
              <a:rPr lang="ru-RU" sz="2000" dirty="0" smtClean="0"/>
              <a:t>WHERE.</a:t>
            </a:r>
            <a:endParaRPr lang="ru-RU" sz="2000" dirty="0"/>
          </a:p>
          <a:p>
            <a:r>
              <a:rPr lang="ru-RU" sz="2000" dirty="0"/>
              <a:t>•	ORDER BY </a:t>
            </a:r>
            <a:endParaRPr lang="ru-RU" sz="2000" dirty="0" smtClean="0"/>
          </a:p>
          <a:p>
            <a:r>
              <a:rPr lang="ru-RU" sz="2000" dirty="0" smtClean="0"/>
              <a:t>•</a:t>
            </a:r>
            <a:r>
              <a:rPr lang="ru-RU" sz="2000" dirty="0"/>
              <a:t>	LIMIT </a:t>
            </a:r>
            <a:endParaRPr lang="ru-RU" sz="2000" dirty="0" smtClean="0"/>
          </a:p>
          <a:p>
            <a:r>
              <a:rPr lang="ru-RU" sz="2000" dirty="0" smtClean="0"/>
              <a:t>•</a:t>
            </a:r>
            <a:r>
              <a:rPr lang="ru-RU" sz="2000" dirty="0"/>
              <a:t>	GROUP </a:t>
            </a:r>
            <a:r>
              <a:rPr lang="ru-RU" sz="2000" dirty="0" smtClean="0"/>
              <a:t>BY</a:t>
            </a:r>
          </a:p>
          <a:p>
            <a:r>
              <a:rPr lang="ru-RU" sz="2000" dirty="0" smtClean="0"/>
              <a:t>Примеры:</a:t>
            </a:r>
            <a:endParaRPr lang="ru-RU" sz="2000" dirty="0"/>
          </a:p>
          <a:p>
            <a:r>
              <a:rPr lang="ru-RU" sz="2000" dirty="0"/>
              <a:t>	Выбор всех столбцов из таблицы </a:t>
            </a:r>
            <a:r>
              <a:rPr lang="en-US" sz="2000" dirty="0"/>
              <a:t>employees</a:t>
            </a:r>
            <a:r>
              <a:rPr lang="en-US" sz="2000" dirty="0" smtClean="0"/>
              <a:t>:</a:t>
            </a:r>
            <a:r>
              <a:rPr lang="ru-RU" sz="2000" dirty="0" smtClean="0"/>
              <a:t> </a:t>
            </a:r>
            <a:r>
              <a:rPr lang="en-US" sz="2000" b="1" dirty="0" smtClean="0"/>
              <a:t>SELECT </a:t>
            </a:r>
            <a:r>
              <a:rPr lang="en-US" sz="2000" b="1" dirty="0"/>
              <a:t>* FROM employees</a:t>
            </a:r>
          </a:p>
          <a:p>
            <a:r>
              <a:rPr lang="ru-RU" sz="2000" dirty="0" smtClean="0"/>
              <a:t>Выбор </a:t>
            </a:r>
            <a:r>
              <a:rPr lang="ru-RU" sz="2000" dirty="0"/>
              <a:t>конкретных столбцов из таблицы </a:t>
            </a:r>
            <a:r>
              <a:rPr lang="en-US" sz="2000" dirty="0"/>
              <a:t>employees: </a:t>
            </a:r>
            <a:r>
              <a:rPr lang="en-US" sz="2000" b="1" dirty="0" smtClean="0"/>
              <a:t>SELECT </a:t>
            </a:r>
            <a:r>
              <a:rPr lang="en-US" sz="2000" b="1" dirty="0"/>
              <a:t>name, salary FROM employees</a:t>
            </a:r>
          </a:p>
          <a:p>
            <a:r>
              <a:rPr lang="ru-RU" sz="2000" dirty="0" smtClean="0"/>
              <a:t>Выбор </a:t>
            </a:r>
            <a:r>
              <a:rPr lang="ru-RU" sz="2000" dirty="0"/>
              <a:t>только имён и фамилий из таблицы </a:t>
            </a:r>
            <a:r>
              <a:rPr lang="en-US" sz="2000" dirty="0"/>
              <a:t>customers, </a:t>
            </a:r>
            <a:r>
              <a:rPr lang="ru-RU" sz="2000" dirty="0"/>
              <a:t>удовлетворяющих условию: </a:t>
            </a:r>
          </a:p>
          <a:p>
            <a:r>
              <a:rPr lang="en-US" sz="2000" b="1" dirty="0"/>
              <a:t>SELECT </a:t>
            </a:r>
            <a:r>
              <a:rPr lang="en-US" sz="2000" b="1" dirty="0" err="1"/>
              <a:t>first_name</a:t>
            </a:r>
            <a:r>
              <a:rPr lang="en-US" sz="2000" b="1" dirty="0"/>
              <a:t>, </a:t>
            </a:r>
            <a:r>
              <a:rPr lang="en-US" sz="2000" b="1" dirty="0" err="1"/>
              <a:t>last_name</a:t>
            </a:r>
            <a:r>
              <a:rPr lang="en-US" sz="2000" b="1" dirty="0"/>
              <a:t> FROM customers WHERE city = 'New York'</a:t>
            </a:r>
          </a:p>
          <a:p>
            <a:r>
              <a:rPr lang="ru-RU" sz="2000" dirty="0" smtClean="0"/>
              <a:t>Группировка </a:t>
            </a:r>
            <a:r>
              <a:rPr lang="ru-RU" sz="2000" dirty="0"/>
              <a:t>заказов по клиентам и подсчёт количества заказов для каждого клиента: </a:t>
            </a:r>
          </a:p>
          <a:p>
            <a:r>
              <a:rPr lang="en-US" sz="2000" b="1" dirty="0"/>
              <a:t>SELECT </a:t>
            </a:r>
            <a:r>
              <a:rPr lang="en-US" sz="2000" b="1" dirty="0" err="1"/>
              <a:t>customer_id</a:t>
            </a:r>
            <a:r>
              <a:rPr lang="en-US" sz="2000" b="1" dirty="0"/>
              <a:t>, COUNT(</a:t>
            </a:r>
            <a:r>
              <a:rPr lang="en-US" sz="2000" b="1" dirty="0" err="1"/>
              <a:t>order_id</a:t>
            </a:r>
            <a:r>
              <a:rPr lang="en-US" sz="2000" b="1" dirty="0"/>
              <a:t>) as </a:t>
            </a:r>
            <a:r>
              <a:rPr lang="en-US" sz="2000" b="1" dirty="0" err="1"/>
              <a:t>order_count</a:t>
            </a:r>
            <a:r>
              <a:rPr lang="en-US" sz="2000" b="1" dirty="0"/>
              <a:t> FROM orders GROUP BY </a:t>
            </a:r>
            <a:r>
              <a:rPr lang="en-US" sz="2000" b="1" dirty="0" err="1"/>
              <a:t>customer_id</a:t>
            </a:r>
            <a:endParaRPr lang="en-US" sz="2000" b="1" dirty="0"/>
          </a:p>
          <a:p>
            <a:r>
              <a:rPr lang="ru-RU" sz="2000" dirty="0" smtClean="0"/>
              <a:t>Выбор </a:t>
            </a:r>
            <a:r>
              <a:rPr lang="ru-RU" sz="2000" dirty="0"/>
              <a:t>продуктов, отсортированных по цене в убывающем порядке, и ограничение результатов первыми 10 записями: </a:t>
            </a:r>
            <a:r>
              <a:rPr lang="ru-RU" sz="2000" dirty="0" smtClean="0"/>
              <a:t> </a:t>
            </a:r>
            <a:r>
              <a:rPr lang="en-US" sz="2000" b="1" dirty="0" smtClean="0"/>
              <a:t>SELECT </a:t>
            </a:r>
            <a:r>
              <a:rPr lang="en-US" sz="2000" b="1" dirty="0" err="1"/>
              <a:t>product_name</a:t>
            </a:r>
            <a:r>
              <a:rPr lang="en-US" sz="2000" b="1" dirty="0"/>
              <a:t>, price FROM products ORDER BY price DESC LIMIT 10</a:t>
            </a:r>
          </a:p>
          <a:p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val="2677210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/>
              <a:t>Ошибки</a:t>
            </a:r>
          </a:p>
          <a:p>
            <a:r>
              <a:rPr lang="ru-RU" sz="2000" dirty="0"/>
              <a:t>При выполнении запросов SELECT в </a:t>
            </a:r>
            <a:r>
              <a:rPr lang="ru-RU" sz="2000" dirty="0" err="1"/>
              <a:t>PostgreSQL</a:t>
            </a:r>
            <a:r>
              <a:rPr lang="ru-RU" sz="2000" dirty="0"/>
              <a:t> может возникать, например, ошибка «</a:t>
            </a:r>
            <a:r>
              <a:rPr lang="ru-RU" sz="2000" dirty="0" err="1"/>
              <a:t>relation</a:t>
            </a:r>
            <a:r>
              <a:rPr lang="ru-RU" sz="2000" dirty="0"/>
              <a:t> </a:t>
            </a:r>
            <a:r>
              <a:rPr lang="ru-RU" sz="2000" dirty="0" err="1"/>
              <a:t>does</a:t>
            </a:r>
            <a:r>
              <a:rPr lang="ru-RU" sz="2000" dirty="0"/>
              <a:t> </a:t>
            </a:r>
            <a:r>
              <a:rPr lang="ru-RU" sz="2000" dirty="0" err="1"/>
              <a:t>not</a:t>
            </a:r>
            <a:r>
              <a:rPr lang="ru-RU" sz="2000" dirty="0"/>
              <a:t> </a:t>
            </a:r>
            <a:r>
              <a:rPr lang="ru-RU" sz="2000" dirty="0" err="1"/>
              <a:t>exist</a:t>
            </a:r>
            <a:r>
              <a:rPr lang="ru-RU" sz="2000" dirty="0" smtClean="0"/>
              <a:t>». </a:t>
            </a:r>
            <a:r>
              <a:rPr lang="ru-RU" sz="2000" dirty="0"/>
              <a:t>Некоторые причины ошибки:  </a:t>
            </a:r>
          </a:p>
          <a:p>
            <a:r>
              <a:rPr lang="ru-RU" sz="2000" dirty="0"/>
              <a:t>•	Неправильное имя </a:t>
            </a:r>
            <a:r>
              <a:rPr lang="ru-RU" sz="2000" dirty="0" smtClean="0"/>
              <a:t>таблицы</a:t>
            </a:r>
            <a:endParaRPr lang="ru-RU" sz="2000" dirty="0"/>
          </a:p>
          <a:p>
            <a:r>
              <a:rPr lang="ru-RU" sz="2000" dirty="0"/>
              <a:t>•	Отсутствие </a:t>
            </a:r>
            <a:r>
              <a:rPr lang="ru-RU" sz="2000" dirty="0" smtClean="0"/>
              <a:t>схемы</a:t>
            </a:r>
            <a:endParaRPr lang="ru-RU" sz="2000" dirty="0"/>
          </a:p>
          <a:p>
            <a:r>
              <a:rPr lang="ru-RU" sz="2000" dirty="0"/>
              <a:t>•	Ошибки в подключении к базе данных </a:t>
            </a:r>
            <a:endParaRPr lang="ru-RU" sz="2000" dirty="0" smtClean="0"/>
          </a:p>
          <a:p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8102145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6017" y="287793"/>
            <a:ext cx="2828789" cy="877900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978" y="324372"/>
            <a:ext cx="585267" cy="841321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3047999" y="3105835"/>
            <a:ext cx="784566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000" b="1" dirty="0">
                <a:solidFill>
                  <a:srgbClr val="FF0000"/>
                </a:solidFill>
              </a:rPr>
              <a:t>Понятие скрипта (сценария</a:t>
            </a:r>
            <a:r>
              <a:rPr lang="ru-RU" sz="4000" b="1" dirty="0" smtClean="0">
                <a:solidFill>
                  <a:srgbClr val="FF0000"/>
                </a:solidFill>
              </a:rPr>
              <a:t>) </a:t>
            </a:r>
            <a:endParaRPr lang="ru-RU" sz="4000" b="1" dirty="0">
              <a:solidFill>
                <a:srgbClr val="FF0000"/>
              </a:solidFill>
            </a:endParaRPr>
          </a:p>
          <a:p>
            <a:pPr algn="ctr"/>
            <a:r>
              <a:rPr lang="ru-RU" sz="4000" b="1" dirty="0" smtClean="0"/>
              <a:t>Вопрос 4</a:t>
            </a:r>
            <a:endParaRPr lang="ru-RU" sz="4000" b="1" dirty="0"/>
          </a:p>
        </p:txBody>
      </p:sp>
    </p:spTree>
    <p:extLst>
      <p:ext uri="{BB962C8B-B14F-4D97-AF65-F5344CB8AC3E}">
        <p14:creationId xmlns:p14="http://schemas.microsoft.com/office/powerpoint/2010/main" val="4920205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/>
              <a:t>Скрипт (сценарий) </a:t>
            </a:r>
            <a:r>
              <a:rPr lang="ru-RU" sz="2000" dirty="0"/>
              <a:t>в </a:t>
            </a:r>
            <a:r>
              <a:rPr lang="ru-RU" sz="2000" dirty="0" err="1"/>
              <a:t>PostgreSQL</a:t>
            </a:r>
            <a:r>
              <a:rPr lang="ru-RU" sz="2000" dirty="0"/>
              <a:t> — это файл с командами SQL, который выполняет определённые действия в базе данных. </a:t>
            </a:r>
            <a:endParaRPr lang="ru-RU" sz="2000" dirty="0" smtClean="0"/>
          </a:p>
          <a:p>
            <a:pPr algn="ctr"/>
            <a:r>
              <a:rPr lang="ru-RU" sz="2000" i="1" dirty="0" smtClean="0"/>
              <a:t>виды </a:t>
            </a:r>
            <a:r>
              <a:rPr lang="ru-RU" sz="2000" i="1" dirty="0"/>
              <a:t>скриптов для работы с </a:t>
            </a:r>
            <a:r>
              <a:rPr lang="ru-RU" sz="2000" i="1" dirty="0" err="1"/>
              <a:t>PostgreSQL</a:t>
            </a:r>
            <a:r>
              <a:rPr lang="ru-RU" sz="2000" i="1" dirty="0"/>
              <a:t>:</a:t>
            </a:r>
          </a:p>
          <a:p>
            <a:r>
              <a:rPr lang="ru-RU" sz="2000" dirty="0"/>
              <a:t>•	Для сущностей, выполняющих обработку данных. </a:t>
            </a:r>
          </a:p>
          <a:p>
            <a:r>
              <a:rPr lang="ru-RU" sz="2000" dirty="0"/>
              <a:t>•	Для управления правами доступа. </a:t>
            </a:r>
          </a:p>
          <a:p>
            <a:r>
              <a:rPr lang="ru-RU" sz="2000" dirty="0"/>
              <a:t>•	Для </a:t>
            </a:r>
            <a:r>
              <a:rPr lang="ru-RU" sz="2000" dirty="0" smtClean="0"/>
              <a:t>расширений.</a:t>
            </a:r>
          </a:p>
          <a:p>
            <a:pPr algn="ctr"/>
            <a:r>
              <a:rPr lang="ru-RU" sz="2000" i="1" dirty="0" smtClean="0"/>
              <a:t>примеры </a:t>
            </a:r>
            <a:r>
              <a:rPr lang="ru-RU" sz="2000" i="1" dirty="0"/>
              <a:t>скриптов для работы с </a:t>
            </a:r>
            <a:r>
              <a:rPr lang="en-US" sz="2000" i="1" dirty="0"/>
              <a:t>PostgreSQL</a:t>
            </a:r>
            <a:r>
              <a:rPr lang="en-US" sz="2000" dirty="0"/>
              <a:t>:</a:t>
            </a:r>
          </a:p>
          <a:p>
            <a:r>
              <a:rPr lang="en-US" sz="2000" dirty="0"/>
              <a:t>•	</a:t>
            </a:r>
            <a:r>
              <a:rPr lang="ru-RU" sz="2000" u="sng" dirty="0"/>
              <a:t>Скрипт на создание таблицы. </a:t>
            </a:r>
            <a:endParaRPr lang="ru-RU" sz="2000" u="sng" dirty="0" smtClean="0"/>
          </a:p>
          <a:p>
            <a:r>
              <a:rPr lang="ru-RU" sz="2000" dirty="0" smtClean="0"/>
              <a:t>Например, скрипт </a:t>
            </a:r>
            <a:r>
              <a:rPr lang="en-US" sz="2000" dirty="0" err="1" smtClean="0"/>
              <a:t>script.sql</a:t>
            </a:r>
            <a:r>
              <a:rPr lang="en-US" sz="2000" dirty="0" smtClean="0"/>
              <a:t>, </a:t>
            </a:r>
            <a:r>
              <a:rPr lang="ru-RU" sz="2000" dirty="0" smtClean="0"/>
              <a:t>который создаёт таблицу </a:t>
            </a:r>
            <a:r>
              <a:rPr lang="en-US" sz="2000" dirty="0" smtClean="0"/>
              <a:t>person (id </a:t>
            </a:r>
            <a:r>
              <a:rPr lang="en-US" sz="2000" dirty="0" err="1" smtClean="0"/>
              <a:t>int</a:t>
            </a:r>
            <a:r>
              <a:rPr lang="en-US" sz="2000" dirty="0" smtClean="0"/>
              <a:t>, </a:t>
            </a:r>
            <a:r>
              <a:rPr lang="en-US" sz="2000" dirty="0" err="1" smtClean="0"/>
              <a:t>first_name</a:t>
            </a:r>
            <a:r>
              <a:rPr lang="en-US" sz="2000" dirty="0" smtClean="0"/>
              <a:t> VARCHAR(50), </a:t>
            </a:r>
            <a:r>
              <a:rPr lang="en-US" sz="2000" dirty="0" err="1" smtClean="0"/>
              <a:t>last_name</a:t>
            </a:r>
            <a:r>
              <a:rPr lang="en-US" sz="2000" dirty="0" smtClean="0"/>
              <a:t> VARCHAR(50), gender VARCHAR(5), </a:t>
            </a:r>
            <a:r>
              <a:rPr lang="en-US" sz="2000" dirty="0" err="1" smtClean="0"/>
              <a:t>date_of_birth</a:t>
            </a:r>
            <a:r>
              <a:rPr lang="en-US" sz="2000" dirty="0" smtClean="0"/>
              <a:t> DATE).  </a:t>
            </a:r>
            <a:endParaRPr lang="en-US" sz="2000" dirty="0"/>
          </a:p>
          <a:p>
            <a:r>
              <a:rPr lang="en-US" sz="2000" dirty="0"/>
              <a:t>•	</a:t>
            </a:r>
            <a:r>
              <a:rPr lang="ru-RU" sz="2000" i="1" dirty="0"/>
              <a:t>Скрипт на заполнение таблицы данными</a:t>
            </a:r>
            <a:r>
              <a:rPr lang="ru-RU" sz="2000" dirty="0"/>
              <a:t>. </a:t>
            </a:r>
            <a:endParaRPr lang="ru-RU" sz="2000" dirty="0" smtClean="0"/>
          </a:p>
          <a:p>
            <a:r>
              <a:rPr lang="ru-RU" sz="2000" dirty="0" smtClean="0"/>
              <a:t>Например, скрипт, который выводит </a:t>
            </a:r>
            <a:r>
              <a:rPr lang="en-US" sz="2000" dirty="0" smtClean="0"/>
              <a:t>INSERT-</a:t>
            </a:r>
            <a:r>
              <a:rPr lang="ru-RU" sz="2000" dirty="0" smtClean="0"/>
              <a:t>запросы на заполнение таблицы со статусами клиентов данными и сохраняет файл с расширением .</a:t>
            </a:r>
            <a:r>
              <a:rPr lang="en-US" sz="2000" dirty="0" err="1" smtClean="0"/>
              <a:t>sql</a:t>
            </a:r>
            <a:r>
              <a:rPr lang="en-US" sz="2000" dirty="0" smtClean="0"/>
              <a:t>. </a:t>
            </a:r>
          </a:p>
          <a:p>
            <a:r>
              <a:rPr lang="en-US" sz="2000" dirty="0" smtClean="0"/>
              <a:t>•	</a:t>
            </a:r>
            <a:r>
              <a:rPr lang="ru-RU" sz="2000" u="sng" dirty="0" smtClean="0"/>
              <a:t>Скрипт для анализа базы данных</a:t>
            </a:r>
          </a:p>
          <a:p>
            <a:r>
              <a:rPr lang="ru-RU" sz="2000" dirty="0"/>
              <a:t>Например, скрипт </a:t>
            </a:r>
            <a:r>
              <a:rPr lang="ru-RU" sz="2000" dirty="0" err="1"/>
              <a:t>index_bloat_check.sql</a:t>
            </a:r>
            <a:r>
              <a:rPr lang="ru-RU" sz="2000" dirty="0"/>
              <a:t>, который </a:t>
            </a:r>
            <a:r>
              <a:rPr lang="ru-RU" sz="2000" dirty="0" err="1"/>
              <a:t>lists</a:t>
            </a:r>
            <a:r>
              <a:rPr lang="ru-RU" sz="2000" dirty="0"/>
              <a:t> индексы, которые, вероятно, раздуты, и оценивает количество </a:t>
            </a:r>
            <a:r>
              <a:rPr lang="ru-RU" sz="2000" dirty="0" smtClean="0"/>
              <a:t>раздувания</a:t>
            </a:r>
          </a:p>
          <a:p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2311015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/>
              <a:t>Инструменты для </a:t>
            </a:r>
            <a:r>
              <a:rPr lang="ru-RU" sz="2000" b="1" dirty="0" smtClean="0"/>
              <a:t>запуска</a:t>
            </a:r>
          </a:p>
          <a:p>
            <a:r>
              <a:rPr lang="ru-RU" sz="2000" dirty="0"/>
              <a:t>•	Интерпретатор командной строки </a:t>
            </a:r>
            <a:r>
              <a:rPr lang="ru-RU" sz="2000" dirty="0" err="1"/>
              <a:t>PostgreSQL</a:t>
            </a:r>
            <a:r>
              <a:rPr lang="ru-RU" sz="2000" dirty="0"/>
              <a:t> (</a:t>
            </a:r>
            <a:r>
              <a:rPr lang="ru-RU" sz="2000" dirty="0" err="1"/>
              <a:t>psql</a:t>
            </a:r>
            <a:r>
              <a:rPr lang="ru-RU" sz="2000" dirty="0"/>
              <a:t>). </a:t>
            </a:r>
            <a:r>
              <a:rPr lang="ru-RU" sz="2000" dirty="0" smtClean="0"/>
              <a:t>Например</a:t>
            </a:r>
            <a:r>
              <a:rPr lang="ru-RU" sz="2000" dirty="0"/>
              <a:t>, если скрипт содержит команду CREATE DATABASE, нужно вызвать инструмент: </a:t>
            </a:r>
            <a:r>
              <a:rPr lang="ru-RU" sz="2000" dirty="0" err="1" smtClean="0"/>
              <a:t>psql</a:t>
            </a:r>
            <a:r>
              <a:rPr lang="ru-RU" sz="2000" dirty="0" smtClean="0"/>
              <a:t> </a:t>
            </a:r>
            <a:r>
              <a:rPr lang="ru-RU" sz="2000" dirty="0"/>
              <a:t>-h </a:t>
            </a:r>
            <a:r>
              <a:rPr lang="ru-RU" sz="2000" dirty="0" err="1"/>
              <a:t>hostname</a:t>
            </a:r>
            <a:r>
              <a:rPr lang="ru-RU" sz="2000" dirty="0"/>
              <a:t> -U </a:t>
            </a:r>
            <a:r>
              <a:rPr lang="ru-RU" sz="2000" dirty="0" err="1"/>
              <a:t>username</a:t>
            </a:r>
            <a:r>
              <a:rPr lang="ru-RU" sz="2000" dirty="0"/>
              <a:t> -f {имя файла скрипта}</a:t>
            </a:r>
          </a:p>
          <a:p>
            <a:r>
              <a:rPr lang="ru-RU" sz="2000" dirty="0"/>
              <a:t>•	Планирование заданий для баз данных </a:t>
            </a:r>
            <a:r>
              <a:rPr lang="ru-RU" sz="2000" dirty="0" err="1"/>
              <a:t>PostgreSQL</a:t>
            </a:r>
            <a:r>
              <a:rPr lang="ru-RU" sz="2000" dirty="0"/>
              <a:t>. Например, </a:t>
            </a:r>
            <a:r>
              <a:rPr lang="ru-RU" sz="2000" dirty="0" err="1"/>
              <a:t>PGAgent</a:t>
            </a:r>
            <a:r>
              <a:rPr lang="ru-RU" sz="2000" dirty="0"/>
              <a:t> </a:t>
            </a:r>
            <a:endParaRPr lang="ru-RU" sz="2000" dirty="0" smtClean="0"/>
          </a:p>
          <a:p>
            <a:r>
              <a:rPr lang="ru-RU" sz="2000" dirty="0" smtClean="0"/>
              <a:t>•</a:t>
            </a:r>
            <a:r>
              <a:rPr lang="ru-RU" sz="2000" dirty="0"/>
              <a:t>	Программы для запуска тестов производительности. Например, </a:t>
            </a:r>
            <a:r>
              <a:rPr lang="ru-RU" sz="2000" dirty="0" err="1" smtClean="0"/>
              <a:t>pgbench</a:t>
            </a:r>
            <a:r>
              <a:rPr lang="ru-RU" sz="2000" dirty="0" smtClean="0"/>
              <a:t>.</a:t>
            </a:r>
          </a:p>
          <a:p>
            <a:r>
              <a:rPr lang="ru-RU" sz="2000" dirty="0" smtClean="0"/>
              <a:t> </a:t>
            </a:r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val="31549369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6017" y="287793"/>
            <a:ext cx="2828789" cy="877900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978" y="324372"/>
            <a:ext cx="585267" cy="841321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3048000" y="3105835"/>
            <a:ext cx="6096000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u-RU" sz="4000" b="1" dirty="0" smtClean="0">
                <a:solidFill>
                  <a:srgbClr val="FF0000"/>
                </a:solidFill>
              </a:rPr>
              <a:t>ПРЕДСТАВЛЕНИЕ</a:t>
            </a:r>
            <a:endParaRPr lang="ru-RU" sz="4000" b="1" dirty="0">
              <a:solidFill>
                <a:srgbClr val="FF0000"/>
              </a:solidFill>
            </a:endParaRPr>
          </a:p>
          <a:p>
            <a:pPr algn="ctr"/>
            <a:r>
              <a:rPr lang="ru-RU" sz="4000" b="1" dirty="0"/>
              <a:t>Вопрос </a:t>
            </a:r>
            <a:r>
              <a:rPr lang="ru-RU" sz="4000" b="1" dirty="0" smtClean="0"/>
              <a:t>5</a:t>
            </a:r>
            <a:endParaRPr lang="ru-RU" sz="4000" b="1" dirty="0"/>
          </a:p>
        </p:txBody>
      </p:sp>
    </p:spTree>
    <p:extLst>
      <p:ext uri="{BB962C8B-B14F-4D97-AF65-F5344CB8AC3E}">
        <p14:creationId xmlns:p14="http://schemas.microsoft.com/office/powerpoint/2010/main" val="35042693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/>
              <a:t>Представление</a:t>
            </a:r>
            <a:r>
              <a:rPr lang="ru-RU" sz="2000" dirty="0"/>
              <a:t> (VIEW) в </a:t>
            </a:r>
            <a:r>
              <a:rPr lang="ru-RU" sz="2000" dirty="0" err="1"/>
              <a:t>PostgreSQL</a:t>
            </a:r>
            <a:r>
              <a:rPr lang="ru-RU" sz="2000" dirty="0"/>
              <a:t> — это сохранённый запрос, который для пользователя выглядит как таблица, но фактически не хранит данные, а извлекает их из других таблиц в момент обращения. </a:t>
            </a:r>
            <a:endParaRPr lang="ru-RU" sz="2000" dirty="0" smtClean="0"/>
          </a:p>
          <a:p>
            <a:endParaRPr lang="ru-RU" sz="2000" dirty="0" smtClean="0"/>
          </a:p>
          <a:p>
            <a:r>
              <a:rPr lang="ru-RU" sz="2000" i="1" dirty="0"/>
              <a:t>В </a:t>
            </a:r>
            <a:r>
              <a:rPr lang="ru-RU" sz="2000" i="1" dirty="0" err="1"/>
              <a:t>PostgreSQL</a:t>
            </a:r>
            <a:r>
              <a:rPr lang="ru-RU" sz="2000" i="1" dirty="0"/>
              <a:t> представлены два вида представлений:  </a:t>
            </a:r>
          </a:p>
          <a:p>
            <a:pPr marL="457200" indent="-457200">
              <a:buAutoNum type="arabicPeriod"/>
            </a:pPr>
            <a:r>
              <a:rPr lang="ru-RU" sz="2000" dirty="0" smtClean="0"/>
              <a:t>Обычные </a:t>
            </a:r>
          </a:p>
          <a:p>
            <a:pPr marL="457200" indent="-457200">
              <a:buAutoNum type="arabicPeriod"/>
            </a:pPr>
            <a:r>
              <a:rPr lang="ru-RU" sz="2000" dirty="0" smtClean="0"/>
              <a:t>Материализованные </a:t>
            </a:r>
          </a:p>
          <a:p>
            <a:endParaRPr lang="ru-RU" sz="2000" dirty="0" smtClean="0"/>
          </a:p>
          <a:p>
            <a:r>
              <a:rPr lang="ru-RU" sz="2000" dirty="0" smtClean="0"/>
              <a:t>представления </a:t>
            </a:r>
            <a:r>
              <a:rPr lang="ru-RU" sz="2000" dirty="0"/>
              <a:t>в </a:t>
            </a:r>
            <a:r>
              <a:rPr lang="en-US" sz="2000" dirty="0"/>
              <a:t>PostgreSQL </a:t>
            </a:r>
            <a:r>
              <a:rPr lang="ru-RU" sz="2000" dirty="0" smtClean="0"/>
              <a:t>- </a:t>
            </a:r>
            <a:r>
              <a:rPr lang="ru-RU" sz="2000" dirty="0"/>
              <a:t>оператор </a:t>
            </a:r>
            <a:r>
              <a:rPr lang="en-US" sz="2000" b="1" dirty="0"/>
              <a:t>CREATE VIEW</a:t>
            </a:r>
            <a:r>
              <a:rPr lang="en-US" sz="2000" dirty="0"/>
              <a:t>. </a:t>
            </a:r>
            <a:endParaRPr lang="ru-RU" sz="2000" dirty="0" smtClean="0"/>
          </a:p>
          <a:p>
            <a:r>
              <a:rPr lang="ru-RU" sz="2000" dirty="0" smtClean="0"/>
              <a:t>Синтаксис</a:t>
            </a:r>
            <a:r>
              <a:rPr lang="ru-RU" sz="2000" dirty="0"/>
              <a:t>: </a:t>
            </a:r>
          </a:p>
          <a:p>
            <a:r>
              <a:rPr lang="en-US" sz="2000" dirty="0"/>
              <a:t>CREATE [OR REPLACE] VIEW </a:t>
            </a:r>
            <a:r>
              <a:rPr lang="en-US" sz="2000" dirty="0" err="1"/>
              <a:t>view_name</a:t>
            </a:r>
            <a:r>
              <a:rPr lang="en-US" sz="2000" dirty="0"/>
              <a:t> [ (</a:t>
            </a:r>
            <a:r>
              <a:rPr lang="en-US" sz="2000" dirty="0" err="1"/>
              <a:t>column_name</a:t>
            </a:r>
            <a:r>
              <a:rPr lang="en-US" sz="2000" dirty="0"/>
              <a:t> [, ...] ) ] AS </a:t>
            </a:r>
            <a:r>
              <a:rPr lang="en-US" sz="2000" dirty="0" err="1"/>
              <a:t>select_statement</a:t>
            </a:r>
            <a:r>
              <a:rPr lang="en-US" sz="2000" dirty="0"/>
              <a:t> [ WITH [ CASCADED | LOCAL ] CHECK OPTION ]</a:t>
            </a:r>
          </a:p>
          <a:p>
            <a:pPr algn="ctr"/>
            <a:r>
              <a:rPr lang="ru-RU" sz="2000" b="1" dirty="0"/>
              <a:t>Ограничения</a:t>
            </a:r>
          </a:p>
          <a:p>
            <a:r>
              <a:rPr lang="ru-RU" sz="2000" dirty="0"/>
              <a:t>•	Представления сами по себе не хранят </a:t>
            </a:r>
            <a:r>
              <a:rPr lang="ru-RU" sz="2000" dirty="0" smtClean="0"/>
              <a:t>данные</a:t>
            </a:r>
            <a:endParaRPr lang="ru-RU" sz="2000" dirty="0"/>
          </a:p>
          <a:p>
            <a:r>
              <a:rPr lang="ru-RU" sz="2000" dirty="0"/>
              <a:t>•	Если представление обращается сразу к нескольким </a:t>
            </a:r>
            <a:r>
              <a:rPr lang="ru-RU" sz="2000" dirty="0" smtClean="0"/>
              <a:t>таблицам- уже </a:t>
            </a:r>
            <a:r>
              <a:rPr lang="ru-RU" sz="2000" dirty="0"/>
              <a:t>не применимы.</a:t>
            </a:r>
          </a:p>
          <a:p>
            <a:r>
              <a:rPr lang="ru-RU" sz="2000" dirty="0"/>
              <a:t>•	VIEW (по-русски — представление) — это именованный </a:t>
            </a:r>
            <a:r>
              <a:rPr lang="ru-RU" sz="2000" dirty="0" smtClean="0"/>
              <a:t>запрос</a:t>
            </a:r>
            <a:endParaRPr lang="ru-RU" sz="2000" dirty="0"/>
          </a:p>
          <a:p>
            <a:r>
              <a:rPr lang="ru-RU" sz="2000" dirty="0"/>
              <a:t>•	Для СУБД нет разницы, что именно указано в графе FROM — TABLE или VIEW. </a:t>
            </a:r>
          </a:p>
        </p:txBody>
      </p:sp>
    </p:spTree>
    <p:extLst>
      <p:ext uri="{BB962C8B-B14F-4D97-AF65-F5344CB8AC3E}">
        <p14:creationId xmlns:p14="http://schemas.microsoft.com/office/powerpoint/2010/main" val="6958920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6017" y="287793"/>
            <a:ext cx="2828789" cy="877900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978" y="324372"/>
            <a:ext cx="585267" cy="841321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3048000" y="3105835"/>
            <a:ext cx="6096000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u-RU" sz="4000" b="1" dirty="0" smtClean="0">
                <a:solidFill>
                  <a:srgbClr val="FF0000"/>
                </a:solidFill>
              </a:rPr>
              <a:t>Триггер</a:t>
            </a:r>
          </a:p>
          <a:p>
            <a:pPr algn="ctr"/>
            <a:r>
              <a:rPr lang="ru-RU" sz="4000" b="1" dirty="0" smtClean="0"/>
              <a:t>Вопрос 6</a:t>
            </a:r>
            <a:endParaRPr lang="ru-RU" sz="4000" b="1" dirty="0"/>
          </a:p>
        </p:txBody>
      </p:sp>
    </p:spTree>
    <p:extLst>
      <p:ext uri="{BB962C8B-B14F-4D97-AF65-F5344CB8AC3E}">
        <p14:creationId xmlns:p14="http://schemas.microsoft.com/office/powerpoint/2010/main" val="20040591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/>
              <a:t>Некоторые типы триггеров в </a:t>
            </a:r>
            <a:r>
              <a:rPr lang="ru-RU" sz="2000" b="1" dirty="0" err="1"/>
              <a:t>PostgreSQL</a:t>
            </a:r>
            <a:r>
              <a:rPr lang="ru-RU" sz="2000" b="1" dirty="0"/>
              <a:t>:</a:t>
            </a:r>
          </a:p>
          <a:p>
            <a:r>
              <a:rPr lang="ru-RU" sz="2000" dirty="0"/>
              <a:t>•	Для каждой строки (FOR EACH ROW) </a:t>
            </a:r>
            <a:endParaRPr lang="ru-RU" sz="2000" dirty="0" smtClean="0"/>
          </a:p>
          <a:p>
            <a:r>
              <a:rPr lang="ru-RU" sz="2000" dirty="0" smtClean="0"/>
              <a:t>•</a:t>
            </a:r>
            <a:r>
              <a:rPr lang="ru-RU" sz="2000" dirty="0"/>
              <a:t>	Для каждой операции (FOR EACH STATEMENT) </a:t>
            </a:r>
            <a:endParaRPr lang="ru-RU" sz="2000" dirty="0" smtClean="0"/>
          </a:p>
          <a:p>
            <a:r>
              <a:rPr lang="ru-RU" sz="2000" dirty="0"/>
              <a:t>	</a:t>
            </a:r>
            <a:r>
              <a:rPr lang="ru-RU" sz="2000" b="1" dirty="0"/>
              <a:t>По порядку выполнения:</a:t>
            </a:r>
          </a:p>
          <a:p>
            <a:r>
              <a:rPr lang="ru-RU" sz="2000" dirty="0"/>
              <a:t>o	BEFORE на уровне </a:t>
            </a:r>
            <a:r>
              <a:rPr lang="ru-RU" sz="2000" dirty="0" smtClean="0"/>
              <a:t>STATEMENT</a:t>
            </a:r>
            <a:endParaRPr lang="ru-RU" sz="2000" dirty="0"/>
          </a:p>
          <a:p>
            <a:r>
              <a:rPr lang="ru-RU" sz="2000" dirty="0"/>
              <a:t>o	BEFORE на уровне </a:t>
            </a:r>
            <a:r>
              <a:rPr lang="ru-RU" sz="2000" dirty="0" smtClean="0"/>
              <a:t>ROW</a:t>
            </a:r>
            <a:endParaRPr lang="ru-RU" sz="2000" dirty="0"/>
          </a:p>
          <a:p>
            <a:r>
              <a:rPr lang="ru-RU" sz="2000" dirty="0"/>
              <a:t>o	AFTER на уровне </a:t>
            </a:r>
            <a:r>
              <a:rPr lang="ru-RU" sz="2000" dirty="0" smtClean="0"/>
              <a:t>оператора</a:t>
            </a:r>
            <a:endParaRPr lang="ru-RU" sz="2000" dirty="0"/>
          </a:p>
          <a:p>
            <a:r>
              <a:rPr lang="ru-RU" sz="2000" dirty="0"/>
              <a:t>o	AFTER на уровне строки </a:t>
            </a:r>
            <a:endParaRPr lang="ru-RU" sz="2000" dirty="0" smtClean="0"/>
          </a:p>
          <a:p>
            <a:pPr algn="ctr"/>
            <a:r>
              <a:rPr lang="ru-RU" sz="2000" i="1" dirty="0"/>
              <a:t>Создание триггера в </a:t>
            </a:r>
            <a:r>
              <a:rPr lang="ru-RU" sz="2000" i="1" dirty="0" err="1"/>
              <a:t>PostgreSQL</a:t>
            </a:r>
            <a:r>
              <a:rPr lang="ru-RU" sz="2000" i="1" dirty="0"/>
              <a:t> включает два шага: </a:t>
            </a:r>
          </a:p>
          <a:p>
            <a:r>
              <a:rPr lang="ru-RU" sz="2000" dirty="0"/>
              <a:t>1.	Создать триггерную функцию с помощью запроса CREATE </a:t>
            </a:r>
            <a:r>
              <a:rPr lang="ru-RU" sz="2000" dirty="0" smtClean="0"/>
              <a:t>FUNCTION</a:t>
            </a:r>
            <a:endParaRPr lang="ru-RU" sz="2000" dirty="0"/>
          </a:p>
          <a:p>
            <a:r>
              <a:rPr lang="ru-RU" sz="2000" dirty="0"/>
              <a:t>2.	Связать созданную функцию с таблицей с помощью запроса CREATE TRIGGER</a:t>
            </a:r>
          </a:p>
          <a:p>
            <a:pPr algn="ctr"/>
            <a:r>
              <a:rPr lang="ru-RU" sz="2000" i="1" dirty="0"/>
              <a:t>примеры использования триггеров в </a:t>
            </a:r>
            <a:r>
              <a:rPr lang="ru-RU" sz="2000" i="1" dirty="0" err="1"/>
              <a:t>PostgreSQL</a:t>
            </a:r>
            <a:r>
              <a:rPr lang="ru-RU" sz="2000" i="1" dirty="0"/>
              <a:t>:</a:t>
            </a:r>
          </a:p>
          <a:p>
            <a:r>
              <a:rPr lang="ru-RU" sz="2000" dirty="0"/>
              <a:t>•	Автоматическое обновление столбца с временной меткой в таблице при каждом изменении записи. </a:t>
            </a:r>
            <a:r>
              <a:rPr lang="ru-RU" sz="2000" dirty="0" smtClean="0"/>
              <a:t>•</a:t>
            </a:r>
            <a:r>
              <a:rPr lang="ru-RU" sz="2000" dirty="0"/>
              <a:t>	</a:t>
            </a:r>
            <a:r>
              <a:rPr lang="ru-RU" sz="2000" dirty="0" err="1"/>
              <a:t>Логирование</a:t>
            </a:r>
            <a:r>
              <a:rPr lang="ru-RU" sz="2000" dirty="0"/>
              <a:t> изменений </a:t>
            </a:r>
            <a:endParaRPr lang="ru-RU" sz="2000" dirty="0" smtClean="0"/>
          </a:p>
          <a:p>
            <a:pPr algn="ctr"/>
            <a:r>
              <a:rPr lang="ru-RU" sz="2000" b="1" dirty="0"/>
              <a:t>Ошибки</a:t>
            </a:r>
          </a:p>
          <a:p>
            <a:r>
              <a:rPr lang="ru-RU" sz="2000" dirty="0" smtClean="0"/>
              <a:t>•</a:t>
            </a:r>
            <a:r>
              <a:rPr lang="ru-RU" sz="2000" dirty="0"/>
              <a:t>	Неправильное определение триггера </a:t>
            </a:r>
            <a:endParaRPr lang="ru-RU" sz="2000" dirty="0" smtClean="0"/>
          </a:p>
          <a:p>
            <a:r>
              <a:rPr lang="ru-RU" sz="2000" dirty="0" smtClean="0"/>
              <a:t>•</a:t>
            </a:r>
            <a:r>
              <a:rPr lang="ru-RU" sz="2000" dirty="0"/>
              <a:t>	Порядок выполнения триггеров </a:t>
            </a:r>
            <a:endParaRPr lang="ru-RU" sz="2000" dirty="0" smtClean="0"/>
          </a:p>
          <a:p>
            <a:r>
              <a:rPr lang="ru-RU" sz="2000" dirty="0" smtClean="0"/>
              <a:t>•</a:t>
            </a:r>
            <a:r>
              <a:rPr lang="ru-RU" sz="2000" dirty="0"/>
              <a:t>	Ошибки в функции триггера </a:t>
            </a:r>
          </a:p>
        </p:txBody>
      </p:sp>
    </p:spTree>
    <p:extLst>
      <p:ext uri="{BB962C8B-B14F-4D97-AF65-F5344CB8AC3E}">
        <p14:creationId xmlns:p14="http://schemas.microsoft.com/office/powerpoint/2010/main" val="14035055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/>
              <a:t>Создание </a:t>
            </a:r>
            <a:r>
              <a:rPr lang="ru-RU" sz="2000" b="1" dirty="0" smtClean="0"/>
              <a:t>триггера</a:t>
            </a:r>
          </a:p>
          <a:p>
            <a:r>
              <a:rPr lang="ru-RU" sz="2000" dirty="0"/>
              <a:t>Синтаксис функции выглядит так:</a:t>
            </a:r>
          </a:p>
          <a:p>
            <a:r>
              <a:rPr lang="en-US" sz="2000" dirty="0"/>
              <a:t>CREATE FUNCTION </a:t>
            </a:r>
            <a:r>
              <a:rPr lang="en-US" sz="2000" dirty="0" err="1"/>
              <a:t>trigger_function</a:t>
            </a:r>
            <a:r>
              <a:rPr lang="en-US" sz="2000" dirty="0"/>
              <a:t>() </a:t>
            </a:r>
          </a:p>
          <a:p>
            <a:r>
              <a:rPr lang="en-US" sz="2000" dirty="0"/>
              <a:t>   RETURNS TRIGGER </a:t>
            </a:r>
          </a:p>
          <a:p>
            <a:r>
              <a:rPr lang="en-US" sz="2000" dirty="0"/>
              <a:t>   LANGUAGE PLPGSQL</a:t>
            </a:r>
          </a:p>
          <a:p>
            <a:r>
              <a:rPr lang="en-US" sz="2000" dirty="0"/>
              <a:t>AS $$</a:t>
            </a:r>
          </a:p>
          <a:p>
            <a:r>
              <a:rPr lang="en-US" sz="2000" dirty="0"/>
              <a:t>BEGIN</a:t>
            </a:r>
          </a:p>
          <a:p>
            <a:r>
              <a:rPr lang="en-US" sz="2000" dirty="0"/>
              <a:t>   -- trigger logic</a:t>
            </a:r>
          </a:p>
          <a:p>
            <a:r>
              <a:rPr lang="en-US" sz="2000" dirty="0"/>
              <a:t>END;</a:t>
            </a:r>
          </a:p>
          <a:p>
            <a:r>
              <a:rPr lang="en-US" sz="2000" dirty="0"/>
              <a:t>$$</a:t>
            </a:r>
          </a:p>
          <a:p>
            <a:pPr algn="ctr"/>
            <a:r>
              <a:rPr lang="ru-RU" sz="2000" i="1" dirty="0" smtClean="0"/>
              <a:t>ПРИМЕР ИСПОЛЬЗОВАИЯ ТРИГЕРА</a:t>
            </a:r>
          </a:p>
          <a:p>
            <a:pPr algn="just"/>
            <a:r>
              <a:rPr lang="ru-RU" sz="2000" i="1" dirty="0" smtClean="0"/>
              <a:t>Есть </a:t>
            </a:r>
            <a:r>
              <a:rPr lang="ru-RU" sz="2000" i="1" dirty="0"/>
              <a:t>таблица с именами сотрудников, содержащая их ID, имя и фамилию. При этом нам необходимо </a:t>
            </a:r>
            <a:r>
              <a:rPr lang="ru-RU" sz="2000" i="1" dirty="0" err="1" smtClean="0"/>
              <a:t>тслеживать</a:t>
            </a:r>
            <a:r>
              <a:rPr lang="ru-RU" sz="2000" i="1" dirty="0" smtClean="0"/>
              <a:t> </a:t>
            </a:r>
            <a:r>
              <a:rPr lang="ru-RU" sz="2000" i="1" dirty="0"/>
              <a:t>историю изменений имен и фамилий сотрудников. SQL-запрос, позволяющий создать таблицу с сотрудниками, выглядит так: </a:t>
            </a:r>
            <a:endParaRPr lang="ru-RU" sz="2000" i="1" dirty="0" smtClean="0"/>
          </a:p>
          <a:p>
            <a:pPr algn="just"/>
            <a:r>
              <a:rPr lang="en-US" sz="2000" i="1" dirty="0"/>
              <a:t>CREATE TABLE employees(</a:t>
            </a:r>
          </a:p>
          <a:p>
            <a:pPr algn="just"/>
            <a:r>
              <a:rPr lang="en-US" sz="2000" i="1" dirty="0"/>
              <a:t>   id INT GENERATED ALWAYS AS IDENTITY,</a:t>
            </a:r>
          </a:p>
          <a:p>
            <a:pPr algn="just"/>
            <a:r>
              <a:rPr lang="en-US" sz="2000" i="1" dirty="0"/>
              <a:t>   </a:t>
            </a:r>
            <a:r>
              <a:rPr lang="en-US" sz="2000" i="1" dirty="0" err="1"/>
              <a:t>first_name</a:t>
            </a:r>
            <a:r>
              <a:rPr lang="en-US" sz="2000" i="1" dirty="0"/>
              <a:t> VARCHAR(40) NOT NULL,</a:t>
            </a:r>
          </a:p>
          <a:p>
            <a:pPr algn="just"/>
            <a:r>
              <a:rPr lang="en-US" sz="2000" i="1" dirty="0"/>
              <a:t>   </a:t>
            </a:r>
            <a:r>
              <a:rPr lang="en-US" sz="2000" i="1" dirty="0" err="1"/>
              <a:t>last_name</a:t>
            </a:r>
            <a:r>
              <a:rPr lang="en-US" sz="2000" i="1" dirty="0"/>
              <a:t> VARCHAR(40) NOT NULL,</a:t>
            </a:r>
          </a:p>
          <a:p>
            <a:pPr algn="just"/>
            <a:r>
              <a:rPr lang="en-US" sz="2000" i="1" dirty="0"/>
              <a:t>   PRIMARY KEY(id)</a:t>
            </a:r>
          </a:p>
          <a:p>
            <a:pPr algn="just"/>
            <a:r>
              <a:rPr lang="en-US" sz="2000" i="1" dirty="0"/>
              <a:t>);</a:t>
            </a:r>
          </a:p>
          <a:p>
            <a:pPr algn="just"/>
            <a:endParaRPr lang="ru-RU" sz="2000" i="1" dirty="0"/>
          </a:p>
        </p:txBody>
      </p:sp>
    </p:spTree>
    <p:extLst>
      <p:ext uri="{BB962C8B-B14F-4D97-AF65-F5344CB8AC3E}">
        <p14:creationId xmlns:p14="http://schemas.microsoft.com/office/powerpoint/2010/main" val="31830090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Также создадим таблицу для </a:t>
            </a:r>
            <a:r>
              <a:rPr lang="ru-RU" dirty="0" err="1"/>
              <a:t>логирования</a:t>
            </a:r>
            <a:r>
              <a:rPr lang="ru-RU" dirty="0"/>
              <a:t> изменений:</a:t>
            </a:r>
          </a:p>
          <a:p>
            <a:r>
              <a:rPr lang="en-US" dirty="0"/>
              <a:t>CREATE TABLE </a:t>
            </a:r>
            <a:r>
              <a:rPr lang="en-US" dirty="0" err="1"/>
              <a:t>employee_name_history</a:t>
            </a:r>
            <a:r>
              <a:rPr lang="en-US" dirty="0"/>
              <a:t> (</a:t>
            </a:r>
          </a:p>
          <a:p>
            <a:r>
              <a:rPr lang="en-US" dirty="0"/>
              <a:t>   id INT GENERATED ALWAYS AS IDENTITY,</a:t>
            </a:r>
          </a:p>
          <a:p>
            <a:r>
              <a:rPr lang="en-US" dirty="0"/>
              <a:t>   </a:t>
            </a:r>
            <a:r>
              <a:rPr lang="en-US" dirty="0" err="1"/>
              <a:t>employee_id</a:t>
            </a:r>
            <a:r>
              <a:rPr lang="en-US" dirty="0"/>
              <a:t> INT NOT NULL,</a:t>
            </a:r>
          </a:p>
          <a:p>
            <a:r>
              <a:rPr lang="en-US" dirty="0"/>
              <a:t>   </a:t>
            </a:r>
            <a:r>
              <a:rPr lang="en-US" dirty="0" err="1"/>
              <a:t>first_name</a:t>
            </a:r>
            <a:r>
              <a:rPr lang="en-US" dirty="0"/>
              <a:t> VARCHAR(40) NOT NULL,</a:t>
            </a:r>
          </a:p>
          <a:p>
            <a:r>
              <a:rPr lang="en-US" dirty="0"/>
              <a:t>   </a:t>
            </a:r>
            <a:r>
              <a:rPr lang="en-US" dirty="0" err="1"/>
              <a:t>last_name</a:t>
            </a:r>
            <a:r>
              <a:rPr lang="en-US" dirty="0"/>
              <a:t> VARCHAR(40) NOT NULL,</a:t>
            </a:r>
          </a:p>
          <a:p>
            <a:r>
              <a:rPr lang="en-US" dirty="0"/>
              <a:t>   </a:t>
            </a:r>
            <a:r>
              <a:rPr lang="en-US" dirty="0" err="1"/>
              <a:t>changed_on</a:t>
            </a:r>
            <a:r>
              <a:rPr lang="en-US" dirty="0"/>
              <a:t> TIMESTAMP NOT NULL</a:t>
            </a:r>
          </a:p>
          <a:p>
            <a:r>
              <a:rPr lang="en-US" dirty="0"/>
              <a:t>);</a:t>
            </a:r>
          </a:p>
          <a:p>
            <a:r>
              <a:rPr lang="ru-RU" dirty="0" smtClean="0"/>
              <a:t>Создадим </a:t>
            </a:r>
            <a:r>
              <a:rPr lang="ru-RU" dirty="0"/>
              <a:t>триггерную функцию следующего вида:</a:t>
            </a:r>
          </a:p>
          <a:p>
            <a:r>
              <a:rPr lang="en-US" dirty="0"/>
              <a:t>CREATE OR REPLACE FUNCTION </a:t>
            </a:r>
            <a:r>
              <a:rPr lang="en-US" dirty="0" err="1"/>
              <a:t>log_last_name_changes</a:t>
            </a:r>
            <a:r>
              <a:rPr lang="en-US" dirty="0"/>
              <a:t>()</a:t>
            </a:r>
          </a:p>
          <a:p>
            <a:r>
              <a:rPr lang="en-US" dirty="0"/>
              <a:t>  RETURNS TRIGGER</a:t>
            </a:r>
          </a:p>
          <a:p>
            <a:r>
              <a:rPr lang="en-US" dirty="0"/>
              <a:t>  LANGUAGE PLPGSQL</a:t>
            </a:r>
          </a:p>
          <a:p>
            <a:r>
              <a:rPr lang="en-US" dirty="0"/>
              <a:t>  AS</a:t>
            </a:r>
          </a:p>
          <a:p>
            <a:r>
              <a:rPr lang="en-US" dirty="0"/>
              <a:t>$$</a:t>
            </a:r>
          </a:p>
          <a:p>
            <a:r>
              <a:rPr lang="en-US" dirty="0"/>
              <a:t>BEGIN</a:t>
            </a:r>
          </a:p>
          <a:p>
            <a:r>
              <a:rPr lang="en-US" dirty="0"/>
              <a:t>    IF </a:t>
            </a:r>
            <a:r>
              <a:rPr lang="en-US" dirty="0" err="1"/>
              <a:t>NEW.last_name</a:t>
            </a:r>
            <a:r>
              <a:rPr lang="en-US" dirty="0"/>
              <a:t> &lt;&gt; </a:t>
            </a:r>
            <a:r>
              <a:rPr lang="en-US" dirty="0" err="1"/>
              <a:t>OLD.last_name</a:t>
            </a:r>
            <a:r>
              <a:rPr lang="en-US" dirty="0"/>
              <a:t> THEN</a:t>
            </a:r>
          </a:p>
          <a:p>
            <a:r>
              <a:rPr lang="en-US" dirty="0"/>
              <a:t>      INSERT INTO </a:t>
            </a:r>
            <a:r>
              <a:rPr lang="en-US" dirty="0" err="1"/>
              <a:t>employee_name_history</a:t>
            </a:r>
            <a:r>
              <a:rPr lang="en-US" dirty="0"/>
              <a:t>(</a:t>
            </a:r>
            <a:r>
              <a:rPr lang="en-US" dirty="0" err="1"/>
              <a:t>employee_id,first_name,last_name,changed_on</a:t>
            </a:r>
            <a:r>
              <a:rPr lang="en-US" dirty="0"/>
              <a:t>)</a:t>
            </a:r>
          </a:p>
          <a:p>
            <a:r>
              <a:rPr lang="en-US" dirty="0"/>
              <a:t>      VALUES(</a:t>
            </a:r>
            <a:r>
              <a:rPr lang="en-US" dirty="0" err="1"/>
              <a:t>OLD.id,OLD.first_name,OLD.last_name,now</a:t>
            </a:r>
            <a:r>
              <a:rPr lang="en-US" dirty="0"/>
              <a:t>());</a:t>
            </a:r>
          </a:p>
          <a:p>
            <a:r>
              <a:rPr lang="en-US" dirty="0"/>
              <a:t>    END IF;</a:t>
            </a:r>
          </a:p>
          <a:p>
            <a:endParaRPr lang="en-US" dirty="0"/>
          </a:p>
          <a:p>
            <a:r>
              <a:rPr lang="en-US" dirty="0"/>
              <a:t>    RETURN NEW;</a:t>
            </a:r>
          </a:p>
          <a:p>
            <a:r>
              <a:rPr lang="en-US" dirty="0"/>
              <a:t>END;</a:t>
            </a:r>
          </a:p>
          <a:p>
            <a:r>
              <a:rPr lang="en-US" dirty="0"/>
              <a:t>$$;</a:t>
            </a:r>
          </a:p>
        </p:txBody>
      </p:sp>
    </p:spTree>
    <p:extLst>
      <p:ext uri="{BB962C8B-B14F-4D97-AF65-F5344CB8AC3E}">
        <p14:creationId xmlns:p14="http://schemas.microsoft.com/office/powerpoint/2010/main" val="4630839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/>
              <a:t>Удаление триггера</a:t>
            </a:r>
          </a:p>
          <a:p>
            <a:r>
              <a:rPr lang="ru-RU" sz="2000" dirty="0" smtClean="0"/>
              <a:t>удалить </a:t>
            </a:r>
            <a:r>
              <a:rPr lang="ru-RU" sz="2000" dirty="0"/>
              <a:t>существующий триггер, используется запрос DROP TRIGGER, </a:t>
            </a:r>
            <a:endParaRPr lang="ru-RU" sz="2000" dirty="0" smtClean="0"/>
          </a:p>
          <a:p>
            <a:r>
              <a:rPr lang="ru-RU" sz="2000" dirty="0" smtClean="0"/>
              <a:t>синтаксис</a:t>
            </a:r>
            <a:r>
              <a:rPr lang="ru-RU" sz="2000" dirty="0"/>
              <a:t>:</a:t>
            </a:r>
          </a:p>
          <a:p>
            <a:r>
              <a:rPr lang="ru-RU" sz="2000" dirty="0"/>
              <a:t>DROP TRIGGER [IF EXISTS] </a:t>
            </a:r>
            <a:r>
              <a:rPr lang="ru-RU" sz="2000" dirty="0" err="1"/>
              <a:t>trigger_name</a:t>
            </a:r>
            <a:endParaRPr lang="ru-RU" sz="2000" dirty="0"/>
          </a:p>
          <a:p>
            <a:r>
              <a:rPr lang="ru-RU" sz="2000" dirty="0"/>
              <a:t>ON </a:t>
            </a:r>
            <a:r>
              <a:rPr lang="ru-RU" sz="2000" dirty="0" err="1"/>
              <a:t>table_name</a:t>
            </a:r>
            <a:endParaRPr lang="ru-RU" sz="2000" dirty="0"/>
          </a:p>
          <a:p>
            <a:r>
              <a:rPr lang="ru-RU" sz="2000" dirty="0"/>
              <a:t>[ CASCADE | RESTRICT </a:t>
            </a:r>
            <a:r>
              <a:rPr lang="ru-RU" sz="2000" dirty="0" smtClean="0"/>
              <a:t>];</a:t>
            </a:r>
          </a:p>
          <a:p>
            <a:r>
              <a:rPr lang="ru-RU" sz="2000" dirty="0"/>
              <a:t>Данный запрос удаляет только сам триггер, но не функцию, используемую в нем. </a:t>
            </a:r>
            <a:endParaRPr lang="ru-RU" sz="2000" dirty="0" smtClean="0"/>
          </a:p>
          <a:p>
            <a:r>
              <a:rPr lang="ru-RU" sz="2000" dirty="0" smtClean="0"/>
              <a:t>Для </a:t>
            </a:r>
            <a:r>
              <a:rPr lang="ru-RU" sz="2000" dirty="0"/>
              <a:t>удаления функции используйте запрос </a:t>
            </a:r>
            <a:r>
              <a:rPr lang="ru-RU" sz="2000" dirty="0" smtClean="0"/>
              <a:t>:</a:t>
            </a:r>
            <a:endParaRPr lang="ru-RU" sz="2000" dirty="0"/>
          </a:p>
          <a:p>
            <a:r>
              <a:rPr lang="en-US" sz="2000" dirty="0"/>
              <a:t>DROP FUNCTION: drop function [if exists] </a:t>
            </a:r>
            <a:r>
              <a:rPr lang="en-US" sz="2000" dirty="0" err="1"/>
              <a:t>function_name</a:t>
            </a:r>
            <a:r>
              <a:rPr lang="en-US" sz="2000" dirty="0"/>
              <a:t>(</a:t>
            </a:r>
            <a:r>
              <a:rPr lang="en-US" sz="2000" dirty="0" err="1"/>
              <a:t>argument_list</a:t>
            </a:r>
            <a:r>
              <a:rPr lang="en-US" sz="2000" dirty="0"/>
              <a:t>) </a:t>
            </a:r>
          </a:p>
          <a:p>
            <a:r>
              <a:rPr lang="en-US" sz="2000" dirty="0"/>
              <a:t>[cascade | restrict]</a:t>
            </a:r>
          </a:p>
          <a:p>
            <a:r>
              <a:rPr lang="ru-RU" sz="2000" dirty="0"/>
              <a:t>Значения ключей в нем аналогичны </a:t>
            </a:r>
            <a:r>
              <a:rPr lang="en-US" sz="2000" dirty="0"/>
              <a:t>DROP TRIGGER.</a:t>
            </a:r>
          </a:p>
          <a:p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9685420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6017" y="287793"/>
            <a:ext cx="2828789" cy="877900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978" y="324372"/>
            <a:ext cx="585267" cy="841321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3048000" y="3105835"/>
            <a:ext cx="6096000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u-RU" sz="4000" b="1" dirty="0" smtClean="0">
                <a:solidFill>
                  <a:srgbClr val="FF0000"/>
                </a:solidFill>
              </a:rPr>
              <a:t>ПРОЦЕДУРА</a:t>
            </a:r>
            <a:endParaRPr lang="ru-RU" sz="4000" b="1" dirty="0">
              <a:solidFill>
                <a:srgbClr val="FF0000"/>
              </a:solidFill>
            </a:endParaRPr>
          </a:p>
          <a:p>
            <a:pPr algn="ctr"/>
            <a:r>
              <a:rPr lang="ru-RU" sz="4000" b="1" dirty="0"/>
              <a:t>Вопрос </a:t>
            </a:r>
            <a:r>
              <a:rPr lang="ru-RU" sz="4000" b="1" dirty="0" smtClean="0"/>
              <a:t>7</a:t>
            </a:r>
            <a:endParaRPr lang="ru-RU" sz="4000" b="1" dirty="0"/>
          </a:p>
        </p:txBody>
      </p:sp>
    </p:spTree>
    <p:extLst>
      <p:ext uri="{BB962C8B-B14F-4D97-AF65-F5344CB8AC3E}">
        <p14:creationId xmlns:p14="http://schemas.microsoft.com/office/powerpoint/2010/main" val="37149607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57861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/>
              <a:t>Процедура</a:t>
            </a:r>
            <a:r>
              <a:rPr lang="ru-RU" sz="2000" dirty="0" smtClean="0"/>
              <a:t> </a:t>
            </a:r>
            <a:r>
              <a:rPr lang="ru-RU" sz="2000" dirty="0"/>
              <a:t>(хранимая процедура) </a:t>
            </a:r>
            <a:r>
              <a:rPr lang="ru-RU" sz="2000" dirty="0" smtClean="0"/>
              <a:t>представляет </a:t>
            </a:r>
            <a:r>
              <a:rPr lang="ru-RU" sz="2000" dirty="0"/>
              <a:t>собой набор команд на языке SQL, сохранённый на сервере базы данных и выполняемый по запросу. </a:t>
            </a:r>
            <a:endParaRPr lang="ru-RU" sz="2000" dirty="0" smtClean="0"/>
          </a:p>
          <a:p>
            <a:r>
              <a:rPr lang="ru-RU" b="1" dirty="0"/>
              <a:t>Синтаксис</a:t>
            </a:r>
          </a:p>
          <a:p>
            <a:r>
              <a:rPr lang="ru-RU" dirty="0" smtClean="0"/>
              <a:t>Процедура создаются </a:t>
            </a:r>
            <a:r>
              <a:rPr lang="ru-RU" dirty="0"/>
              <a:t>с помощью команды </a:t>
            </a:r>
            <a:r>
              <a:rPr lang="ru-RU" b="1" dirty="0"/>
              <a:t>CREATE PROCEDURE</a:t>
            </a:r>
            <a:r>
              <a:rPr lang="ru-RU" dirty="0"/>
              <a:t>. </a:t>
            </a:r>
            <a:endParaRPr lang="ru-RU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 smtClean="0"/>
              <a:t>Имя </a:t>
            </a:r>
            <a:r>
              <a:rPr lang="ru-RU" b="1" dirty="0"/>
              <a:t>процедуры</a:t>
            </a:r>
            <a:r>
              <a:rPr lang="ru-RU" dirty="0"/>
              <a:t> </a:t>
            </a:r>
            <a:endParaRPr lang="ru-RU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 smtClean="0"/>
              <a:t>Параметры</a:t>
            </a:r>
            <a:r>
              <a:rPr lang="ru-RU" dirty="0" smtClean="0"/>
              <a:t> (</a:t>
            </a:r>
            <a:r>
              <a:rPr lang="ru-RU" dirty="0"/>
              <a:t>IN, OUT, INOUT) </a:t>
            </a:r>
            <a:endParaRPr lang="ru-RU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 smtClean="0"/>
              <a:t>Тело </a:t>
            </a:r>
            <a:r>
              <a:rPr lang="ru-RU" b="1" dirty="0"/>
              <a:t>процедуры</a:t>
            </a:r>
            <a:r>
              <a:rPr lang="ru-RU" dirty="0"/>
              <a:t> </a:t>
            </a:r>
            <a:endParaRPr lang="ru-RU" dirty="0" smtClean="0"/>
          </a:p>
          <a:p>
            <a:r>
              <a:rPr lang="ru-RU" sz="2000" dirty="0"/>
              <a:t>Процедуры вызываются </a:t>
            </a:r>
            <a:r>
              <a:rPr lang="ru-RU" sz="2000" dirty="0" smtClean="0"/>
              <a:t>командой </a:t>
            </a:r>
            <a:r>
              <a:rPr lang="en-US" sz="2000" b="1" dirty="0"/>
              <a:t>CALL.  </a:t>
            </a:r>
          </a:p>
          <a:p>
            <a:r>
              <a:rPr lang="ru-RU" sz="2000" i="1" dirty="0"/>
              <a:t>Пример</a:t>
            </a:r>
          </a:p>
          <a:p>
            <a:r>
              <a:rPr lang="en-US" sz="2000" dirty="0" smtClean="0"/>
              <a:t>CREATE </a:t>
            </a:r>
            <a:r>
              <a:rPr lang="en-US" sz="2000" dirty="0"/>
              <a:t>PROCEDURE </a:t>
            </a:r>
            <a:r>
              <a:rPr lang="en-US" sz="2000" dirty="0" err="1"/>
              <a:t>add_employee</a:t>
            </a:r>
            <a:r>
              <a:rPr lang="en-US" sz="2000" dirty="0"/>
              <a:t>(</a:t>
            </a:r>
            <a:r>
              <a:rPr lang="en-US" sz="2000" dirty="0" err="1"/>
              <a:t>emp_name</a:t>
            </a:r>
            <a:r>
              <a:rPr lang="en-US" sz="2000" dirty="0"/>
              <a:t> VARCHAR, </a:t>
            </a:r>
            <a:r>
              <a:rPr lang="en-US" sz="2000" dirty="0" err="1"/>
              <a:t>emp_age</a:t>
            </a:r>
            <a:r>
              <a:rPr lang="en-US" sz="2000" dirty="0"/>
              <a:t> INT) LANGUAGE </a:t>
            </a:r>
            <a:r>
              <a:rPr lang="en-US" sz="2000" dirty="0" err="1"/>
              <a:t>plpgsql</a:t>
            </a:r>
            <a:r>
              <a:rPr lang="en-US" sz="2000" dirty="0"/>
              <a:t> AS $$ BEGIN INSERT INTO employees (name, age) VALUES (</a:t>
            </a:r>
            <a:r>
              <a:rPr lang="en-US" sz="2000" dirty="0" err="1"/>
              <a:t>emp_name</a:t>
            </a:r>
            <a:r>
              <a:rPr lang="en-US" sz="2000" dirty="0"/>
              <a:t>, </a:t>
            </a:r>
            <a:r>
              <a:rPr lang="en-US" sz="2000" dirty="0" err="1"/>
              <a:t>emp_age</a:t>
            </a:r>
            <a:r>
              <a:rPr lang="en-US" sz="2000" dirty="0"/>
              <a:t>); END; $$</a:t>
            </a:r>
          </a:p>
          <a:p>
            <a:pPr algn="ctr"/>
            <a:r>
              <a:rPr lang="ru-RU" sz="2000" i="1" dirty="0" smtClean="0"/>
              <a:t>Вызов </a:t>
            </a:r>
            <a:r>
              <a:rPr lang="ru-RU" sz="2000" i="1" dirty="0"/>
              <a:t>процедуры: </a:t>
            </a:r>
          </a:p>
          <a:p>
            <a:r>
              <a:rPr lang="en-US" sz="2000" dirty="0"/>
              <a:t>CALL </a:t>
            </a:r>
            <a:r>
              <a:rPr lang="en-US" sz="2000" dirty="0" err="1"/>
              <a:t>add_employee</a:t>
            </a:r>
            <a:r>
              <a:rPr lang="en-US" sz="2000" dirty="0"/>
              <a:t>('John Doe', </a:t>
            </a:r>
            <a:r>
              <a:rPr lang="en-US" sz="2000" dirty="0" smtClean="0"/>
              <a:t>25</a:t>
            </a:r>
            <a:r>
              <a:rPr lang="ru-RU" sz="2000" dirty="0" smtClean="0"/>
              <a:t>)</a:t>
            </a:r>
            <a:endParaRPr lang="ru-RU" sz="2000" dirty="0"/>
          </a:p>
          <a:p>
            <a:pPr algn="ctr"/>
            <a:r>
              <a:rPr lang="ru-RU" sz="2000" dirty="0"/>
              <a:t>	</a:t>
            </a:r>
            <a:r>
              <a:rPr lang="ru-RU" sz="2000" i="1" dirty="0"/>
              <a:t>Создание процедуры, которая обновляет возраст сотрудника:</a:t>
            </a:r>
          </a:p>
          <a:p>
            <a:r>
              <a:rPr lang="en-US" sz="2000" dirty="0"/>
              <a:t>	CREATE PROCEDURE </a:t>
            </a:r>
            <a:r>
              <a:rPr lang="en-US" sz="2000" dirty="0" err="1"/>
              <a:t>update_employee_age</a:t>
            </a:r>
            <a:r>
              <a:rPr lang="en-US" sz="2000" dirty="0"/>
              <a:t>(</a:t>
            </a:r>
            <a:r>
              <a:rPr lang="en-US" sz="2000" dirty="0" err="1"/>
              <a:t>emp_id</a:t>
            </a:r>
            <a:r>
              <a:rPr lang="en-US" sz="2000" dirty="0"/>
              <a:t> INT, </a:t>
            </a:r>
            <a:r>
              <a:rPr lang="en-US" sz="2000" dirty="0" err="1"/>
              <a:t>new_age</a:t>
            </a:r>
            <a:r>
              <a:rPr lang="en-US" sz="2000" dirty="0"/>
              <a:t> INT) LANGUAGE </a:t>
            </a:r>
            <a:r>
              <a:rPr lang="en-US" sz="2000" dirty="0" err="1"/>
              <a:t>plpgsql</a:t>
            </a:r>
            <a:r>
              <a:rPr lang="en-US" sz="2000" dirty="0"/>
              <a:t> AS $$ BEGIN UPDATE employees SET age = </a:t>
            </a:r>
            <a:r>
              <a:rPr lang="en-US" sz="2000" dirty="0" err="1"/>
              <a:t>new_age</a:t>
            </a:r>
            <a:r>
              <a:rPr lang="en-US" sz="2000" dirty="0"/>
              <a:t> WHERE id = </a:t>
            </a:r>
            <a:r>
              <a:rPr lang="en-US" sz="2000" dirty="0" err="1"/>
              <a:t>emp_id</a:t>
            </a:r>
            <a:r>
              <a:rPr lang="en-US" sz="2000" dirty="0"/>
              <a:t>; END; $$</a:t>
            </a:r>
          </a:p>
          <a:p>
            <a:pPr algn="ctr"/>
            <a:r>
              <a:rPr lang="ru-RU" sz="2000" i="1" dirty="0" smtClean="0"/>
              <a:t>Вызов </a:t>
            </a:r>
            <a:r>
              <a:rPr lang="ru-RU" sz="2000" i="1" dirty="0"/>
              <a:t>процедуры: </a:t>
            </a:r>
          </a:p>
          <a:p>
            <a:r>
              <a:rPr lang="en-US" sz="2000" dirty="0"/>
              <a:t>CALL </a:t>
            </a:r>
            <a:r>
              <a:rPr lang="en-US" sz="2000" dirty="0" err="1"/>
              <a:t>update_employee_age</a:t>
            </a:r>
            <a:r>
              <a:rPr lang="en-US" sz="2000" dirty="0"/>
              <a:t>(1, 30</a:t>
            </a:r>
            <a:r>
              <a:rPr lang="en-US" sz="2000" dirty="0" smtClean="0"/>
              <a:t>) </a:t>
            </a:r>
            <a:endParaRPr lang="ru-RU" sz="2000" dirty="0" smtClean="0"/>
          </a:p>
          <a:p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4532527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/>
              <a:t>Права </a:t>
            </a:r>
            <a:r>
              <a:rPr lang="ru-RU" sz="2000" b="1" dirty="0" smtClean="0"/>
              <a:t>доступа </a:t>
            </a:r>
            <a:r>
              <a:rPr lang="ru-RU" sz="2000" dirty="0" smtClean="0"/>
              <a:t>(</a:t>
            </a:r>
            <a:r>
              <a:rPr lang="ru-RU" sz="2000" dirty="0"/>
              <a:t>привилегия </a:t>
            </a:r>
            <a:r>
              <a:rPr lang="ru-RU" sz="2000" dirty="0" smtClean="0"/>
              <a:t>EXECUTE)</a:t>
            </a:r>
          </a:p>
          <a:p>
            <a:r>
              <a:rPr lang="ru-RU" sz="2000" dirty="0"/>
              <a:t>•	Если подпрограмма объявлена как SECURITY INVOKER (по </a:t>
            </a:r>
            <a:r>
              <a:rPr lang="ru-RU" sz="2000" dirty="0" smtClean="0"/>
              <a:t>умолчанию)</a:t>
            </a:r>
            <a:endParaRPr lang="ru-RU" sz="2000" dirty="0"/>
          </a:p>
          <a:p>
            <a:r>
              <a:rPr lang="ru-RU" sz="2000" dirty="0"/>
              <a:t>•	Если указать фразу SECURITY </a:t>
            </a:r>
            <a:r>
              <a:rPr lang="ru-RU" sz="2000" dirty="0" smtClean="0"/>
              <a:t>DEFINER</a:t>
            </a:r>
          </a:p>
          <a:p>
            <a:pPr algn="ctr"/>
            <a:r>
              <a:rPr lang="ru-RU" sz="2000" b="1" dirty="0"/>
              <a:t>Хранимые процедуры </a:t>
            </a:r>
            <a:r>
              <a:rPr lang="en-US" sz="2000" b="1" dirty="0" smtClean="0"/>
              <a:t>PostgreSQL</a:t>
            </a:r>
            <a:endParaRPr lang="ru-RU" sz="2000" b="1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 smtClean="0"/>
              <a:t>SQL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 smtClean="0"/>
              <a:t> PL/</a:t>
            </a:r>
            <a:r>
              <a:rPr lang="ru-RU" sz="2000" dirty="0" err="1" smtClean="0"/>
              <a:t>pgSQL</a:t>
            </a:r>
            <a:endParaRPr lang="ru-RU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 smtClean="0"/>
              <a:t> C </a:t>
            </a:r>
          </a:p>
          <a:p>
            <a:pPr lvl="0"/>
            <a:r>
              <a:rPr lang="en-US" sz="2000" dirty="0"/>
              <a:t>PostgreSQL </a:t>
            </a:r>
            <a:r>
              <a:rPr lang="ru-RU" sz="2000" dirty="0"/>
              <a:t>делит процедурные </a:t>
            </a:r>
            <a:r>
              <a:rPr lang="ru-RU" sz="2000" dirty="0" smtClean="0"/>
              <a:t>языки:  </a:t>
            </a:r>
            <a:r>
              <a:rPr lang="ru-RU" sz="2000" dirty="0"/>
              <a:t>Безопасные </a:t>
            </a:r>
            <a:r>
              <a:rPr lang="ru-RU" sz="2000" dirty="0" smtClean="0"/>
              <a:t>языки(SQL </a:t>
            </a:r>
            <a:r>
              <a:rPr lang="ru-RU" sz="2000" dirty="0"/>
              <a:t>и </a:t>
            </a:r>
            <a:r>
              <a:rPr lang="ru-RU" sz="2000" dirty="0" smtClean="0"/>
              <a:t>PL/</a:t>
            </a:r>
            <a:r>
              <a:rPr lang="ru-RU" sz="2000" dirty="0" err="1" smtClean="0"/>
              <a:t>pgSQL</a:t>
            </a:r>
            <a:r>
              <a:rPr lang="ru-RU" sz="2000" dirty="0" smtClean="0"/>
              <a:t>)  и языки </a:t>
            </a:r>
            <a:r>
              <a:rPr lang="ru-RU" sz="2000" dirty="0"/>
              <a:t>с </a:t>
            </a:r>
            <a:r>
              <a:rPr lang="ru-RU" sz="2000" dirty="0" smtClean="0"/>
              <a:t>песочницей</a:t>
            </a:r>
            <a:endParaRPr lang="ru-RU" sz="2000" dirty="0"/>
          </a:p>
          <a:p>
            <a:pPr lvl="0" algn="ctr"/>
            <a:r>
              <a:rPr lang="ru-RU" sz="2000" i="1" dirty="0"/>
              <a:t>Преимущества использования хранимых процедур </a:t>
            </a:r>
            <a:r>
              <a:rPr lang="ru-RU" sz="2000" i="1" dirty="0" err="1"/>
              <a:t>PostgreSQL</a:t>
            </a:r>
            <a:endParaRPr lang="ru-RU" sz="2000" i="1" dirty="0"/>
          </a:p>
          <a:p>
            <a:pPr lvl="0"/>
            <a:r>
              <a:rPr lang="ru-RU" sz="2000" dirty="0"/>
              <a:t>•	Снижение сетевого </a:t>
            </a:r>
            <a:r>
              <a:rPr lang="ru-RU" sz="2000" dirty="0" smtClean="0"/>
              <a:t>трафика</a:t>
            </a:r>
          </a:p>
          <a:p>
            <a:pPr lvl="0"/>
            <a:r>
              <a:rPr lang="ru-RU" sz="2000" dirty="0" smtClean="0"/>
              <a:t> •</a:t>
            </a:r>
            <a:r>
              <a:rPr lang="ru-RU" sz="2000" dirty="0"/>
              <a:t>	Повышение </a:t>
            </a:r>
            <a:r>
              <a:rPr lang="ru-RU" sz="2000" dirty="0" smtClean="0"/>
              <a:t>производительности</a:t>
            </a:r>
            <a:endParaRPr lang="ru-RU" sz="2000" dirty="0"/>
          </a:p>
          <a:p>
            <a:pPr lvl="0"/>
            <a:r>
              <a:rPr lang="ru-RU" sz="2000" dirty="0"/>
              <a:t>•	Возможность повторного </a:t>
            </a:r>
            <a:r>
              <a:rPr lang="ru-RU" sz="2000" dirty="0" smtClean="0"/>
              <a:t>использования</a:t>
            </a:r>
          </a:p>
          <a:p>
            <a:pPr lvl="0"/>
            <a:r>
              <a:rPr lang="ru-RU" sz="2000" dirty="0" smtClean="0"/>
              <a:t>•</a:t>
            </a:r>
            <a:r>
              <a:rPr lang="ru-RU" sz="2000" dirty="0"/>
              <a:t>	Централизованная </a:t>
            </a:r>
            <a:r>
              <a:rPr lang="ru-RU" sz="2000" dirty="0" smtClean="0"/>
              <a:t>логика</a:t>
            </a:r>
            <a:endParaRPr lang="ru-RU" sz="2000" dirty="0"/>
          </a:p>
          <a:p>
            <a:pPr lvl="0" algn="ctr"/>
            <a:r>
              <a:rPr lang="ru-RU" sz="2000" i="1" dirty="0"/>
              <a:t>Недостатки использования хранимых процедур в </a:t>
            </a:r>
            <a:r>
              <a:rPr lang="ru-RU" sz="2000" i="1" dirty="0" err="1"/>
              <a:t>PostgreSQL</a:t>
            </a:r>
            <a:r>
              <a:rPr lang="ru-RU" sz="2000" i="1" dirty="0"/>
              <a:t>:</a:t>
            </a:r>
          </a:p>
          <a:p>
            <a:pPr lvl="0"/>
            <a:r>
              <a:rPr lang="ru-RU" sz="2000" dirty="0"/>
              <a:t>•	Требуются специальные </a:t>
            </a:r>
            <a:r>
              <a:rPr lang="ru-RU" sz="2000" dirty="0" smtClean="0"/>
              <a:t>навыки</a:t>
            </a:r>
          </a:p>
          <a:p>
            <a:pPr lvl="0"/>
            <a:r>
              <a:rPr lang="ru-RU" sz="2000" dirty="0" smtClean="0"/>
              <a:t>•</a:t>
            </a:r>
            <a:r>
              <a:rPr lang="ru-RU" sz="2000" dirty="0"/>
              <a:t>	Управление </a:t>
            </a:r>
            <a:r>
              <a:rPr lang="ru-RU" sz="2000" dirty="0" smtClean="0"/>
              <a:t>версиями</a:t>
            </a:r>
          </a:p>
          <a:p>
            <a:pPr lvl="0"/>
            <a:r>
              <a:rPr lang="ru-RU" sz="2000" dirty="0" smtClean="0"/>
              <a:t>•</a:t>
            </a:r>
            <a:r>
              <a:rPr lang="ru-RU" sz="2000" dirty="0"/>
              <a:t>	Проблемы с переносимостью</a:t>
            </a:r>
          </a:p>
        </p:txBody>
      </p:sp>
    </p:spTree>
    <p:extLst>
      <p:ext uri="{BB962C8B-B14F-4D97-AF65-F5344CB8AC3E}">
        <p14:creationId xmlns:p14="http://schemas.microsoft.com/office/powerpoint/2010/main" val="13591606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6017" y="287793"/>
            <a:ext cx="2828789" cy="877900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978" y="324372"/>
            <a:ext cx="585267" cy="841321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1345223" y="3105835"/>
            <a:ext cx="986496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000" b="1" dirty="0">
                <a:solidFill>
                  <a:srgbClr val="FF0000"/>
                </a:solidFill>
              </a:rPr>
              <a:t>Дополнительные возможности команды </a:t>
            </a:r>
            <a:r>
              <a:rPr lang="en-US" sz="4000" b="1" dirty="0">
                <a:solidFill>
                  <a:srgbClr val="FF0000"/>
                </a:solidFill>
              </a:rPr>
              <a:t>SELECT</a:t>
            </a:r>
            <a:endParaRPr lang="ru-RU" sz="4000" b="1" dirty="0" smtClean="0">
              <a:solidFill>
                <a:srgbClr val="FF0000"/>
              </a:solidFill>
            </a:endParaRPr>
          </a:p>
          <a:p>
            <a:pPr algn="ctr"/>
            <a:r>
              <a:rPr lang="ru-RU" sz="4000" b="1" dirty="0" smtClean="0"/>
              <a:t>Вопрос 8</a:t>
            </a:r>
            <a:endParaRPr lang="ru-RU" sz="4000" b="1" dirty="0"/>
          </a:p>
        </p:txBody>
      </p:sp>
    </p:spTree>
    <p:extLst>
      <p:ext uri="{BB962C8B-B14F-4D97-AF65-F5344CB8AC3E}">
        <p14:creationId xmlns:p14="http://schemas.microsoft.com/office/powerpoint/2010/main" val="4451259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/>
              <a:t>Дополнительные возможности команды </a:t>
            </a:r>
            <a:r>
              <a:rPr lang="ru-RU" sz="2000" b="1" dirty="0" smtClean="0"/>
              <a:t>SELECT</a:t>
            </a:r>
            <a:r>
              <a:rPr lang="ru-RU" sz="2000" dirty="0" smtClean="0"/>
              <a:t> (</a:t>
            </a:r>
            <a:r>
              <a:rPr lang="en-US" sz="2000" dirty="0" smtClean="0"/>
              <a:t>LIMIT</a:t>
            </a:r>
            <a:r>
              <a:rPr lang="en-US" sz="2000" dirty="0"/>
              <a:t>, ORDER BY, GROUP BY и </a:t>
            </a:r>
            <a:r>
              <a:rPr lang="en-US" sz="2000" dirty="0" smtClean="0"/>
              <a:t>WITH</a:t>
            </a:r>
            <a:r>
              <a:rPr lang="ru-RU" sz="2000" dirty="0" smtClean="0"/>
              <a:t>)</a:t>
            </a:r>
            <a:r>
              <a:rPr lang="en-US" sz="2000" dirty="0" smtClean="0"/>
              <a:t>. </a:t>
            </a:r>
            <a:endParaRPr lang="ru-RU" sz="2000" dirty="0" smtClean="0"/>
          </a:p>
          <a:p>
            <a:pPr algn="ctr"/>
            <a:r>
              <a:rPr lang="ru-RU" sz="2000" i="1" dirty="0"/>
              <a:t>Ограничение (LIMIT)</a:t>
            </a:r>
          </a:p>
          <a:p>
            <a:r>
              <a:rPr lang="ru-RU" sz="2000" dirty="0" smtClean="0"/>
              <a:t>• LIMIT </a:t>
            </a:r>
            <a:r>
              <a:rPr lang="ru-RU" sz="2000" dirty="0"/>
              <a:t>5 — возвращает не более 5 строк.</a:t>
            </a:r>
          </a:p>
          <a:p>
            <a:r>
              <a:rPr lang="ru-RU" sz="2000" dirty="0" smtClean="0"/>
              <a:t>• LIMIT </a:t>
            </a:r>
            <a:r>
              <a:rPr lang="ru-RU" sz="2000" dirty="0"/>
              <a:t>'5' — возвращает все строки без ограничения.</a:t>
            </a:r>
          </a:p>
          <a:p>
            <a:pPr algn="ctr"/>
            <a:r>
              <a:rPr lang="ru-RU" sz="2000" i="1" dirty="0" smtClean="0"/>
              <a:t>Сортировка </a:t>
            </a:r>
            <a:r>
              <a:rPr lang="ru-RU" sz="2000" i="1" dirty="0"/>
              <a:t>(ORDER BY)</a:t>
            </a:r>
          </a:p>
          <a:p>
            <a:r>
              <a:rPr lang="ru-RU" sz="2000" dirty="0" smtClean="0"/>
              <a:t>• Указание </a:t>
            </a:r>
            <a:r>
              <a:rPr lang="ru-RU" sz="2000" dirty="0"/>
              <a:t>столбца или выражения для сортировки. </a:t>
            </a:r>
          </a:p>
          <a:p>
            <a:r>
              <a:rPr lang="ru-RU" sz="2000" dirty="0" smtClean="0"/>
              <a:t>• Опция </a:t>
            </a:r>
            <a:r>
              <a:rPr lang="ru-RU" sz="2000" dirty="0"/>
              <a:t>ASC </a:t>
            </a:r>
            <a:r>
              <a:rPr lang="ru-RU" sz="2000" dirty="0" smtClean="0"/>
              <a:t>, DESC </a:t>
            </a:r>
          </a:p>
          <a:p>
            <a:r>
              <a:rPr lang="ru-RU" sz="2000" dirty="0" smtClean="0"/>
              <a:t>• Опции </a:t>
            </a:r>
            <a:r>
              <a:rPr lang="ru-RU" sz="2000" dirty="0"/>
              <a:t>NULLS FIRST и NULLS LAST </a:t>
            </a:r>
            <a:endParaRPr lang="ru-RU" sz="2000" dirty="0" smtClean="0"/>
          </a:p>
          <a:p>
            <a:pPr algn="ctr"/>
            <a:r>
              <a:rPr lang="ru-RU" sz="2000" i="1" dirty="0" smtClean="0"/>
              <a:t>Группировка </a:t>
            </a:r>
            <a:r>
              <a:rPr lang="ru-RU" sz="2000" i="1" dirty="0"/>
              <a:t>(GROUP BY)</a:t>
            </a:r>
          </a:p>
          <a:p>
            <a:r>
              <a:rPr lang="ru-RU" sz="2000" dirty="0" smtClean="0"/>
              <a:t>• Предложение </a:t>
            </a:r>
            <a:r>
              <a:rPr lang="ru-RU" sz="2000" dirty="0"/>
              <a:t>GROUP BY должно появляться после предложения FROM или WHERE.</a:t>
            </a:r>
          </a:p>
          <a:p>
            <a:r>
              <a:rPr lang="ru-RU" sz="2000" dirty="0" smtClean="0"/>
              <a:t>• Любой </a:t>
            </a:r>
            <a:r>
              <a:rPr lang="ru-RU" sz="2000" dirty="0"/>
              <a:t>столбец, который не используется в агрегатной функции, должен быть в предложении GROUP BY.</a:t>
            </a:r>
          </a:p>
          <a:p>
            <a:r>
              <a:rPr lang="ru-RU" sz="2000" dirty="0" smtClean="0"/>
              <a:t>• Значения </a:t>
            </a:r>
            <a:r>
              <a:rPr lang="ru-RU" sz="2000" dirty="0"/>
              <a:t>NULL в предложении GROUP BY рассматриваются как одна группа.</a:t>
            </a:r>
          </a:p>
          <a:p>
            <a:r>
              <a:rPr lang="ru-RU" sz="2000" dirty="0"/>
              <a:t> </a:t>
            </a:r>
          </a:p>
          <a:p>
            <a:pPr algn="ctr"/>
            <a:r>
              <a:rPr lang="ru-RU" sz="2000" i="1" dirty="0"/>
              <a:t>Подзапросы (WITH)</a:t>
            </a:r>
          </a:p>
          <a:p>
            <a:r>
              <a:rPr lang="ru-RU" sz="2000" dirty="0" smtClean="0"/>
              <a:t>• Каждый </a:t>
            </a:r>
            <a:r>
              <a:rPr lang="ru-RU" sz="2000" dirty="0"/>
              <a:t>подзапрос может быть оператором SELECT, TABLE, VALUES, INSERT, UPDATE, DELETE или MERGE.</a:t>
            </a:r>
          </a:p>
          <a:p>
            <a:r>
              <a:rPr lang="ru-RU" sz="2000" dirty="0" smtClean="0"/>
              <a:t>• Имя </a:t>
            </a:r>
            <a:r>
              <a:rPr lang="ru-RU" sz="2000" dirty="0"/>
              <a:t>(без уточнения схемы) должно быть указано для каждого запроса WITH.</a:t>
            </a:r>
          </a:p>
          <a:p>
            <a:r>
              <a:rPr lang="ru-RU" sz="2000" dirty="0" smtClean="0"/>
              <a:t>• Необязательно </a:t>
            </a:r>
            <a:r>
              <a:rPr lang="ru-RU" sz="2000" dirty="0"/>
              <a:t>может быть указан список имён столбцов; если это опущено, имена столбцов выводятся из подзапроса.</a:t>
            </a:r>
          </a:p>
          <a:p>
            <a:r>
              <a:rPr lang="ru-RU" sz="2000" dirty="0" smtClean="0"/>
              <a:t>• Запросы </a:t>
            </a:r>
            <a:r>
              <a:rPr lang="ru-RU" sz="2000" dirty="0"/>
              <a:t>WITH обычно вычисляются только один раз за выполнение основного запроса, даже если основной запрос ссылается на них более одного раза</a:t>
            </a:r>
            <a:r>
              <a:rPr lang="ru-RU" sz="2000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867465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6017" y="287793"/>
            <a:ext cx="2828789" cy="877900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978" y="324372"/>
            <a:ext cx="585267" cy="841321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1345223" y="3105835"/>
            <a:ext cx="986496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000" b="1" dirty="0" smtClean="0">
                <a:solidFill>
                  <a:srgbClr val="FF0000"/>
                </a:solidFill>
              </a:rPr>
              <a:t>Соединения</a:t>
            </a:r>
          </a:p>
          <a:p>
            <a:pPr algn="ctr"/>
            <a:r>
              <a:rPr lang="ru-RU" sz="4000" b="1" dirty="0" smtClean="0"/>
              <a:t>Вопрос 10</a:t>
            </a:r>
            <a:endParaRPr lang="ru-RU" sz="4000" b="1" dirty="0"/>
          </a:p>
        </p:txBody>
      </p:sp>
    </p:spTree>
    <p:extLst>
      <p:ext uri="{BB962C8B-B14F-4D97-AF65-F5344CB8AC3E}">
        <p14:creationId xmlns:p14="http://schemas.microsoft.com/office/powerpoint/2010/main" val="144920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75580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6017" y="287793"/>
            <a:ext cx="2828789" cy="877900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978" y="324372"/>
            <a:ext cx="585267" cy="841321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1345223" y="3105835"/>
            <a:ext cx="986496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000" b="1" dirty="0">
                <a:solidFill>
                  <a:srgbClr val="FF0000"/>
                </a:solidFill>
              </a:rPr>
              <a:t>Агрегирование и </a:t>
            </a:r>
            <a:r>
              <a:rPr lang="ru-RU" sz="4000" b="1" dirty="0" smtClean="0">
                <a:solidFill>
                  <a:srgbClr val="FF0000"/>
                </a:solidFill>
              </a:rPr>
              <a:t>группировка</a:t>
            </a:r>
          </a:p>
          <a:p>
            <a:pPr algn="ctr"/>
            <a:r>
              <a:rPr lang="ru-RU" sz="4000" b="1" dirty="0" smtClean="0"/>
              <a:t>Вопрос 11</a:t>
            </a:r>
            <a:endParaRPr lang="ru-RU" sz="4000" b="1" dirty="0"/>
          </a:p>
        </p:txBody>
      </p:sp>
    </p:spTree>
    <p:extLst>
      <p:ext uri="{BB962C8B-B14F-4D97-AF65-F5344CB8AC3E}">
        <p14:creationId xmlns:p14="http://schemas.microsoft.com/office/powerpoint/2010/main" val="37130205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22233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6017" y="287793"/>
            <a:ext cx="2828789" cy="877900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978" y="324372"/>
            <a:ext cx="585267" cy="841321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1345223" y="3105835"/>
            <a:ext cx="986496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000" b="1" dirty="0" smtClean="0">
                <a:solidFill>
                  <a:srgbClr val="FF0000"/>
                </a:solidFill>
              </a:rPr>
              <a:t>Подзапросы</a:t>
            </a:r>
          </a:p>
          <a:p>
            <a:pPr algn="ctr"/>
            <a:r>
              <a:rPr lang="ru-RU" sz="4000" b="1" dirty="0" smtClean="0"/>
              <a:t>Вопрос 12</a:t>
            </a:r>
            <a:endParaRPr lang="ru-RU" sz="4000" b="1" dirty="0"/>
          </a:p>
        </p:txBody>
      </p:sp>
    </p:spTree>
    <p:extLst>
      <p:ext uri="{BB962C8B-B14F-4D97-AF65-F5344CB8AC3E}">
        <p14:creationId xmlns:p14="http://schemas.microsoft.com/office/powerpoint/2010/main" val="27505928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36233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208214" y="1700213"/>
            <a:ext cx="1811337" cy="533400"/>
          </a:xfrm>
        </p:spPr>
        <p:txBody>
          <a:bodyPr/>
          <a:lstStyle/>
          <a:p>
            <a:pPr>
              <a:buFontTx/>
              <a:buNone/>
            </a:pPr>
            <a:r>
              <a:rPr lang="ru-RU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66" name="Rectangle 3"/>
          <p:cNvSpPr>
            <a:spLocks noChangeArrowheads="1"/>
          </p:cNvSpPr>
          <p:nvPr/>
        </p:nvSpPr>
        <p:spPr bwMode="auto">
          <a:xfrm rot="-1966961">
            <a:off x="4249739" y="1474788"/>
            <a:ext cx="237648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thank you</a:t>
            </a:r>
          </a:p>
        </p:txBody>
      </p:sp>
      <p:sp>
        <p:nvSpPr>
          <p:cNvPr id="36867" name="Rectangle 4"/>
          <p:cNvSpPr>
            <a:spLocks noChangeArrowheads="1"/>
          </p:cNvSpPr>
          <p:nvPr/>
        </p:nvSpPr>
        <p:spPr bwMode="auto">
          <a:xfrm rot="1339931">
            <a:off x="3287714" y="3429000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68" name="Rectangle 5"/>
          <p:cNvSpPr>
            <a:spLocks noChangeArrowheads="1"/>
          </p:cNvSpPr>
          <p:nvPr/>
        </p:nvSpPr>
        <p:spPr bwMode="auto">
          <a:xfrm rot="932178">
            <a:off x="5016500" y="2347913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69" name="Rectangle 6"/>
          <p:cNvSpPr>
            <a:spLocks noChangeArrowheads="1"/>
          </p:cNvSpPr>
          <p:nvPr/>
        </p:nvSpPr>
        <p:spPr bwMode="auto">
          <a:xfrm>
            <a:off x="6024564" y="3068638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70" name="Rectangle 7"/>
          <p:cNvSpPr>
            <a:spLocks noChangeArrowheads="1"/>
          </p:cNvSpPr>
          <p:nvPr/>
        </p:nvSpPr>
        <p:spPr bwMode="auto">
          <a:xfrm rot="-634205">
            <a:off x="2063751" y="2060575"/>
            <a:ext cx="2879725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thank you</a:t>
            </a:r>
          </a:p>
        </p:txBody>
      </p:sp>
      <p:sp>
        <p:nvSpPr>
          <p:cNvPr id="36871" name="Rectangle 8"/>
          <p:cNvSpPr>
            <a:spLocks noChangeArrowheads="1"/>
          </p:cNvSpPr>
          <p:nvPr/>
        </p:nvSpPr>
        <p:spPr bwMode="auto">
          <a:xfrm>
            <a:off x="6743700" y="1484313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gracias</a:t>
            </a:r>
          </a:p>
        </p:txBody>
      </p:sp>
      <p:sp>
        <p:nvSpPr>
          <p:cNvPr id="36872" name="Rectangle 9"/>
          <p:cNvSpPr>
            <a:spLocks noChangeArrowheads="1"/>
          </p:cNvSpPr>
          <p:nvPr/>
        </p:nvSpPr>
        <p:spPr bwMode="auto">
          <a:xfrm rot="-2708425">
            <a:off x="1353344" y="1331119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73" name="Rectangle 10"/>
          <p:cNvSpPr>
            <a:spLocks noChangeArrowheads="1"/>
          </p:cNvSpPr>
          <p:nvPr/>
        </p:nvSpPr>
        <p:spPr bwMode="auto">
          <a:xfrm rot="-1124404">
            <a:off x="7175500" y="4437063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74" name="Rectangle 11"/>
          <p:cNvSpPr>
            <a:spLocks noChangeArrowheads="1"/>
          </p:cNvSpPr>
          <p:nvPr/>
        </p:nvSpPr>
        <p:spPr bwMode="auto">
          <a:xfrm>
            <a:off x="2486025" y="3465513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merci</a:t>
            </a:r>
          </a:p>
        </p:txBody>
      </p:sp>
      <p:sp>
        <p:nvSpPr>
          <p:cNvPr id="36875" name="Rectangle 12"/>
          <p:cNvSpPr>
            <a:spLocks noChangeArrowheads="1"/>
          </p:cNvSpPr>
          <p:nvPr/>
        </p:nvSpPr>
        <p:spPr bwMode="auto">
          <a:xfrm rot="-1966961">
            <a:off x="3000375" y="620713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danke</a:t>
            </a:r>
          </a:p>
        </p:txBody>
      </p:sp>
      <p:sp>
        <p:nvSpPr>
          <p:cNvPr id="36876" name="Rectangle 13"/>
          <p:cNvSpPr>
            <a:spLocks noChangeArrowheads="1"/>
          </p:cNvSpPr>
          <p:nvPr/>
        </p:nvSpPr>
        <p:spPr bwMode="auto">
          <a:xfrm rot="1339931">
            <a:off x="3071814" y="5078413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77" name="Rectangle 14"/>
          <p:cNvSpPr>
            <a:spLocks noChangeArrowheads="1"/>
          </p:cNvSpPr>
          <p:nvPr/>
        </p:nvSpPr>
        <p:spPr bwMode="auto">
          <a:xfrm rot="932178">
            <a:off x="5521325" y="4357688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gracias</a:t>
            </a:r>
          </a:p>
        </p:txBody>
      </p:sp>
      <p:sp>
        <p:nvSpPr>
          <p:cNvPr id="36878" name="Rectangle 15"/>
          <p:cNvSpPr>
            <a:spLocks noChangeArrowheads="1"/>
          </p:cNvSpPr>
          <p:nvPr/>
        </p:nvSpPr>
        <p:spPr bwMode="auto">
          <a:xfrm>
            <a:off x="6529389" y="5078413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danke</a:t>
            </a:r>
          </a:p>
        </p:txBody>
      </p:sp>
      <p:sp>
        <p:nvSpPr>
          <p:cNvPr id="36879" name="Rectangle 16"/>
          <p:cNvSpPr>
            <a:spLocks noChangeArrowheads="1"/>
          </p:cNvSpPr>
          <p:nvPr/>
        </p:nvSpPr>
        <p:spPr bwMode="auto">
          <a:xfrm rot="-634205">
            <a:off x="3144839" y="4141788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80" name="Rectangle 17"/>
          <p:cNvSpPr>
            <a:spLocks noChangeArrowheads="1"/>
          </p:cNvSpPr>
          <p:nvPr/>
        </p:nvSpPr>
        <p:spPr bwMode="auto">
          <a:xfrm rot="932178">
            <a:off x="7608889" y="3571875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81" name="Rectangle 18"/>
          <p:cNvSpPr>
            <a:spLocks noChangeArrowheads="1"/>
          </p:cNvSpPr>
          <p:nvPr/>
        </p:nvSpPr>
        <p:spPr bwMode="auto">
          <a:xfrm rot="-2708425">
            <a:off x="4945857" y="4933157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82" name="Rectangle 19"/>
          <p:cNvSpPr>
            <a:spLocks noChangeArrowheads="1"/>
          </p:cNvSpPr>
          <p:nvPr/>
        </p:nvSpPr>
        <p:spPr bwMode="auto">
          <a:xfrm rot="-2055057">
            <a:off x="8616950" y="5589588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83" name="Rectangle 20"/>
          <p:cNvSpPr>
            <a:spLocks noChangeArrowheads="1"/>
          </p:cNvSpPr>
          <p:nvPr/>
        </p:nvSpPr>
        <p:spPr bwMode="auto">
          <a:xfrm rot="-1966961">
            <a:off x="8856664" y="2132013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gracias</a:t>
            </a:r>
          </a:p>
        </p:txBody>
      </p:sp>
      <p:sp>
        <p:nvSpPr>
          <p:cNvPr id="36884" name="Rectangle 21"/>
          <p:cNvSpPr>
            <a:spLocks noChangeArrowheads="1"/>
          </p:cNvSpPr>
          <p:nvPr/>
        </p:nvSpPr>
        <p:spPr bwMode="auto">
          <a:xfrm rot="932178">
            <a:off x="7535864" y="2276475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85" name="Rectangle 22"/>
          <p:cNvSpPr>
            <a:spLocks noChangeArrowheads="1"/>
          </p:cNvSpPr>
          <p:nvPr/>
        </p:nvSpPr>
        <p:spPr bwMode="auto">
          <a:xfrm>
            <a:off x="8543925" y="2997200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86" name="Rectangle 23"/>
          <p:cNvSpPr>
            <a:spLocks noChangeArrowheads="1"/>
          </p:cNvSpPr>
          <p:nvPr/>
        </p:nvSpPr>
        <p:spPr bwMode="auto">
          <a:xfrm rot="550398">
            <a:off x="5664200" y="1916113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thanks</a:t>
            </a:r>
          </a:p>
        </p:txBody>
      </p:sp>
      <p:sp>
        <p:nvSpPr>
          <p:cNvPr id="36887" name="Rectangle 24"/>
          <p:cNvSpPr>
            <a:spLocks noChangeArrowheads="1"/>
          </p:cNvSpPr>
          <p:nvPr/>
        </p:nvSpPr>
        <p:spPr bwMode="auto">
          <a:xfrm>
            <a:off x="5005389" y="3394075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danke</a:t>
            </a:r>
          </a:p>
        </p:txBody>
      </p:sp>
      <p:sp>
        <p:nvSpPr>
          <p:cNvPr id="36888" name="Rectangle 25"/>
          <p:cNvSpPr>
            <a:spLocks noChangeArrowheads="1"/>
          </p:cNvSpPr>
          <p:nvPr/>
        </p:nvSpPr>
        <p:spPr bwMode="auto">
          <a:xfrm rot="1339931">
            <a:off x="4151314" y="4724400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grazie</a:t>
            </a:r>
          </a:p>
        </p:txBody>
      </p:sp>
      <p:sp>
        <p:nvSpPr>
          <p:cNvPr id="36889" name="Rectangle 26"/>
          <p:cNvSpPr>
            <a:spLocks noChangeArrowheads="1"/>
          </p:cNvSpPr>
          <p:nvPr/>
        </p:nvSpPr>
        <p:spPr bwMode="auto">
          <a:xfrm rot="-1966961">
            <a:off x="3333750" y="2349500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merci</a:t>
            </a:r>
          </a:p>
        </p:txBody>
      </p:sp>
      <p:sp>
        <p:nvSpPr>
          <p:cNvPr id="36890" name="Rectangle 27"/>
          <p:cNvSpPr>
            <a:spLocks noChangeArrowheads="1"/>
          </p:cNvSpPr>
          <p:nvPr/>
        </p:nvSpPr>
        <p:spPr bwMode="auto">
          <a:xfrm rot="932178">
            <a:off x="6240464" y="3716338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91" name="Rectangle 28"/>
          <p:cNvSpPr>
            <a:spLocks noChangeArrowheads="1"/>
          </p:cNvSpPr>
          <p:nvPr/>
        </p:nvSpPr>
        <p:spPr bwMode="auto">
          <a:xfrm>
            <a:off x="6888164" y="2563813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grazie</a:t>
            </a:r>
          </a:p>
        </p:txBody>
      </p:sp>
      <p:sp>
        <p:nvSpPr>
          <p:cNvPr id="36892" name="Rectangle 29"/>
          <p:cNvSpPr>
            <a:spLocks noChangeArrowheads="1"/>
          </p:cNvSpPr>
          <p:nvPr/>
        </p:nvSpPr>
        <p:spPr bwMode="auto">
          <a:xfrm rot="-634205">
            <a:off x="1524000" y="2708275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grazie</a:t>
            </a:r>
          </a:p>
        </p:txBody>
      </p:sp>
      <p:sp>
        <p:nvSpPr>
          <p:cNvPr id="36893" name="Rectangle 30"/>
          <p:cNvSpPr>
            <a:spLocks noChangeArrowheads="1"/>
          </p:cNvSpPr>
          <p:nvPr/>
        </p:nvSpPr>
        <p:spPr bwMode="auto">
          <a:xfrm>
            <a:off x="1524000" y="4076700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thank you</a:t>
            </a:r>
          </a:p>
        </p:txBody>
      </p:sp>
      <p:sp>
        <p:nvSpPr>
          <p:cNvPr id="36894" name="Rectangle 31"/>
          <p:cNvSpPr>
            <a:spLocks noChangeArrowheads="1"/>
          </p:cNvSpPr>
          <p:nvPr/>
        </p:nvSpPr>
        <p:spPr bwMode="auto">
          <a:xfrm rot="1339931">
            <a:off x="1524000" y="5948363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95" name="Rectangle 32"/>
          <p:cNvSpPr>
            <a:spLocks noChangeArrowheads="1"/>
          </p:cNvSpPr>
          <p:nvPr/>
        </p:nvSpPr>
        <p:spPr bwMode="auto">
          <a:xfrm>
            <a:off x="2351089" y="5516563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en-US" sz="3200">
                <a:solidFill>
                  <a:srgbClr val="C0C0C0"/>
                </a:solidFill>
              </a:rPr>
              <a:t>thanks</a:t>
            </a:r>
            <a:endParaRPr lang="ru-RU" sz="3200">
              <a:solidFill>
                <a:srgbClr val="C0C0C0"/>
              </a:solidFill>
            </a:endParaRPr>
          </a:p>
        </p:txBody>
      </p:sp>
      <p:sp>
        <p:nvSpPr>
          <p:cNvPr id="36896" name="Rectangle 33"/>
          <p:cNvSpPr>
            <a:spLocks noChangeArrowheads="1"/>
          </p:cNvSpPr>
          <p:nvPr/>
        </p:nvSpPr>
        <p:spPr bwMode="auto">
          <a:xfrm>
            <a:off x="6743700" y="6021388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97" name="Rectangle 34"/>
          <p:cNvSpPr>
            <a:spLocks noChangeArrowheads="1"/>
          </p:cNvSpPr>
          <p:nvPr/>
        </p:nvSpPr>
        <p:spPr bwMode="auto">
          <a:xfrm rot="932178">
            <a:off x="7896225" y="5156200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merci</a:t>
            </a:r>
          </a:p>
        </p:txBody>
      </p:sp>
      <p:sp>
        <p:nvSpPr>
          <p:cNvPr id="36898" name="Rectangle 35"/>
          <p:cNvSpPr>
            <a:spLocks noChangeArrowheads="1"/>
          </p:cNvSpPr>
          <p:nvPr/>
        </p:nvSpPr>
        <p:spPr bwMode="auto">
          <a:xfrm rot="-634205">
            <a:off x="4943476" y="5589588"/>
            <a:ext cx="2447925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thank you</a:t>
            </a:r>
          </a:p>
        </p:txBody>
      </p:sp>
      <p:sp>
        <p:nvSpPr>
          <p:cNvPr id="36899" name="Rectangle 36"/>
          <p:cNvSpPr>
            <a:spLocks noChangeArrowheads="1"/>
          </p:cNvSpPr>
          <p:nvPr/>
        </p:nvSpPr>
        <p:spPr bwMode="auto">
          <a:xfrm rot="-1966961">
            <a:off x="3478214" y="5805488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merci</a:t>
            </a:r>
          </a:p>
        </p:txBody>
      </p:sp>
      <p:sp>
        <p:nvSpPr>
          <p:cNvPr id="36900" name="Rectangle 37"/>
          <p:cNvSpPr>
            <a:spLocks noGrp="1" noChangeArrowheads="1"/>
          </p:cNvSpPr>
          <p:nvPr>
            <p:ph type="title"/>
          </p:nvPr>
        </p:nvSpPr>
        <p:spPr>
          <a:xfrm>
            <a:off x="2063750" y="2492376"/>
            <a:ext cx="8229600" cy="1439863"/>
          </a:xfrm>
        </p:spPr>
        <p:txBody>
          <a:bodyPr/>
          <a:lstStyle/>
          <a:p>
            <a:r>
              <a:rPr lang="ru-RU" sz="4800" b="1">
                <a:solidFill>
                  <a:srgbClr val="000099"/>
                </a:solidFill>
              </a:rPr>
              <a:t>Спасибо за внимание!</a:t>
            </a:r>
          </a:p>
        </p:txBody>
      </p:sp>
      <p:sp>
        <p:nvSpPr>
          <p:cNvPr id="36901" name="Rectangle 38"/>
          <p:cNvSpPr>
            <a:spLocks noChangeArrowheads="1"/>
          </p:cNvSpPr>
          <p:nvPr/>
        </p:nvSpPr>
        <p:spPr bwMode="auto">
          <a:xfrm>
            <a:off x="1847850" y="260350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902" name="Rectangle 39"/>
          <p:cNvSpPr>
            <a:spLocks noChangeArrowheads="1"/>
          </p:cNvSpPr>
          <p:nvPr/>
        </p:nvSpPr>
        <p:spPr bwMode="auto">
          <a:xfrm rot="-1966961">
            <a:off x="6743700" y="260350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merci</a:t>
            </a:r>
          </a:p>
        </p:txBody>
      </p:sp>
      <p:sp>
        <p:nvSpPr>
          <p:cNvPr id="36903" name="Rectangle 40"/>
          <p:cNvSpPr>
            <a:spLocks noChangeArrowheads="1"/>
          </p:cNvSpPr>
          <p:nvPr/>
        </p:nvSpPr>
        <p:spPr bwMode="auto">
          <a:xfrm rot="932178">
            <a:off x="8543925" y="260350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904" name="Rectangle 41"/>
          <p:cNvSpPr>
            <a:spLocks noChangeArrowheads="1"/>
          </p:cNvSpPr>
          <p:nvPr/>
        </p:nvSpPr>
        <p:spPr bwMode="auto">
          <a:xfrm rot="-634205">
            <a:off x="5303839" y="836613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grazie</a:t>
            </a:r>
          </a:p>
        </p:txBody>
      </p:sp>
      <p:sp>
        <p:nvSpPr>
          <p:cNvPr id="36905" name="Rectangle 42"/>
          <p:cNvSpPr>
            <a:spLocks noChangeArrowheads="1"/>
          </p:cNvSpPr>
          <p:nvPr/>
        </p:nvSpPr>
        <p:spPr bwMode="auto">
          <a:xfrm rot="-1966961">
            <a:off x="3719514" y="1123950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gracias</a:t>
            </a:r>
          </a:p>
        </p:txBody>
      </p:sp>
      <p:sp>
        <p:nvSpPr>
          <p:cNvPr id="36906" name="Rectangle 43"/>
          <p:cNvSpPr>
            <a:spLocks noChangeArrowheads="1"/>
          </p:cNvSpPr>
          <p:nvPr/>
        </p:nvSpPr>
        <p:spPr bwMode="auto">
          <a:xfrm rot="1073047">
            <a:off x="7535864" y="1052513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grazie</a:t>
            </a:r>
          </a:p>
        </p:txBody>
      </p:sp>
      <p:sp>
        <p:nvSpPr>
          <p:cNvPr id="36907" name="Rectangle 44"/>
          <p:cNvSpPr>
            <a:spLocks noChangeArrowheads="1"/>
          </p:cNvSpPr>
          <p:nvPr/>
        </p:nvSpPr>
        <p:spPr bwMode="auto">
          <a:xfrm rot="-1124404">
            <a:off x="8856664" y="4292600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danke</a:t>
            </a:r>
          </a:p>
        </p:txBody>
      </p:sp>
      <p:sp>
        <p:nvSpPr>
          <p:cNvPr id="36908" name="Rectangle 45"/>
          <p:cNvSpPr>
            <a:spLocks noChangeArrowheads="1"/>
          </p:cNvSpPr>
          <p:nvPr/>
        </p:nvSpPr>
        <p:spPr bwMode="auto">
          <a:xfrm rot="-1966961">
            <a:off x="8129589" y="1374775"/>
            <a:ext cx="24844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thank you</a:t>
            </a:r>
          </a:p>
        </p:txBody>
      </p:sp>
      <p:sp>
        <p:nvSpPr>
          <p:cNvPr id="36909" name="Rectangle 46"/>
          <p:cNvSpPr>
            <a:spLocks noChangeArrowheads="1"/>
          </p:cNvSpPr>
          <p:nvPr/>
        </p:nvSpPr>
        <p:spPr bwMode="auto">
          <a:xfrm rot="-634205">
            <a:off x="4800600" y="188913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910" name="Rectangle 47"/>
          <p:cNvSpPr>
            <a:spLocks noChangeArrowheads="1"/>
          </p:cNvSpPr>
          <p:nvPr/>
        </p:nvSpPr>
        <p:spPr bwMode="auto">
          <a:xfrm rot="932178">
            <a:off x="8975725" y="3571875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merci</a:t>
            </a:r>
          </a:p>
        </p:txBody>
      </p:sp>
    </p:spTree>
    <p:extLst>
      <p:ext uri="{BB962C8B-B14F-4D97-AF65-F5344CB8AC3E}">
        <p14:creationId xmlns:p14="http://schemas.microsoft.com/office/powerpoint/2010/main" val="337812762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2799</TotalTime>
  <Words>1320</Words>
  <Application>Microsoft Office PowerPoint</Application>
  <PresentationFormat>Широкоэкранный</PresentationFormat>
  <Paragraphs>414</Paragraphs>
  <Slides>37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42" baseType="lpstr">
      <vt:lpstr>Arial</vt:lpstr>
      <vt:lpstr>Calibri</vt:lpstr>
      <vt:lpstr>Calibri Light</vt:lpstr>
      <vt:lpstr>Tahoma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внимание!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26. Информационно-вычислительные и ситуационные центры в государственном и региональном управлении.</dc:title>
  <dc:creator>Андрей Руфеев</dc:creator>
  <cp:lastModifiedBy>cluser</cp:lastModifiedBy>
  <cp:revision>211</cp:revision>
  <dcterms:created xsi:type="dcterms:W3CDTF">2021-10-24T19:59:40Z</dcterms:created>
  <dcterms:modified xsi:type="dcterms:W3CDTF">2026-02-14T09:38:18Z</dcterms:modified>
</cp:coreProperties>
</file>