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25"/>
  </p:notesMasterIdLst>
  <p:sldIdLst>
    <p:sldId id="319" r:id="rId2"/>
    <p:sldId id="257" r:id="rId3"/>
    <p:sldId id="627" r:id="rId4"/>
    <p:sldId id="696" r:id="rId5"/>
    <p:sldId id="695" r:id="rId6"/>
    <p:sldId id="694" r:id="rId7"/>
    <p:sldId id="698" r:id="rId8"/>
    <p:sldId id="697" r:id="rId9"/>
    <p:sldId id="628" r:id="rId10"/>
    <p:sldId id="653" r:id="rId11"/>
    <p:sldId id="659" r:id="rId12"/>
    <p:sldId id="662" r:id="rId13"/>
    <p:sldId id="680" r:id="rId14"/>
    <p:sldId id="634" r:id="rId15"/>
    <p:sldId id="635" r:id="rId16"/>
    <p:sldId id="683" r:id="rId17"/>
    <p:sldId id="642" r:id="rId18"/>
    <p:sldId id="640" r:id="rId19"/>
    <p:sldId id="700" r:id="rId20"/>
    <p:sldId id="699" r:id="rId21"/>
    <p:sldId id="693" r:id="rId22"/>
    <p:sldId id="702" r:id="rId23"/>
    <p:sldId id="33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29" autoAdjust="0"/>
    <p:restoredTop sz="94662" autoAdjust="0"/>
  </p:normalViewPr>
  <p:slideViewPr>
    <p:cSldViewPr snapToGrid="0">
      <p:cViewPr varScale="1">
        <p:scale>
          <a:sx n="109" d="100"/>
          <a:sy n="109" d="100"/>
        </p:scale>
        <p:origin x="105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8" y="223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1E16D-40AE-4F7B-89DA-08FA8576FE62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7B180-2896-4825-A371-C953116C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48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ru-RU" altLang="ru-RU" smtClean="0">
              <a:latin typeface="Arial" pitchFamily="34" charset="0"/>
            </a:endParaRPr>
          </a:p>
        </p:txBody>
      </p:sp>
      <p:sp>
        <p:nvSpPr>
          <p:cNvPr id="34820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3995C959-3E6F-4A2D-BBCE-A1FF53A98587}" type="slidenum">
              <a:rPr lang="ru-RU" altLang="ru-RU">
                <a:solidFill>
                  <a:prstClr val="black"/>
                </a:solidFill>
              </a:rPr>
              <a:pPr/>
              <a:t>1</a:t>
            </a:fld>
            <a:endParaRPr lang="ru-RU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7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6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92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6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04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80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87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13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13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0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88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44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54585-7C67-480B-A3E7-2717674931C3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20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ChangeArrowheads="1"/>
          </p:cNvSpPr>
          <p:nvPr/>
        </p:nvSpPr>
        <p:spPr bwMode="auto">
          <a:xfrm>
            <a:off x="4956265" y="510698"/>
            <a:ext cx="569118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НИЖЕГОРОДСКИЙ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ИНСТИТУТ	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УПРАВЛЕНИЯ			</a:t>
            </a:r>
            <a:endParaRPr lang="en-US" altLang="ru-RU" sz="1400" b="1" dirty="0">
              <a:solidFill>
                <a:srgbClr val="A40000"/>
              </a:solidFill>
              <a:latin typeface="+mn-lt"/>
              <a:cs typeface="Tahoma" pitchFamily="34" charset="0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5" y="854076"/>
            <a:ext cx="2344738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Прямоугольник 7"/>
          <p:cNvSpPr>
            <a:spLocks noChangeArrowheads="1"/>
          </p:cNvSpPr>
          <p:nvPr/>
        </p:nvSpPr>
        <p:spPr bwMode="auto">
          <a:xfrm flipH="1">
            <a:off x="351631" y="2762182"/>
            <a:ext cx="2843213" cy="1538287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defTabSz="1042988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1042988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 smtClean="0">
                <a:solidFill>
                  <a:schemeClr val="bg1"/>
                </a:solidFill>
              </a:rPr>
              <a:t>ТЕМА № 5</a:t>
            </a:r>
            <a:endParaRPr lang="ru-RU" altLang="ru-RU" sz="2400" b="1" dirty="0">
              <a:solidFill>
                <a:schemeClr val="bg1"/>
              </a:solidFill>
            </a:endParaRPr>
          </a:p>
        </p:txBody>
      </p:sp>
      <p:sp>
        <p:nvSpPr>
          <p:cNvPr id="5127" name="Text Box 23"/>
          <p:cNvSpPr txBox="1">
            <a:spLocks noChangeArrowheads="1"/>
          </p:cNvSpPr>
          <p:nvPr/>
        </p:nvSpPr>
        <p:spPr bwMode="auto">
          <a:xfrm>
            <a:off x="7535435" y="4944070"/>
            <a:ext cx="44339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600" dirty="0" smtClean="0"/>
              <a:t>кафедра </a:t>
            </a:r>
            <a:r>
              <a:rPr lang="ru-RU" sz="1600" dirty="0"/>
              <a:t>информатики и информационных технологий, </a:t>
            </a:r>
            <a:r>
              <a:rPr lang="ru-RU" sz="1600" dirty="0" err="1"/>
              <a:t>к.т.н</a:t>
            </a:r>
            <a:r>
              <a:rPr lang="ru-RU" sz="1600" dirty="0"/>
              <a:t>, доцент, </a:t>
            </a:r>
            <a:r>
              <a:rPr lang="ru-RU" sz="1600" dirty="0" smtClean="0"/>
              <a:t>Гордеев А.Б.</a:t>
            </a:r>
            <a:endParaRPr lang="ru-RU" altLang="ru-RU" sz="1600" b="1" dirty="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grpSp>
        <p:nvGrpSpPr>
          <p:cNvPr id="17415" name="Группа 12"/>
          <p:cNvGrpSpPr>
            <a:grpSpLocks/>
          </p:cNvGrpSpPr>
          <p:nvPr/>
        </p:nvGrpSpPr>
        <p:grpSpPr bwMode="auto">
          <a:xfrm>
            <a:off x="4616451" y="1598613"/>
            <a:ext cx="5732463" cy="781050"/>
            <a:chOff x="0" y="0"/>
            <a:chExt cx="6210300" cy="781275"/>
          </a:xfrm>
        </p:grpSpPr>
        <p:pic>
          <p:nvPicPr>
            <p:cNvPr id="17416" name="Рисунок 13" descr="D:\ИПК\Фотографии\на стенд\на сайт\главная\Академия 2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900" y="0"/>
              <a:ext cx="1028700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7" name="Рисунок 14" descr="D:\для фотопрезентации ФПК\Презид.программа\фото Открытие Президентской  Прогр\6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5" r="-2" b="1205"/>
            <a:stretch>
              <a:fillRect/>
            </a:stretch>
          </p:blipFill>
          <p:spPr bwMode="auto">
            <a:xfrm>
              <a:off x="0" y="1"/>
              <a:ext cx="1114425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8" name="Рисунок 15" descr="D:\Презид.программа 20 мая-05 июня 2013\30.05.13\работа в проектных группах_30.05.13\DSCF8003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2300" y="9750"/>
              <a:ext cx="1038225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9" name="Рисунок 16" descr="D:\для фотопрезентации ФПК\Президентская программа (6) 17 сентября 2012 (З)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952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Рисунок 17" descr="D:\ИПК\Фотографии\для книги Академии\1.2.Здание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" b="1219"/>
            <a:stretch>
              <a:fillRect/>
            </a:stretch>
          </p:blipFill>
          <p:spPr bwMode="auto">
            <a:xfrm>
              <a:off x="4191000" y="9525"/>
              <a:ext cx="9715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1" name="Рисунок 18" descr="D:\ИПК\Фотографии\для книги Академии\5.2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550" y="9525"/>
              <a:ext cx="10477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/>
          <p:cNvSpPr txBox="1"/>
          <p:nvPr/>
        </p:nvSpPr>
        <p:spPr>
          <a:xfrm>
            <a:off x="4367213" y="6021288"/>
            <a:ext cx="3718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Нижний Новгород 20</a:t>
            </a:r>
            <a:r>
              <a:rPr lang="en-US" sz="1600" b="1" dirty="0" smtClean="0"/>
              <a:t>2</a:t>
            </a:r>
            <a:r>
              <a:rPr lang="ru-RU" sz="1600" b="1" dirty="0" smtClean="0"/>
              <a:t>5</a:t>
            </a:r>
            <a:endParaRPr lang="ru-RU" sz="1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36428" y="3244334"/>
            <a:ext cx="79931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i="1" dirty="0">
                <a:solidFill>
                  <a:srgbClr val="FF0000"/>
                </a:solidFill>
              </a:rPr>
              <a:t>Основы языка определения данных </a:t>
            </a:r>
            <a:endParaRPr lang="ru-R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4557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</a:rPr>
              <a:t>Значения по умолчанию и ограничения </a:t>
            </a:r>
            <a:r>
              <a:rPr lang="ru-RU" sz="4000" b="1" dirty="0" smtClean="0">
                <a:solidFill>
                  <a:srgbClr val="FF0000"/>
                </a:solidFill>
              </a:rPr>
              <a:t>целостности</a:t>
            </a:r>
            <a:endParaRPr lang="ru-RU" sz="4000" b="1" dirty="0">
              <a:solidFill>
                <a:srgbClr val="FF0000"/>
              </a:solidFill>
            </a:endParaRPr>
          </a:p>
          <a:p>
            <a:pPr lvl="1" algn="ctr"/>
            <a:r>
              <a:rPr lang="ru-RU" sz="4000" b="1" dirty="0" smtClean="0"/>
              <a:t>Вопрос 1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80174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461640" y="0"/>
            <a:ext cx="39098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Ограничения-проверки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5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CREATE TABLE products (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integer,</a:t>
            </a:r>
          </a:p>
          <a:p>
            <a:r>
              <a:rPr lang="en-US" sz="2400" dirty="0"/>
              <a:t>    name text,</a:t>
            </a:r>
          </a:p>
          <a:p>
            <a:r>
              <a:rPr lang="en-US" sz="2400" dirty="0"/>
              <a:t>    price numeric CHECK (price &gt; 0)</a:t>
            </a:r>
          </a:p>
          <a:p>
            <a:r>
              <a:rPr lang="en-US" sz="2400" dirty="0" smtClean="0"/>
              <a:t>);</a:t>
            </a:r>
            <a:endParaRPr lang="ru-RU" sz="2400" dirty="0" smtClean="0"/>
          </a:p>
          <a:p>
            <a:r>
              <a:rPr lang="ru-RU" dirty="0"/>
              <a:t>Огр</a:t>
            </a:r>
            <a:r>
              <a:rPr lang="ru-RU" sz="2400" dirty="0"/>
              <a:t>аничение-проверка — наиболее общий тип </a:t>
            </a:r>
            <a:r>
              <a:rPr lang="ru-RU" sz="2400" dirty="0" smtClean="0"/>
              <a:t>ограничений, </a:t>
            </a:r>
            <a:r>
              <a:rPr lang="ru-RU" sz="2400" dirty="0"/>
              <a:t>значение данного столбца должно удовлетворять логическому выражению</a:t>
            </a:r>
            <a:r>
              <a:rPr lang="ru-RU" sz="2400" dirty="0" smtClean="0"/>
              <a:t>.</a:t>
            </a:r>
          </a:p>
          <a:p>
            <a:endParaRPr lang="ru-RU" sz="2400" dirty="0" smtClean="0"/>
          </a:p>
          <a:p>
            <a:r>
              <a:rPr lang="en-US" sz="2400" dirty="0"/>
              <a:t>CREATE TABLE products (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integer,</a:t>
            </a:r>
            <a:endParaRPr lang="ru-RU" sz="2400" dirty="0"/>
          </a:p>
          <a:p>
            <a:r>
              <a:rPr lang="en-US" sz="2400" dirty="0"/>
              <a:t>    name text,</a:t>
            </a:r>
            <a:endParaRPr lang="ru-RU" sz="2400" dirty="0"/>
          </a:p>
          <a:p>
            <a:r>
              <a:rPr lang="en-US" sz="2400" dirty="0"/>
              <a:t>    price numeric </a:t>
            </a:r>
            <a:r>
              <a:rPr lang="en-US" sz="2400" b="1" dirty="0"/>
              <a:t>CONSTRAINT </a:t>
            </a:r>
            <a:r>
              <a:rPr lang="en-US" sz="2400" b="1" dirty="0" err="1"/>
              <a:t>positive_price</a:t>
            </a:r>
            <a:r>
              <a:rPr lang="en-US" sz="2400" dirty="0"/>
              <a:t> CHECK (price &gt; 0)</a:t>
            </a:r>
            <a:endParaRPr lang="ru-RU" sz="2400" dirty="0"/>
          </a:p>
          <a:p>
            <a:r>
              <a:rPr lang="ru-RU" sz="2400" dirty="0"/>
              <a:t>);</a:t>
            </a:r>
          </a:p>
          <a:p>
            <a:r>
              <a:rPr lang="ru-RU" sz="2400" dirty="0"/>
              <a:t>присвоить ограничению отдельное </a:t>
            </a:r>
            <a:r>
              <a:rPr lang="ru-RU" sz="2400" dirty="0" smtClean="0"/>
              <a:t>имя. именованное </a:t>
            </a:r>
            <a:r>
              <a:rPr lang="ru-RU" sz="2400" dirty="0"/>
              <a:t>ограничение, </a:t>
            </a:r>
            <a:r>
              <a:rPr lang="ru-RU" sz="2400" dirty="0" smtClean="0"/>
              <a:t>ключевое </a:t>
            </a:r>
            <a:r>
              <a:rPr lang="ru-RU" sz="2400" dirty="0"/>
              <a:t>слово CONSTRAINT, а за ним идентификатор и </a:t>
            </a:r>
            <a:r>
              <a:rPr lang="ru-RU" sz="2400" dirty="0" smtClean="0"/>
              <a:t>определение </a:t>
            </a:r>
            <a:r>
              <a:rPr lang="ru-RU" sz="2400" dirty="0"/>
              <a:t>ограничения. </a:t>
            </a:r>
            <a:r>
              <a:rPr lang="ru-RU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533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CREATE TABLE products (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integer,</a:t>
            </a:r>
          </a:p>
          <a:p>
            <a:r>
              <a:rPr lang="en-US" sz="2400" dirty="0"/>
              <a:t>    name text,</a:t>
            </a:r>
          </a:p>
          <a:p>
            <a:r>
              <a:rPr lang="en-US" sz="2400" dirty="0"/>
              <a:t>    price numeric CHECK (price &gt; 0),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discounted_price</a:t>
            </a:r>
            <a:r>
              <a:rPr lang="en-US" sz="2400" dirty="0"/>
              <a:t> numeric CHECK (</a:t>
            </a:r>
            <a:r>
              <a:rPr lang="en-US" sz="2400" dirty="0" err="1"/>
              <a:t>discounted_price</a:t>
            </a:r>
            <a:r>
              <a:rPr lang="en-US" sz="2400" dirty="0"/>
              <a:t> &gt; 0),</a:t>
            </a:r>
          </a:p>
          <a:p>
            <a:r>
              <a:rPr lang="en-US" sz="2400" dirty="0"/>
              <a:t>    CHECK (price &gt; </a:t>
            </a:r>
            <a:r>
              <a:rPr lang="en-US" sz="2400" dirty="0" err="1"/>
              <a:t>discounted_price</a:t>
            </a:r>
            <a:r>
              <a:rPr lang="en-US" sz="2400" dirty="0"/>
              <a:t>)</a:t>
            </a:r>
          </a:p>
          <a:p>
            <a:r>
              <a:rPr lang="en-US" sz="2400" dirty="0" smtClean="0"/>
              <a:t>);</a:t>
            </a:r>
            <a:endParaRPr lang="ru-RU" sz="2400" dirty="0" smtClean="0"/>
          </a:p>
          <a:p>
            <a:r>
              <a:rPr lang="ru-RU" sz="2400" dirty="0"/>
              <a:t>Ограничение-проверка может также ссылаться на несколько столбцов</a:t>
            </a:r>
            <a:r>
              <a:rPr lang="ru-RU" sz="2400" dirty="0" smtClean="0"/>
              <a:t>. </a:t>
            </a:r>
            <a:endParaRPr lang="en-US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3046988"/>
            <a:ext cx="446371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CREATE TABLE products (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integer,</a:t>
            </a:r>
          </a:p>
          <a:p>
            <a:r>
              <a:rPr lang="en-US" sz="2400" dirty="0"/>
              <a:t>    name text,</a:t>
            </a:r>
          </a:p>
          <a:p>
            <a:r>
              <a:rPr lang="en-US" sz="2400" dirty="0"/>
              <a:t>    price numeric,</a:t>
            </a:r>
          </a:p>
          <a:p>
            <a:r>
              <a:rPr lang="en-US" sz="2400" dirty="0"/>
              <a:t>    CHECK (price &gt; 0),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discounted_price</a:t>
            </a:r>
            <a:r>
              <a:rPr lang="en-US" sz="2400" dirty="0"/>
              <a:t> numeric,</a:t>
            </a:r>
          </a:p>
          <a:p>
            <a:r>
              <a:rPr lang="en-US" sz="2400" dirty="0"/>
              <a:t>    CHECK (</a:t>
            </a:r>
            <a:r>
              <a:rPr lang="en-US" sz="2400" dirty="0" err="1"/>
              <a:t>discounted_price</a:t>
            </a:r>
            <a:r>
              <a:rPr lang="en-US" sz="2400" dirty="0"/>
              <a:t> &gt; 0),</a:t>
            </a:r>
          </a:p>
          <a:p>
            <a:r>
              <a:rPr lang="en-US" sz="2400" dirty="0"/>
              <a:t>    CHECK (price &gt; </a:t>
            </a:r>
            <a:r>
              <a:rPr lang="en-US" sz="2400" dirty="0" err="1"/>
              <a:t>discounted_price</a:t>
            </a:r>
            <a:r>
              <a:rPr lang="en-US" sz="2400" dirty="0"/>
              <a:t>)</a:t>
            </a:r>
          </a:p>
          <a:p>
            <a:r>
              <a:rPr lang="en-US" sz="2400" dirty="0"/>
              <a:t>);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498432" y="3046988"/>
            <a:ext cx="593156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Или</a:t>
            </a:r>
            <a:r>
              <a:rPr lang="en-US" sz="2400" dirty="0"/>
              <a:t> </a:t>
            </a:r>
            <a:r>
              <a:rPr lang="en-US" sz="2400" dirty="0" err="1"/>
              <a:t>даже</a:t>
            </a:r>
            <a:r>
              <a:rPr lang="en-US" sz="2400" dirty="0"/>
              <a:t> </a:t>
            </a:r>
            <a:r>
              <a:rPr lang="en-US" sz="2400" dirty="0" err="1"/>
              <a:t>так</a:t>
            </a:r>
            <a:r>
              <a:rPr lang="en-US" sz="2400" dirty="0" smtClean="0"/>
              <a:t>:</a:t>
            </a:r>
            <a:endParaRPr lang="ru-RU" sz="2400" dirty="0" smtClean="0"/>
          </a:p>
          <a:p>
            <a:endParaRPr lang="en-US" sz="2400" dirty="0"/>
          </a:p>
          <a:p>
            <a:r>
              <a:rPr lang="en-US" sz="2400" dirty="0"/>
              <a:t>CREATE TABLE products (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integer,</a:t>
            </a:r>
          </a:p>
          <a:p>
            <a:r>
              <a:rPr lang="en-US" sz="2400" dirty="0"/>
              <a:t>    name text,</a:t>
            </a:r>
          </a:p>
          <a:p>
            <a:r>
              <a:rPr lang="en-US" sz="2400" dirty="0"/>
              <a:t>    price numeric CHECK (price &gt; 0),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discounted_price</a:t>
            </a:r>
            <a:r>
              <a:rPr lang="en-US" sz="2400" dirty="0"/>
              <a:t> numeric,</a:t>
            </a:r>
          </a:p>
          <a:p>
            <a:r>
              <a:rPr lang="en-US" sz="2400" dirty="0"/>
              <a:t>    CHECK (</a:t>
            </a:r>
            <a:r>
              <a:rPr lang="en-US" sz="2400" dirty="0" err="1"/>
              <a:t>discounted_price</a:t>
            </a:r>
            <a:r>
              <a:rPr lang="en-US" sz="2400" dirty="0"/>
              <a:t> &gt; 0 AND price &gt; </a:t>
            </a:r>
            <a:r>
              <a:rPr lang="en-US" sz="2400" dirty="0" err="1"/>
              <a:t>discounted_price</a:t>
            </a:r>
            <a:r>
              <a:rPr lang="en-US" sz="2400" dirty="0"/>
              <a:t>)</a:t>
            </a:r>
          </a:p>
          <a:p>
            <a:r>
              <a:rPr lang="en-US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5002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Ограничениям таблицы можно присваивать имена так же, как и ограничениям столбцов:</a:t>
            </a:r>
          </a:p>
          <a:p>
            <a:endParaRPr lang="ru-RU" sz="2400" dirty="0" smtClean="0"/>
          </a:p>
          <a:p>
            <a:r>
              <a:rPr lang="en-US" sz="2400" dirty="0" smtClean="0"/>
              <a:t>CREATE </a:t>
            </a:r>
            <a:r>
              <a:rPr lang="en-US" sz="2400" dirty="0"/>
              <a:t>TABLE products (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integer,</a:t>
            </a:r>
          </a:p>
          <a:p>
            <a:r>
              <a:rPr lang="en-US" sz="2400" dirty="0"/>
              <a:t>    name text,</a:t>
            </a:r>
          </a:p>
          <a:p>
            <a:r>
              <a:rPr lang="en-US" sz="2400" dirty="0"/>
              <a:t>    price numeric,</a:t>
            </a:r>
          </a:p>
          <a:p>
            <a:r>
              <a:rPr lang="en-US" sz="2400" dirty="0"/>
              <a:t>    CHECK (price &gt; 0),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discounted_price</a:t>
            </a:r>
            <a:r>
              <a:rPr lang="en-US" sz="2400" dirty="0"/>
              <a:t> numeric,</a:t>
            </a:r>
          </a:p>
          <a:p>
            <a:r>
              <a:rPr lang="en-US" sz="2400" dirty="0"/>
              <a:t>    CHECK (</a:t>
            </a:r>
            <a:r>
              <a:rPr lang="en-US" sz="2400" dirty="0" err="1"/>
              <a:t>discounted_price</a:t>
            </a:r>
            <a:r>
              <a:rPr lang="en-US" sz="2400" dirty="0"/>
              <a:t> &gt; 0),</a:t>
            </a:r>
          </a:p>
          <a:p>
            <a:r>
              <a:rPr lang="en-US" sz="2400" dirty="0"/>
              <a:t>    CONSTRAINT </a:t>
            </a:r>
            <a:r>
              <a:rPr lang="en-US" sz="2400" dirty="0" err="1"/>
              <a:t>valid_discount</a:t>
            </a:r>
            <a:r>
              <a:rPr lang="en-US" sz="2400" dirty="0"/>
              <a:t> CHECK (price &gt; </a:t>
            </a:r>
            <a:r>
              <a:rPr lang="en-US" sz="2400" dirty="0" err="1"/>
              <a:t>discounted_price</a:t>
            </a:r>
            <a:r>
              <a:rPr lang="en-US" sz="2400" dirty="0"/>
              <a:t>)</a:t>
            </a:r>
          </a:p>
          <a:p>
            <a:r>
              <a:rPr lang="en-US" sz="2400" dirty="0" smtClean="0"/>
              <a:t>);</a:t>
            </a:r>
            <a:endParaRPr lang="ru-RU" sz="2400" dirty="0" smtClean="0"/>
          </a:p>
          <a:p>
            <a:pPr algn="just"/>
            <a:r>
              <a:rPr lang="ru-RU" sz="2400" dirty="0" err="1"/>
              <a:t>PostgreSQL</a:t>
            </a:r>
            <a:r>
              <a:rPr lang="ru-RU" sz="2400" dirty="0"/>
              <a:t> не поддерживает ограничения </a:t>
            </a:r>
            <a:r>
              <a:rPr lang="ru-RU" sz="2400" dirty="0" smtClean="0"/>
              <a:t>CHECK. Для </a:t>
            </a:r>
            <a:r>
              <a:rPr lang="ru-RU" sz="2400" dirty="0"/>
              <a:t>определения ограничений, затрагивающих другие строки и другие таблицы, используйте ограничения UNIQUE, EXCLUDE или FOREIGN KEY</a:t>
            </a:r>
            <a:r>
              <a:rPr lang="ru-RU" sz="2400" dirty="0" smtClean="0"/>
              <a:t> .</a:t>
            </a:r>
          </a:p>
          <a:p>
            <a:pPr algn="just"/>
            <a:r>
              <a:rPr lang="ru-RU" sz="2400" dirty="0" smtClean="0"/>
              <a:t>Изменения можно осуществлять </a:t>
            </a:r>
            <a:r>
              <a:rPr lang="ru-RU" sz="2400" dirty="0"/>
              <a:t>следующим образом: удалить ограничение (используя ALTER TABLE), изменить определение функции, а затем пересоздать ограничение той же командой, которая при этом перепроверит все строки таблицы.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4393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30580" y="0"/>
            <a:ext cx="33633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 </a:t>
            </a:r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1999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Ограничения </a:t>
            </a:r>
            <a:r>
              <a:rPr lang="en-US" sz="2000" b="1" dirty="0"/>
              <a:t>NOT NULL</a:t>
            </a:r>
            <a:endParaRPr lang="ru-RU" sz="2000" dirty="0" smtClean="0"/>
          </a:p>
          <a:p>
            <a:r>
              <a:rPr lang="en-US" sz="2000" dirty="0" smtClean="0"/>
              <a:t>CREATE </a:t>
            </a:r>
            <a:r>
              <a:rPr lang="en-US" sz="2000" dirty="0"/>
              <a:t>TABLE products (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product_no</a:t>
            </a:r>
            <a:r>
              <a:rPr lang="en-US" sz="2000" dirty="0"/>
              <a:t> integer NOT NULL,</a:t>
            </a:r>
          </a:p>
          <a:p>
            <a:r>
              <a:rPr lang="en-US" sz="2000" dirty="0"/>
              <a:t>    name text NOT NULL,</a:t>
            </a:r>
          </a:p>
          <a:p>
            <a:r>
              <a:rPr lang="en-US" sz="2000" dirty="0"/>
              <a:t>    price numeric</a:t>
            </a:r>
          </a:p>
          <a:p>
            <a:r>
              <a:rPr lang="en-US" sz="2000" dirty="0"/>
              <a:t>);</a:t>
            </a:r>
          </a:p>
          <a:p>
            <a:r>
              <a:rPr lang="ru-RU" sz="2000" dirty="0"/>
              <a:t>Можно также явно указать имя ограничения, например:</a:t>
            </a:r>
          </a:p>
          <a:p>
            <a:r>
              <a:rPr lang="en-US" sz="2000" dirty="0"/>
              <a:t>CREATE TABLE products (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product_no</a:t>
            </a:r>
            <a:r>
              <a:rPr lang="en-US" sz="2000" dirty="0"/>
              <a:t> integer NOT NULL,</a:t>
            </a:r>
          </a:p>
          <a:p>
            <a:r>
              <a:rPr lang="en-US" sz="2000" dirty="0"/>
              <a:t>    name text CONSTRAINT </a:t>
            </a:r>
            <a:r>
              <a:rPr lang="en-US" sz="2000" dirty="0" err="1"/>
              <a:t>products_name_not_null</a:t>
            </a:r>
            <a:r>
              <a:rPr lang="en-US" sz="2000" dirty="0"/>
              <a:t> NOT NULL,</a:t>
            </a:r>
          </a:p>
          <a:p>
            <a:r>
              <a:rPr lang="en-US" sz="2000" dirty="0"/>
              <a:t>    price numeric</a:t>
            </a:r>
          </a:p>
          <a:p>
            <a:r>
              <a:rPr lang="en-US" sz="2000" dirty="0" smtClean="0"/>
              <a:t>);</a:t>
            </a:r>
            <a:endParaRPr lang="ru-RU" sz="2000" dirty="0" smtClean="0"/>
          </a:p>
          <a:p>
            <a:r>
              <a:rPr lang="ru-RU" sz="2000" dirty="0"/>
              <a:t>Ограничение NOT NULL обычно задаётся как ограничение столбца. Синтаксис для его записи в виде ограничения таблицы следующий:</a:t>
            </a:r>
          </a:p>
          <a:p>
            <a:endParaRPr lang="ru-RU" sz="2000" dirty="0" smtClean="0"/>
          </a:p>
          <a:p>
            <a:r>
              <a:rPr lang="en-US" sz="2000" dirty="0"/>
              <a:t>CREATE TABLE products (</a:t>
            </a:r>
            <a:endParaRPr lang="ru-RU" sz="2000" dirty="0"/>
          </a:p>
          <a:p>
            <a:r>
              <a:rPr lang="en-US" sz="2000" dirty="0"/>
              <a:t>    </a:t>
            </a:r>
            <a:r>
              <a:rPr lang="en-US" sz="2000" dirty="0" err="1"/>
              <a:t>product_no</a:t>
            </a:r>
            <a:r>
              <a:rPr lang="en-US" sz="2000" dirty="0"/>
              <a:t> integer,</a:t>
            </a:r>
            <a:endParaRPr lang="ru-RU" sz="2000" dirty="0"/>
          </a:p>
          <a:p>
            <a:r>
              <a:rPr lang="en-US" sz="2000" dirty="0"/>
              <a:t>    name text,</a:t>
            </a:r>
            <a:endParaRPr lang="ru-RU" sz="2000" dirty="0"/>
          </a:p>
          <a:p>
            <a:r>
              <a:rPr lang="en-US" sz="2000" dirty="0"/>
              <a:t>    price numeric,</a:t>
            </a:r>
            <a:endParaRPr lang="ru-RU" sz="2000" dirty="0"/>
          </a:p>
          <a:p>
            <a:r>
              <a:rPr lang="en-US" sz="2000" dirty="0"/>
              <a:t>    </a:t>
            </a:r>
            <a:r>
              <a:rPr lang="en-US" sz="2000" b="1" dirty="0"/>
              <a:t>NOT NULL </a:t>
            </a:r>
            <a:r>
              <a:rPr lang="en-US" sz="2000" b="1" dirty="0" err="1"/>
              <a:t>product_no</a:t>
            </a:r>
            <a:r>
              <a:rPr lang="en-US" sz="2000" dirty="0"/>
              <a:t>,</a:t>
            </a:r>
            <a:endParaRPr lang="ru-RU" sz="2000" dirty="0"/>
          </a:p>
          <a:p>
            <a:r>
              <a:rPr lang="en-US" sz="2000" dirty="0"/>
              <a:t>    </a:t>
            </a:r>
            <a:r>
              <a:rPr lang="ru-RU" sz="2000" b="1" dirty="0"/>
              <a:t>NOT NULL </a:t>
            </a:r>
            <a:r>
              <a:rPr lang="ru-RU" sz="2000" b="1" dirty="0" err="1"/>
              <a:t>name</a:t>
            </a:r>
            <a:endParaRPr lang="ru-RU" sz="2000" dirty="0"/>
          </a:p>
          <a:p>
            <a:r>
              <a:rPr lang="ru-RU" sz="2000" dirty="0" smtClean="0"/>
              <a:t>);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6835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для столбца можно определить больше одного ограничения. Для этого их нужно просто указать одно за другим:</a:t>
            </a:r>
          </a:p>
          <a:p>
            <a:endParaRPr lang="ru-RU" sz="2400" dirty="0" smtClean="0"/>
          </a:p>
          <a:p>
            <a:r>
              <a:rPr lang="en-US" sz="2400" dirty="0" smtClean="0"/>
              <a:t>CREATE </a:t>
            </a:r>
            <a:r>
              <a:rPr lang="en-US" sz="2400" dirty="0"/>
              <a:t>TABLE products (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 NOT NULL,</a:t>
            </a:r>
          </a:p>
          <a:p>
            <a:r>
              <a:rPr lang="en-US" sz="2400" dirty="0"/>
              <a:t>    name text NOT NULL,</a:t>
            </a:r>
          </a:p>
          <a:p>
            <a:r>
              <a:rPr lang="en-US" sz="2400" dirty="0"/>
              <a:t>    price numeric NOT NULL CHECK (price &gt; 0)</a:t>
            </a:r>
          </a:p>
          <a:p>
            <a:r>
              <a:rPr lang="en-US" sz="2400" dirty="0" smtClean="0"/>
              <a:t>);</a:t>
            </a:r>
            <a:endParaRPr lang="ru-RU" sz="2400" dirty="0" smtClean="0"/>
          </a:p>
          <a:p>
            <a:r>
              <a:rPr lang="ru-RU" sz="2400" dirty="0"/>
              <a:t> </a:t>
            </a:r>
            <a:endParaRPr lang="ru-RU" sz="2400" dirty="0" smtClean="0"/>
          </a:p>
          <a:p>
            <a:r>
              <a:rPr lang="ru-RU" sz="2400" dirty="0" smtClean="0"/>
              <a:t>ограничение есть обратное</a:t>
            </a:r>
          </a:p>
          <a:p>
            <a:r>
              <a:rPr lang="en-US" sz="2400" dirty="0"/>
              <a:t>CREATE TABLE products (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 NULL,</a:t>
            </a:r>
            <a:endParaRPr lang="ru-RU" sz="2400" dirty="0"/>
          </a:p>
          <a:p>
            <a:r>
              <a:rPr lang="en-US" sz="2400" dirty="0"/>
              <a:t>    name text NULL,</a:t>
            </a:r>
            <a:endParaRPr lang="ru-RU" sz="2400" dirty="0"/>
          </a:p>
          <a:p>
            <a:r>
              <a:rPr lang="en-US" sz="2400" dirty="0"/>
              <a:t>    price numeric NULL</a:t>
            </a:r>
            <a:endParaRPr lang="ru-RU" sz="2400" dirty="0"/>
          </a:p>
          <a:p>
            <a:r>
              <a:rPr lang="ru-RU" sz="2400" dirty="0"/>
              <a:t>);</a:t>
            </a:r>
          </a:p>
          <a:p>
            <a:r>
              <a:rPr lang="ru-RU" sz="2400" dirty="0"/>
              <a:t>и затем вставить ключевое слово NOT, где потребуется</a:t>
            </a:r>
            <a:r>
              <a:rPr lang="ru-RU" sz="2400" dirty="0" smtClean="0"/>
              <a:t>. </a:t>
            </a:r>
            <a:r>
              <a:rPr lang="ru-RU" sz="2400" dirty="0"/>
              <a:t>При проектировании баз данных чаще всего большинство столбцов должны быть помечены как NOT NULL</a:t>
            </a:r>
            <a:r>
              <a:rPr lang="ru-RU" sz="2400" dirty="0" smtClean="0"/>
              <a:t>.</a:t>
            </a:r>
            <a:endParaRPr lang="ru-RU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51076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645568" y="0"/>
            <a:ext cx="39188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Ограничения уникальности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5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Ограничение записывается так</a:t>
            </a:r>
            <a:r>
              <a:rPr lang="en-US" sz="2400" dirty="0"/>
              <a:t>:</a:t>
            </a:r>
            <a:endParaRPr lang="ru-RU" sz="2400" dirty="0"/>
          </a:p>
          <a:p>
            <a:endParaRPr lang="ru-RU" sz="2400" dirty="0" smtClean="0"/>
          </a:p>
          <a:p>
            <a:r>
              <a:rPr lang="en-US" sz="2400" dirty="0" smtClean="0"/>
              <a:t>CREATE </a:t>
            </a:r>
            <a:r>
              <a:rPr lang="en-US" sz="2400" dirty="0"/>
              <a:t>TABLE products (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 UNIQUE,</a:t>
            </a:r>
          </a:p>
          <a:p>
            <a:r>
              <a:rPr lang="en-US" sz="2400" dirty="0"/>
              <a:t>    name text,</a:t>
            </a:r>
          </a:p>
          <a:p>
            <a:r>
              <a:rPr lang="en-US" sz="2400" dirty="0"/>
              <a:t>    price numeric</a:t>
            </a:r>
          </a:p>
          <a:p>
            <a:r>
              <a:rPr lang="en-US" sz="2400" dirty="0"/>
              <a:t>);</a:t>
            </a:r>
          </a:p>
          <a:p>
            <a:r>
              <a:rPr lang="ru-RU" sz="2400" dirty="0"/>
              <a:t>в виде ограничения столбца и так:</a:t>
            </a:r>
          </a:p>
          <a:p>
            <a:r>
              <a:rPr lang="en-US" sz="2400" dirty="0"/>
              <a:t>CREATE TABLE products (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integer,</a:t>
            </a:r>
          </a:p>
          <a:p>
            <a:r>
              <a:rPr lang="en-US" sz="2400" dirty="0"/>
              <a:t>    name text,</a:t>
            </a:r>
          </a:p>
          <a:p>
            <a:r>
              <a:rPr lang="en-US" sz="2400" dirty="0"/>
              <a:t>    price numeric,</a:t>
            </a:r>
          </a:p>
          <a:p>
            <a:r>
              <a:rPr lang="en-US" sz="2400" dirty="0"/>
              <a:t>    UNIQUE (</a:t>
            </a:r>
            <a:r>
              <a:rPr lang="en-US" sz="2400" dirty="0" err="1"/>
              <a:t>product_no</a:t>
            </a:r>
            <a:r>
              <a:rPr lang="en-US" sz="2400" dirty="0"/>
              <a:t>)</a:t>
            </a:r>
          </a:p>
          <a:p>
            <a:r>
              <a:rPr lang="en-US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14209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0" y="1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Чтобы определить ограничение уникальности для группы столбцов, запишите его в виде ограничения таблицы, перечислив имена столбцов через запятую:</a:t>
            </a:r>
          </a:p>
          <a:p>
            <a:r>
              <a:rPr lang="ru-RU" sz="2400" dirty="0"/>
              <a:t>CREATE TABLE </a:t>
            </a:r>
            <a:r>
              <a:rPr lang="ru-RU" sz="2400" dirty="0" err="1"/>
              <a:t>example</a:t>
            </a:r>
            <a:r>
              <a:rPr lang="ru-RU" sz="2400" dirty="0"/>
              <a:t> (</a:t>
            </a:r>
          </a:p>
          <a:p>
            <a:r>
              <a:rPr lang="ru-RU" sz="2400" dirty="0"/>
              <a:t>    a </a:t>
            </a:r>
            <a:r>
              <a:rPr lang="ru-RU" sz="2400" dirty="0" err="1"/>
              <a:t>integer</a:t>
            </a:r>
            <a:r>
              <a:rPr lang="ru-RU" sz="2400" dirty="0"/>
              <a:t>,</a:t>
            </a:r>
          </a:p>
          <a:p>
            <a:r>
              <a:rPr lang="ru-RU" sz="2400" dirty="0"/>
              <a:t>    b </a:t>
            </a:r>
            <a:r>
              <a:rPr lang="ru-RU" sz="2400" dirty="0" err="1"/>
              <a:t>integer</a:t>
            </a:r>
            <a:r>
              <a:rPr lang="ru-RU" sz="2400" dirty="0"/>
              <a:t>,</a:t>
            </a:r>
          </a:p>
          <a:p>
            <a:r>
              <a:rPr lang="ru-RU" sz="2400" dirty="0"/>
              <a:t>    c </a:t>
            </a:r>
            <a:r>
              <a:rPr lang="ru-RU" sz="2400" dirty="0" err="1"/>
              <a:t>integer</a:t>
            </a:r>
            <a:r>
              <a:rPr lang="ru-RU" sz="2400" dirty="0"/>
              <a:t>,</a:t>
            </a:r>
          </a:p>
          <a:p>
            <a:r>
              <a:rPr lang="ru-RU" sz="2400" dirty="0"/>
              <a:t>    UNIQUE (a, c)</a:t>
            </a:r>
          </a:p>
          <a:p>
            <a:r>
              <a:rPr lang="ru-RU" sz="2400" dirty="0" smtClean="0"/>
              <a:t>);</a:t>
            </a:r>
          </a:p>
          <a:p>
            <a:endParaRPr lang="ru-RU" sz="2400" dirty="0" smtClean="0"/>
          </a:p>
          <a:p>
            <a:r>
              <a:rPr lang="ru-RU" sz="2400" dirty="0" smtClean="0"/>
              <a:t>можем </a:t>
            </a:r>
            <a:r>
              <a:rPr lang="ru-RU" sz="2400" dirty="0"/>
              <a:t>назначить уникальному ограничению имя обычным образом:</a:t>
            </a:r>
          </a:p>
          <a:p>
            <a:r>
              <a:rPr lang="en-US" sz="2400" dirty="0"/>
              <a:t>CREATE TABLE products (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 </a:t>
            </a:r>
            <a:r>
              <a:rPr lang="en-US" sz="2400" b="1" dirty="0"/>
              <a:t>CONSTRAINT </a:t>
            </a:r>
            <a:r>
              <a:rPr lang="en-US" sz="2400" b="1" dirty="0" err="1"/>
              <a:t>must_be_different</a:t>
            </a:r>
            <a:r>
              <a:rPr lang="en-US" sz="2400" dirty="0"/>
              <a:t> UNIQUE,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ru-RU" sz="2400" dirty="0" err="1"/>
              <a:t>name</a:t>
            </a:r>
            <a:r>
              <a:rPr lang="ru-RU" sz="2400" dirty="0"/>
              <a:t> </a:t>
            </a:r>
            <a:r>
              <a:rPr lang="ru-RU" sz="2400" dirty="0" err="1"/>
              <a:t>text</a:t>
            </a:r>
            <a:r>
              <a:rPr lang="ru-RU" sz="2400" dirty="0"/>
              <a:t>,</a:t>
            </a:r>
          </a:p>
          <a:p>
            <a:r>
              <a:rPr lang="ru-RU" sz="2400" dirty="0"/>
              <a:t>    </a:t>
            </a:r>
            <a:r>
              <a:rPr lang="ru-RU" sz="2400" dirty="0" err="1"/>
              <a:t>price</a:t>
            </a:r>
            <a:r>
              <a:rPr lang="ru-RU" sz="2400" dirty="0"/>
              <a:t> </a:t>
            </a:r>
            <a:r>
              <a:rPr lang="ru-RU" sz="2400" dirty="0" err="1"/>
              <a:t>numeric</a:t>
            </a:r>
            <a:endParaRPr lang="ru-RU" sz="2400" dirty="0"/>
          </a:p>
          <a:p>
            <a:r>
              <a:rPr lang="ru-RU" sz="2400" dirty="0"/>
              <a:t>);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9454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147812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при наличии ограничения уникальности в таблице можно сохранить строки с </a:t>
            </a:r>
            <a:r>
              <a:rPr lang="ru-RU" sz="2400" dirty="0" err="1"/>
              <a:t>дублирующимися</a:t>
            </a:r>
            <a:r>
              <a:rPr lang="ru-RU" sz="2400" dirty="0"/>
              <a:t> значениями, если они содержат NULL в одном или нескольких ограничиваемых столбцах. Это поведение можно изменить, добавив предложение NULLS NOT DISTINCT, </a:t>
            </a:r>
            <a:r>
              <a:rPr lang="ru-RU" sz="2400" dirty="0" smtClean="0"/>
              <a:t>например:</a:t>
            </a:r>
          </a:p>
          <a:p>
            <a:pPr algn="just"/>
            <a:endParaRPr lang="ru-RU" sz="2400" dirty="0" smtClean="0"/>
          </a:p>
          <a:p>
            <a:pPr algn="just"/>
            <a:r>
              <a:rPr lang="en-US" sz="2400" dirty="0" smtClean="0"/>
              <a:t>CREATE </a:t>
            </a:r>
            <a:r>
              <a:rPr lang="en-US" sz="2400" dirty="0"/>
              <a:t>TABLE products (</a:t>
            </a:r>
          </a:p>
          <a:p>
            <a:pPr algn="just"/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 UNIQUE NULLS NOT DISTINCT,</a:t>
            </a:r>
          </a:p>
          <a:p>
            <a:pPr algn="just"/>
            <a:r>
              <a:rPr lang="en-US" sz="2400" dirty="0"/>
              <a:t>    name text,</a:t>
            </a:r>
          </a:p>
          <a:p>
            <a:pPr algn="just"/>
            <a:r>
              <a:rPr lang="en-US" sz="2400" dirty="0"/>
              <a:t>    price numeric</a:t>
            </a:r>
          </a:p>
          <a:p>
            <a:pPr algn="just"/>
            <a:r>
              <a:rPr lang="en-US" sz="2400" dirty="0"/>
              <a:t>);</a:t>
            </a:r>
          </a:p>
          <a:p>
            <a:pPr algn="just"/>
            <a:r>
              <a:rPr lang="en-US" sz="2400" dirty="0" err="1"/>
              <a:t>или</a:t>
            </a:r>
            <a:endParaRPr lang="en-US" sz="2400" dirty="0"/>
          </a:p>
          <a:p>
            <a:pPr algn="just"/>
            <a:r>
              <a:rPr lang="en-US" sz="2400" dirty="0"/>
              <a:t>CREATE TABLE products (</a:t>
            </a:r>
          </a:p>
          <a:p>
            <a:pPr algn="just"/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integer,</a:t>
            </a:r>
          </a:p>
          <a:p>
            <a:pPr algn="just"/>
            <a:r>
              <a:rPr lang="en-US" sz="2400" dirty="0"/>
              <a:t>    name text,</a:t>
            </a:r>
          </a:p>
          <a:p>
            <a:pPr algn="just"/>
            <a:r>
              <a:rPr lang="en-US" sz="2400" dirty="0"/>
              <a:t>    price numeric,</a:t>
            </a:r>
          </a:p>
          <a:p>
            <a:pPr algn="just"/>
            <a:r>
              <a:rPr lang="en-US" sz="2400" dirty="0"/>
              <a:t>    UNIQUE </a:t>
            </a:r>
          </a:p>
        </p:txBody>
      </p:sp>
    </p:spTree>
    <p:extLst>
      <p:ext uri="{BB962C8B-B14F-4D97-AF65-F5344CB8AC3E}">
        <p14:creationId xmlns:p14="http://schemas.microsoft.com/office/powerpoint/2010/main" val="1613815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343400" y="0"/>
            <a:ext cx="27698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Первичные ключи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-1" y="348916"/>
            <a:ext cx="12192001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Ограничение первичного ключа означает, что образующий его столбец или группа столбцов может быть уникальным идентификатором строк в </a:t>
            </a:r>
            <a:r>
              <a:rPr lang="ru-RU" sz="2000" dirty="0" smtClean="0"/>
              <a:t>таблице:</a:t>
            </a:r>
          </a:p>
          <a:p>
            <a:endParaRPr lang="ru-RU" sz="2000" dirty="0" smtClean="0"/>
          </a:p>
          <a:p>
            <a:r>
              <a:rPr lang="en-US" sz="2000" dirty="0" smtClean="0"/>
              <a:t>CREATE </a:t>
            </a:r>
            <a:r>
              <a:rPr lang="en-US" sz="2000" dirty="0"/>
              <a:t>TABLE products (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product_no</a:t>
            </a:r>
            <a:r>
              <a:rPr lang="en-US" sz="2000" dirty="0"/>
              <a:t> integer UNIQUE NOT NULL,</a:t>
            </a:r>
          </a:p>
          <a:p>
            <a:r>
              <a:rPr lang="en-US" sz="2000" dirty="0"/>
              <a:t>    name text,</a:t>
            </a:r>
          </a:p>
          <a:p>
            <a:r>
              <a:rPr lang="en-US" sz="2000" dirty="0"/>
              <a:t>    price numeric</a:t>
            </a:r>
          </a:p>
          <a:p>
            <a:r>
              <a:rPr lang="en-US" sz="2000" dirty="0"/>
              <a:t>);</a:t>
            </a:r>
          </a:p>
          <a:p>
            <a:r>
              <a:rPr lang="en-US" sz="2000" dirty="0"/>
              <a:t>CREATE TABLE products (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product_no</a:t>
            </a:r>
            <a:r>
              <a:rPr lang="en-US" sz="2000" dirty="0"/>
              <a:t> integer PRIMARY KEY,</a:t>
            </a:r>
          </a:p>
          <a:p>
            <a:r>
              <a:rPr lang="en-US" sz="2000" dirty="0"/>
              <a:t>    name text,</a:t>
            </a:r>
          </a:p>
          <a:p>
            <a:r>
              <a:rPr lang="en-US" sz="2000" dirty="0"/>
              <a:t>    price numeric</a:t>
            </a:r>
          </a:p>
          <a:p>
            <a:r>
              <a:rPr lang="en-US" sz="2000" dirty="0" smtClean="0"/>
              <a:t>);</a:t>
            </a:r>
            <a:endParaRPr lang="ru-RU" sz="2000" dirty="0" smtClean="0"/>
          </a:p>
          <a:p>
            <a:r>
              <a:rPr lang="ru-RU" sz="2000" dirty="0"/>
              <a:t>Первичные ключи могут включать несколько столбцов; синтаксис похож на запись ограничений уникальности:</a:t>
            </a:r>
          </a:p>
          <a:p>
            <a:r>
              <a:rPr lang="en-US" sz="2000" dirty="0"/>
              <a:t>CREATE TABLE example (</a:t>
            </a:r>
            <a:endParaRPr lang="ru-RU" sz="2000" dirty="0"/>
          </a:p>
          <a:p>
            <a:r>
              <a:rPr lang="en-US" sz="2000" dirty="0"/>
              <a:t>    a integer,</a:t>
            </a:r>
            <a:endParaRPr lang="ru-RU" sz="2000" dirty="0"/>
          </a:p>
          <a:p>
            <a:r>
              <a:rPr lang="en-US" sz="2000" dirty="0"/>
              <a:t>    b integer,</a:t>
            </a:r>
            <a:endParaRPr lang="ru-RU" sz="2000" dirty="0"/>
          </a:p>
          <a:p>
            <a:r>
              <a:rPr lang="en-US" sz="2000" dirty="0"/>
              <a:t>    c integer,</a:t>
            </a:r>
            <a:endParaRPr lang="ru-RU" sz="2000" dirty="0"/>
          </a:p>
          <a:p>
            <a:r>
              <a:rPr lang="en-US" sz="2000" dirty="0"/>
              <a:t>    </a:t>
            </a:r>
            <a:r>
              <a:rPr lang="en-US" sz="2000" b="1" dirty="0"/>
              <a:t>PRIMARY KEY (a, c)</a:t>
            </a:r>
            <a:endParaRPr lang="ru-RU" sz="2000" dirty="0"/>
          </a:p>
          <a:p>
            <a:r>
              <a:rPr lang="ru-RU" sz="2000" dirty="0" smtClean="0"/>
              <a:t>);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9757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838074" y="0"/>
            <a:ext cx="31637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Внешние ключи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6"/>
            <a:ext cx="1171875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есть таблица продуктов, которую мы неоднократно использовали ранее:</a:t>
            </a:r>
          </a:p>
          <a:p>
            <a:r>
              <a:rPr lang="en-US" sz="2400" dirty="0"/>
              <a:t>CREATE TABLE products (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 PRIMARY KEY,</a:t>
            </a:r>
          </a:p>
          <a:p>
            <a:r>
              <a:rPr lang="en-US" sz="2400" dirty="0"/>
              <a:t>    name text,</a:t>
            </a:r>
          </a:p>
          <a:p>
            <a:r>
              <a:rPr lang="en-US" sz="2400" dirty="0"/>
              <a:t>    price numeric</a:t>
            </a:r>
          </a:p>
          <a:p>
            <a:r>
              <a:rPr lang="en-US" sz="2400" dirty="0" smtClean="0"/>
              <a:t>);</a:t>
            </a:r>
            <a:endParaRPr lang="ru-RU" sz="2400" dirty="0" smtClean="0"/>
          </a:p>
          <a:p>
            <a:endParaRPr lang="ru-RU" sz="2400" dirty="0" smtClean="0"/>
          </a:p>
          <a:p>
            <a:r>
              <a:rPr lang="ru-RU" sz="2400" dirty="0" smtClean="0"/>
              <a:t>определим  </a:t>
            </a:r>
            <a:r>
              <a:rPr lang="ru-RU" sz="2400" dirty="0"/>
              <a:t>ограничение внешнего ключа, ссылающееся на таблицу продуктов:</a:t>
            </a:r>
          </a:p>
          <a:p>
            <a:r>
              <a:rPr lang="en-US" sz="2400" dirty="0"/>
              <a:t>CREATE TABLE orders (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order_id</a:t>
            </a:r>
            <a:r>
              <a:rPr lang="en-US" sz="2400" dirty="0"/>
              <a:t> integer PRIMARY KEY,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 </a:t>
            </a:r>
            <a:r>
              <a:rPr lang="en-US" sz="2400" b="1" dirty="0"/>
              <a:t>REFERENCES products (</a:t>
            </a:r>
            <a:r>
              <a:rPr lang="en-US" sz="2400" b="1" dirty="0" err="1"/>
              <a:t>product_no</a:t>
            </a:r>
            <a:r>
              <a:rPr lang="en-US" sz="2400" b="1" dirty="0"/>
              <a:t>)</a:t>
            </a:r>
            <a:r>
              <a:rPr lang="en-US" sz="2400" dirty="0"/>
              <a:t>,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ru-RU" sz="2400" dirty="0" err="1"/>
              <a:t>quantity</a:t>
            </a:r>
            <a:r>
              <a:rPr lang="ru-RU" sz="2400" dirty="0"/>
              <a:t> </a:t>
            </a:r>
            <a:r>
              <a:rPr lang="ru-RU" sz="2400" dirty="0" err="1"/>
              <a:t>integer</a:t>
            </a:r>
            <a:endParaRPr lang="ru-RU" sz="2400" dirty="0"/>
          </a:p>
          <a:p>
            <a:r>
              <a:rPr lang="ru-RU" sz="2400" dirty="0"/>
              <a:t>);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0113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Предыдущую команду можно сократить так:</a:t>
            </a:r>
          </a:p>
          <a:p>
            <a:r>
              <a:rPr lang="en-US" sz="2400" dirty="0"/>
              <a:t>CREATE TABLE orders (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order_id</a:t>
            </a:r>
            <a:r>
              <a:rPr lang="en-US" sz="2400" dirty="0"/>
              <a:t> integer PRIMARY KEY,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product_no</a:t>
            </a:r>
            <a:r>
              <a:rPr lang="en-US" sz="2400" dirty="0"/>
              <a:t> integer REFERENCES products,</a:t>
            </a:r>
          </a:p>
          <a:p>
            <a:r>
              <a:rPr lang="en-US" sz="2400" dirty="0"/>
              <a:t>    quantity integer</a:t>
            </a:r>
          </a:p>
          <a:p>
            <a:r>
              <a:rPr lang="en-US" sz="2400" dirty="0" smtClean="0"/>
              <a:t>);</a:t>
            </a:r>
            <a:endParaRPr lang="ru-RU" sz="2400" dirty="0" smtClean="0"/>
          </a:p>
          <a:p>
            <a:endParaRPr lang="ru-RU" sz="2400" dirty="0"/>
          </a:p>
          <a:p>
            <a:pPr algn="just"/>
            <a:r>
              <a:rPr lang="ru-RU" sz="2400" dirty="0"/>
              <a:t>Внешний ключ также может ссылаться на группу столбцов. В этом случае его нужно записать в виде обычного ограничения таблицы</a:t>
            </a:r>
            <a:r>
              <a:rPr lang="ru-RU" sz="2400" dirty="0" smtClean="0"/>
              <a:t>.</a:t>
            </a:r>
          </a:p>
          <a:p>
            <a:pPr algn="just"/>
            <a:r>
              <a:rPr lang="ru-RU" sz="2400" dirty="0" smtClean="0"/>
              <a:t> </a:t>
            </a:r>
            <a:r>
              <a:rPr lang="ru-RU" sz="2400" dirty="0"/>
              <a:t>Например</a:t>
            </a:r>
            <a:r>
              <a:rPr lang="en-US" sz="2400" dirty="0"/>
              <a:t>:</a:t>
            </a:r>
            <a:endParaRPr lang="ru-RU" sz="2400" dirty="0"/>
          </a:p>
          <a:p>
            <a:r>
              <a:rPr lang="en-US" sz="2400" dirty="0"/>
              <a:t>CREATE TABLE t1 (</a:t>
            </a:r>
            <a:endParaRPr lang="ru-RU" sz="2400" dirty="0"/>
          </a:p>
          <a:p>
            <a:r>
              <a:rPr lang="en-US" sz="2400" dirty="0"/>
              <a:t>  a integer PRIMARY KEY,</a:t>
            </a:r>
            <a:endParaRPr lang="ru-RU" sz="2400" dirty="0"/>
          </a:p>
          <a:p>
            <a:r>
              <a:rPr lang="en-US" sz="2400" dirty="0"/>
              <a:t>  b integer,</a:t>
            </a:r>
            <a:endParaRPr lang="ru-RU" sz="2400" dirty="0"/>
          </a:p>
          <a:p>
            <a:r>
              <a:rPr lang="en-US" sz="2400" dirty="0"/>
              <a:t>  c integer,</a:t>
            </a:r>
            <a:endParaRPr lang="ru-RU" sz="2400" dirty="0"/>
          </a:p>
          <a:p>
            <a:r>
              <a:rPr lang="en-US" sz="2400" dirty="0"/>
              <a:t>  </a:t>
            </a:r>
            <a:r>
              <a:rPr lang="en-US" sz="2400" b="1" dirty="0"/>
              <a:t>FOREIGN KEY (b, c) REFERENCES </a:t>
            </a:r>
            <a:r>
              <a:rPr lang="en-US" sz="2400" b="1" dirty="0" err="1"/>
              <a:t>other_table</a:t>
            </a:r>
            <a:r>
              <a:rPr lang="en-US" sz="2400" b="1" dirty="0"/>
              <a:t> (c1, c2)</a:t>
            </a:r>
            <a:endParaRPr lang="ru-RU" sz="2400" dirty="0"/>
          </a:p>
          <a:p>
            <a:r>
              <a:rPr lang="ru-RU" sz="2400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361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-1" y="108285"/>
            <a:ext cx="1219200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Например, если вы хотите, чтобы строки таблицы представляли узлы древовидной структуры, вы можете написать</a:t>
            </a:r>
          </a:p>
          <a:p>
            <a:r>
              <a:rPr lang="en-US" dirty="0"/>
              <a:t>CREATE TABLE tree (</a:t>
            </a:r>
          </a:p>
          <a:p>
            <a:r>
              <a:rPr lang="en-US" dirty="0"/>
              <a:t>    </a:t>
            </a:r>
            <a:r>
              <a:rPr lang="en-US" dirty="0" err="1"/>
              <a:t>node_id</a:t>
            </a:r>
            <a:r>
              <a:rPr lang="en-US" dirty="0"/>
              <a:t> integer PRIMARY KEY,</a:t>
            </a:r>
          </a:p>
          <a:p>
            <a:r>
              <a:rPr lang="en-US" dirty="0"/>
              <a:t>    </a:t>
            </a:r>
            <a:r>
              <a:rPr lang="en-US" dirty="0" err="1"/>
              <a:t>parent_id</a:t>
            </a:r>
            <a:r>
              <a:rPr lang="en-US" dirty="0"/>
              <a:t> integer REFERENCES tree,</a:t>
            </a:r>
          </a:p>
          <a:p>
            <a:r>
              <a:rPr lang="en-US" dirty="0"/>
              <a:t>    name text,</a:t>
            </a:r>
          </a:p>
          <a:p>
            <a:r>
              <a:rPr lang="en-US" dirty="0"/>
              <a:t>    ...</a:t>
            </a:r>
          </a:p>
          <a:p>
            <a:r>
              <a:rPr lang="en-US" dirty="0" smtClean="0"/>
              <a:t>);</a:t>
            </a:r>
            <a:endParaRPr lang="ru-RU" dirty="0" smtClean="0"/>
          </a:p>
          <a:p>
            <a:r>
              <a:rPr lang="ru-RU" dirty="0" smtClean="0"/>
              <a:t>Таблица </a:t>
            </a:r>
            <a:r>
              <a:rPr lang="ru-RU" dirty="0"/>
              <a:t>может содержать несколько ограничений внешнего ключа. </a:t>
            </a:r>
            <a:r>
              <a:rPr lang="ru-RU" dirty="0" smtClean="0"/>
              <a:t>Для </a:t>
            </a:r>
            <a:r>
              <a:rPr lang="ru-RU" dirty="0"/>
              <a:t>связи таблиц в отношении многие-ко-многим</a:t>
            </a:r>
            <a:r>
              <a:rPr lang="ru-RU" dirty="0" smtClean="0"/>
              <a:t>.</a:t>
            </a:r>
          </a:p>
          <a:p>
            <a:r>
              <a:rPr lang="ru-RU" dirty="0"/>
              <a:t>CREATE TABLE </a:t>
            </a:r>
            <a:r>
              <a:rPr lang="ru-RU" dirty="0" err="1"/>
              <a:t>products</a:t>
            </a:r>
            <a:r>
              <a:rPr lang="ru-RU" dirty="0"/>
              <a:t> (</a:t>
            </a:r>
          </a:p>
          <a:p>
            <a:r>
              <a:rPr lang="ru-RU" dirty="0"/>
              <a:t>    </a:t>
            </a:r>
            <a:r>
              <a:rPr lang="en-US" dirty="0" err="1"/>
              <a:t>product_no</a:t>
            </a:r>
            <a:r>
              <a:rPr lang="en-US" dirty="0"/>
              <a:t> integer PRIMARY KEY,</a:t>
            </a:r>
            <a:endParaRPr lang="ru-RU" dirty="0"/>
          </a:p>
          <a:p>
            <a:r>
              <a:rPr lang="en-US" dirty="0"/>
              <a:t>    name text,</a:t>
            </a:r>
            <a:endParaRPr lang="ru-RU" dirty="0"/>
          </a:p>
          <a:p>
            <a:r>
              <a:rPr lang="en-US" dirty="0"/>
              <a:t>    price numeric</a:t>
            </a:r>
            <a:endParaRPr lang="ru-RU" dirty="0"/>
          </a:p>
          <a:p>
            <a:r>
              <a:rPr lang="en-US" dirty="0"/>
              <a:t>);</a:t>
            </a:r>
            <a:endParaRPr lang="ru-RU" dirty="0"/>
          </a:p>
          <a:p>
            <a:r>
              <a:rPr lang="en-US" dirty="0"/>
              <a:t> </a:t>
            </a:r>
            <a:r>
              <a:rPr lang="en-US" dirty="0" smtClean="0"/>
              <a:t>CREATE </a:t>
            </a:r>
            <a:r>
              <a:rPr lang="en-US" dirty="0"/>
              <a:t>TABLE orders (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integer PRIMARY KEY,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shipping_address</a:t>
            </a:r>
            <a:r>
              <a:rPr lang="en-US" dirty="0"/>
              <a:t> text,</a:t>
            </a:r>
            <a:endParaRPr lang="ru-RU" dirty="0"/>
          </a:p>
          <a:p>
            <a:r>
              <a:rPr lang="en-US" dirty="0"/>
              <a:t>    ...</a:t>
            </a:r>
            <a:endParaRPr lang="ru-RU" dirty="0"/>
          </a:p>
          <a:p>
            <a:r>
              <a:rPr lang="en-US" dirty="0"/>
              <a:t>);</a:t>
            </a:r>
            <a:endParaRPr lang="ru-RU" dirty="0"/>
          </a:p>
          <a:p>
            <a:r>
              <a:rPr lang="en-US" dirty="0"/>
              <a:t> </a:t>
            </a:r>
            <a:r>
              <a:rPr lang="en-US" dirty="0" smtClean="0"/>
              <a:t>CREATE </a:t>
            </a:r>
            <a:r>
              <a:rPr lang="en-US" dirty="0"/>
              <a:t>TABLE </a:t>
            </a:r>
            <a:r>
              <a:rPr lang="en-US" dirty="0" err="1"/>
              <a:t>order_items</a:t>
            </a:r>
            <a:r>
              <a:rPr lang="en-US" dirty="0"/>
              <a:t> (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product_no</a:t>
            </a:r>
            <a:r>
              <a:rPr lang="en-US" dirty="0"/>
              <a:t> integer REFERENCES products,</a:t>
            </a:r>
            <a:endParaRPr lang="ru-RU" dirty="0"/>
          </a:p>
          <a:p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integer REFERENCES orders,</a:t>
            </a:r>
            <a:endParaRPr lang="ru-RU" dirty="0"/>
          </a:p>
          <a:p>
            <a:r>
              <a:rPr lang="en-US" dirty="0"/>
              <a:t>    quantity integer,</a:t>
            </a:r>
            <a:endParaRPr lang="ru-RU" dirty="0"/>
          </a:p>
          <a:p>
            <a:r>
              <a:rPr lang="en-US" dirty="0"/>
              <a:t>    PRIMARY KEY (</a:t>
            </a:r>
            <a:r>
              <a:rPr lang="en-US" dirty="0" err="1"/>
              <a:t>product_no</a:t>
            </a:r>
            <a:r>
              <a:rPr lang="en-US" dirty="0"/>
              <a:t>, </a:t>
            </a:r>
            <a:r>
              <a:rPr lang="en-US" dirty="0" err="1"/>
              <a:t>order_id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 smtClean="0"/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58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Для иллюстрации давайте реализуем следующее поведение в вышеприведённом примере: </a:t>
            </a:r>
            <a:endParaRPr lang="ru-RU" sz="2200" dirty="0" smtClean="0"/>
          </a:p>
          <a:p>
            <a:r>
              <a:rPr lang="en-US" sz="2200" dirty="0" smtClean="0"/>
              <a:t>CREATE TABLE products (</a:t>
            </a:r>
            <a:endParaRPr lang="ru-RU" sz="2200" dirty="0" smtClean="0"/>
          </a:p>
          <a:p>
            <a:r>
              <a:rPr lang="en-US" sz="2200" dirty="0" smtClean="0"/>
              <a:t>    </a:t>
            </a:r>
            <a:r>
              <a:rPr lang="en-US" sz="2200" dirty="0" err="1" smtClean="0"/>
              <a:t>product_no</a:t>
            </a:r>
            <a:r>
              <a:rPr lang="en-US" sz="2200" dirty="0" smtClean="0"/>
              <a:t> integer PRIMARY KEY,</a:t>
            </a:r>
            <a:endParaRPr lang="ru-RU" sz="2200" dirty="0" smtClean="0"/>
          </a:p>
          <a:p>
            <a:r>
              <a:rPr lang="en-US" sz="2200" dirty="0" smtClean="0"/>
              <a:t>    name text,</a:t>
            </a:r>
            <a:endParaRPr lang="ru-RU" sz="2200" dirty="0" smtClean="0"/>
          </a:p>
          <a:p>
            <a:r>
              <a:rPr lang="en-US" sz="2200" dirty="0" smtClean="0"/>
              <a:t>    price numeric</a:t>
            </a:r>
            <a:endParaRPr lang="ru-RU" sz="2200" dirty="0" smtClean="0"/>
          </a:p>
          <a:p>
            <a:r>
              <a:rPr lang="en-US" sz="2200" dirty="0" smtClean="0"/>
              <a:t>);</a:t>
            </a:r>
            <a:endParaRPr lang="ru-RU" sz="2200" dirty="0" smtClean="0"/>
          </a:p>
          <a:p>
            <a:r>
              <a:rPr lang="en-US" sz="2200" dirty="0" smtClean="0"/>
              <a:t> </a:t>
            </a:r>
            <a:endParaRPr lang="ru-RU" sz="2200" dirty="0" smtClean="0"/>
          </a:p>
          <a:p>
            <a:r>
              <a:rPr lang="en-US" sz="2200" dirty="0" smtClean="0"/>
              <a:t>CREATE TABLE orders (</a:t>
            </a:r>
            <a:endParaRPr lang="ru-RU" sz="2200" dirty="0" smtClean="0"/>
          </a:p>
          <a:p>
            <a:r>
              <a:rPr lang="en-US" sz="2200" dirty="0" smtClean="0"/>
              <a:t>    </a:t>
            </a:r>
            <a:r>
              <a:rPr lang="en-US" sz="2200" dirty="0" err="1" smtClean="0"/>
              <a:t>order_id</a:t>
            </a:r>
            <a:r>
              <a:rPr lang="en-US" sz="2200" dirty="0" smtClean="0"/>
              <a:t> integer PRIMARY KEY,</a:t>
            </a:r>
            <a:endParaRPr lang="ru-RU" sz="2200" dirty="0" smtClean="0"/>
          </a:p>
          <a:p>
            <a:r>
              <a:rPr lang="en-US" sz="2200" dirty="0" smtClean="0"/>
              <a:t>    </a:t>
            </a:r>
            <a:r>
              <a:rPr lang="en-US" sz="2200" dirty="0" err="1" smtClean="0"/>
              <a:t>shipping_address</a:t>
            </a:r>
            <a:r>
              <a:rPr lang="en-US" sz="2200" dirty="0" smtClean="0"/>
              <a:t> text,</a:t>
            </a:r>
            <a:endParaRPr lang="ru-RU" sz="2200" dirty="0" smtClean="0"/>
          </a:p>
          <a:p>
            <a:r>
              <a:rPr lang="en-US" sz="2200" dirty="0" smtClean="0"/>
              <a:t>    ...</a:t>
            </a:r>
            <a:endParaRPr lang="ru-RU" sz="2200" dirty="0" smtClean="0"/>
          </a:p>
          <a:p>
            <a:r>
              <a:rPr lang="en-US" sz="2200" dirty="0" smtClean="0"/>
              <a:t>);</a:t>
            </a:r>
            <a:endParaRPr lang="ru-RU" sz="2200" dirty="0" smtClean="0"/>
          </a:p>
          <a:p>
            <a:r>
              <a:rPr lang="en-US" sz="2200" dirty="0" smtClean="0"/>
              <a:t> </a:t>
            </a:r>
            <a:endParaRPr lang="ru-RU" sz="2200" dirty="0" smtClean="0"/>
          </a:p>
          <a:p>
            <a:r>
              <a:rPr lang="en-US" sz="2200" dirty="0" smtClean="0"/>
              <a:t>CREATE TABLE </a:t>
            </a:r>
            <a:r>
              <a:rPr lang="en-US" sz="2200" dirty="0" err="1" smtClean="0"/>
              <a:t>order_items</a:t>
            </a:r>
            <a:r>
              <a:rPr lang="en-US" sz="2200" dirty="0" smtClean="0"/>
              <a:t> (</a:t>
            </a:r>
            <a:endParaRPr lang="ru-RU" sz="2200" dirty="0" smtClean="0"/>
          </a:p>
          <a:p>
            <a:r>
              <a:rPr lang="en-US" sz="2200" dirty="0" smtClean="0"/>
              <a:t>    </a:t>
            </a:r>
            <a:r>
              <a:rPr lang="en-US" sz="2200" dirty="0" err="1" smtClean="0"/>
              <a:t>product_no</a:t>
            </a:r>
            <a:r>
              <a:rPr lang="en-US" sz="2200" dirty="0" smtClean="0"/>
              <a:t> integer REFERENCES products </a:t>
            </a:r>
            <a:r>
              <a:rPr lang="en-US" sz="2200" b="1" dirty="0" smtClean="0"/>
              <a:t>ON DELETE RESTRICT</a:t>
            </a:r>
            <a:r>
              <a:rPr lang="en-US" sz="2200" dirty="0" smtClean="0"/>
              <a:t>,</a:t>
            </a:r>
            <a:endParaRPr lang="ru-RU" sz="2200" dirty="0" smtClean="0"/>
          </a:p>
          <a:p>
            <a:r>
              <a:rPr lang="en-US" sz="2200" dirty="0" smtClean="0"/>
              <a:t>    </a:t>
            </a:r>
            <a:r>
              <a:rPr lang="en-US" sz="2200" dirty="0" err="1" smtClean="0"/>
              <a:t>order_id</a:t>
            </a:r>
            <a:r>
              <a:rPr lang="en-US" sz="2200" dirty="0" smtClean="0"/>
              <a:t> integer REFERENCES orders </a:t>
            </a:r>
            <a:r>
              <a:rPr lang="en-US" sz="2200" b="1" dirty="0" smtClean="0"/>
              <a:t>ON DELETE CASCADE</a:t>
            </a:r>
            <a:r>
              <a:rPr lang="en-US" sz="2200" dirty="0" smtClean="0"/>
              <a:t>,</a:t>
            </a:r>
            <a:endParaRPr lang="ru-RU" sz="2200" dirty="0" smtClean="0"/>
          </a:p>
          <a:p>
            <a:r>
              <a:rPr lang="en-US" sz="2200" dirty="0" smtClean="0"/>
              <a:t>    quantity integer,</a:t>
            </a:r>
            <a:endParaRPr lang="ru-RU" sz="2200" dirty="0" smtClean="0"/>
          </a:p>
          <a:p>
            <a:r>
              <a:rPr lang="en-US" sz="2200" dirty="0" smtClean="0"/>
              <a:t>    PRIMARY KEY (</a:t>
            </a:r>
            <a:r>
              <a:rPr lang="en-US" sz="2200" dirty="0" err="1" smtClean="0"/>
              <a:t>product_no</a:t>
            </a:r>
            <a:r>
              <a:rPr lang="en-US" sz="2200" dirty="0" smtClean="0"/>
              <a:t>, </a:t>
            </a:r>
            <a:r>
              <a:rPr lang="en-US" sz="2200" dirty="0" err="1" smtClean="0"/>
              <a:t>order_id</a:t>
            </a:r>
            <a:r>
              <a:rPr lang="en-US" sz="2200" dirty="0" smtClean="0"/>
              <a:t>)</a:t>
            </a:r>
            <a:endParaRPr lang="ru-RU" sz="2200" dirty="0" smtClean="0"/>
          </a:p>
          <a:p>
            <a:r>
              <a:rPr lang="ru-RU" sz="2200" dirty="0" smtClean="0"/>
              <a:t>);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258767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Действие по умолчанию для ON DELETE — ON DELETE NO ACTION; его указывать </a:t>
            </a:r>
            <a:r>
              <a:rPr lang="ru-RU" sz="2400" dirty="0" smtClean="0"/>
              <a:t>необязательно.</a:t>
            </a:r>
          </a:p>
          <a:p>
            <a:pPr algn="just"/>
            <a:r>
              <a:rPr lang="ru-RU" sz="2400" dirty="0"/>
              <a:t>RESTRICT — более строгое значение по сравнению с NO ACTION. RESTRICT полностью запрещает удаление связанной строки и не допускает отложенной проверки до конца транзакции.</a:t>
            </a:r>
          </a:p>
          <a:p>
            <a:pPr algn="just"/>
            <a:r>
              <a:rPr lang="ru-RU" sz="2400" dirty="0"/>
              <a:t>CASCADE указывает, что при удалении связанной строки автоматически удаляются все строки, ссылающиеся на неё.</a:t>
            </a:r>
          </a:p>
          <a:p>
            <a:pPr algn="just"/>
            <a:r>
              <a:rPr lang="ru-RU" sz="2400" dirty="0"/>
              <a:t>Какой вариант действия ON DELETE выбрать — зависит от того, какие типы объектов представляются в связанных таблицах</a:t>
            </a:r>
            <a:r>
              <a:rPr lang="ru-RU" sz="2400" dirty="0" smtClean="0"/>
              <a:t>.</a:t>
            </a:r>
          </a:p>
          <a:p>
            <a:pPr algn="just"/>
            <a:r>
              <a:rPr lang="ru-RU" sz="2400" dirty="0"/>
              <a:t>Действия SET NULL и SET DEFAULT могут принимать список столбцов, которые получат соответствующие значения.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2676021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Рассмотрите следующий пример</a:t>
            </a:r>
            <a:r>
              <a:rPr lang="ru-RU" sz="2200" dirty="0" smtClean="0"/>
              <a:t>:</a:t>
            </a:r>
          </a:p>
          <a:p>
            <a:endParaRPr lang="ru-RU" sz="2200" dirty="0"/>
          </a:p>
          <a:p>
            <a:r>
              <a:rPr lang="en-US" sz="2200" dirty="0"/>
              <a:t>CREATE TABLE tenants (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tenant_id</a:t>
            </a:r>
            <a:r>
              <a:rPr lang="en-US" sz="2200" dirty="0"/>
              <a:t> integer PRIMARY KEY</a:t>
            </a:r>
          </a:p>
          <a:p>
            <a:r>
              <a:rPr lang="en-US" sz="2200" dirty="0"/>
              <a:t>);</a:t>
            </a:r>
          </a:p>
          <a:p>
            <a:endParaRPr lang="en-US" sz="2200" dirty="0"/>
          </a:p>
          <a:p>
            <a:r>
              <a:rPr lang="en-US" sz="2200" dirty="0"/>
              <a:t>CREATE TABLE users (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tenant_id</a:t>
            </a:r>
            <a:r>
              <a:rPr lang="en-US" sz="2200" dirty="0"/>
              <a:t> integer REFERENCES tenants ON DELETE CASCADE,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user_id</a:t>
            </a:r>
            <a:r>
              <a:rPr lang="en-US" sz="2200" dirty="0"/>
              <a:t> integer NOT NULL,</a:t>
            </a:r>
          </a:p>
          <a:p>
            <a:r>
              <a:rPr lang="en-US" sz="2200" dirty="0"/>
              <a:t>    PRIMARY KEY (</a:t>
            </a:r>
            <a:r>
              <a:rPr lang="en-US" sz="2200" dirty="0" err="1"/>
              <a:t>tenant_id</a:t>
            </a:r>
            <a:r>
              <a:rPr lang="en-US" sz="2200" dirty="0"/>
              <a:t>, </a:t>
            </a:r>
            <a:r>
              <a:rPr lang="en-US" sz="2200" dirty="0" err="1"/>
              <a:t>user_id</a:t>
            </a:r>
            <a:r>
              <a:rPr lang="en-US" sz="2200" dirty="0"/>
              <a:t>)</a:t>
            </a:r>
          </a:p>
          <a:p>
            <a:r>
              <a:rPr lang="en-US" sz="2200" dirty="0"/>
              <a:t>);</a:t>
            </a:r>
          </a:p>
          <a:p>
            <a:endParaRPr lang="en-US" sz="2200" dirty="0"/>
          </a:p>
          <a:p>
            <a:r>
              <a:rPr lang="en-US" sz="2200" dirty="0"/>
              <a:t>CREATE TABLE posts (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tenant_id</a:t>
            </a:r>
            <a:r>
              <a:rPr lang="en-US" sz="2200" dirty="0"/>
              <a:t> integer REFERENCES tenants ON DELETE CASCADE,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post_id</a:t>
            </a:r>
            <a:r>
              <a:rPr lang="en-US" sz="2200" dirty="0"/>
              <a:t> integer NOT NULL,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author_id</a:t>
            </a:r>
            <a:r>
              <a:rPr lang="en-US" sz="2200" dirty="0"/>
              <a:t> integer,</a:t>
            </a:r>
          </a:p>
          <a:p>
            <a:r>
              <a:rPr lang="en-US" sz="2200" dirty="0"/>
              <a:t>    PRIMARY KEY (</a:t>
            </a:r>
            <a:r>
              <a:rPr lang="en-US" sz="2200" dirty="0" err="1"/>
              <a:t>tenant_id</a:t>
            </a:r>
            <a:r>
              <a:rPr lang="en-US" sz="2200" dirty="0"/>
              <a:t>, </a:t>
            </a:r>
            <a:r>
              <a:rPr lang="en-US" sz="2200" dirty="0" err="1"/>
              <a:t>post_id</a:t>
            </a:r>
            <a:r>
              <a:rPr lang="en-US" sz="2200" dirty="0"/>
              <a:t>),</a:t>
            </a:r>
          </a:p>
          <a:p>
            <a:r>
              <a:rPr lang="en-US" sz="2200" dirty="0"/>
              <a:t>    FOREIGN KEY (</a:t>
            </a:r>
            <a:r>
              <a:rPr lang="en-US" sz="2200" dirty="0" err="1"/>
              <a:t>tenant_id</a:t>
            </a:r>
            <a:r>
              <a:rPr lang="en-US" sz="2200" dirty="0"/>
              <a:t>, </a:t>
            </a:r>
            <a:r>
              <a:rPr lang="en-US" sz="2200" dirty="0" err="1"/>
              <a:t>author_id</a:t>
            </a:r>
            <a:r>
              <a:rPr lang="en-US" sz="2200" dirty="0"/>
              <a:t>) REFERENCES users ON DELETE SET NULL (</a:t>
            </a:r>
            <a:r>
              <a:rPr lang="en-US" sz="2200" dirty="0" err="1"/>
              <a:t>author_id</a:t>
            </a:r>
            <a:r>
              <a:rPr lang="en-US" sz="2200" dirty="0"/>
              <a:t>)</a:t>
            </a:r>
          </a:p>
          <a:p>
            <a:r>
              <a:rPr lang="en-US" sz="22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85274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862137" y="0"/>
            <a:ext cx="47163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Ограничения-исключения</a:t>
            </a:r>
            <a:r>
              <a:rPr lang="ru-RU" sz="2400" dirty="0"/>
              <a:t>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5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Ограничения-исключения гарантируют, что при сравнении любых двух строк по указанным столбцам или выражениям с помощью заданных операторов, минимум одно из этих сравнений возвратит </a:t>
            </a:r>
            <a:r>
              <a:rPr lang="ru-RU" sz="2400" dirty="0" err="1"/>
              <a:t>false</a:t>
            </a:r>
            <a:r>
              <a:rPr lang="ru-RU" sz="2400" dirty="0"/>
              <a:t> или NULL. Записывается это так</a:t>
            </a:r>
            <a:r>
              <a:rPr lang="ru-RU" sz="2400" dirty="0" smtClean="0"/>
              <a:t>:</a:t>
            </a:r>
          </a:p>
          <a:p>
            <a:pPr algn="just"/>
            <a:endParaRPr lang="ru-RU" sz="2400" dirty="0"/>
          </a:p>
          <a:p>
            <a:pPr algn="just"/>
            <a:r>
              <a:rPr lang="ru-RU" sz="2400" dirty="0"/>
              <a:t>CREATE TABLE </a:t>
            </a:r>
            <a:r>
              <a:rPr lang="ru-RU" sz="2400" dirty="0" err="1"/>
              <a:t>circles</a:t>
            </a:r>
            <a:r>
              <a:rPr lang="ru-RU" sz="2400" dirty="0"/>
              <a:t> (</a:t>
            </a:r>
          </a:p>
          <a:p>
            <a:pPr algn="just"/>
            <a:r>
              <a:rPr lang="ru-RU" sz="2400" dirty="0"/>
              <a:t>    c </a:t>
            </a:r>
            <a:r>
              <a:rPr lang="ru-RU" sz="2400" dirty="0" err="1"/>
              <a:t>circle</a:t>
            </a:r>
            <a:r>
              <a:rPr lang="ru-RU" sz="2400" dirty="0"/>
              <a:t>,</a:t>
            </a:r>
          </a:p>
          <a:p>
            <a:pPr algn="just"/>
            <a:r>
              <a:rPr lang="ru-RU" sz="2400" dirty="0"/>
              <a:t>    EXCLUDE USING </a:t>
            </a:r>
            <a:r>
              <a:rPr lang="ru-RU" sz="2400" dirty="0" err="1"/>
              <a:t>gist</a:t>
            </a:r>
            <a:r>
              <a:rPr lang="ru-RU" sz="2400" dirty="0"/>
              <a:t> (c WITH &amp;&amp;)</a:t>
            </a:r>
          </a:p>
          <a:p>
            <a:pPr algn="just"/>
            <a:r>
              <a:rPr lang="ru-RU" sz="2400" dirty="0" smtClean="0"/>
              <a:t>);</a:t>
            </a:r>
          </a:p>
          <a:p>
            <a:pPr algn="just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080968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84622" y="0"/>
            <a:ext cx="3891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Системные столбцы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0" y="461665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T</a:t>
            </a:r>
            <a:r>
              <a:rPr lang="ru-RU" sz="2400" b="1" dirty="0" err="1" smtClean="0"/>
              <a:t>ableoid</a:t>
            </a:r>
            <a:r>
              <a:rPr lang="ru-RU" sz="2400" b="1" dirty="0" smtClean="0"/>
              <a:t>- </a:t>
            </a:r>
            <a:r>
              <a:rPr lang="ru-RU" sz="2400" dirty="0" smtClean="0"/>
              <a:t>идентификатор </a:t>
            </a:r>
            <a:r>
              <a:rPr lang="ru-RU" sz="2400" dirty="0"/>
              <a:t>объекта для таблицы, содержащей </a:t>
            </a:r>
            <a:r>
              <a:rPr lang="ru-RU" sz="2400" dirty="0" smtClean="0"/>
              <a:t>строку</a:t>
            </a:r>
          </a:p>
          <a:p>
            <a:r>
              <a:rPr lang="ru-RU" sz="2400" b="1" dirty="0" err="1"/>
              <a:t>xmin</a:t>
            </a:r>
            <a:r>
              <a:rPr lang="ru-RU" sz="2400" dirty="0"/>
              <a:t> </a:t>
            </a:r>
            <a:r>
              <a:rPr lang="ru-RU" sz="2400" dirty="0" smtClean="0"/>
              <a:t> - идентификатор </a:t>
            </a:r>
            <a:r>
              <a:rPr lang="ru-RU" sz="2400" dirty="0"/>
              <a:t>(код) транзакции, добавившей строку этой </a:t>
            </a:r>
            <a:r>
              <a:rPr lang="ru-RU" sz="2400" dirty="0" smtClean="0"/>
              <a:t>версии</a:t>
            </a:r>
          </a:p>
          <a:p>
            <a:r>
              <a:rPr lang="ru-RU" sz="2400" b="1" dirty="0" err="1"/>
              <a:t>cmin</a:t>
            </a:r>
            <a:r>
              <a:rPr lang="ru-RU" sz="2400" b="1" dirty="0"/>
              <a:t> </a:t>
            </a:r>
            <a:r>
              <a:rPr lang="ru-RU" sz="2400" dirty="0" smtClean="0"/>
              <a:t> - номер </a:t>
            </a:r>
            <a:r>
              <a:rPr lang="ru-RU" sz="2400" dirty="0"/>
              <a:t>команды (начиная с нуля) внутри транзакции, добавившей строку.</a:t>
            </a:r>
          </a:p>
          <a:p>
            <a:r>
              <a:rPr lang="ru-RU" sz="2400" b="1" dirty="0" err="1"/>
              <a:t>xmax</a:t>
            </a:r>
            <a:r>
              <a:rPr lang="ru-RU" sz="2400" dirty="0"/>
              <a:t> </a:t>
            </a:r>
            <a:r>
              <a:rPr lang="ru-RU" sz="2400" dirty="0" smtClean="0"/>
              <a:t> - идентификатор </a:t>
            </a:r>
            <a:r>
              <a:rPr lang="ru-RU" sz="2400" dirty="0"/>
              <a:t>транзакции, удалившей строку, или 0 для </a:t>
            </a:r>
            <a:r>
              <a:rPr lang="ru-RU" sz="2400" dirty="0" err="1"/>
              <a:t>неудалённой</a:t>
            </a:r>
            <a:r>
              <a:rPr lang="ru-RU" sz="2400" dirty="0"/>
              <a:t> версии строки</a:t>
            </a:r>
            <a:r>
              <a:rPr lang="ru-RU" sz="2400" dirty="0" smtClean="0"/>
              <a:t>.</a:t>
            </a:r>
          </a:p>
          <a:p>
            <a:r>
              <a:rPr lang="ru-RU" sz="2400" b="1" dirty="0" err="1"/>
              <a:t>cmax</a:t>
            </a:r>
            <a:r>
              <a:rPr lang="ru-RU" sz="2400" dirty="0"/>
              <a:t> </a:t>
            </a:r>
            <a:r>
              <a:rPr lang="ru-RU" sz="2400" dirty="0" smtClean="0"/>
              <a:t>- номер </a:t>
            </a:r>
            <a:r>
              <a:rPr lang="ru-RU" sz="2400" dirty="0"/>
              <a:t>команды в удаляющей транзакции или ноль.</a:t>
            </a:r>
          </a:p>
          <a:p>
            <a:r>
              <a:rPr lang="ru-RU" sz="2400" b="1" dirty="0" err="1"/>
              <a:t>ctid</a:t>
            </a:r>
            <a:r>
              <a:rPr lang="ru-RU" sz="2400" dirty="0"/>
              <a:t> </a:t>
            </a:r>
            <a:r>
              <a:rPr lang="ru-RU" sz="2400" dirty="0" smtClean="0"/>
              <a:t> - физическое </a:t>
            </a:r>
            <a:r>
              <a:rPr lang="ru-RU" sz="2400" dirty="0"/>
              <a:t>расположение данной версии строки в таблице</a:t>
            </a:r>
          </a:p>
        </p:txBody>
      </p:sp>
    </p:spTree>
    <p:extLst>
      <p:ext uri="{BB962C8B-B14F-4D97-AF65-F5344CB8AC3E}">
        <p14:creationId xmlns:p14="http://schemas.microsoft.com/office/powerpoint/2010/main" val="3054986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Добавление </a:t>
            </a:r>
            <a:r>
              <a:rPr lang="ru-RU" sz="2400" b="1" dirty="0" smtClean="0"/>
              <a:t>столбца</a:t>
            </a:r>
          </a:p>
          <a:p>
            <a:pPr algn="just"/>
            <a:r>
              <a:rPr lang="ru-RU" sz="2400" dirty="0"/>
              <a:t>Добавить столбец вы можете так</a:t>
            </a:r>
            <a:r>
              <a:rPr lang="ru-RU" sz="2400" dirty="0" smtClean="0"/>
              <a:t>: </a:t>
            </a:r>
            <a:r>
              <a:rPr lang="en-US" sz="2400" dirty="0" smtClean="0"/>
              <a:t>ALTER </a:t>
            </a:r>
            <a:r>
              <a:rPr lang="en-US" sz="2400" dirty="0"/>
              <a:t>TABLE products ADD COLUMN description </a:t>
            </a:r>
            <a:r>
              <a:rPr lang="en-US" sz="2400" dirty="0" smtClean="0"/>
              <a:t>text</a:t>
            </a:r>
            <a:endParaRPr lang="ru-RU" sz="2400" dirty="0" smtClean="0"/>
          </a:p>
          <a:p>
            <a:pPr algn="just"/>
            <a:r>
              <a:rPr lang="ru-RU" sz="2400" dirty="0"/>
              <a:t>При добавлении столбца с постоянным значением по умолчанию не требуется обновлять все строки таблицы при выполнении ALTER TABLE. Если значение по умолчанию изменчивое (например, это </a:t>
            </a:r>
            <a:r>
              <a:rPr lang="ru-RU" sz="2400" dirty="0" err="1"/>
              <a:t>clock_timestamp</a:t>
            </a:r>
            <a:r>
              <a:rPr lang="ru-RU" sz="2400" dirty="0"/>
              <a:t>()), в каждую строку нужно будет внести значение, вычисленное в момент выполнения ALTER TABLE. </a:t>
            </a:r>
            <a:endParaRPr lang="ru-RU" sz="2400" dirty="0" smtClean="0"/>
          </a:p>
          <a:p>
            <a:pPr algn="just"/>
            <a:r>
              <a:rPr lang="ru-RU" sz="2400" dirty="0"/>
              <a:t>определить ограничения столбца, используя обычный синтаксис:</a:t>
            </a:r>
          </a:p>
          <a:p>
            <a:pPr algn="just"/>
            <a:r>
              <a:rPr lang="en-US" sz="2400" dirty="0"/>
              <a:t>ALTER TABLE products ADD COLUMN description text CHECK (description &lt;&gt; '');</a:t>
            </a:r>
          </a:p>
          <a:p>
            <a:pPr algn="ctr"/>
            <a:r>
              <a:rPr lang="ru-RU" sz="2400" b="1" dirty="0"/>
              <a:t>Удаление столбца </a:t>
            </a:r>
            <a:endParaRPr lang="ru-RU" sz="2400" b="1" dirty="0" smtClean="0"/>
          </a:p>
          <a:p>
            <a:pPr algn="just"/>
            <a:r>
              <a:rPr lang="ru-RU" sz="2400" dirty="0"/>
              <a:t>Удалить столбец можно так</a:t>
            </a:r>
            <a:r>
              <a:rPr lang="ru-RU" sz="2400" dirty="0" smtClean="0"/>
              <a:t>: </a:t>
            </a:r>
            <a:r>
              <a:rPr lang="en-US" sz="2400" dirty="0" smtClean="0"/>
              <a:t>ALTER </a:t>
            </a:r>
            <a:r>
              <a:rPr lang="en-US" sz="2400" dirty="0"/>
              <a:t>TABLE products DROP COLUMN description;</a:t>
            </a:r>
          </a:p>
          <a:p>
            <a:pPr algn="just"/>
            <a:r>
              <a:rPr lang="ru-RU" sz="2400" dirty="0"/>
              <a:t>Разрешить удаление всех зависящих от этого столбца объектов можно, добавив указание </a:t>
            </a:r>
            <a:r>
              <a:rPr lang="en-US" sz="2400" dirty="0"/>
              <a:t>CASCADE</a:t>
            </a:r>
            <a:r>
              <a:rPr lang="en-US" sz="2400" dirty="0" smtClean="0"/>
              <a:t>:</a:t>
            </a:r>
            <a:r>
              <a:rPr lang="ru-RU" sz="2400" dirty="0" smtClean="0"/>
              <a:t> </a:t>
            </a:r>
            <a:r>
              <a:rPr lang="en-US" sz="2400" dirty="0" smtClean="0"/>
              <a:t>ALTER </a:t>
            </a:r>
            <a:r>
              <a:rPr lang="en-US" sz="2400" dirty="0"/>
              <a:t>TABLE products DROP COLUMN description CASCADE;</a:t>
            </a:r>
          </a:p>
          <a:p>
            <a:pPr algn="just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519063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Добавление </a:t>
            </a:r>
            <a:r>
              <a:rPr lang="ru-RU" sz="2400" b="1" dirty="0" smtClean="0"/>
              <a:t>ограничения</a:t>
            </a:r>
          </a:p>
          <a:p>
            <a:pPr algn="just"/>
            <a:r>
              <a:rPr lang="ru-RU" sz="2400" dirty="0"/>
              <a:t>Для добавления ограничения используется синтаксис ограничения таблицы. </a:t>
            </a:r>
            <a:endParaRPr lang="ru-RU" sz="2400" dirty="0" smtClean="0"/>
          </a:p>
          <a:p>
            <a:pPr algn="just"/>
            <a:r>
              <a:rPr lang="ru-RU" sz="2400" dirty="0" smtClean="0"/>
              <a:t>Например</a:t>
            </a:r>
            <a:r>
              <a:rPr lang="ru-RU" sz="2400" dirty="0"/>
              <a:t>:</a:t>
            </a:r>
          </a:p>
          <a:p>
            <a:pPr algn="just"/>
            <a:r>
              <a:rPr lang="en-US" sz="2400" dirty="0"/>
              <a:t>ALTER TABLE products ADD CHECK (name &lt;&gt; '');</a:t>
            </a:r>
          </a:p>
          <a:p>
            <a:pPr algn="just"/>
            <a:r>
              <a:rPr lang="en-US" sz="2400" dirty="0"/>
              <a:t>ALTER TABLE products ADD CONSTRAINT </a:t>
            </a:r>
            <a:r>
              <a:rPr lang="en-US" sz="2400" dirty="0" err="1"/>
              <a:t>some_name</a:t>
            </a:r>
            <a:r>
              <a:rPr lang="en-US" sz="2400" dirty="0"/>
              <a:t> UNIQUE (</a:t>
            </a:r>
            <a:r>
              <a:rPr lang="en-US" sz="2400" dirty="0" err="1"/>
              <a:t>product_no</a:t>
            </a:r>
            <a:r>
              <a:rPr lang="en-US" sz="2400" dirty="0"/>
              <a:t>);</a:t>
            </a:r>
          </a:p>
          <a:p>
            <a:pPr algn="just"/>
            <a:r>
              <a:rPr lang="en-US" sz="2400" dirty="0"/>
              <a:t>ALTER TABLE products ADD FOREIGN KEY (</a:t>
            </a:r>
            <a:r>
              <a:rPr lang="en-US" sz="2400" dirty="0" err="1"/>
              <a:t>product_group_id</a:t>
            </a:r>
            <a:r>
              <a:rPr lang="en-US" sz="2400" dirty="0"/>
              <a:t>) REFERENCES </a:t>
            </a:r>
            <a:r>
              <a:rPr lang="en-US" sz="2400" dirty="0" err="1"/>
              <a:t>product_groups</a:t>
            </a:r>
            <a:r>
              <a:rPr lang="en-US" sz="2400" dirty="0"/>
              <a:t>;</a:t>
            </a:r>
          </a:p>
          <a:p>
            <a:pPr algn="just"/>
            <a:r>
              <a:rPr lang="ru-RU" sz="2400" dirty="0"/>
              <a:t>Чтобы добавить ограничение NOT NULL, используется специальный синтаксис:</a:t>
            </a:r>
          </a:p>
          <a:p>
            <a:pPr algn="just"/>
            <a:r>
              <a:rPr lang="en-US" sz="2400" dirty="0"/>
              <a:t>ALTER TABLE products ALTER COLUMN </a:t>
            </a:r>
            <a:r>
              <a:rPr lang="en-US" sz="2400" dirty="0" err="1"/>
              <a:t>product_no</a:t>
            </a:r>
            <a:r>
              <a:rPr lang="en-US" sz="2400" dirty="0"/>
              <a:t> SET NOT NULL;</a:t>
            </a:r>
          </a:p>
          <a:p>
            <a:pPr algn="ctr"/>
            <a:r>
              <a:rPr lang="ru-RU" sz="2400" b="1" dirty="0"/>
              <a:t>Удаление ограничения </a:t>
            </a:r>
            <a:endParaRPr lang="ru-RU" sz="2400" b="1" dirty="0" smtClean="0"/>
          </a:p>
          <a:p>
            <a:pPr algn="just"/>
            <a:r>
              <a:rPr lang="ru-RU" sz="2400" dirty="0"/>
              <a:t> Для удаления ограничения вы должны знать его имя. Зная имя, вы можете использовать команду</a:t>
            </a:r>
            <a:r>
              <a:rPr lang="ru-RU" sz="2400" dirty="0" smtClean="0"/>
              <a:t>: </a:t>
            </a:r>
            <a:r>
              <a:rPr lang="en-US" sz="2400" dirty="0" smtClean="0"/>
              <a:t>ALTER </a:t>
            </a:r>
            <a:r>
              <a:rPr lang="en-US" sz="2400" dirty="0"/>
              <a:t>TABLE products DROP CONSTRAINT </a:t>
            </a:r>
            <a:r>
              <a:rPr lang="en-US" sz="2400" dirty="0" err="1"/>
              <a:t>some_name</a:t>
            </a:r>
            <a:r>
              <a:rPr lang="en-US" sz="2400" dirty="0"/>
              <a:t>;</a:t>
            </a:r>
          </a:p>
          <a:p>
            <a:pPr algn="just"/>
            <a:r>
              <a:rPr lang="ru-RU" sz="2400" dirty="0"/>
              <a:t>Для удаления ограничения </a:t>
            </a:r>
            <a:r>
              <a:rPr lang="en-US" sz="2400" dirty="0"/>
              <a:t>NOT NULL </a:t>
            </a:r>
            <a:r>
              <a:rPr lang="ru-RU" sz="2400" dirty="0"/>
              <a:t>предусмотрен упрощённый синтаксис:</a:t>
            </a:r>
          </a:p>
          <a:p>
            <a:pPr algn="just"/>
            <a:r>
              <a:rPr lang="en-US" sz="2400" dirty="0"/>
              <a:t>ALTER TABLE products ALTER COLUMN </a:t>
            </a:r>
            <a:r>
              <a:rPr lang="en-US" sz="2400" dirty="0" err="1"/>
              <a:t>product_no</a:t>
            </a:r>
            <a:r>
              <a:rPr lang="en-US" sz="2400" dirty="0"/>
              <a:t> DROP NOT NULL;</a:t>
            </a:r>
          </a:p>
          <a:p>
            <a:pPr algn="ctr"/>
            <a:endParaRPr lang="ru-RU" sz="2400" dirty="0" smtClean="0"/>
          </a:p>
          <a:p>
            <a:pPr algn="ctr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95966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" y="0"/>
            <a:ext cx="12192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Изменение значения по умолчанию </a:t>
            </a:r>
            <a:endParaRPr lang="ru-RU" sz="2400" b="1" dirty="0" smtClean="0"/>
          </a:p>
          <a:p>
            <a:pPr algn="just"/>
            <a:r>
              <a:rPr lang="ru-RU" sz="2400" dirty="0"/>
              <a:t>Назначить столбцу новое значение по умолчанию можно так</a:t>
            </a:r>
            <a:r>
              <a:rPr lang="ru-RU" sz="2400" dirty="0" smtClean="0"/>
              <a:t>: </a:t>
            </a:r>
            <a:r>
              <a:rPr lang="en-US" sz="2400" dirty="0" smtClean="0"/>
              <a:t>ALTER </a:t>
            </a:r>
            <a:r>
              <a:rPr lang="en-US" sz="2400" dirty="0"/>
              <a:t>TABLE products ALTER COLUMN price SET DEFAULT 7.77;</a:t>
            </a:r>
          </a:p>
          <a:p>
            <a:pPr algn="just"/>
            <a:r>
              <a:rPr lang="ru-RU" sz="2400" dirty="0"/>
              <a:t>Чтобы удалить значение по умолчанию, выполните</a:t>
            </a:r>
            <a:r>
              <a:rPr lang="ru-RU" sz="2400" dirty="0" smtClean="0"/>
              <a:t>: </a:t>
            </a:r>
            <a:r>
              <a:rPr lang="en-US" sz="2400" dirty="0" smtClean="0"/>
              <a:t>ALTER </a:t>
            </a:r>
            <a:r>
              <a:rPr lang="en-US" sz="2400" dirty="0"/>
              <a:t>TABLE products ALTER COLUMN price DROP DEFAULT;</a:t>
            </a:r>
          </a:p>
          <a:p>
            <a:pPr algn="ctr"/>
            <a:r>
              <a:rPr lang="ru-RU" sz="2400" b="1" dirty="0"/>
              <a:t>Изменение типа данных </a:t>
            </a:r>
            <a:r>
              <a:rPr lang="ru-RU" sz="2400" b="1" dirty="0" smtClean="0"/>
              <a:t>столбца</a:t>
            </a:r>
            <a:endParaRPr lang="ru-RU" sz="2400" b="1" dirty="0"/>
          </a:p>
          <a:p>
            <a:pPr algn="just"/>
            <a:r>
              <a:rPr lang="ru-RU" sz="2400" dirty="0"/>
              <a:t>Чтобы преобразовать столбец в другой тип данных, используйте команду:</a:t>
            </a:r>
          </a:p>
          <a:p>
            <a:pPr algn="just"/>
            <a:r>
              <a:rPr lang="en-US" sz="2400" dirty="0"/>
              <a:t>ALTER TABLE products ALTER COLUMN price TYPE numeric(10,2);</a:t>
            </a:r>
          </a:p>
          <a:p>
            <a:pPr algn="ctr"/>
            <a:r>
              <a:rPr lang="ru-RU" sz="2400" b="1" dirty="0"/>
              <a:t>Переименование </a:t>
            </a:r>
            <a:r>
              <a:rPr lang="ru-RU" sz="2400" b="1" dirty="0" smtClean="0"/>
              <a:t>столбца</a:t>
            </a:r>
            <a:endParaRPr lang="ru-RU" sz="2400" b="1" dirty="0"/>
          </a:p>
          <a:p>
            <a:pPr algn="just"/>
            <a:r>
              <a:rPr lang="ru-RU" sz="2400" dirty="0"/>
              <a:t>Чтобы переименовать столбец, выполните</a:t>
            </a:r>
            <a:r>
              <a:rPr lang="ru-RU" sz="2400" dirty="0" smtClean="0"/>
              <a:t>: </a:t>
            </a:r>
            <a:r>
              <a:rPr lang="en-US" sz="2400" dirty="0" smtClean="0"/>
              <a:t>ALTER </a:t>
            </a:r>
            <a:r>
              <a:rPr lang="en-US" sz="2400" dirty="0"/>
              <a:t>TABLE products RENAME COLUMN </a:t>
            </a:r>
            <a:r>
              <a:rPr lang="en-US" sz="2400" dirty="0" err="1"/>
              <a:t>product_no</a:t>
            </a:r>
            <a:r>
              <a:rPr lang="en-US" sz="2400" dirty="0"/>
              <a:t> TO </a:t>
            </a:r>
            <a:r>
              <a:rPr lang="en-US" sz="2400" dirty="0" err="1"/>
              <a:t>product_number</a:t>
            </a:r>
            <a:r>
              <a:rPr lang="en-US" sz="2400" dirty="0"/>
              <a:t>;</a:t>
            </a:r>
          </a:p>
          <a:p>
            <a:pPr algn="ctr"/>
            <a:r>
              <a:rPr lang="ru-RU" sz="2400" b="1" dirty="0"/>
              <a:t>Переименование </a:t>
            </a:r>
            <a:r>
              <a:rPr lang="ru-RU" sz="2400" b="1" dirty="0" smtClean="0"/>
              <a:t>таблицы</a:t>
            </a:r>
          </a:p>
          <a:p>
            <a:pPr algn="ctr"/>
            <a:r>
              <a:rPr lang="en-US" sz="2400" dirty="0"/>
              <a:t>ALTER TABLE products RENAME TO items;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78625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8214" y="1700213"/>
            <a:ext cx="1811337" cy="533400"/>
          </a:xfrm>
        </p:spPr>
        <p:txBody>
          <a:bodyPr/>
          <a:lstStyle/>
          <a:p>
            <a:pPr>
              <a:buFontTx/>
              <a:buNone/>
            </a:pPr>
            <a:r>
              <a:rPr lang="ru-RU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6" name="Rectangle 3"/>
          <p:cNvSpPr>
            <a:spLocks noChangeArrowheads="1"/>
          </p:cNvSpPr>
          <p:nvPr/>
        </p:nvSpPr>
        <p:spPr bwMode="auto">
          <a:xfrm rot="-1966961">
            <a:off x="4249739" y="1474788"/>
            <a:ext cx="237648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 rot="1339931">
            <a:off x="3287714" y="34290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 rot="932178">
            <a:off x="5016500" y="2347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6024564" y="30686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0" name="Rectangle 7"/>
          <p:cNvSpPr>
            <a:spLocks noChangeArrowheads="1"/>
          </p:cNvSpPr>
          <p:nvPr/>
        </p:nvSpPr>
        <p:spPr bwMode="auto">
          <a:xfrm rot="-634205">
            <a:off x="2063751" y="2060575"/>
            <a:ext cx="28797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71" name="Rectangle 8"/>
          <p:cNvSpPr>
            <a:spLocks noChangeArrowheads="1"/>
          </p:cNvSpPr>
          <p:nvPr/>
        </p:nvSpPr>
        <p:spPr bwMode="auto">
          <a:xfrm>
            <a:off x="6743700" y="14843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2" name="Rectangle 9"/>
          <p:cNvSpPr>
            <a:spLocks noChangeArrowheads="1"/>
          </p:cNvSpPr>
          <p:nvPr/>
        </p:nvSpPr>
        <p:spPr bwMode="auto">
          <a:xfrm rot="-2708425">
            <a:off x="1353344" y="1331119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3" name="Rectangle 10"/>
          <p:cNvSpPr>
            <a:spLocks noChangeArrowheads="1"/>
          </p:cNvSpPr>
          <p:nvPr/>
        </p:nvSpPr>
        <p:spPr bwMode="auto">
          <a:xfrm rot="-1124404">
            <a:off x="7175500" y="44370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4" name="Rectangle 11"/>
          <p:cNvSpPr>
            <a:spLocks noChangeArrowheads="1"/>
          </p:cNvSpPr>
          <p:nvPr/>
        </p:nvSpPr>
        <p:spPr bwMode="auto">
          <a:xfrm>
            <a:off x="2486025" y="34655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75" name="Rectangle 12"/>
          <p:cNvSpPr>
            <a:spLocks noChangeArrowheads="1"/>
          </p:cNvSpPr>
          <p:nvPr/>
        </p:nvSpPr>
        <p:spPr bwMode="auto">
          <a:xfrm rot="-1966961">
            <a:off x="3000375" y="6207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6" name="Rectangle 13"/>
          <p:cNvSpPr>
            <a:spLocks noChangeArrowheads="1"/>
          </p:cNvSpPr>
          <p:nvPr/>
        </p:nvSpPr>
        <p:spPr bwMode="auto">
          <a:xfrm rot="1339931">
            <a:off x="3071814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7" name="Rectangle 14"/>
          <p:cNvSpPr>
            <a:spLocks noChangeArrowheads="1"/>
          </p:cNvSpPr>
          <p:nvPr/>
        </p:nvSpPr>
        <p:spPr bwMode="auto">
          <a:xfrm rot="932178">
            <a:off x="5521325" y="43576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8" name="Rectangle 15"/>
          <p:cNvSpPr>
            <a:spLocks noChangeArrowheads="1"/>
          </p:cNvSpPr>
          <p:nvPr/>
        </p:nvSpPr>
        <p:spPr bwMode="auto">
          <a:xfrm>
            <a:off x="6529389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9" name="Rectangle 16"/>
          <p:cNvSpPr>
            <a:spLocks noChangeArrowheads="1"/>
          </p:cNvSpPr>
          <p:nvPr/>
        </p:nvSpPr>
        <p:spPr bwMode="auto">
          <a:xfrm rot="-634205">
            <a:off x="3144839" y="41417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0" name="Rectangle 17"/>
          <p:cNvSpPr>
            <a:spLocks noChangeArrowheads="1"/>
          </p:cNvSpPr>
          <p:nvPr/>
        </p:nvSpPr>
        <p:spPr bwMode="auto">
          <a:xfrm rot="932178">
            <a:off x="7608889" y="35718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1" name="Rectangle 18"/>
          <p:cNvSpPr>
            <a:spLocks noChangeArrowheads="1"/>
          </p:cNvSpPr>
          <p:nvPr/>
        </p:nvSpPr>
        <p:spPr bwMode="auto">
          <a:xfrm rot="-2708425">
            <a:off x="4945857" y="4933157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2" name="Rectangle 19"/>
          <p:cNvSpPr>
            <a:spLocks noChangeArrowheads="1"/>
          </p:cNvSpPr>
          <p:nvPr/>
        </p:nvSpPr>
        <p:spPr bwMode="auto">
          <a:xfrm rot="-2055057">
            <a:off x="8616950" y="55895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3" name="Rectangle 20"/>
          <p:cNvSpPr>
            <a:spLocks noChangeArrowheads="1"/>
          </p:cNvSpPr>
          <p:nvPr/>
        </p:nvSpPr>
        <p:spPr bwMode="auto">
          <a:xfrm rot="-1966961">
            <a:off x="8856664" y="21320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84" name="Rectangle 21"/>
          <p:cNvSpPr>
            <a:spLocks noChangeArrowheads="1"/>
          </p:cNvSpPr>
          <p:nvPr/>
        </p:nvSpPr>
        <p:spPr bwMode="auto">
          <a:xfrm rot="932178">
            <a:off x="7535864" y="22764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5" name="Rectangle 22"/>
          <p:cNvSpPr>
            <a:spLocks noChangeArrowheads="1"/>
          </p:cNvSpPr>
          <p:nvPr/>
        </p:nvSpPr>
        <p:spPr bwMode="auto">
          <a:xfrm>
            <a:off x="8543925" y="2997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6" name="Rectangle 23"/>
          <p:cNvSpPr>
            <a:spLocks noChangeArrowheads="1"/>
          </p:cNvSpPr>
          <p:nvPr/>
        </p:nvSpPr>
        <p:spPr bwMode="auto">
          <a:xfrm rot="550398">
            <a:off x="5664200" y="19161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thanks</a:t>
            </a:r>
          </a:p>
        </p:txBody>
      </p:sp>
      <p:sp>
        <p:nvSpPr>
          <p:cNvPr id="36887" name="Rectangle 24"/>
          <p:cNvSpPr>
            <a:spLocks noChangeArrowheads="1"/>
          </p:cNvSpPr>
          <p:nvPr/>
        </p:nvSpPr>
        <p:spPr bwMode="auto">
          <a:xfrm>
            <a:off x="5005389" y="33940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88" name="Rectangle 25"/>
          <p:cNvSpPr>
            <a:spLocks noChangeArrowheads="1"/>
          </p:cNvSpPr>
          <p:nvPr/>
        </p:nvSpPr>
        <p:spPr bwMode="auto">
          <a:xfrm rot="1339931">
            <a:off x="4151314" y="47244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89" name="Rectangle 26"/>
          <p:cNvSpPr>
            <a:spLocks noChangeArrowheads="1"/>
          </p:cNvSpPr>
          <p:nvPr/>
        </p:nvSpPr>
        <p:spPr bwMode="auto">
          <a:xfrm rot="-1966961">
            <a:off x="3333750" y="23495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0" name="Rectangle 27"/>
          <p:cNvSpPr>
            <a:spLocks noChangeArrowheads="1"/>
          </p:cNvSpPr>
          <p:nvPr/>
        </p:nvSpPr>
        <p:spPr bwMode="auto">
          <a:xfrm rot="932178">
            <a:off x="6240464" y="37163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1" name="Rectangle 28"/>
          <p:cNvSpPr>
            <a:spLocks noChangeArrowheads="1"/>
          </p:cNvSpPr>
          <p:nvPr/>
        </p:nvSpPr>
        <p:spPr bwMode="auto">
          <a:xfrm>
            <a:off x="6888164" y="25638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2" name="Rectangle 29"/>
          <p:cNvSpPr>
            <a:spLocks noChangeArrowheads="1"/>
          </p:cNvSpPr>
          <p:nvPr/>
        </p:nvSpPr>
        <p:spPr bwMode="auto">
          <a:xfrm rot="-634205">
            <a:off x="1524000" y="27082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3" name="Rectangle 30"/>
          <p:cNvSpPr>
            <a:spLocks noChangeArrowheads="1"/>
          </p:cNvSpPr>
          <p:nvPr/>
        </p:nvSpPr>
        <p:spPr bwMode="auto">
          <a:xfrm>
            <a:off x="1524000" y="40767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4" name="Rectangle 31"/>
          <p:cNvSpPr>
            <a:spLocks noChangeArrowheads="1"/>
          </p:cNvSpPr>
          <p:nvPr/>
        </p:nvSpPr>
        <p:spPr bwMode="auto">
          <a:xfrm rot="1339931">
            <a:off x="1524000" y="59483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5" name="Rectangle 32"/>
          <p:cNvSpPr>
            <a:spLocks noChangeArrowheads="1"/>
          </p:cNvSpPr>
          <p:nvPr/>
        </p:nvSpPr>
        <p:spPr bwMode="auto">
          <a:xfrm>
            <a:off x="2351089" y="551656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3200">
                <a:solidFill>
                  <a:srgbClr val="C0C0C0"/>
                </a:solidFill>
              </a:rPr>
              <a:t>thanks</a:t>
            </a:r>
            <a:endParaRPr lang="ru-RU" sz="3200">
              <a:solidFill>
                <a:srgbClr val="C0C0C0"/>
              </a:solidFill>
            </a:endParaRPr>
          </a:p>
        </p:txBody>
      </p:sp>
      <p:sp>
        <p:nvSpPr>
          <p:cNvPr id="36896" name="Rectangle 33"/>
          <p:cNvSpPr>
            <a:spLocks noChangeArrowheads="1"/>
          </p:cNvSpPr>
          <p:nvPr/>
        </p:nvSpPr>
        <p:spPr bwMode="auto">
          <a:xfrm>
            <a:off x="6743700" y="60213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7" name="Rectangle 34"/>
          <p:cNvSpPr>
            <a:spLocks noChangeArrowheads="1"/>
          </p:cNvSpPr>
          <p:nvPr/>
        </p:nvSpPr>
        <p:spPr bwMode="auto">
          <a:xfrm rot="932178">
            <a:off x="7896225" y="5156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8" name="Rectangle 35"/>
          <p:cNvSpPr>
            <a:spLocks noChangeArrowheads="1"/>
          </p:cNvSpPr>
          <p:nvPr/>
        </p:nvSpPr>
        <p:spPr bwMode="auto">
          <a:xfrm rot="-634205">
            <a:off x="4943476" y="5589588"/>
            <a:ext cx="24479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9" name="Rectangle 36"/>
          <p:cNvSpPr>
            <a:spLocks noChangeArrowheads="1"/>
          </p:cNvSpPr>
          <p:nvPr/>
        </p:nvSpPr>
        <p:spPr bwMode="auto">
          <a:xfrm rot="-1966961">
            <a:off x="3478214" y="58054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0" name="Rectangle 37"/>
          <p:cNvSpPr>
            <a:spLocks noGrp="1" noChangeArrowheads="1"/>
          </p:cNvSpPr>
          <p:nvPr>
            <p:ph type="title"/>
          </p:nvPr>
        </p:nvSpPr>
        <p:spPr>
          <a:xfrm>
            <a:off x="2063750" y="2492376"/>
            <a:ext cx="8229600" cy="1439863"/>
          </a:xfrm>
        </p:spPr>
        <p:txBody>
          <a:bodyPr/>
          <a:lstStyle/>
          <a:p>
            <a:r>
              <a:rPr lang="ru-RU" sz="4800" b="1">
                <a:solidFill>
                  <a:srgbClr val="000099"/>
                </a:solidFill>
              </a:rPr>
              <a:t>Спасибо за внимание!</a:t>
            </a:r>
          </a:p>
        </p:txBody>
      </p:sp>
      <p:sp>
        <p:nvSpPr>
          <p:cNvPr id="36901" name="Rectangle 38"/>
          <p:cNvSpPr>
            <a:spLocks noChangeArrowheads="1"/>
          </p:cNvSpPr>
          <p:nvPr/>
        </p:nvSpPr>
        <p:spPr bwMode="auto">
          <a:xfrm>
            <a:off x="184785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2" name="Rectangle 39"/>
          <p:cNvSpPr>
            <a:spLocks noChangeArrowheads="1"/>
          </p:cNvSpPr>
          <p:nvPr/>
        </p:nvSpPr>
        <p:spPr bwMode="auto">
          <a:xfrm rot="-1966961">
            <a:off x="674370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3" name="Rectangle 40"/>
          <p:cNvSpPr>
            <a:spLocks noChangeArrowheads="1"/>
          </p:cNvSpPr>
          <p:nvPr/>
        </p:nvSpPr>
        <p:spPr bwMode="auto">
          <a:xfrm rot="932178">
            <a:off x="8543925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4" name="Rectangle 41"/>
          <p:cNvSpPr>
            <a:spLocks noChangeArrowheads="1"/>
          </p:cNvSpPr>
          <p:nvPr/>
        </p:nvSpPr>
        <p:spPr bwMode="auto">
          <a:xfrm rot="-634205">
            <a:off x="5303839" y="8366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5" name="Rectangle 42"/>
          <p:cNvSpPr>
            <a:spLocks noChangeArrowheads="1"/>
          </p:cNvSpPr>
          <p:nvPr/>
        </p:nvSpPr>
        <p:spPr bwMode="auto">
          <a:xfrm rot="-1966961">
            <a:off x="3719514" y="112395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906" name="Rectangle 43"/>
          <p:cNvSpPr>
            <a:spLocks noChangeArrowheads="1"/>
          </p:cNvSpPr>
          <p:nvPr/>
        </p:nvSpPr>
        <p:spPr bwMode="auto">
          <a:xfrm rot="1073047">
            <a:off x="7535864" y="10525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7" name="Rectangle 44"/>
          <p:cNvSpPr>
            <a:spLocks noChangeArrowheads="1"/>
          </p:cNvSpPr>
          <p:nvPr/>
        </p:nvSpPr>
        <p:spPr bwMode="auto">
          <a:xfrm rot="-1124404">
            <a:off x="8856664" y="42926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908" name="Rectangle 45"/>
          <p:cNvSpPr>
            <a:spLocks noChangeArrowheads="1"/>
          </p:cNvSpPr>
          <p:nvPr/>
        </p:nvSpPr>
        <p:spPr bwMode="auto">
          <a:xfrm rot="-1966961">
            <a:off x="8129589" y="1374775"/>
            <a:ext cx="24844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909" name="Rectangle 46"/>
          <p:cNvSpPr>
            <a:spLocks noChangeArrowheads="1"/>
          </p:cNvSpPr>
          <p:nvPr/>
        </p:nvSpPr>
        <p:spPr bwMode="auto">
          <a:xfrm rot="-634205">
            <a:off x="4800600" y="188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10" name="Rectangle 47"/>
          <p:cNvSpPr>
            <a:spLocks noChangeArrowheads="1"/>
          </p:cNvSpPr>
          <p:nvPr/>
        </p:nvSpPr>
        <p:spPr bwMode="auto">
          <a:xfrm rot="932178">
            <a:off x="8975725" y="35718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3781276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</TotalTime>
  <Words>1569</Words>
  <Application>Microsoft Office PowerPoint</Application>
  <PresentationFormat>Широкоэкранный</PresentationFormat>
  <Paragraphs>349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Tahoma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26. Информационно-вычислительные и ситуационные центры в государственном и региональном управлении.</dc:title>
  <dc:creator>Андрей Руфеев</dc:creator>
  <cp:lastModifiedBy>cluser</cp:lastModifiedBy>
  <cp:revision>195</cp:revision>
  <dcterms:created xsi:type="dcterms:W3CDTF">2021-10-24T19:59:40Z</dcterms:created>
  <dcterms:modified xsi:type="dcterms:W3CDTF">2025-11-07T13:25:25Z</dcterms:modified>
</cp:coreProperties>
</file>