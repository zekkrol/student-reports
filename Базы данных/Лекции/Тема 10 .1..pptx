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51"/>
  </p:notesMasterIdLst>
  <p:sldIdLst>
    <p:sldId id="319" r:id="rId2"/>
    <p:sldId id="257" r:id="rId3"/>
    <p:sldId id="627" r:id="rId4"/>
    <p:sldId id="696" r:id="rId5"/>
    <p:sldId id="480" r:id="rId6"/>
    <p:sldId id="628" r:id="rId7"/>
    <p:sldId id="699" r:id="rId8"/>
    <p:sldId id="698" r:id="rId9"/>
    <p:sldId id="697" r:id="rId10"/>
    <p:sldId id="714" r:id="rId11"/>
    <p:sldId id="715" r:id="rId12"/>
    <p:sldId id="716" r:id="rId13"/>
    <p:sldId id="718" r:id="rId14"/>
    <p:sldId id="717" r:id="rId15"/>
    <p:sldId id="721" r:id="rId16"/>
    <p:sldId id="720" r:id="rId17"/>
    <p:sldId id="719" r:id="rId18"/>
    <p:sldId id="722" r:id="rId19"/>
    <p:sldId id="723" r:id="rId20"/>
    <p:sldId id="724" r:id="rId21"/>
    <p:sldId id="725" r:id="rId22"/>
    <p:sldId id="726" r:id="rId23"/>
    <p:sldId id="483" r:id="rId24"/>
    <p:sldId id="653" r:id="rId25"/>
    <p:sldId id="704" r:id="rId26"/>
    <p:sldId id="703" r:id="rId27"/>
    <p:sldId id="706" r:id="rId28"/>
    <p:sldId id="481" r:id="rId29"/>
    <p:sldId id="708" r:id="rId30"/>
    <p:sldId id="711" r:id="rId31"/>
    <p:sldId id="710" r:id="rId32"/>
    <p:sldId id="709" r:id="rId33"/>
    <p:sldId id="712" r:id="rId34"/>
    <p:sldId id="713" r:id="rId35"/>
    <p:sldId id="621" r:id="rId36"/>
    <p:sldId id="659" r:id="rId37"/>
    <p:sldId id="729" r:id="rId38"/>
    <p:sldId id="728" r:id="rId39"/>
    <p:sldId id="727" r:id="rId40"/>
    <p:sldId id="622" r:id="rId41"/>
    <p:sldId id="662" r:id="rId42"/>
    <p:sldId id="732" r:id="rId43"/>
    <p:sldId id="731" r:id="rId44"/>
    <p:sldId id="730" r:id="rId45"/>
    <p:sldId id="733" r:id="rId46"/>
    <p:sldId id="623" r:id="rId47"/>
    <p:sldId id="680" r:id="rId48"/>
    <p:sldId id="736" r:id="rId49"/>
    <p:sldId id="338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29" autoAdjust="0"/>
    <p:restoredTop sz="94662" autoAdjust="0"/>
  </p:normalViewPr>
  <p:slideViewPr>
    <p:cSldViewPr snapToGrid="0">
      <p:cViewPr varScale="1">
        <p:scale>
          <a:sx n="109" d="100"/>
          <a:sy n="109" d="100"/>
        </p:scale>
        <p:origin x="105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10.1 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295801" y="5998179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6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dirty="0">
                <a:solidFill>
                  <a:srgbClr val="FF0000"/>
                </a:solidFill>
              </a:rPr>
              <a:t>Повышение производительности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ОПТИМИЗАЦИЯ ЗАПРОСОВ</a:t>
            </a:r>
            <a:endParaRPr lang="ru-RU" sz="4000" b="1" dirty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Инструменты для анализа</a:t>
            </a:r>
          </a:p>
          <a:p>
            <a:r>
              <a:rPr lang="ru-RU" sz="2000" dirty="0"/>
              <a:t>Для анализа планов выполнения запросов в </a:t>
            </a:r>
            <a:r>
              <a:rPr lang="ru-RU" sz="2000" dirty="0" err="1"/>
              <a:t>PostgreSQL</a:t>
            </a:r>
            <a:r>
              <a:rPr lang="ru-RU" sz="2000" dirty="0"/>
              <a:t> используются, например:</a:t>
            </a:r>
          </a:p>
          <a:p>
            <a:r>
              <a:rPr lang="ru-RU" sz="2000" dirty="0"/>
              <a:t>•	</a:t>
            </a:r>
            <a:r>
              <a:rPr lang="ru-RU" sz="2000" b="1" dirty="0"/>
              <a:t>EXPLAIN</a:t>
            </a:r>
            <a:r>
              <a:rPr lang="ru-RU" sz="2000" dirty="0"/>
              <a:t> — показывает предполагаемый план выполнения запроса до его фактического выполнения.  </a:t>
            </a:r>
          </a:p>
          <a:p>
            <a:r>
              <a:rPr lang="ru-RU" sz="2000" dirty="0"/>
              <a:t>•	</a:t>
            </a:r>
            <a:r>
              <a:rPr lang="ru-RU" sz="2000" b="1" dirty="0"/>
              <a:t>EXPLAIN ANALYZE </a:t>
            </a:r>
            <a:r>
              <a:rPr lang="ru-RU" sz="2000" dirty="0"/>
              <a:t>— фактически выполняет запрос и собирает реальные метрики производительности. </a:t>
            </a:r>
            <a:endParaRPr lang="ru-RU" sz="2000" dirty="0" smtClean="0"/>
          </a:p>
          <a:p>
            <a:pPr algn="ctr"/>
            <a:r>
              <a:rPr lang="ru-RU" sz="2000" b="1" dirty="0"/>
              <a:t>Терминология и основы системы безопасности </a:t>
            </a:r>
            <a:r>
              <a:rPr lang="ru-RU" sz="2000" b="1" dirty="0" smtClean="0"/>
              <a:t>SQL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База </a:t>
            </a:r>
            <a:r>
              <a:rPr lang="ru-RU" sz="2000" b="1" dirty="0"/>
              <a:t>данных </a:t>
            </a:r>
            <a:r>
              <a:rPr lang="ru-RU" sz="2000" dirty="0"/>
              <a:t>— именованная коллекция локальных SQL-объектов.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Кластер </a:t>
            </a:r>
            <a:r>
              <a:rPr lang="ru-RU" sz="2000" b="1" dirty="0"/>
              <a:t>баз данных </a:t>
            </a:r>
            <a:r>
              <a:rPr lang="ru-RU" sz="2000" dirty="0"/>
              <a:t>— набор баз данных и глобальных SQL-объектов, а также их общих статических и динамических метаданных. Иногда также называется просто кластером.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Клиент </a:t>
            </a:r>
            <a:r>
              <a:rPr lang="ru-RU" sz="2000" b="1" dirty="0"/>
              <a:t>(процесс) </a:t>
            </a:r>
            <a:r>
              <a:rPr lang="ru-RU" sz="2000" dirty="0"/>
              <a:t>— любой процесс, возможно, удалённый, который подключается к экземпляру сервера для взаимодействия с базой данных и осуществляет сеанс использования СУБД.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Ключ</a:t>
            </a:r>
            <a:r>
              <a:rPr lang="ru-RU" sz="2000" dirty="0" smtClean="0"/>
              <a:t> </a:t>
            </a:r>
            <a:r>
              <a:rPr lang="ru-RU" sz="2000" dirty="0"/>
              <a:t>— средство идентификации строки в таблице или другом отношении по значениям, содержащимся в одном или нескольких атрибутах этого отношения.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Таблица</a:t>
            </a:r>
            <a:r>
              <a:rPr lang="ru-RU" sz="2000" dirty="0" smtClean="0"/>
              <a:t> </a:t>
            </a:r>
            <a:r>
              <a:rPr lang="ru-RU" sz="2000" dirty="0"/>
              <a:t>— набор кортежей, имеющих общую структуру данных (одинаковое количество атрибутов в том же порядке, одинаковые имена и типы).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60533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" y="1"/>
            <a:ext cx="1219200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Некоторые основы системы безопасности </a:t>
            </a:r>
            <a:r>
              <a:rPr lang="ru-RU" sz="2000" b="1" dirty="0" err="1"/>
              <a:t>PostgreSQL</a:t>
            </a:r>
            <a:r>
              <a:rPr lang="ru-RU" sz="2000" b="1" dirty="0"/>
              <a:t>: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Аутентификация</a:t>
            </a:r>
            <a:r>
              <a:rPr lang="ru-RU" sz="2000" dirty="0"/>
              <a:t>. </a:t>
            </a:r>
            <a:r>
              <a:rPr lang="ru-RU" sz="2000" dirty="0" err="1"/>
              <a:t>PostgreSQL</a:t>
            </a:r>
            <a:r>
              <a:rPr lang="ru-RU" sz="2000" dirty="0"/>
              <a:t> поддерживает различные методы, например, внутреннюю аутентификацию на основе паролей (SCRAM-SHA-256) и внешнюю аутентификацию (LDAP, </a:t>
            </a:r>
            <a:r>
              <a:rPr lang="ru-RU" sz="2000" dirty="0" err="1"/>
              <a:t>Kerberos</a:t>
            </a:r>
            <a:r>
              <a:rPr lang="ru-RU" sz="2000" dirty="0"/>
              <a:t>). 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Управление </a:t>
            </a:r>
            <a:r>
              <a:rPr lang="ru-RU" sz="2000" b="1" dirty="0"/>
              <a:t>пользователями и ролями</a:t>
            </a:r>
            <a:r>
              <a:rPr lang="ru-RU" sz="2000" dirty="0"/>
              <a:t>. В современных версиях </a:t>
            </a:r>
            <a:r>
              <a:rPr lang="ru-RU" sz="2000" dirty="0" err="1"/>
              <a:t>PostgreSQL</a:t>
            </a:r>
            <a:r>
              <a:rPr lang="ru-RU" sz="2000" dirty="0"/>
              <a:t> (8.1 и новее) «роль» — синоним «пользователя». 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Безопасность </a:t>
            </a:r>
            <a:r>
              <a:rPr lang="ru-RU" sz="2000" b="1" dirty="0"/>
              <a:t>на уровне строк (RLS</a:t>
            </a:r>
            <a:r>
              <a:rPr lang="ru-RU" sz="2000" dirty="0"/>
              <a:t>). Позволяет предоставлять привилегии подмножеству строк в таблице. </a:t>
            </a:r>
            <a:endParaRPr lang="ru-RU" sz="2000" dirty="0" smtClean="0"/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Шифрование </a:t>
            </a:r>
            <a:r>
              <a:rPr lang="ru-RU" sz="2000" b="1" dirty="0"/>
              <a:t>данных</a:t>
            </a:r>
            <a:r>
              <a:rPr lang="ru-RU" sz="2000" dirty="0"/>
              <a:t>. Включение SSL (</a:t>
            </a:r>
            <a:r>
              <a:rPr lang="ru-RU" sz="2000" dirty="0" err="1"/>
              <a:t>Secure</a:t>
            </a:r>
            <a:r>
              <a:rPr lang="ru-RU" sz="2000" dirty="0"/>
              <a:t> </a:t>
            </a:r>
            <a:r>
              <a:rPr lang="ru-RU" sz="2000" dirty="0" err="1"/>
              <a:t>Sockets</a:t>
            </a:r>
            <a:r>
              <a:rPr lang="ru-RU" sz="2000" dirty="0"/>
              <a:t> </a:t>
            </a:r>
            <a:r>
              <a:rPr lang="ru-RU" sz="2000" dirty="0" err="1"/>
              <a:t>Layer</a:t>
            </a:r>
            <a:r>
              <a:rPr lang="ru-RU" sz="2000" dirty="0"/>
              <a:t>) обеспечивает шифрование трафика между клиентом и сервером, что защищает данные от перехвата в процессе передачи. </a:t>
            </a:r>
            <a:endParaRPr lang="ru-RU" sz="2000" dirty="0" smtClean="0"/>
          </a:p>
          <a:p>
            <a:pPr algn="ctr"/>
            <a:r>
              <a:rPr lang="ru-RU" sz="2000" b="1" dirty="0" smtClean="0"/>
              <a:t>РЕКОМЕНДАЦИИ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Использовать надёжные методы аутентификации. Например, использовать SCRAM-SHA-256 вместо MD5 для шифрования паролей.</a:t>
            </a:r>
          </a:p>
          <a:p>
            <a:pPr algn="just"/>
            <a:r>
              <a:rPr lang="ru-RU" sz="2000" dirty="0"/>
              <a:t>•	Следить за обновлениями </a:t>
            </a:r>
            <a:r>
              <a:rPr lang="ru-RU" sz="2000" dirty="0" err="1" smtClean="0"/>
              <a:t>PostgreSQL</a:t>
            </a:r>
            <a:endParaRPr lang="ru-RU" sz="2000" dirty="0"/>
          </a:p>
          <a:p>
            <a:pPr algn="just"/>
            <a:r>
              <a:rPr lang="ru-RU" sz="2000" dirty="0"/>
              <a:t>•	Ограничивать сетевой доступ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Использовать шифрование данных на уровне файловой системы </a:t>
            </a:r>
          </a:p>
          <a:p>
            <a:pPr algn="ctr"/>
            <a:r>
              <a:rPr lang="ru-RU" sz="2000" b="1" i="1" dirty="0"/>
              <a:t>Инструменты</a:t>
            </a:r>
          </a:p>
          <a:p>
            <a:pPr algn="just"/>
            <a:r>
              <a:rPr lang="ru-RU" sz="2000" dirty="0" smtClean="0"/>
              <a:t>Для обеспечения безопасности </a:t>
            </a:r>
            <a:r>
              <a:rPr lang="ru-RU" sz="2000" dirty="0" err="1" smtClean="0"/>
              <a:t>PostgreSQL</a:t>
            </a:r>
            <a:r>
              <a:rPr lang="ru-RU" sz="2000" dirty="0" smtClean="0"/>
              <a:t> используются, например: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Файл </a:t>
            </a:r>
            <a:r>
              <a:rPr lang="ru-RU" sz="2000" b="1" dirty="0" err="1"/>
              <a:t>pg_hba.conf</a:t>
            </a:r>
            <a:r>
              <a:rPr lang="ru-RU" sz="2000" b="1" dirty="0"/>
              <a:t> </a:t>
            </a:r>
            <a:r>
              <a:rPr lang="ru-RU" sz="2000" dirty="0" smtClean="0"/>
              <a:t>— определяет правила аутентификации для подключения клиентов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Расширение </a:t>
            </a:r>
            <a:r>
              <a:rPr lang="ru-RU" sz="2000" b="1" dirty="0" err="1" smtClean="0"/>
              <a:t>pgaudit</a:t>
            </a:r>
            <a:r>
              <a:rPr lang="ru-RU" sz="2000" b="1" dirty="0" smtClean="0"/>
              <a:t> </a:t>
            </a:r>
            <a:r>
              <a:rPr lang="ru-RU" sz="2000" dirty="0" smtClean="0"/>
              <a:t>— помогает в ведении аудита операций, выполняемых пользователями.</a:t>
            </a:r>
          </a:p>
          <a:p>
            <a:pPr algn="just"/>
            <a:r>
              <a:rPr lang="ru-RU" sz="2000" dirty="0" smtClean="0"/>
              <a:t>• </a:t>
            </a:r>
            <a:r>
              <a:rPr lang="ru-RU" sz="2000" b="1" dirty="0" smtClean="0"/>
              <a:t>Расширение </a:t>
            </a:r>
            <a:r>
              <a:rPr lang="ru-RU" sz="2000" b="1" dirty="0" err="1" smtClean="0"/>
              <a:t>pgcrypto</a:t>
            </a:r>
            <a:r>
              <a:rPr lang="ru-RU" sz="2000" b="1" dirty="0" smtClean="0"/>
              <a:t> </a:t>
            </a:r>
            <a:r>
              <a:rPr lang="ru-RU" sz="2000" dirty="0" smtClean="0"/>
              <a:t>— добавляет возможности шифрования непосредственно внутри </a:t>
            </a:r>
            <a:r>
              <a:rPr lang="ru-RU" sz="2000" dirty="0" err="1" smtClean="0"/>
              <a:t>PostgreSQL</a:t>
            </a:r>
            <a:r>
              <a:rPr lang="ru-RU" sz="2000" dirty="0" smtClean="0"/>
              <a:t>,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500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ЛОГИНЫ (ИМЕНА ВХОДА)</a:t>
            </a: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В </a:t>
            </a:r>
            <a:r>
              <a:rPr lang="ru-RU" sz="2000" b="1" dirty="0" err="1"/>
              <a:t>PostgreSQL</a:t>
            </a:r>
            <a:r>
              <a:rPr lang="ru-RU" sz="2000" b="1" dirty="0"/>
              <a:t> логины (имена входа) не являются отдельными сущностями</a:t>
            </a:r>
            <a:r>
              <a:rPr lang="ru-RU" sz="2000" dirty="0"/>
              <a:t>. В системе нет понятия «логин» как отдельного объекта, но есть </a:t>
            </a:r>
            <a:r>
              <a:rPr lang="ru-RU" sz="2000" b="1" dirty="0"/>
              <a:t>роли</a:t>
            </a:r>
            <a:r>
              <a:rPr lang="ru-RU" sz="2000" dirty="0"/>
              <a:t> с атрибутом </a:t>
            </a:r>
            <a:r>
              <a:rPr lang="ru-RU" sz="2000" b="1" i="1" dirty="0"/>
              <a:t>LOGIN</a:t>
            </a:r>
            <a:r>
              <a:rPr lang="ru-RU" sz="2000" dirty="0"/>
              <a:t>, который позволяет им подключаться к базе </a:t>
            </a:r>
            <a:r>
              <a:rPr lang="ru-RU" sz="2000" dirty="0" smtClean="0"/>
              <a:t>данных</a:t>
            </a:r>
          </a:p>
          <a:p>
            <a:pPr algn="just"/>
            <a:r>
              <a:rPr lang="ru-RU" sz="2000" dirty="0"/>
              <a:t>Аутентификация </a:t>
            </a:r>
            <a:r>
              <a:rPr lang="ru-RU" sz="2000" dirty="0" err="1"/>
              <a:t>PostgreSQL</a:t>
            </a:r>
            <a:r>
              <a:rPr lang="ru-RU" sz="2000" dirty="0"/>
              <a:t> управляется файлом </a:t>
            </a:r>
            <a:r>
              <a:rPr lang="ru-RU" sz="2000" b="1" dirty="0" err="1" smtClean="0"/>
              <a:t>pg_hba.conf</a:t>
            </a:r>
            <a:endParaRPr lang="ru-RU" sz="2000" b="1" dirty="0" smtClean="0"/>
          </a:p>
          <a:p>
            <a:pPr algn="just"/>
            <a:r>
              <a:rPr lang="ru-RU" sz="2000" b="1" dirty="0"/>
              <a:t>Некоторые возможности настройки:</a:t>
            </a:r>
          </a:p>
          <a:p>
            <a:pPr algn="just"/>
            <a:r>
              <a:rPr lang="ru-RU" sz="2000" dirty="0" smtClean="0"/>
              <a:t>• Создание </a:t>
            </a:r>
            <a:r>
              <a:rPr lang="ru-RU" sz="2000" dirty="0"/>
              <a:t>нового пользователя (необязательно) </a:t>
            </a:r>
            <a:r>
              <a:rPr lang="ru-RU" sz="2000" dirty="0" smtClean="0"/>
              <a:t>—</a:t>
            </a:r>
            <a:r>
              <a:rPr lang="ru-RU" sz="2000" b="1" dirty="0" smtClean="0"/>
              <a:t>CREATE </a:t>
            </a:r>
            <a:r>
              <a:rPr lang="ru-RU" sz="2000" b="1" dirty="0"/>
              <a:t>USER </a:t>
            </a:r>
            <a:r>
              <a:rPr lang="ru-RU" sz="2000" b="1" dirty="0" err="1"/>
              <a:t>username</a:t>
            </a:r>
            <a:r>
              <a:rPr lang="ru-RU" sz="2000" b="1" dirty="0"/>
              <a:t> WITH PASSWORD '</a:t>
            </a:r>
            <a:r>
              <a:rPr lang="ru-RU" sz="2000" b="1" dirty="0" err="1"/>
              <a:t>password</a:t>
            </a:r>
            <a:r>
              <a:rPr lang="ru-RU" sz="2000" b="1" dirty="0"/>
              <a:t>'</a:t>
            </a:r>
          </a:p>
          <a:p>
            <a:pPr algn="just"/>
            <a:r>
              <a:rPr lang="ru-RU" sz="2000" dirty="0" smtClean="0"/>
              <a:t>• Изменение </a:t>
            </a:r>
            <a:r>
              <a:rPr lang="ru-RU" sz="2000" dirty="0"/>
              <a:t>пароля существующего пользователя </a:t>
            </a:r>
            <a:r>
              <a:rPr lang="ru-RU" sz="2000" dirty="0" smtClean="0"/>
              <a:t>—</a:t>
            </a:r>
            <a:r>
              <a:rPr lang="ru-RU" sz="2000" b="1" dirty="0" smtClean="0"/>
              <a:t>ALTER </a:t>
            </a:r>
            <a:r>
              <a:rPr lang="ru-RU" sz="2000" b="1" dirty="0"/>
              <a:t>USER </a:t>
            </a:r>
            <a:r>
              <a:rPr lang="ru-RU" sz="2000" b="1" dirty="0" err="1"/>
              <a:t>username</a:t>
            </a:r>
            <a:r>
              <a:rPr lang="ru-RU" sz="2000" b="1" dirty="0"/>
              <a:t> WITH PASSWORD '</a:t>
            </a:r>
            <a:r>
              <a:rPr lang="ru-RU" sz="2000" b="1" dirty="0" err="1"/>
              <a:t>new_password</a:t>
            </a:r>
            <a:r>
              <a:rPr lang="ru-RU" sz="2000" b="1" dirty="0"/>
              <a:t>'</a:t>
            </a:r>
          </a:p>
          <a:p>
            <a:pPr algn="just"/>
            <a:r>
              <a:rPr lang="ru-RU" sz="2000" dirty="0" smtClean="0"/>
              <a:t>• Сопоставление </a:t>
            </a:r>
            <a:r>
              <a:rPr lang="ru-RU" sz="2000" dirty="0"/>
              <a:t>имён пользователей </a:t>
            </a:r>
            <a:endParaRPr lang="ru-RU" sz="2000" dirty="0" smtClean="0"/>
          </a:p>
          <a:p>
            <a:pPr algn="ctr"/>
            <a:r>
              <a:rPr lang="ru-RU" sz="2000" b="1" dirty="0"/>
              <a:t>Некоторые меры безопасности при управлении логинами в </a:t>
            </a:r>
            <a:r>
              <a:rPr lang="ru-RU" sz="2000" b="1" dirty="0" err="1"/>
              <a:t>PostgreSQL</a:t>
            </a:r>
            <a:r>
              <a:rPr lang="ru-RU" sz="2000" b="1" dirty="0"/>
              <a:t>:</a:t>
            </a:r>
          </a:p>
          <a:p>
            <a:pPr algn="just"/>
            <a:r>
              <a:rPr lang="ru-RU" sz="2000" dirty="0" smtClean="0"/>
              <a:t>• Создание </a:t>
            </a:r>
            <a:r>
              <a:rPr lang="ru-RU" sz="2000" dirty="0"/>
              <a:t>надёжных паролей — особенно для учётных записей </a:t>
            </a:r>
            <a:r>
              <a:rPr lang="ru-RU" sz="2000" dirty="0" err="1"/>
              <a:t>суперпользователей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 smtClean="0"/>
              <a:t>• Управление </a:t>
            </a:r>
            <a:r>
              <a:rPr lang="ru-RU" sz="2000" dirty="0"/>
              <a:t>ролями — вместо использования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 </a:t>
            </a:r>
            <a:r>
              <a:rPr lang="ru-RU" sz="2000" dirty="0" err="1"/>
              <a:t>postgres</a:t>
            </a:r>
            <a:r>
              <a:rPr lang="ru-RU" sz="2000" dirty="0"/>
              <a:t> для повседневных операций рекомендуется создавать новые роли с ограниченными привилегиями.</a:t>
            </a:r>
          </a:p>
          <a:p>
            <a:pPr algn="just"/>
            <a:r>
              <a:rPr lang="ru-RU" sz="2000" dirty="0" smtClean="0"/>
              <a:t>• Обновление </a:t>
            </a:r>
            <a:r>
              <a:rPr lang="ru-RU" sz="2000" dirty="0"/>
              <a:t>методов аутентификации — регулярно проверять и обновлять файл </a:t>
            </a:r>
            <a:r>
              <a:rPr lang="ru-RU" sz="2000" dirty="0" err="1"/>
              <a:t>pg_hba.conf</a:t>
            </a:r>
            <a:r>
              <a:rPr lang="ru-RU" sz="2000" dirty="0"/>
              <a:t>, чтобы убедиться, что используются безопасные методы аутентификации (например, scram-sha-256).</a:t>
            </a:r>
          </a:p>
          <a:p>
            <a:pPr algn="just"/>
            <a:r>
              <a:rPr lang="ru-RU" sz="2000" dirty="0" smtClean="0"/>
              <a:t>• Регулярная </a:t>
            </a:r>
            <a:r>
              <a:rPr lang="ru-RU" sz="2000" dirty="0"/>
              <a:t>ротация паролей — периодически менять пароли, особенно для учётных записей </a:t>
            </a:r>
            <a:r>
              <a:rPr lang="ru-RU" sz="2000" dirty="0" err="1"/>
              <a:t>суперпользователей</a:t>
            </a:r>
            <a:endParaRPr lang="ru-RU" sz="2000" dirty="0"/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9454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 </a:t>
            </a:r>
            <a:r>
              <a:rPr lang="ru-RU" sz="2000" b="1" dirty="0"/>
              <a:t>Выбор типа логина. </a:t>
            </a:r>
          </a:p>
          <a:p>
            <a:pPr algn="just"/>
            <a:r>
              <a:rPr lang="ru-RU" sz="2000" dirty="0"/>
              <a:t>В </a:t>
            </a:r>
            <a:r>
              <a:rPr lang="en-US" sz="2000" dirty="0"/>
              <a:t>PostgreSQL </a:t>
            </a:r>
            <a:r>
              <a:rPr lang="ru-RU" sz="2000" dirty="0"/>
              <a:t>выбор типа логина (метода аутентификации) настраивается в конфигурационном файле </a:t>
            </a:r>
            <a:r>
              <a:rPr lang="en-US" sz="2000" b="1" dirty="0" err="1"/>
              <a:t>pg_hba.conf</a:t>
            </a:r>
            <a:r>
              <a:rPr lang="en-US" sz="2000" b="1" dirty="0"/>
              <a:t> («host-based authentication»). </a:t>
            </a:r>
            <a:endParaRPr lang="ru-RU" sz="2000" b="1" dirty="0" smtClean="0"/>
          </a:p>
          <a:p>
            <a:pPr algn="ctr"/>
            <a:r>
              <a:rPr lang="ru-RU" sz="2000" b="1" dirty="0"/>
              <a:t>Методы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b="1" dirty="0" err="1"/>
              <a:t>trust</a:t>
            </a:r>
            <a:r>
              <a:rPr lang="ru-RU" sz="2000" b="1" dirty="0"/>
              <a:t> </a:t>
            </a:r>
            <a:endParaRPr lang="ru-RU" sz="2000" b="1" dirty="0" smtClean="0"/>
          </a:p>
          <a:p>
            <a:pPr algn="just"/>
            <a:r>
              <a:rPr lang="ru-RU" sz="2000" b="1" dirty="0" smtClean="0"/>
              <a:t>•</a:t>
            </a:r>
            <a:r>
              <a:rPr lang="ru-RU" sz="2000" b="1" dirty="0"/>
              <a:t>	</a:t>
            </a:r>
            <a:r>
              <a:rPr lang="ru-RU" sz="2000" b="1" dirty="0" err="1"/>
              <a:t>password</a:t>
            </a:r>
            <a:r>
              <a:rPr lang="ru-RU" sz="2000" b="1" dirty="0"/>
              <a:t> </a:t>
            </a:r>
            <a:endParaRPr lang="ru-RU" sz="2000" b="1" dirty="0" smtClean="0"/>
          </a:p>
          <a:p>
            <a:pPr algn="just"/>
            <a:r>
              <a:rPr lang="ru-RU" sz="2000" b="1" dirty="0" smtClean="0"/>
              <a:t>•</a:t>
            </a:r>
            <a:r>
              <a:rPr lang="ru-RU" sz="2000" b="1" dirty="0"/>
              <a:t>	</a:t>
            </a:r>
            <a:r>
              <a:rPr lang="ru-RU" sz="2000" b="1" dirty="0" err="1"/>
              <a:t>ident</a:t>
            </a:r>
            <a:r>
              <a:rPr lang="ru-RU" sz="2000" b="1" dirty="0"/>
              <a:t> </a:t>
            </a:r>
            <a:r>
              <a:rPr lang="ru-RU" sz="2000" dirty="0"/>
              <a:t>— использует службу, реализующую «</a:t>
            </a:r>
            <a:r>
              <a:rPr lang="ru-RU" sz="2000" dirty="0" err="1"/>
              <a:t>Identification</a:t>
            </a:r>
            <a:r>
              <a:rPr lang="ru-RU" sz="2000" dirty="0"/>
              <a:t> </a:t>
            </a:r>
            <a:r>
              <a:rPr lang="ru-RU" sz="2000" dirty="0" err="1"/>
              <a:t>Protocol</a:t>
            </a:r>
            <a:r>
              <a:rPr lang="ru-RU" sz="2000" dirty="0"/>
              <a:t>» (RFC 1413) </a:t>
            </a:r>
            <a:r>
              <a:rPr lang="ru-RU" sz="2000" dirty="0" err="1" smtClean="0"/>
              <a:t>Unix</a:t>
            </a:r>
            <a:r>
              <a:rPr lang="ru-RU" sz="2000" dirty="0" smtClean="0"/>
              <a:t> </a:t>
            </a:r>
            <a:r>
              <a:rPr lang="ru-RU" sz="2000" dirty="0"/>
              <a:t>этот метод работает как </a:t>
            </a:r>
            <a:r>
              <a:rPr lang="ru-RU" sz="2000" dirty="0" err="1"/>
              <a:t>peer</a:t>
            </a:r>
            <a:r>
              <a:rPr lang="ru-RU" sz="2000" dirty="0"/>
              <a:t>.  </a:t>
            </a:r>
          </a:p>
          <a:p>
            <a:pPr algn="just"/>
            <a:r>
              <a:rPr lang="ru-RU" sz="2000" b="1" dirty="0"/>
              <a:t>•	</a:t>
            </a:r>
            <a:r>
              <a:rPr lang="ru-RU" sz="2000" b="1" dirty="0" err="1" smtClean="0"/>
              <a:t>peer</a:t>
            </a:r>
            <a:endParaRPr lang="ru-RU" sz="2000" b="1" dirty="0"/>
          </a:p>
          <a:p>
            <a:pPr algn="just"/>
            <a:r>
              <a:rPr lang="ru-RU" sz="2000" b="1" dirty="0"/>
              <a:t>•	</a:t>
            </a:r>
            <a:r>
              <a:rPr lang="ru-RU" sz="2000" b="1" dirty="0" smtClean="0"/>
              <a:t>scram-sha-256 </a:t>
            </a:r>
            <a:endParaRPr lang="ru-RU" sz="2000" b="1" dirty="0"/>
          </a:p>
          <a:p>
            <a:pPr algn="just"/>
            <a:r>
              <a:rPr lang="ru-RU" sz="2000" b="1" dirty="0"/>
              <a:t>•	md5 </a:t>
            </a:r>
            <a:endParaRPr lang="ru-RU" sz="2000" b="1" dirty="0" smtClean="0"/>
          </a:p>
          <a:p>
            <a:pPr algn="ctr"/>
            <a:r>
              <a:rPr lang="ru-RU" sz="2000" b="1" dirty="0" smtClean="0"/>
              <a:t>Структура </a:t>
            </a:r>
            <a:r>
              <a:rPr lang="ru-RU" sz="2000" b="1" dirty="0"/>
              <a:t>записей:  </a:t>
            </a:r>
          </a:p>
          <a:p>
            <a:pPr algn="just"/>
            <a:r>
              <a:rPr lang="ru-RU" sz="2000" dirty="0"/>
              <a:t>•	Тип соединения.</a:t>
            </a:r>
          </a:p>
          <a:p>
            <a:pPr algn="just"/>
            <a:r>
              <a:rPr lang="ru-RU" sz="2000" dirty="0"/>
              <a:t>•	База данных, к которой выполняется подключение.</a:t>
            </a:r>
          </a:p>
          <a:p>
            <a:pPr algn="just"/>
            <a:r>
              <a:rPr lang="ru-RU" sz="2000" dirty="0"/>
              <a:t>•	Роль, от имени которой выполняется подключение.</a:t>
            </a:r>
          </a:p>
          <a:p>
            <a:pPr algn="just"/>
            <a:r>
              <a:rPr lang="ru-RU" sz="2000" dirty="0"/>
              <a:t>•	Адрес узла или сети или их имена источника соединения.</a:t>
            </a:r>
          </a:p>
          <a:p>
            <a:pPr algn="just"/>
            <a:r>
              <a:rPr lang="ru-RU" sz="2000" dirty="0"/>
              <a:t>•	Метод аутентификации и, возможно, дополнительные опции</a:t>
            </a:r>
            <a:r>
              <a:rPr lang="ru-RU" sz="2000" b="1" dirty="0"/>
              <a:t>.</a:t>
            </a:r>
          </a:p>
          <a:p>
            <a:pPr algn="ctr"/>
            <a:r>
              <a:rPr lang="ru-RU" sz="2000" b="1" dirty="0"/>
              <a:t>Ошибки</a:t>
            </a:r>
          </a:p>
          <a:p>
            <a:pPr algn="just"/>
            <a:r>
              <a:rPr lang="ru-RU" sz="2000" b="1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Password</a:t>
            </a:r>
            <a:r>
              <a:rPr lang="ru-RU" sz="2000" dirty="0"/>
              <a:t> </a:t>
            </a:r>
            <a:r>
              <a:rPr lang="ru-RU" sz="2000" dirty="0" err="1"/>
              <a:t>authentication</a:t>
            </a:r>
            <a:r>
              <a:rPr lang="ru-RU" sz="2000" dirty="0"/>
              <a:t> </a:t>
            </a:r>
            <a:r>
              <a:rPr lang="ru-RU" sz="2000" dirty="0" err="1"/>
              <a:t>failed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</a:t>
            </a:r>
            <a:r>
              <a:rPr lang="ru-RU" sz="2000" dirty="0" err="1"/>
              <a:t>user</a:t>
            </a:r>
            <a:r>
              <a:rPr lang="ru-RU" sz="2000" dirty="0"/>
              <a:t> «</a:t>
            </a:r>
            <a:r>
              <a:rPr lang="ru-RU" sz="2000" dirty="0" err="1"/>
              <a:t>postgres</a:t>
            </a:r>
            <a:r>
              <a:rPr lang="ru-RU" sz="2000" dirty="0"/>
              <a:t>»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FATAL: </a:t>
            </a:r>
            <a:r>
              <a:rPr lang="ru-RU" sz="2000" dirty="0" err="1"/>
              <a:t>no</a:t>
            </a:r>
            <a:r>
              <a:rPr lang="ru-RU" sz="2000" dirty="0"/>
              <a:t> </a:t>
            </a:r>
            <a:r>
              <a:rPr lang="ru-RU" sz="2000" dirty="0" err="1"/>
              <a:t>pg_hba.conf</a:t>
            </a:r>
            <a:r>
              <a:rPr lang="ru-RU" sz="2000" dirty="0"/>
              <a:t> </a:t>
            </a:r>
            <a:r>
              <a:rPr lang="ru-RU" sz="2000" dirty="0" err="1"/>
              <a:t>entry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</a:t>
            </a:r>
            <a:r>
              <a:rPr lang="ru-RU" sz="2000" dirty="0" err="1"/>
              <a:t>host</a:t>
            </a:r>
            <a:r>
              <a:rPr lang="ru-RU" sz="2000" dirty="0"/>
              <a:t> «…», </a:t>
            </a:r>
            <a:r>
              <a:rPr lang="ru-RU" sz="2000" dirty="0" err="1"/>
              <a:t>user</a:t>
            </a:r>
            <a:r>
              <a:rPr lang="ru-RU" sz="2000" dirty="0"/>
              <a:t> «…», </a:t>
            </a:r>
            <a:r>
              <a:rPr lang="ru-RU" sz="2000" dirty="0" err="1"/>
              <a:t>database</a:t>
            </a:r>
            <a:r>
              <a:rPr lang="ru-RU" sz="2000" dirty="0"/>
              <a:t> «…» </a:t>
            </a:r>
            <a:endParaRPr lang="ru-RU" sz="2000" dirty="0" smtClean="0"/>
          </a:p>
          <a:p>
            <a:pPr algn="just"/>
            <a:r>
              <a:rPr lang="ru-RU" sz="2000" dirty="0" smtClean="0"/>
              <a:t>(</a:t>
            </a:r>
            <a:r>
              <a:rPr lang="en-US" sz="2000" dirty="0" err="1" smtClean="0"/>
              <a:t>pg_hba.conf</a:t>
            </a:r>
            <a:r>
              <a:rPr lang="en-US" sz="2000" dirty="0" smtClean="0"/>
              <a:t> </a:t>
            </a:r>
            <a:r>
              <a:rPr lang="ru-RU" sz="2000" dirty="0" smtClean="0"/>
              <a:t>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8893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Управление </a:t>
            </a:r>
            <a:r>
              <a:rPr lang="ru-RU" sz="2000" b="1" dirty="0" smtClean="0"/>
              <a:t>доступом</a:t>
            </a:r>
          </a:p>
          <a:p>
            <a:pPr algn="just"/>
            <a:r>
              <a:rPr lang="ru-RU" sz="2000" b="1" dirty="0"/>
              <a:t>Роль в базах данных </a:t>
            </a:r>
            <a:r>
              <a:rPr lang="ru-RU" sz="2000" dirty="0"/>
              <a:t>— это объект, который управляет правами доступа к объектам базы данных (например, таблицам и функциям</a:t>
            </a:r>
            <a:r>
              <a:rPr lang="ru-RU" sz="2000" dirty="0" smtClean="0"/>
              <a:t>)</a:t>
            </a:r>
          </a:p>
          <a:p>
            <a:pPr algn="just"/>
            <a:r>
              <a:rPr lang="ru-RU" sz="2000" dirty="0"/>
              <a:t>атрибуты имеют два варианта, например:</a:t>
            </a:r>
          </a:p>
          <a:p>
            <a:pPr algn="just"/>
            <a:r>
              <a:rPr lang="ru-RU" sz="2000" b="1" dirty="0"/>
              <a:t>CREATEDB </a:t>
            </a:r>
            <a:r>
              <a:rPr lang="ru-RU" sz="2000" dirty="0"/>
              <a:t>- дает право на создание БД</a:t>
            </a:r>
          </a:p>
          <a:p>
            <a:pPr algn="just"/>
            <a:r>
              <a:rPr lang="ru-RU" sz="2000" b="1" dirty="0"/>
              <a:t>NOCREATEDB</a:t>
            </a:r>
            <a:r>
              <a:rPr lang="ru-RU" sz="2000" dirty="0"/>
              <a:t> - не дает такого права</a:t>
            </a:r>
          </a:p>
          <a:p>
            <a:pPr algn="just"/>
            <a:r>
              <a:rPr lang="ru-RU" sz="2000" b="1" dirty="0"/>
              <a:t>LOGIN </a:t>
            </a:r>
            <a:r>
              <a:rPr lang="ru-RU" sz="2000" dirty="0"/>
              <a:t>- эта роль — пользователь.</a:t>
            </a:r>
          </a:p>
          <a:p>
            <a:pPr algn="just"/>
            <a:r>
              <a:rPr lang="ru-RU" sz="2000" b="1" dirty="0"/>
              <a:t>NOLOGIN</a:t>
            </a:r>
            <a:r>
              <a:rPr lang="ru-RU" sz="2000" dirty="0"/>
              <a:t> — роль не является </a:t>
            </a:r>
            <a:r>
              <a:rPr lang="ru-RU" sz="2000" dirty="0" smtClean="0"/>
              <a:t>пользовательской</a:t>
            </a:r>
          </a:p>
          <a:p>
            <a:pPr algn="ctr"/>
            <a:r>
              <a:rPr lang="ru-RU" sz="2000" b="1" dirty="0" smtClean="0"/>
              <a:t>ПРИМЕР:  </a:t>
            </a:r>
          </a:p>
          <a:p>
            <a:pPr algn="just"/>
            <a:r>
              <a:rPr lang="en-US" sz="2000" dirty="0" err="1" smtClean="0"/>
              <a:t>postgres</a:t>
            </a:r>
            <a:r>
              <a:rPr lang="en-US" sz="2000" dirty="0"/>
              <a:t>=# CREATE ROLE </a:t>
            </a:r>
            <a:r>
              <a:rPr lang="en-US" sz="2000" dirty="0" err="1"/>
              <a:t>alice</a:t>
            </a:r>
            <a:r>
              <a:rPr lang="en-US" sz="2000" dirty="0"/>
              <a:t> LOGIN PASSWORD ‘</a:t>
            </a:r>
            <a:r>
              <a:rPr lang="en-US" sz="2000" dirty="0" err="1"/>
              <a:t>alice</a:t>
            </a:r>
            <a:r>
              <a:rPr lang="en-US" sz="2000" dirty="0"/>
              <a:t>’;</a:t>
            </a:r>
          </a:p>
          <a:p>
            <a:pPr algn="just"/>
            <a:r>
              <a:rPr lang="en-US" sz="2000" dirty="0"/>
              <a:t>CREATE ROLE</a:t>
            </a:r>
          </a:p>
          <a:p>
            <a:pPr algn="just"/>
            <a:r>
              <a:rPr lang="en-US" sz="2000" dirty="0"/>
              <a:t>LOGIN - </a:t>
            </a:r>
            <a:r>
              <a:rPr lang="ru-RU" sz="2000" dirty="0"/>
              <a:t>атрибут, позволяющий Алисе зайти в сеанс, может подключиться к базе данных.</a:t>
            </a:r>
          </a:p>
          <a:p>
            <a:pPr algn="just"/>
            <a:r>
              <a:rPr lang="ru-RU" sz="2000" dirty="0"/>
              <a:t>Список ролей можно узнать командой</a:t>
            </a:r>
            <a:r>
              <a:rPr lang="ru-RU" sz="2000" dirty="0" smtClean="0"/>
              <a:t>: </a:t>
            </a:r>
            <a:r>
              <a:rPr lang="en-US" sz="2000" dirty="0" smtClean="0"/>
              <a:t>student</a:t>
            </a:r>
            <a:r>
              <a:rPr lang="en-US" sz="2000" dirty="0"/>
              <a:t>=# \</a:t>
            </a:r>
            <a:r>
              <a:rPr lang="en-US" sz="2000" dirty="0" smtClean="0"/>
              <a:t>du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6" y="3983069"/>
            <a:ext cx="8576156" cy="133683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2966" y="5319908"/>
            <a:ext cx="94908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Создадим и базу данных:</a:t>
            </a:r>
          </a:p>
          <a:p>
            <a:r>
              <a:rPr lang="en-US" dirty="0" err="1"/>
              <a:t>postgres</a:t>
            </a:r>
            <a:r>
              <a:rPr lang="en-US" dirty="0"/>
              <a:t>=# CREATE DATABASE </a:t>
            </a:r>
            <a:r>
              <a:rPr lang="en-US" dirty="0" err="1"/>
              <a:t>access_overview</a:t>
            </a:r>
            <a:r>
              <a:rPr lang="en-US" dirty="0"/>
              <a:t>;</a:t>
            </a:r>
          </a:p>
          <a:p>
            <a:r>
              <a:rPr lang="en-US" dirty="0"/>
              <a:t>CREATE DATABASE</a:t>
            </a:r>
          </a:p>
          <a:p>
            <a:r>
              <a:rPr lang="en-US" dirty="0" err="1"/>
              <a:t>postgres</a:t>
            </a:r>
            <a:r>
              <a:rPr lang="en-US" dirty="0"/>
              <a:t>=# \c </a:t>
            </a:r>
            <a:r>
              <a:rPr lang="en-US" dirty="0" err="1"/>
              <a:t>access_overview</a:t>
            </a:r>
            <a:endParaRPr lang="en-US" dirty="0"/>
          </a:p>
          <a:p>
            <a:r>
              <a:rPr lang="en-US" dirty="0"/>
              <a:t>You are now connected to database “</a:t>
            </a:r>
            <a:r>
              <a:rPr lang="en-US" dirty="0" err="1"/>
              <a:t>access_overview</a:t>
            </a:r>
            <a:r>
              <a:rPr lang="en-US" dirty="0"/>
              <a:t>” as user “</a:t>
            </a:r>
            <a:r>
              <a:rPr lang="en-US" dirty="0" err="1"/>
              <a:t>postgres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02900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"/>
            <a:ext cx="120763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А</a:t>
            </a:r>
            <a:r>
              <a:rPr lang="ru-RU" b="1" dirty="0"/>
              <a:t>утентификация </a:t>
            </a:r>
            <a:r>
              <a:rPr lang="ru-RU" dirty="0"/>
              <a:t>это процесс идентификации клиента сервером базы данных, а также определение </a:t>
            </a:r>
            <a:r>
              <a:rPr lang="ru-RU" dirty="0" smtClean="0"/>
              <a:t>того.</a:t>
            </a:r>
          </a:p>
          <a:p>
            <a:pPr algn="just"/>
            <a:r>
              <a:rPr lang="ru-RU" dirty="0"/>
              <a:t>Настройки подключения определяются в конфигурационном файле </a:t>
            </a:r>
            <a:r>
              <a:rPr lang="ru-RU" i="1" dirty="0" err="1"/>
              <a:t>pg_hba.conf</a:t>
            </a:r>
            <a:r>
              <a:rPr lang="ru-RU" i="1" dirty="0"/>
              <a:t> («</a:t>
            </a:r>
            <a:r>
              <a:rPr lang="ru-RU" i="1" dirty="0" err="1"/>
              <a:t>host-based</a:t>
            </a:r>
            <a:r>
              <a:rPr lang="ru-RU" i="1" dirty="0"/>
              <a:t> </a:t>
            </a:r>
            <a:r>
              <a:rPr lang="ru-RU" i="1" dirty="0" err="1"/>
              <a:t>authentication</a:t>
            </a:r>
            <a:r>
              <a:rPr lang="ru-RU" i="1" dirty="0" smtClean="0"/>
              <a:t>»).</a:t>
            </a:r>
          </a:p>
          <a:p>
            <a:endParaRPr lang="ru-RU" sz="2000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17" y="539443"/>
            <a:ext cx="7330966" cy="286058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09903" y="3400026"/>
            <a:ext cx="88974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-u </a:t>
            </a:r>
            <a:r>
              <a:rPr lang="en-US" dirty="0" err="1"/>
              <a:t>postgres</a:t>
            </a:r>
            <a:r>
              <a:rPr lang="en-US" dirty="0"/>
              <a:t> cat /</a:t>
            </a:r>
            <a:r>
              <a:rPr lang="en-US" dirty="0" err="1"/>
              <a:t>var</a:t>
            </a:r>
            <a:r>
              <a:rPr lang="en-US" dirty="0"/>
              <a:t>/lib/</a:t>
            </a:r>
            <a:r>
              <a:rPr lang="en-US" dirty="0" err="1"/>
              <a:t>pgsql</a:t>
            </a:r>
            <a:r>
              <a:rPr lang="en-US" dirty="0"/>
              <a:t>/data/</a:t>
            </a:r>
            <a:r>
              <a:rPr lang="en-US" dirty="0" err="1"/>
              <a:t>pg_hba.conf</a:t>
            </a:r>
            <a:r>
              <a:rPr lang="en-US" dirty="0"/>
              <a:t> | less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6124" y="3769358"/>
            <a:ext cx="119502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Соответствие определяется по четырем полям (отделяются пробелами или </a:t>
            </a:r>
            <a:r>
              <a:rPr lang="ru-RU" sz="1600" dirty="0" err="1"/>
              <a:t>Tab</a:t>
            </a:r>
            <a:r>
              <a:rPr lang="ru-RU" sz="1600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типу </a:t>
            </a:r>
            <a:r>
              <a:rPr lang="ru-RU" sz="1600" dirty="0"/>
              <a:t>подключения</a:t>
            </a:r>
          </a:p>
          <a:p>
            <a:r>
              <a:rPr lang="ru-RU" sz="1600" dirty="0" smtClean="0"/>
              <a:t>• имени </a:t>
            </a:r>
            <a:r>
              <a:rPr lang="ru-RU" sz="1600" dirty="0"/>
              <a:t>БД</a:t>
            </a:r>
          </a:p>
          <a:p>
            <a:r>
              <a:rPr lang="ru-RU" sz="1600" dirty="0" smtClean="0"/>
              <a:t>• имени </a:t>
            </a:r>
            <a:r>
              <a:rPr lang="ru-RU" sz="1600" dirty="0"/>
              <a:t>пользователя</a:t>
            </a:r>
          </a:p>
          <a:p>
            <a:r>
              <a:rPr lang="ru-RU" sz="1600" dirty="0" smtClean="0"/>
              <a:t>• IP-адресу</a:t>
            </a:r>
          </a:p>
          <a:p>
            <a:r>
              <a:rPr lang="ru-RU" sz="1600" b="1" dirty="0" smtClean="0"/>
              <a:t>Основные </a:t>
            </a:r>
            <a:r>
              <a:rPr lang="ru-RU" sz="1600" b="1" dirty="0"/>
              <a:t>возможности</a:t>
            </a:r>
            <a:r>
              <a:rPr lang="ru-RU" sz="1600" dirty="0"/>
              <a:t>:</a:t>
            </a:r>
          </a:p>
          <a:p>
            <a:r>
              <a:rPr lang="ru-RU" sz="1600" dirty="0"/>
              <a:t>TYPE </a:t>
            </a:r>
            <a:r>
              <a:rPr lang="ru-RU" sz="1600" dirty="0" err="1"/>
              <a:t>local</a:t>
            </a:r>
            <a:r>
              <a:rPr lang="ru-RU" sz="1600" dirty="0"/>
              <a:t> (</a:t>
            </a:r>
            <a:r>
              <a:rPr lang="ru-RU" sz="1600" dirty="0" err="1"/>
              <a:t>unix</a:t>
            </a:r>
            <a:r>
              <a:rPr lang="ru-RU" sz="1600" dirty="0"/>
              <a:t>-сокеты) или </a:t>
            </a:r>
            <a:r>
              <a:rPr lang="ru-RU" sz="1600" dirty="0" err="1"/>
              <a:t>host</a:t>
            </a:r>
            <a:r>
              <a:rPr lang="ru-RU" sz="1600" dirty="0"/>
              <a:t> (подключение по протоколу TCP/IP</a:t>
            </a:r>
            <a:r>
              <a:rPr lang="ru-RU" sz="1600" dirty="0" smtClean="0"/>
              <a:t>).</a:t>
            </a:r>
          </a:p>
          <a:p>
            <a:r>
              <a:rPr lang="ru-RU" sz="1600" dirty="0" err="1"/>
              <a:t>local</a:t>
            </a:r>
            <a:r>
              <a:rPr lang="ru-RU" sz="1600" dirty="0"/>
              <a:t> не привязан к сетевым интерфейсам. В поле ADDRESS для него отсутствуют значения.</a:t>
            </a:r>
          </a:p>
          <a:p>
            <a:r>
              <a:rPr lang="ru-RU" sz="1600" dirty="0" err="1"/>
              <a:t>host</a:t>
            </a:r>
            <a:r>
              <a:rPr lang="ru-RU" sz="1600" dirty="0"/>
              <a:t> это подключение через какой-то сетевой адаптер, который прослушивается </a:t>
            </a:r>
            <a:r>
              <a:rPr lang="ru-RU" sz="1600" dirty="0" err="1"/>
              <a:t>postgres</a:t>
            </a:r>
            <a:r>
              <a:rPr lang="ru-RU" sz="1600" dirty="0"/>
              <a:t>. Это может быть </a:t>
            </a:r>
            <a:r>
              <a:rPr lang="ru-RU" sz="1600" dirty="0" err="1"/>
              <a:t>loopback</a:t>
            </a:r>
            <a:r>
              <a:rPr lang="ru-RU" sz="1600" dirty="0"/>
              <a:t> или любой другой.</a:t>
            </a:r>
          </a:p>
          <a:p>
            <a:r>
              <a:rPr lang="ru-RU" sz="1600" dirty="0"/>
              <a:t>DATABASE – ключевое слово </a:t>
            </a:r>
            <a:r>
              <a:rPr lang="ru-RU" sz="1600" dirty="0" err="1"/>
              <a:t>all</a:t>
            </a:r>
            <a:r>
              <a:rPr lang="ru-RU" sz="1600" dirty="0"/>
              <a:t> (соответствует любой БД) или имя конкретной базы данных (можно перечислить через запятую).</a:t>
            </a:r>
          </a:p>
          <a:p>
            <a:r>
              <a:rPr lang="ru-RU" sz="1600" dirty="0"/>
              <a:t>USER — </a:t>
            </a:r>
            <a:r>
              <a:rPr lang="ru-RU" sz="1600" dirty="0" err="1"/>
              <a:t>all</a:t>
            </a:r>
            <a:r>
              <a:rPr lang="ru-RU" sz="1600" dirty="0"/>
              <a:t> или имя конкретной роли (можно перечислить через запятую).</a:t>
            </a:r>
          </a:p>
          <a:p>
            <a:r>
              <a:rPr lang="ru-RU" sz="1600" dirty="0"/>
              <a:t>ADDRESS — </a:t>
            </a:r>
            <a:r>
              <a:rPr lang="ru-RU" sz="1600" dirty="0" err="1"/>
              <a:t>all</a:t>
            </a:r>
            <a:r>
              <a:rPr lang="ru-RU" sz="1600" dirty="0"/>
              <a:t>, диапазон IP-адресов или доменное имя</a:t>
            </a:r>
          </a:p>
        </p:txBody>
      </p:sp>
    </p:spTree>
    <p:extLst>
      <p:ext uri="{BB962C8B-B14F-4D97-AF65-F5344CB8AC3E}">
        <p14:creationId xmlns:p14="http://schemas.microsoft.com/office/powerpoint/2010/main" val="47457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28" y="0"/>
            <a:ext cx="8252201" cy="293238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932385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Основные методы аутентификации:</a:t>
            </a:r>
          </a:p>
          <a:p>
            <a:r>
              <a:rPr lang="ru-RU" dirty="0"/>
              <a:t>•	</a:t>
            </a:r>
            <a:r>
              <a:rPr lang="ru-RU" dirty="0" err="1"/>
              <a:t>trust</a:t>
            </a:r>
            <a:r>
              <a:rPr lang="ru-RU" dirty="0"/>
              <a:t> безусловно разрешает подключение. Если вопросы безопасности не важны, можно указать «все </a:t>
            </a:r>
            <a:r>
              <a:rPr lang="ru-RU" dirty="0" err="1"/>
              <a:t>all</a:t>
            </a:r>
            <a:r>
              <a:rPr lang="ru-RU" dirty="0"/>
              <a:t>» и метод </a:t>
            </a:r>
            <a:r>
              <a:rPr lang="ru-RU" dirty="0" err="1"/>
              <a:t>trust</a:t>
            </a:r>
            <a:r>
              <a:rPr lang="ru-RU" dirty="0"/>
              <a:t> — тогда будут разрешены все подключения.</a:t>
            </a:r>
          </a:p>
          <a:p>
            <a:r>
              <a:rPr lang="ru-RU" dirty="0"/>
              <a:t>•	</a:t>
            </a:r>
            <a:r>
              <a:rPr lang="ru-RU" dirty="0" err="1"/>
              <a:t>reject</a:t>
            </a:r>
            <a:r>
              <a:rPr lang="ru-RU" dirty="0"/>
              <a:t> безусловно запрещает подключение. Например, чтобы запретить нешифрованные соединения.</a:t>
            </a:r>
          </a:p>
          <a:p>
            <a:r>
              <a:rPr lang="ru-RU" dirty="0"/>
              <a:t>•	scram-sha-256 запрашивает у пользователя пароль и проверяет его соответствие </a:t>
            </a:r>
            <a:r>
              <a:rPr lang="ru-RU" dirty="0" err="1"/>
              <a:t>хешу</a:t>
            </a:r>
            <a:r>
              <a:rPr lang="ru-RU" dirty="0"/>
              <a:t>, который хранится в системном каталоге кластера.</a:t>
            </a:r>
          </a:p>
          <a:p>
            <a:r>
              <a:rPr lang="ru-RU" dirty="0"/>
              <a:t>•	md5 парольный метод также используется, но объявлен устаревшим.</a:t>
            </a:r>
          </a:p>
          <a:p>
            <a:r>
              <a:rPr lang="ru-RU" dirty="0"/>
              <a:t>•	</a:t>
            </a:r>
            <a:r>
              <a:rPr lang="ru-RU" dirty="0" err="1"/>
              <a:t>peer</a:t>
            </a:r>
            <a:r>
              <a:rPr lang="ru-RU" dirty="0"/>
              <a:t> запрашивает имя пользователя у операционной системы и разрешает подключение, если имя пользователя ОС и пользователя БД совпадают.</a:t>
            </a:r>
          </a:p>
        </p:txBody>
      </p:sp>
    </p:spTree>
    <p:extLst>
      <p:ext uri="{BB962C8B-B14F-4D97-AF65-F5344CB8AC3E}">
        <p14:creationId xmlns:p14="http://schemas.microsoft.com/office/powerpoint/2010/main" val="1949524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Парольная </a:t>
            </a:r>
            <a:r>
              <a:rPr lang="ru-RU" sz="2000" b="1" dirty="0" smtClean="0"/>
              <a:t>аутентификация</a:t>
            </a:r>
          </a:p>
          <a:p>
            <a:pPr algn="just"/>
            <a:r>
              <a:rPr lang="ru-RU" sz="2000" dirty="0" smtClean="0"/>
              <a:t>• переменная </a:t>
            </a:r>
            <a:r>
              <a:rPr lang="ru-RU" sz="2000" dirty="0"/>
              <a:t>окружения </a:t>
            </a:r>
            <a:r>
              <a:rPr lang="ru-RU" sz="2000" b="1" dirty="0"/>
              <a:t>PGPASSWORD </a:t>
            </a:r>
            <a:r>
              <a:rPr lang="ru-RU" sz="2000" dirty="0"/>
              <a:t>на клиенте. </a:t>
            </a:r>
            <a:endParaRPr lang="ru-RU" sz="2000" dirty="0" smtClean="0"/>
          </a:p>
          <a:p>
            <a:pPr algn="just"/>
            <a:r>
              <a:rPr lang="ru-RU" sz="2000" dirty="0" smtClean="0"/>
              <a:t>• файл </a:t>
            </a:r>
            <a:r>
              <a:rPr lang="ru-RU" sz="2000" dirty="0"/>
              <a:t>~/.</a:t>
            </a:r>
            <a:r>
              <a:rPr lang="ru-RU" sz="2000" dirty="0" err="1"/>
              <a:t>pgpass</a:t>
            </a:r>
            <a:r>
              <a:rPr lang="ru-RU" sz="2000" dirty="0"/>
              <a:t> на клиенте. К файлу должен иметь доступ только его владелец (установлены права доступа 600), иначе </a:t>
            </a:r>
            <a:r>
              <a:rPr lang="ru-RU" sz="2000" dirty="0" err="1"/>
              <a:t>PostgreSQL</a:t>
            </a:r>
            <a:r>
              <a:rPr lang="ru-RU" sz="2000" dirty="0"/>
              <a:t> проигнорирует его.</a:t>
            </a:r>
          </a:p>
          <a:p>
            <a:pPr algn="just"/>
            <a:r>
              <a:rPr lang="ru-RU" sz="2000" dirty="0"/>
              <a:t>Формат записи</a:t>
            </a:r>
            <a:r>
              <a:rPr lang="ru-RU" sz="2000" dirty="0" smtClean="0"/>
              <a:t>: </a:t>
            </a:r>
            <a:r>
              <a:rPr lang="ru-RU" sz="2000" b="1" dirty="0" err="1" smtClean="0"/>
              <a:t>узел:порт:база:роль:пароль</a:t>
            </a:r>
            <a:endParaRPr lang="ru-RU" sz="2000" b="1" dirty="0"/>
          </a:p>
          <a:p>
            <a:pPr algn="just"/>
            <a:r>
              <a:rPr lang="ru-RU" sz="2000" b="1" dirty="0" smtClean="0"/>
              <a:t>ПРИМЕР</a:t>
            </a:r>
            <a:r>
              <a:rPr lang="ru-RU" sz="2000" b="1" dirty="0"/>
              <a:t>: </a:t>
            </a:r>
            <a:r>
              <a:rPr lang="ru-RU" sz="2000" dirty="0"/>
              <a:t>Чтобы роль смогла подключиться к базе данных, она должна иметь не только атрибут LOGIN, но и разрешение в файле </a:t>
            </a:r>
            <a:r>
              <a:rPr lang="ru-RU" sz="2000" dirty="0" err="1"/>
              <a:t>pg_hba.conf</a:t>
            </a:r>
            <a:r>
              <a:rPr lang="ru-RU" sz="2000" dirty="0"/>
              <a:t>. </a:t>
            </a:r>
            <a:r>
              <a:rPr lang="ru-RU" sz="2000" dirty="0" smtClean="0"/>
              <a:t>   (</a:t>
            </a:r>
            <a:r>
              <a:rPr lang="en-US" sz="2000" dirty="0" err="1"/>
              <a:t>postgres</a:t>
            </a:r>
            <a:r>
              <a:rPr lang="en-US" sz="2000" dirty="0"/>
              <a:t>=# SHOW </a:t>
            </a:r>
            <a:r>
              <a:rPr lang="en-US" sz="2000" dirty="0" err="1" smtClean="0"/>
              <a:t>hba_file</a:t>
            </a:r>
            <a:r>
              <a:rPr lang="ru-RU" sz="2000" dirty="0" smtClean="0"/>
              <a:t>)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8" y="2246769"/>
            <a:ext cx="5058523" cy="153695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236250" y="2246769"/>
            <a:ext cx="69557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Можно получить содержимое с помощью </a:t>
            </a:r>
            <a:r>
              <a:rPr lang="en-US" sz="2000" dirty="0"/>
              <a:t>SQL:</a:t>
            </a:r>
          </a:p>
          <a:p>
            <a:pPr algn="just"/>
            <a:r>
              <a:rPr lang="en-US" sz="2000" b="1" dirty="0" err="1"/>
              <a:t>postgres</a:t>
            </a:r>
            <a:r>
              <a:rPr lang="en-US" sz="2000" b="1" dirty="0"/>
              <a:t>=# SELECT type, database, </a:t>
            </a:r>
            <a:r>
              <a:rPr lang="en-US" sz="2000" b="1" dirty="0" err="1"/>
              <a:t>user_name</a:t>
            </a:r>
            <a:r>
              <a:rPr lang="en-US" sz="2000" b="1" dirty="0"/>
              <a:t>, address, </a:t>
            </a:r>
            <a:r>
              <a:rPr lang="en-US" sz="2000" b="1" dirty="0" err="1"/>
              <a:t>auth_method</a:t>
            </a:r>
            <a:r>
              <a:rPr lang="en-US" sz="2000" b="1" dirty="0"/>
              <a:t> FROM </a:t>
            </a:r>
            <a:r>
              <a:rPr lang="en-US" sz="2000" b="1" dirty="0" err="1"/>
              <a:t>pg_hba_file_rules</a:t>
            </a:r>
            <a:r>
              <a:rPr lang="en-US" sz="2000" b="1" dirty="0"/>
              <a:t>();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052" y="3783724"/>
            <a:ext cx="8382948" cy="26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24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Выполним подключение к </a:t>
            </a:r>
            <a:r>
              <a:rPr lang="en-US" sz="2000" dirty="0"/>
              <a:t>localhost </a:t>
            </a:r>
            <a:r>
              <a:rPr lang="ru-RU" sz="2000" dirty="0"/>
              <a:t>по </a:t>
            </a:r>
            <a:r>
              <a:rPr lang="en-US" sz="2000" dirty="0"/>
              <a:t>TCP/IP (host). </a:t>
            </a:r>
            <a:endParaRPr lang="ru-RU" sz="2000" dirty="0" smtClean="0"/>
          </a:p>
          <a:p>
            <a:pPr algn="just"/>
            <a:r>
              <a:rPr lang="en-US" sz="2000" b="1" dirty="0" smtClean="0"/>
              <a:t>admin</a:t>
            </a:r>
            <a:r>
              <a:rPr lang="en-US" sz="2000" b="1" dirty="0"/>
              <a:t>$ </a:t>
            </a:r>
            <a:r>
              <a:rPr lang="en-US" sz="2000" b="1" dirty="0" err="1"/>
              <a:t>psql</a:t>
            </a:r>
            <a:r>
              <a:rPr lang="en-US" sz="2000" b="1" dirty="0"/>
              <a:t> 'host=localhost user=</a:t>
            </a:r>
            <a:r>
              <a:rPr lang="en-US" sz="2000" b="1" dirty="0" err="1"/>
              <a:t>alice</a:t>
            </a:r>
            <a:r>
              <a:rPr lang="en-US" sz="2000" b="1" dirty="0"/>
              <a:t> </a:t>
            </a:r>
            <a:r>
              <a:rPr lang="en-US" sz="2000" b="1" dirty="0" err="1"/>
              <a:t>dbname</a:t>
            </a:r>
            <a:r>
              <a:rPr lang="en-US" sz="2000" b="1" dirty="0"/>
              <a:t>=</a:t>
            </a:r>
            <a:r>
              <a:rPr lang="en-US" sz="2000" b="1" dirty="0" err="1"/>
              <a:t>access_overview</a:t>
            </a:r>
            <a:r>
              <a:rPr lang="en-US" sz="2000" b="1" dirty="0"/>
              <a:t> password=</a:t>
            </a:r>
            <a:r>
              <a:rPr lang="en-US" sz="2000" b="1" dirty="0" err="1"/>
              <a:t>alice</a:t>
            </a:r>
            <a:r>
              <a:rPr lang="en-US" sz="2000" b="1" dirty="0"/>
              <a:t>'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4" y="770339"/>
            <a:ext cx="9609503" cy="15471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44" y="2686862"/>
            <a:ext cx="9138588" cy="66212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43126" y="2317530"/>
            <a:ext cx="2898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\</a:t>
            </a:r>
            <a:r>
              <a:rPr lang="en-US" dirty="0" err="1"/>
              <a:t>conninfo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19352" y="3449221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Изменение пароля для роли </a:t>
            </a:r>
            <a:r>
              <a:rPr lang="en-US" dirty="0" err="1"/>
              <a:t>alice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err="1" smtClean="0"/>
              <a:t>postgres</a:t>
            </a:r>
            <a:r>
              <a:rPr lang="en-US" dirty="0"/>
              <a:t>=# ALTER ROLE </a:t>
            </a:r>
            <a:r>
              <a:rPr lang="en-US" dirty="0" err="1"/>
              <a:t>alice</a:t>
            </a:r>
            <a:r>
              <a:rPr lang="en-US" dirty="0"/>
              <a:t> PASSWORD '</a:t>
            </a:r>
            <a:r>
              <a:rPr lang="en-US" dirty="0" err="1"/>
              <a:t>alicepass</a:t>
            </a:r>
            <a:r>
              <a:rPr lang="en-US" dirty="0"/>
              <a:t>';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480" y="3993101"/>
            <a:ext cx="6844782" cy="23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01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698125" y="0"/>
            <a:ext cx="3042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Привилегия </a:t>
            </a:r>
            <a:r>
              <a:rPr lang="en-US" sz="2000" b="1" dirty="0"/>
              <a:t>CREATE</a:t>
            </a:r>
            <a:endParaRPr lang="ru-RU" sz="20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2971" t="4402"/>
          <a:stretch/>
        </p:blipFill>
        <p:spPr>
          <a:xfrm>
            <a:off x="409903" y="354842"/>
            <a:ext cx="4257578" cy="282979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903075" y="400111"/>
            <a:ext cx="714177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последовательностей это право позволяет использовать функции </a:t>
            </a:r>
            <a:r>
              <a:rPr lang="ru-RU" b="1" dirty="0" err="1"/>
              <a:t>currval</a:t>
            </a:r>
            <a:r>
              <a:rPr lang="ru-RU" b="1" dirty="0"/>
              <a:t> и </a:t>
            </a:r>
            <a:r>
              <a:rPr lang="ru-RU" b="1" dirty="0" err="1"/>
              <a:t>nextval</a:t>
            </a:r>
            <a:r>
              <a:rPr lang="ru-RU" b="1" dirty="0" smtClean="0"/>
              <a:t>.</a:t>
            </a:r>
          </a:p>
          <a:p>
            <a:pPr algn="ctr"/>
            <a:r>
              <a:rPr lang="ru-RU" b="1" dirty="0"/>
              <a:t>Управление </a:t>
            </a:r>
            <a:r>
              <a:rPr lang="ru-RU" b="1" dirty="0" smtClean="0"/>
              <a:t>привилегиями</a:t>
            </a:r>
          </a:p>
          <a:p>
            <a:pPr algn="ctr"/>
            <a:r>
              <a:rPr lang="ru-RU" b="1" dirty="0"/>
              <a:t>GRANT — определить права доступа</a:t>
            </a:r>
          </a:p>
          <a:p>
            <a:pPr algn="just"/>
            <a:r>
              <a:rPr lang="ru-RU" dirty="0"/>
              <a:t>Команда GRANT имеет две основные разновидности:</a:t>
            </a:r>
          </a:p>
          <a:p>
            <a:pPr marL="342900" indent="-342900" algn="just">
              <a:buAutoNum type="arabicPeriod"/>
            </a:pPr>
            <a:r>
              <a:rPr lang="ru-RU" dirty="0" smtClean="0"/>
              <a:t>Назначает </a:t>
            </a:r>
            <a:r>
              <a:rPr lang="ru-RU" dirty="0"/>
              <a:t>права для доступа к объектам баз данных </a:t>
            </a:r>
            <a:endParaRPr lang="ru-RU" dirty="0" smtClean="0"/>
          </a:p>
          <a:p>
            <a:pPr marL="342900" indent="-342900" algn="just">
              <a:buAutoNum type="arabicPeriod"/>
            </a:pPr>
            <a:r>
              <a:rPr lang="ru-RU" dirty="0" smtClean="0"/>
              <a:t>Назначает </a:t>
            </a:r>
            <a:r>
              <a:rPr lang="ru-RU" dirty="0"/>
              <a:t>одни роли членами </a:t>
            </a:r>
            <a:r>
              <a:rPr lang="ru-RU" dirty="0" smtClean="0"/>
              <a:t>других</a:t>
            </a:r>
          </a:p>
          <a:p>
            <a:pPr algn="just"/>
            <a:r>
              <a:rPr lang="en-US" dirty="0"/>
              <a:t>WITH GRANT OPTION - </a:t>
            </a:r>
            <a:r>
              <a:rPr lang="ru-RU" dirty="0"/>
              <a:t>получатель права, в свою очередь, может давать его другим</a:t>
            </a:r>
          </a:p>
          <a:p>
            <a:pPr algn="just"/>
            <a:r>
              <a:rPr lang="ru-RU" dirty="0"/>
              <a:t>Возможные права</a:t>
            </a:r>
            <a:r>
              <a:rPr lang="ru-RU" dirty="0" smtClean="0"/>
              <a:t>: </a:t>
            </a:r>
            <a:r>
              <a:rPr lang="en-US" dirty="0" smtClean="0"/>
              <a:t>SELECT</a:t>
            </a:r>
            <a:r>
              <a:rPr lang="ru-RU" dirty="0" smtClean="0"/>
              <a:t>, </a:t>
            </a:r>
            <a:r>
              <a:rPr lang="en-US" dirty="0" smtClean="0"/>
              <a:t>INSERT</a:t>
            </a:r>
            <a:r>
              <a:rPr lang="ru-RU" dirty="0" smtClean="0"/>
              <a:t>. </a:t>
            </a:r>
            <a:r>
              <a:rPr lang="en-US" dirty="0" smtClean="0"/>
              <a:t>UPDATE</a:t>
            </a:r>
            <a:r>
              <a:rPr lang="ru-RU" dirty="0" smtClean="0"/>
              <a:t>. </a:t>
            </a:r>
            <a:r>
              <a:rPr lang="en-US" dirty="0" smtClean="0"/>
              <a:t>DELETE</a:t>
            </a:r>
            <a:r>
              <a:rPr lang="ru-RU" dirty="0" smtClean="0"/>
              <a:t>. </a:t>
            </a:r>
            <a:r>
              <a:rPr lang="en-US" dirty="0" smtClean="0"/>
              <a:t>TRUNCATE</a:t>
            </a:r>
            <a:r>
              <a:rPr lang="ru-RU" dirty="0" smtClean="0"/>
              <a:t>, </a:t>
            </a:r>
            <a:r>
              <a:rPr lang="en-US" dirty="0" smtClean="0"/>
              <a:t>REFERENCES</a:t>
            </a:r>
            <a:r>
              <a:rPr lang="ru-RU" dirty="0" smtClean="0"/>
              <a:t>, </a:t>
            </a:r>
            <a:r>
              <a:rPr lang="en-US" dirty="0" smtClean="0"/>
              <a:t>TRIGGER</a:t>
            </a:r>
            <a:r>
              <a:rPr lang="ru-RU" dirty="0" smtClean="0"/>
              <a:t>, </a:t>
            </a:r>
            <a:r>
              <a:rPr lang="en-US" dirty="0" smtClean="0"/>
              <a:t>CREATE</a:t>
            </a:r>
            <a:r>
              <a:rPr lang="ru-RU" dirty="0" smtClean="0"/>
              <a:t>, </a:t>
            </a:r>
            <a:r>
              <a:rPr lang="en-US" dirty="0" smtClean="0"/>
              <a:t>CONNECT</a:t>
            </a:r>
            <a:r>
              <a:rPr lang="ru-RU" dirty="0" smtClean="0"/>
              <a:t>, </a:t>
            </a:r>
            <a:r>
              <a:rPr lang="en-US" dirty="0" smtClean="0"/>
              <a:t>TEMPORARY</a:t>
            </a:r>
            <a:r>
              <a:rPr lang="ru-RU" dirty="0" smtClean="0"/>
              <a:t>, </a:t>
            </a:r>
            <a:r>
              <a:rPr lang="en-US" dirty="0" smtClean="0"/>
              <a:t>EXECUTE</a:t>
            </a:r>
            <a:endParaRPr lang="en-US" dirty="0"/>
          </a:p>
          <a:p>
            <a:pPr algn="just"/>
            <a:r>
              <a:rPr lang="en-US" dirty="0" smtClean="0"/>
              <a:t>USAGE</a:t>
            </a:r>
            <a:r>
              <a:rPr lang="ru-RU" dirty="0" smtClean="0"/>
              <a:t>, </a:t>
            </a:r>
            <a:r>
              <a:rPr lang="en-US" dirty="0" smtClean="0"/>
              <a:t>SET</a:t>
            </a:r>
            <a:r>
              <a:rPr lang="ru-RU" dirty="0" smtClean="0"/>
              <a:t>, </a:t>
            </a:r>
            <a:r>
              <a:rPr lang="en-US" dirty="0" smtClean="0"/>
              <a:t>ALTER </a:t>
            </a:r>
            <a:r>
              <a:rPr lang="en-US" dirty="0"/>
              <a:t>SYSTEM</a:t>
            </a:r>
          </a:p>
          <a:p>
            <a:pPr algn="just"/>
            <a:r>
              <a:rPr lang="en-US" b="1" dirty="0"/>
              <a:t>REVOKE </a:t>
            </a:r>
            <a:r>
              <a:rPr lang="en-US" dirty="0"/>
              <a:t>— </a:t>
            </a:r>
            <a:r>
              <a:rPr lang="ru-RU" dirty="0"/>
              <a:t>отозвать права доступа.</a:t>
            </a:r>
          </a:p>
          <a:p>
            <a:pPr algn="just"/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9085"/>
            <a:ext cx="4676190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92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199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Практика:</a:t>
            </a:r>
          </a:p>
          <a:p>
            <a:r>
              <a:rPr lang="ru-RU" sz="2000" dirty="0"/>
              <a:t>Настроить приглашение </a:t>
            </a:r>
            <a:r>
              <a:rPr lang="en-US" sz="2000" dirty="0" err="1"/>
              <a:t>psql</a:t>
            </a:r>
            <a:r>
              <a:rPr lang="en-US" sz="2000" dirty="0"/>
              <a:t>:</a:t>
            </a:r>
          </a:p>
          <a:p>
            <a:r>
              <a:rPr lang="ru-RU" sz="2000" dirty="0"/>
              <a:t>В файле .</a:t>
            </a:r>
            <a:r>
              <a:rPr lang="en-US" sz="2000" dirty="0" err="1"/>
              <a:t>psqlrc</a:t>
            </a:r>
            <a:r>
              <a:rPr lang="en-US" sz="2000" dirty="0"/>
              <a:t> </a:t>
            </a:r>
            <a:r>
              <a:rPr lang="ru-RU" sz="2000" dirty="0"/>
              <a:t>создать запись:</a:t>
            </a:r>
          </a:p>
          <a:p>
            <a:r>
              <a:rPr lang="ru-RU" sz="2000" dirty="0"/>
              <a:t>\</a:t>
            </a:r>
            <a:r>
              <a:rPr lang="en-US" sz="2000" dirty="0"/>
              <a:t>set PROMPT1 '%n@%/%</a:t>
            </a:r>
            <a:r>
              <a:rPr lang="en-US" sz="2000" dirty="0" err="1"/>
              <a:t>R%x</a:t>
            </a:r>
            <a:r>
              <a:rPr lang="en-US" sz="2000" dirty="0"/>
              <a:t>%#'</a:t>
            </a:r>
          </a:p>
          <a:p>
            <a:r>
              <a:rPr lang="en-US" sz="2000" dirty="0"/>
              <a:t> </a:t>
            </a:r>
            <a:r>
              <a:rPr lang="ru-RU" sz="2000" b="1" dirty="0" smtClean="0"/>
              <a:t>Создание </a:t>
            </a:r>
            <a:r>
              <a:rPr lang="ru-RU" sz="2000" b="1" dirty="0"/>
              <a:t>схемы для </a:t>
            </a:r>
            <a:r>
              <a:rPr lang="en-US" sz="2000" b="1" dirty="0" err="1"/>
              <a:t>alice</a:t>
            </a:r>
            <a:r>
              <a:rPr lang="en-US" sz="2000" b="1" dirty="0"/>
              <a:t> </a:t>
            </a:r>
            <a:r>
              <a:rPr lang="ru-RU" sz="2000" b="1" dirty="0"/>
              <a:t>и несколько объектов в ней.</a:t>
            </a:r>
          </a:p>
          <a:p>
            <a:r>
              <a:rPr lang="en-US" sz="2000" dirty="0" err="1"/>
              <a:t>alice</a:t>
            </a:r>
            <a:r>
              <a:rPr lang="en-US" sz="2000" dirty="0"/>
              <a:t>=&gt; CREATE SCHEMA </a:t>
            </a:r>
            <a:r>
              <a:rPr lang="en-US" sz="2000" dirty="0" err="1"/>
              <a:t>alice</a:t>
            </a:r>
            <a:r>
              <a:rPr lang="en-US" sz="2000" dirty="0"/>
              <a:t>;</a:t>
            </a:r>
          </a:p>
          <a:p>
            <a:r>
              <a:rPr lang="en-US" sz="2000" dirty="0"/>
              <a:t>ERROR: permission denied for database </a:t>
            </a:r>
            <a:r>
              <a:rPr lang="en-US" sz="2000" dirty="0" err="1"/>
              <a:t>access_overview</a:t>
            </a:r>
            <a:endParaRPr lang="en-US" sz="2000" dirty="0"/>
          </a:p>
          <a:p>
            <a:r>
              <a:rPr lang="ru-RU" sz="2000" b="1" dirty="0" smtClean="0"/>
              <a:t>Выдача </a:t>
            </a:r>
            <a:r>
              <a:rPr lang="ru-RU" sz="2000" b="1" dirty="0"/>
              <a:t>привилегии:</a:t>
            </a:r>
          </a:p>
          <a:p>
            <a:r>
              <a:rPr lang="en-US" sz="2000" dirty="0" err="1"/>
              <a:t>postgres</a:t>
            </a:r>
            <a:r>
              <a:rPr lang="en-US" sz="2000" dirty="0"/>
              <a:t>=# GRANT CREATE ON DATABASE </a:t>
            </a:r>
            <a:r>
              <a:rPr lang="en-US" sz="2000" dirty="0" err="1"/>
              <a:t>access_overview</a:t>
            </a:r>
            <a:r>
              <a:rPr lang="en-US" sz="2000" dirty="0"/>
              <a:t> TO </a:t>
            </a:r>
            <a:r>
              <a:rPr lang="en-US" sz="2000" dirty="0" err="1"/>
              <a:t>alice</a:t>
            </a:r>
            <a:r>
              <a:rPr lang="en-US" sz="2000" dirty="0"/>
              <a:t>;</a:t>
            </a:r>
          </a:p>
          <a:p>
            <a:r>
              <a:rPr lang="en-US" sz="2000" dirty="0"/>
              <a:t>GRANT</a:t>
            </a:r>
          </a:p>
          <a:p>
            <a:r>
              <a:rPr lang="en-US" sz="2000" dirty="0" err="1"/>
              <a:t>alice</a:t>
            </a:r>
            <a:r>
              <a:rPr lang="en-US" sz="2000" dirty="0"/>
              <a:t>=&gt; CREATE SCHEMA </a:t>
            </a:r>
            <a:r>
              <a:rPr lang="en-US" sz="2000" dirty="0" err="1"/>
              <a:t>alice</a:t>
            </a:r>
            <a:r>
              <a:rPr lang="en-US" sz="2000" dirty="0"/>
              <a:t>;</a:t>
            </a:r>
          </a:p>
          <a:p>
            <a:r>
              <a:rPr lang="en-US" sz="2000" dirty="0"/>
              <a:t>CREATE </a:t>
            </a:r>
            <a:r>
              <a:rPr lang="en-US" sz="2000" dirty="0" smtClean="0"/>
              <a:t>SCHEMA</a:t>
            </a:r>
            <a:endParaRPr lang="ru-RU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834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1"/>
            <a:ext cx="1219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параметре </a:t>
            </a:r>
            <a:r>
              <a:rPr lang="en-US" dirty="0" err="1"/>
              <a:t>search_path</a:t>
            </a:r>
            <a:r>
              <a:rPr lang="en-US" dirty="0"/>
              <a:t> </a:t>
            </a:r>
            <a:r>
              <a:rPr lang="ru-RU" dirty="0"/>
              <a:t>первым идет “$</a:t>
            </a:r>
            <a:r>
              <a:rPr lang="en-US" dirty="0"/>
              <a:t>user”):</a:t>
            </a:r>
          </a:p>
          <a:p>
            <a:r>
              <a:rPr lang="en-US" dirty="0" err="1"/>
              <a:t>alice</a:t>
            </a:r>
            <a:r>
              <a:rPr lang="en-US" dirty="0"/>
              <a:t>=&gt; SELECT </a:t>
            </a:r>
            <a:r>
              <a:rPr lang="en-US" dirty="0" err="1"/>
              <a:t>current_schemas</a:t>
            </a:r>
            <a:r>
              <a:rPr lang="en-US" dirty="0"/>
              <a:t>(false);</a:t>
            </a:r>
          </a:p>
          <a:p>
            <a:r>
              <a:rPr lang="en-US" dirty="0"/>
              <a:t> 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Алиса </a:t>
            </a:r>
            <a:r>
              <a:rPr lang="ru-RU" dirty="0"/>
              <a:t>создает две таблицы.</a:t>
            </a:r>
          </a:p>
          <a:p>
            <a:r>
              <a:rPr lang="en-US" dirty="0" err="1"/>
              <a:t>alice</a:t>
            </a:r>
            <a:r>
              <a:rPr lang="en-US" dirty="0"/>
              <a:t>=&gt; CREATE TABLE t1(n numeric);</a:t>
            </a:r>
          </a:p>
          <a:p>
            <a:r>
              <a:rPr lang="en-US" dirty="0"/>
              <a:t>CREATE TABLE</a:t>
            </a:r>
          </a:p>
          <a:p>
            <a:r>
              <a:rPr lang="en-US" dirty="0" err="1"/>
              <a:t>alice</a:t>
            </a:r>
            <a:r>
              <a:rPr lang="en-US" dirty="0"/>
              <a:t>=&gt; INSERT INTO t1 VALUES (1);</a:t>
            </a:r>
          </a:p>
          <a:p>
            <a:r>
              <a:rPr lang="en-US" dirty="0"/>
              <a:t>INSERT 0 1</a:t>
            </a:r>
          </a:p>
          <a:p>
            <a:r>
              <a:rPr lang="en-US" dirty="0" err="1"/>
              <a:t>alice</a:t>
            </a:r>
            <a:r>
              <a:rPr lang="en-US" dirty="0"/>
              <a:t>=&gt; CREATE TABLE t2(n numeric, who text DEFAULT </a:t>
            </a:r>
            <a:r>
              <a:rPr lang="en-US" dirty="0" err="1"/>
              <a:t>current_user</a:t>
            </a:r>
            <a:r>
              <a:rPr lang="en-US" dirty="0"/>
              <a:t>);</a:t>
            </a:r>
          </a:p>
          <a:p>
            <a:r>
              <a:rPr lang="en-US" dirty="0"/>
              <a:t>CREATE TABLE</a:t>
            </a:r>
          </a:p>
          <a:p>
            <a:r>
              <a:rPr lang="en-US" dirty="0" err="1"/>
              <a:t>alice</a:t>
            </a:r>
            <a:r>
              <a:rPr lang="en-US" dirty="0"/>
              <a:t>=&gt; INSERT INTO t2(n) VALUES (1);</a:t>
            </a:r>
          </a:p>
          <a:p>
            <a:r>
              <a:rPr lang="en-US" dirty="0"/>
              <a:t>INSERT 0 </a:t>
            </a:r>
            <a:r>
              <a:rPr lang="en-US" dirty="0" smtClean="0"/>
              <a:t>1</a:t>
            </a:r>
            <a:endParaRPr lang="ru-RU" dirty="0" smtClean="0"/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9" y="770340"/>
            <a:ext cx="7086776" cy="123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23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19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Пример: создать </a:t>
            </a:r>
            <a:r>
              <a:rPr lang="ru-RU" sz="2000" dirty="0"/>
              <a:t>роль для пользователя Боба, который будет обращаться к объектам, принадлежащим Алисе.</a:t>
            </a:r>
          </a:p>
          <a:p>
            <a:r>
              <a:rPr lang="en-US" sz="2000" dirty="0" err="1"/>
              <a:t>postgres</a:t>
            </a:r>
            <a:r>
              <a:rPr lang="en-US" sz="2000" dirty="0"/>
              <a:t>=# CREATE ROLE bob LOGIN PASSWORD '</a:t>
            </a:r>
            <a:r>
              <a:rPr lang="en-US" sz="2000" dirty="0" err="1"/>
              <a:t>bobpass</a:t>
            </a:r>
            <a:r>
              <a:rPr lang="en-US" sz="2000" dirty="0"/>
              <a:t>';</a:t>
            </a:r>
          </a:p>
          <a:p>
            <a:r>
              <a:rPr lang="en-US" sz="2000" dirty="0"/>
              <a:t>CREATE ROLE</a:t>
            </a:r>
          </a:p>
          <a:p>
            <a:r>
              <a:rPr lang="en-US" sz="2000" dirty="0"/>
              <a:t>admin$ </a:t>
            </a:r>
            <a:r>
              <a:rPr lang="en-US" sz="2000" dirty="0" err="1"/>
              <a:t>psql</a:t>
            </a:r>
            <a:r>
              <a:rPr lang="en-US" sz="2000" dirty="0"/>
              <a:t> 'host=localhost user=bob </a:t>
            </a:r>
            <a:r>
              <a:rPr lang="en-US" sz="2000" dirty="0" err="1"/>
              <a:t>dbname</a:t>
            </a:r>
            <a:r>
              <a:rPr lang="en-US" sz="2000" dirty="0"/>
              <a:t>=</a:t>
            </a:r>
            <a:r>
              <a:rPr lang="en-US" sz="2000" dirty="0" err="1"/>
              <a:t>access_overview</a:t>
            </a:r>
            <a:r>
              <a:rPr lang="en-US" sz="2000" dirty="0"/>
              <a:t> password=</a:t>
            </a:r>
            <a:r>
              <a:rPr lang="en-US" sz="2000" dirty="0" err="1"/>
              <a:t>bobpass</a:t>
            </a:r>
            <a:r>
              <a:rPr lang="en-US" sz="2000" dirty="0"/>
              <a:t>'</a:t>
            </a:r>
          </a:p>
          <a:p>
            <a:r>
              <a:rPr lang="ru-RU" sz="2000" dirty="0"/>
              <a:t>Боб попробует обратиться к таблице </a:t>
            </a:r>
            <a:r>
              <a:rPr lang="en-US" sz="2000" dirty="0"/>
              <a:t>t1.</a:t>
            </a:r>
          </a:p>
          <a:p>
            <a:r>
              <a:rPr lang="en-US" sz="2000" dirty="0"/>
              <a:t>bob=&gt; SELECT * FROM alice.t1;</a:t>
            </a:r>
          </a:p>
          <a:p>
            <a:r>
              <a:rPr lang="en-US" sz="2000" dirty="0"/>
              <a:t>ERROR: permission denied for schema </a:t>
            </a:r>
            <a:r>
              <a:rPr lang="en-US" sz="2000" dirty="0" err="1"/>
              <a:t>alice</a:t>
            </a:r>
            <a:r>
              <a:rPr lang="en-US" sz="2000" dirty="0"/>
              <a:t> LINE 1: SELECT * FROM alice.t1;</a:t>
            </a:r>
          </a:p>
          <a:p>
            <a:r>
              <a:rPr lang="ru-RU" sz="2000" dirty="0"/>
              <a:t>Нет доступа к схеме, так как Боб не </a:t>
            </a:r>
            <a:r>
              <a:rPr lang="ru-RU" sz="2000" dirty="0" err="1"/>
              <a:t>суперпользователь</a:t>
            </a:r>
            <a:r>
              <a:rPr lang="ru-RU" sz="2000" dirty="0"/>
              <a:t> и не владелец этой схемы.</a:t>
            </a:r>
          </a:p>
          <a:p>
            <a:r>
              <a:rPr lang="ru-RU" sz="2000" dirty="0"/>
              <a:t>Проверить права на доступ к схеме можно так (столбец </a:t>
            </a:r>
            <a:r>
              <a:rPr lang="en-US" sz="2000" dirty="0"/>
              <a:t>Access privileges):</a:t>
            </a:r>
          </a:p>
          <a:p>
            <a:r>
              <a:rPr lang="en-US" sz="2000" dirty="0" err="1"/>
              <a:t>alice</a:t>
            </a:r>
            <a:r>
              <a:rPr lang="en-US" sz="2000" dirty="0"/>
              <a:t>=&gt; \x \</a:t>
            </a:r>
            <a:r>
              <a:rPr lang="en-US" sz="2000" dirty="0" err="1"/>
              <a:t>dn</a:t>
            </a:r>
            <a:r>
              <a:rPr lang="en-US" sz="2000" dirty="0"/>
              <a:t>+ \</a:t>
            </a:r>
            <a:r>
              <a:rPr lang="en-US" sz="2000" dirty="0" smtClean="0"/>
              <a:t>x</a:t>
            </a:r>
            <a:endParaRPr lang="en-US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1" y="3170099"/>
            <a:ext cx="6838939" cy="300998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315200" y="3170099"/>
            <a:ext cx="47611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Каждая привилегия кодируется одним символом, в частности для схем:</a:t>
            </a:r>
          </a:p>
          <a:p>
            <a:r>
              <a:rPr lang="ru-RU" dirty="0"/>
              <a:t>U = </a:t>
            </a:r>
            <a:r>
              <a:rPr lang="ru-RU" dirty="0" err="1"/>
              <a:t>usage</a:t>
            </a:r>
            <a:r>
              <a:rPr lang="ru-RU" dirty="0"/>
              <a:t>;</a:t>
            </a:r>
          </a:p>
          <a:p>
            <a:r>
              <a:rPr lang="ru-RU" dirty="0"/>
              <a:t>C = </a:t>
            </a:r>
            <a:r>
              <a:rPr lang="ru-RU" dirty="0" err="1"/>
              <a:t>create</a:t>
            </a:r>
            <a:r>
              <a:rPr lang="ru-RU" dirty="0"/>
              <a:t>.</a:t>
            </a:r>
          </a:p>
          <a:p>
            <a:r>
              <a:rPr lang="ru-RU" dirty="0"/>
              <a:t>Если имя роли опущено (как в последней строке), то имеется в виду </a:t>
            </a:r>
            <a:r>
              <a:rPr lang="ru-RU" dirty="0" err="1"/>
              <a:t>псевдороль</a:t>
            </a:r>
            <a:r>
              <a:rPr lang="ru-RU" dirty="0"/>
              <a:t> </a:t>
            </a:r>
            <a:r>
              <a:rPr lang="ru-RU" dirty="0" err="1"/>
              <a:t>public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973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Предоставим доступ к схеме для Боба. Это может сделать Алиса как владелец.</a:t>
            </a:r>
          </a:p>
          <a:p>
            <a:r>
              <a:rPr lang="en-US" sz="2000" dirty="0" err="1"/>
              <a:t>alice</a:t>
            </a:r>
            <a:r>
              <a:rPr lang="en-US" sz="2000" dirty="0"/>
              <a:t>=&gt; GRANT CREATE, USAGE ON SCHEMA </a:t>
            </a:r>
            <a:r>
              <a:rPr lang="en-US" sz="2000" dirty="0" err="1"/>
              <a:t>alice</a:t>
            </a:r>
            <a:r>
              <a:rPr lang="en-US" sz="2000" dirty="0"/>
              <a:t> TO bob;</a:t>
            </a:r>
          </a:p>
          <a:p>
            <a:r>
              <a:rPr lang="en-US" sz="2000" dirty="0"/>
              <a:t>GRANT</a:t>
            </a:r>
          </a:p>
          <a:p>
            <a:r>
              <a:rPr lang="ru-RU" sz="2000" dirty="0"/>
              <a:t>Боб снова пробует обратиться к таблице:</a:t>
            </a:r>
          </a:p>
          <a:p>
            <a:r>
              <a:rPr lang="en-US" sz="2000" dirty="0"/>
              <a:t>bob=&gt; SELECT * FROM alice.t1;</a:t>
            </a:r>
          </a:p>
          <a:p>
            <a:r>
              <a:rPr lang="en-US" sz="2000" dirty="0"/>
              <a:t>ERROR: permission denied for table t1</a:t>
            </a:r>
          </a:p>
          <a:p>
            <a:r>
              <a:rPr lang="ru-RU" sz="2000" dirty="0"/>
              <a:t>У Боба есть доступ к схеме, но нет доступа к самой таблице. Вот как проверить доступ:</a:t>
            </a:r>
          </a:p>
          <a:p>
            <a:r>
              <a:rPr lang="en-US" sz="2000" dirty="0" err="1"/>
              <a:t>alice</a:t>
            </a:r>
            <a:r>
              <a:rPr lang="en-US" sz="2000" dirty="0"/>
              <a:t>=&gt; \</a:t>
            </a:r>
            <a:r>
              <a:rPr lang="en-US" sz="2000" dirty="0" err="1"/>
              <a:t>dp</a:t>
            </a:r>
            <a:r>
              <a:rPr lang="en-US" sz="2000" dirty="0"/>
              <a:t> alice.t1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1" y="2554545"/>
            <a:ext cx="7550752" cy="151295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2820" y="4067503"/>
            <a:ext cx="71566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Алиса предоставляет Бобу доступ на чтение и изменение:</a:t>
            </a:r>
          </a:p>
          <a:p>
            <a:r>
              <a:rPr lang="en-US" dirty="0" err="1"/>
              <a:t>alice</a:t>
            </a:r>
            <a:r>
              <a:rPr lang="en-US" dirty="0"/>
              <a:t>=&gt; GRANT SELECT, UPDATE ON alice.t1 TO bob;</a:t>
            </a:r>
          </a:p>
          <a:p>
            <a:r>
              <a:rPr lang="en-US" dirty="0"/>
              <a:t>GRANT</a:t>
            </a:r>
          </a:p>
          <a:p>
            <a:r>
              <a:rPr lang="ru-RU" dirty="0"/>
              <a:t>А для второй таблицы — доступ на вставку и чтение одного столбца:</a:t>
            </a:r>
          </a:p>
          <a:p>
            <a:r>
              <a:rPr lang="en-US" dirty="0" err="1"/>
              <a:t>alice</a:t>
            </a:r>
            <a:r>
              <a:rPr lang="en-US" dirty="0"/>
              <a:t>=&gt; GRANT SELECT(n), INSERT ON alice.t2 TO bob;</a:t>
            </a:r>
          </a:p>
          <a:p>
            <a:r>
              <a:rPr lang="en-US" dirty="0"/>
              <a:t>GRANT</a:t>
            </a:r>
          </a:p>
          <a:p>
            <a:r>
              <a:rPr lang="ru-RU" dirty="0"/>
              <a:t>Проверка привилегий:</a:t>
            </a:r>
          </a:p>
          <a:p>
            <a:r>
              <a:rPr lang="en-US" dirty="0" err="1"/>
              <a:t>alice</a:t>
            </a:r>
            <a:r>
              <a:rPr lang="en-US" dirty="0"/>
              <a:t>=&gt; </a:t>
            </a:r>
            <a:r>
              <a:rPr lang="en-US" dirty="0" err="1"/>
              <a:t>dp</a:t>
            </a:r>
            <a:r>
              <a:rPr lang="en-US" dirty="0"/>
              <a:t> alice.*</a:t>
            </a:r>
          </a:p>
        </p:txBody>
      </p:sp>
    </p:spTree>
    <p:extLst>
      <p:ext uri="{BB962C8B-B14F-4D97-AF65-F5344CB8AC3E}">
        <p14:creationId xmlns:p14="http://schemas.microsoft.com/office/powerpoint/2010/main" val="65704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04786" cy="203375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204786" y="110360"/>
            <a:ext cx="21779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= insert</a:t>
            </a:r>
          </a:p>
          <a:p>
            <a:r>
              <a:rPr lang="en-US" dirty="0"/>
              <a:t>r = select</a:t>
            </a:r>
          </a:p>
          <a:p>
            <a:r>
              <a:rPr lang="en-US" dirty="0"/>
              <a:t>w = update</a:t>
            </a:r>
          </a:p>
          <a:p>
            <a:r>
              <a:rPr lang="en-US" dirty="0"/>
              <a:t>d = delete</a:t>
            </a:r>
          </a:p>
          <a:p>
            <a:r>
              <a:rPr lang="en-US" dirty="0"/>
              <a:t>D = truncate</a:t>
            </a:r>
          </a:p>
          <a:p>
            <a:r>
              <a:rPr lang="en-US" dirty="0"/>
              <a:t>x = reference</a:t>
            </a:r>
          </a:p>
          <a:p>
            <a:r>
              <a:rPr lang="en-US" dirty="0"/>
              <a:t>t = trigger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203375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bob=&gt; ALTER ROLE bob SET </a:t>
            </a:r>
            <a:r>
              <a:rPr lang="en-US" dirty="0" err="1"/>
              <a:t>search_path</a:t>
            </a:r>
            <a:r>
              <a:rPr lang="en-US" dirty="0"/>
              <a:t> = public, </a:t>
            </a:r>
            <a:r>
              <a:rPr lang="en-US" dirty="0" err="1"/>
              <a:t>alice</a:t>
            </a:r>
            <a:r>
              <a:rPr lang="en-US" dirty="0"/>
              <a:t>;</a:t>
            </a:r>
          </a:p>
          <a:p>
            <a:r>
              <a:rPr lang="en-US" dirty="0"/>
              <a:t>ALTER ROLE</a:t>
            </a:r>
          </a:p>
          <a:p>
            <a:r>
              <a:rPr lang="ru-RU" dirty="0"/>
              <a:t>Теперь путь поиска будет устанавливаться в каждом сеансе Боба.</a:t>
            </a:r>
          </a:p>
          <a:p>
            <a:r>
              <a:rPr lang="en-US" dirty="0"/>
              <a:t>bob=&gt; \c</a:t>
            </a:r>
          </a:p>
          <a:p>
            <a:r>
              <a:rPr lang="en-US" dirty="0"/>
              <a:t>You are now connected to database “</a:t>
            </a:r>
            <a:r>
              <a:rPr lang="en-US" dirty="0" err="1"/>
              <a:t>access_overview</a:t>
            </a:r>
            <a:r>
              <a:rPr lang="en-US" dirty="0"/>
              <a:t>” as user “bob”.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4707"/>
            <a:ext cx="5582956" cy="13637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968359" y="2496527"/>
            <a:ext cx="46823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bob=&gt; UPDATE t1 SET n = n + 1;</a:t>
            </a:r>
          </a:p>
          <a:p>
            <a:r>
              <a:rPr lang="en-US" dirty="0"/>
              <a:t>UPDATE 1</a:t>
            </a:r>
          </a:p>
          <a:p>
            <a:r>
              <a:rPr lang="en-US" dirty="0"/>
              <a:t>bob=&gt; SELECT * FROM t1;</a:t>
            </a:r>
          </a:p>
          <a:p>
            <a:r>
              <a:rPr lang="ru-RU" dirty="0"/>
              <a:t>Но другие операции по-прежнему запрещены:</a:t>
            </a:r>
          </a:p>
          <a:p>
            <a:r>
              <a:rPr lang="en-US" dirty="0"/>
              <a:t>bob=&gt; DELETE FROM t1;</a:t>
            </a:r>
          </a:p>
          <a:p>
            <a:r>
              <a:rPr lang="en-US" dirty="0"/>
              <a:t>ERROR: permission denied for table t1 </a:t>
            </a:r>
            <a:r>
              <a:rPr lang="ru-RU" dirty="0"/>
              <a:t>И вторая таблица:</a:t>
            </a:r>
          </a:p>
          <a:p>
            <a:r>
              <a:rPr lang="en-US" dirty="0"/>
              <a:t>bob=&gt; INSERT INTO t2(n) VALUES (100);</a:t>
            </a:r>
          </a:p>
          <a:p>
            <a:r>
              <a:rPr lang="en-US" dirty="0"/>
              <a:t>INSERT 0 1</a:t>
            </a:r>
          </a:p>
          <a:p>
            <a:r>
              <a:rPr lang="en-US" dirty="0"/>
              <a:t>bob=&gt; SELECT n FROM t2;</a:t>
            </a:r>
          </a:p>
          <a:p>
            <a:r>
              <a:rPr lang="ru-RU" dirty="0"/>
              <a:t>А чтение другого столбца запрещено:</a:t>
            </a:r>
          </a:p>
          <a:p>
            <a:r>
              <a:rPr lang="en-US" dirty="0"/>
              <a:t>bob=&gt; SELECT * FROM t2;</a:t>
            </a:r>
          </a:p>
          <a:p>
            <a:r>
              <a:rPr lang="en-US" dirty="0"/>
              <a:t>ERROR: permission denied for table t2</a:t>
            </a:r>
          </a:p>
        </p:txBody>
      </p:sp>
    </p:spTree>
    <p:extLst>
      <p:ext uri="{BB962C8B-B14F-4D97-AF65-F5344CB8AC3E}">
        <p14:creationId xmlns:p14="http://schemas.microsoft.com/office/powerpoint/2010/main" val="1040617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93172" cy="204000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172" y="0"/>
            <a:ext cx="7698828" cy="499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78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предыдущем случае Боб не смог прочитать второй столбец таблицы:</a:t>
            </a:r>
          </a:p>
          <a:p>
            <a:r>
              <a:rPr lang="ru-RU" dirty="0"/>
              <a:t>|| </a:t>
            </a:r>
            <a:r>
              <a:rPr lang="en-US" dirty="0"/>
              <a:t>bob=&gt; SELECT * FROM t2;</a:t>
            </a:r>
          </a:p>
          <a:p>
            <a:r>
              <a:rPr lang="en-US" dirty="0"/>
              <a:t>ERROR: permission denied for table t2</a:t>
            </a:r>
          </a:p>
          <a:p>
            <a:r>
              <a:rPr lang="ru-RU" dirty="0" err="1"/>
              <a:t>Суперпользователь</a:t>
            </a:r>
            <a:r>
              <a:rPr lang="ru-RU" dirty="0"/>
              <a:t> включает Боба в предопределенную роль </a:t>
            </a:r>
            <a:r>
              <a:rPr lang="en-US" dirty="0" err="1"/>
              <a:t>pg_read_all_data</a:t>
            </a:r>
            <a:r>
              <a:rPr lang="en-US" dirty="0"/>
              <a:t>:</a:t>
            </a:r>
          </a:p>
          <a:p>
            <a:r>
              <a:rPr lang="en-US" dirty="0" err="1"/>
              <a:t>postgres</a:t>
            </a:r>
            <a:r>
              <a:rPr lang="en-US" dirty="0"/>
              <a:t>=# GRANT </a:t>
            </a:r>
            <a:r>
              <a:rPr lang="en-US" dirty="0" err="1"/>
              <a:t>pg_read_all_data</a:t>
            </a:r>
            <a:r>
              <a:rPr lang="en-US" dirty="0"/>
              <a:t> TO bob;</a:t>
            </a:r>
          </a:p>
          <a:p>
            <a:r>
              <a:rPr lang="en-US" dirty="0"/>
              <a:t>GRANT ROLE</a:t>
            </a:r>
          </a:p>
          <a:p>
            <a:r>
              <a:rPr lang="ru-RU" dirty="0"/>
              <a:t>Теперь Боб сможет получить доступ на чтение ко всем таблицам так, как будто ему были выданы привилегии </a:t>
            </a:r>
            <a:r>
              <a:rPr lang="en-US" dirty="0"/>
              <a:t>SELECT </a:t>
            </a:r>
            <a:r>
              <a:rPr lang="ru-RU" dirty="0"/>
              <a:t>на все таблицы и </a:t>
            </a:r>
            <a:r>
              <a:rPr lang="en-US" dirty="0"/>
              <a:t>USAGE </a:t>
            </a:r>
            <a:r>
              <a:rPr lang="ru-RU" dirty="0"/>
              <a:t>на все схемы:</a:t>
            </a:r>
          </a:p>
          <a:p>
            <a:r>
              <a:rPr lang="ru-RU" dirty="0"/>
              <a:t>|| </a:t>
            </a:r>
            <a:r>
              <a:rPr lang="en-US" dirty="0"/>
              <a:t>bob=&gt; SELECT * FROM t2;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28" y="2585322"/>
            <a:ext cx="4887155" cy="152947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458810" y="2585322"/>
            <a:ext cx="59396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Получить информацию о членстве в ролях можно с помощью команды </a:t>
            </a:r>
            <a:r>
              <a:rPr lang="ru-RU" dirty="0" err="1"/>
              <a:t>drg</a:t>
            </a:r>
            <a:r>
              <a:rPr lang="ru-RU" dirty="0"/>
              <a:t> утилиты </a:t>
            </a:r>
            <a:r>
              <a:rPr lang="ru-RU" dirty="0" err="1"/>
              <a:t>psql</a:t>
            </a:r>
            <a:r>
              <a:rPr lang="ru-RU" dirty="0"/>
              <a:t>:</a:t>
            </a:r>
          </a:p>
          <a:p>
            <a:r>
              <a:rPr lang="ru-RU" dirty="0"/>
              <a:t>|| </a:t>
            </a:r>
            <a:r>
              <a:rPr lang="ru-RU" dirty="0" err="1"/>
              <a:t>bob</a:t>
            </a:r>
            <a:r>
              <a:rPr lang="ru-RU" dirty="0"/>
              <a:t>=&gt; \</a:t>
            </a:r>
            <a:r>
              <a:rPr lang="ru-RU" dirty="0" err="1"/>
              <a:t>drg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591" y="3671135"/>
            <a:ext cx="6576048" cy="131076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85829" y="4682720"/>
            <a:ext cx="51729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Исключим пользователя </a:t>
            </a:r>
            <a:r>
              <a:rPr lang="en-US" dirty="0"/>
              <a:t>bob </a:t>
            </a:r>
            <a:r>
              <a:rPr lang="ru-RU" dirty="0"/>
              <a:t>из группы:</a:t>
            </a:r>
          </a:p>
          <a:p>
            <a:r>
              <a:rPr lang="en-US" dirty="0" err="1"/>
              <a:t>postgres</a:t>
            </a:r>
            <a:r>
              <a:rPr lang="en-US" dirty="0"/>
              <a:t>=# REVOKE </a:t>
            </a:r>
            <a:r>
              <a:rPr lang="en-US" dirty="0" err="1"/>
              <a:t>pg_read_all_data</a:t>
            </a:r>
            <a:r>
              <a:rPr lang="en-US" dirty="0"/>
              <a:t> FROM bob;</a:t>
            </a:r>
          </a:p>
          <a:p>
            <a:r>
              <a:rPr lang="en-US" dirty="0" smtClean="0"/>
              <a:t>REVOKE ROLE</a:t>
            </a:r>
            <a:endParaRPr lang="ru-RU" dirty="0" smtClean="0"/>
          </a:p>
          <a:p>
            <a:r>
              <a:rPr lang="ru-RU" b="1" dirty="0" smtClean="0"/>
              <a:t>Подпрограммы: </a:t>
            </a:r>
            <a:r>
              <a:rPr lang="en-US" b="1" dirty="0"/>
              <a:t>SECURITY INVOKER </a:t>
            </a:r>
            <a:r>
              <a:rPr lang="ru-RU" b="1" dirty="0" smtClean="0"/>
              <a:t>, </a:t>
            </a:r>
            <a:r>
              <a:rPr lang="en-US" b="1" dirty="0"/>
              <a:t>SECURITY DEFINER</a:t>
            </a:r>
          </a:p>
        </p:txBody>
      </p:sp>
    </p:spTree>
    <p:extLst>
      <p:ext uri="{BB962C8B-B14F-4D97-AF65-F5344CB8AC3E}">
        <p14:creationId xmlns:p14="http://schemas.microsoft.com/office/powerpoint/2010/main" val="1563238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Алиса</a:t>
            </a:r>
            <a:r>
              <a:rPr lang="en-US" dirty="0"/>
              <a:t> </a:t>
            </a:r>
            <a:r>
              <a:rPr lang="en-US" dirty="0" err="1"/>
              <a:t>создает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:</a:t>
            </a:r>
          </a:p>
          <a:p>
            <a:r>
              <a:rPr lang="en-US" dirty="0" err="1"/>
              <a:t>alice</a:t>
            </a:r>
            <a:r>
              <a:rPr lang="en-US" dirty="0"/>
              <a:t>=&gt; CREATE FUNCTION foo() RETURNS SETOF t2</a:t>
            </a:r>
          </a:p>
          <a:p>
            <a:r>
              <a:rPr lang="en-US" dirty="0"/>
              <a:t>                AS $$</a:t>
            </a:r>
          </a:p>
          <a:p>
            <a:r>
              <a:rPr lang="en-US" dirty="0"/>
              <a:t>                SELECT * FROM t2;</a:t>
            </a:r>
          </a:p>
          <a:p>
            <a:r>
              <a:rPr lang="en-US" dirty="0"/>
              <a:t>                $$ LANGUAGE </a:t>
            </a:r>
            <a:r>
              <a:rPr lang="en-US" dirty="0" err="1"/>
              <a:t>sql</a:t>
            </a:r>
            <a:r>
              <a:rPr lang="en-US" dirty="0"/>
              <a:t> STABLE;</a:t>
            </a:r>
          </a:p>
          <a:p>
            <a:r>
              <a:rPr lang="en-US" dirty="0"/>
              <a:t>CREATE </a:t>
            </a:r>
            <a:r>
              <a:rPr lang="en-US" dirty="0" smtClean="0"/>
              <a:t>FUNCTION</a:t>
            </a:r>
            <a:r>
              <a:rPr lang="ru-RU" dirty="0" smtClean="0"/>
              <a:t>…</a:t>
            </a:r>
          </a:p>
          <a:p>
            <a:r>
              <a:rPr lang="en-US" dirty="0"/>
              <a:t>| bob=&gt; SELECT foo();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9" y="2031324"/>
            <a:ext cx="6074897" cy="90106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932385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Другой доступный вариант — объявить функцию как работающую с правами ее владельца:</a:t>
            </a:r>
          </a:p>
          <a:p>
            <a:r>
              <a:rPr lang="ru-RU" dirty="0" err="1"/>
              <a:t>alice</a:t>
            </a:r>
            <a:r>
              <a:rPr lang="ru-RU" dirty="0"/>
              <a:t>=&gt; ALTER FUNCTION </a:t>
            </a:r>
            <a:r>
              <a:rPr lang="ru-RU" dirty="0" err="1"/>
              <a:t>foo</a:t>
            </a:r>
            <a:r>
              <a:rPr lang="ru-RU" dirty="0"/>
              <a:t>() SECURITY DEFINER;</a:t>
            </a:r>
          </a:p>
          <a:p>
            <a:r>
              <a:rPr lang="ru-RU" dirty="0"/>
              <a:t>ALTER FUNCTION</a:t>
            </a:r>
          </a:p>
          <a:p>
            <a:r>
              <a:rPr lang="ru-RU" dirty="0"/>
              <a:t>В этом случае функция всегда будет выполняться с правами Алисы, независимо от того, кто ее вызывает.</a:t>
            </a:r>
          </a:p>
          <a:p>
            <a:r>
              <a:rPr lang="ru-RU" dirty="0"/>
              <a:t>| </a:t>
            </a:r>
            <a:r>
              <a:rPr lang="ru-RU" dirty="0" err="1"/>
              <a:t>bob</a:t>
            </a:r>
            <a:r>
              <a:rPr lang="ru-RU" dirty="0"/>
              <a:t>=&gt; SELECT </a:t>
            </a:r>
            <a:r>
              <a:rPr lang="ru-RU" dirty="0" err="1"/>
              <a:t>foo</a:t>
            </a:r>
            <a:r>
              <a:rPr lang="ru-RU" dirty="0"/>
              <a:t>();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78" y="4409713"/>
            <a:ext cx="6384193" cy="194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7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alice</a:t>
            </a:r>
            <a:r>
              <a:rPr lang="en-US" dirty="0"/>
              <a:t>=&gt; REVOKE EXECUTE ON ALL ROUTINES IN SCHEMA </a:t>
            </a:r>
            <a:r>
              <a:rPr lang="en-US" dirty="0" err="1"/>
              <a:t>alice</a:t>
            </a:r>
            <a:r>
              <a:rPr lang="en-US" dirty="0"/>
              <a:t> FROM public;</a:t>
            </a:r>
          </a:p>
          <a:p>
            <a:r>
              <a:rPr lang="en-US" dirty="0"/>
              <a:t>REVOKE</a:t>
            </a:r>
          </a:p>
          <a:p>
            <a:r>
              <a:rPr lang="en-US" dirty="0"/>
              <a:t>| bob=&gt; SELECT foo();</a:t>
            </a:r>
          </a:p>
          <a:p>
            <a:r>
              <a:rPr lang="en-US" dirty="0"/>
              <a:t>ERROR: permission denied for function </a:t>
            </a:r>
            <a:r>
              <a:rPr lang="en-US" dirty="0" smtClean="0"/>
              <a:t>foo</a:t>
            </a:r>
            <a:r>
              <a:rPr lang="ru-RU" dirty="0" smtClean="0"/>
              <a:t>…</a:t>
            </a:r>
          </a:p>
          <a:p>
            <a:r>
              <a:rPr lang="en-US" dirty="0" err="1"/>
              <a:t>alice</a:t>
            </a:r>
            <a:r>
              <a:rPr lang="en-US" dirty="0"/>
              <a:t>=&gt; ALTER DEFAULT PRIVILEGES</a:t>
            </a:r>
          </a:p>
          <a:p>
            <a:r>
              <a:rPr lang="en-US" dirty="0"/>
              <a:t>                FOR ROLE </a:t>
            </a:r>
            <a:r>
              <a:rPr lang="en-US" dirty="0" err="1"/>
              <a:t>alice</a:t>
            </a:r>
            <a:endParaRPr lang="en-US" dirty="0"/>
          </a:p>
          <a:p>
            <a:r>
              <a:rPr lang="en-US" dirty="0"/>
              <a:t>                REVOKE EXECUTE ON ROUTINES FROM public;</a:t>
            </a:r>
          </a:p>
          <a:p>
            <a:r>
              <a:rPr lang="en-US" dirty="0"/>
              <a:t>ALTER DEFAULT PRIVILEGES</a:t>
            </a:r>
          </a:p>
          <a:p>
            <a:r>
              <a:rPr lang="en-US" dirty="0" err="1"/>
              <a:t>alice</a:t>
            </a:r>
            <a:r>
              <a:rPr lang="en-US" dirty="0"/>
              <a:t>=&gt; ALTER DEFAULT PRIVILEGES</a:t>
            </a:r>
          </a:p>
          <a:p>
            <a:r>
              <a:rPr lang="en-US" dirty="0"/>
              <a:t>                FOR ROLE </a:t>
            </a:r>
            <a:r>
              <a:rPr lang="en-US" dirty="0" err="1"/>
              <a:t>alice</a:t>
            </a:r>
            <a:endParaRPr lang="en-US" dirty="0"/>
          </a:p>
          <a:p>
            <a:r>
              <a:rPr lang="en-US" dirty="0"/>
              <a:t>                GRANT EXECUTE ON ROUTINES TO bob;</a:t>
            </a:r>
          </a:p>
          <a:p>
            <a:r>
              <a:rPr lang="en-US" dirty="0"/>
              <a:t>ALTER DEFAULT PRIVILEGES</a:t>
            </a:r>
          </a:p>
          <a:p>
            <a:r>
              <a:rPr lang="en-US" dirty="0" err="1"/>
              <a:t>alice</a:t>
            </a:r>
            <a:r>
              <a:rPr lang="en-US" dirty="0"/>
              <a:t>=&gt; \</a:t>
            </a:r>
            <a:r>
              <a:rPr lang="en-US" dirty="0" err="1" smtClean="0"/>
              <a:t>ddp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19"/>
            <a:ext cx="6782660" cy="17615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362496" y="0"/>
            <a:ext cx="44931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alice</a:t>
            </a:r>
            <a:r>
              <a:rPr lang="en-US" dirty="0"/>
              <a:t>=&gt; CREATE FUNCTION bar() RETURNS integer</a:t>
            </a:r>
          </a:p>
          <a:p>
            <a:r>
              <a:rPr lang="en-US" dirty="0"/>
              <a:t>                LANGUAGE </a:t>
            </a:r>
            <a:r>
              <a:rPr lang="en-US" dirty="0" err="1"/>
              <a:t>sql</a:t>
            </a:r>
            <a:r>
              <a:rPr lang="en-US" dirty="0"/>
              <a:t> IMMUTABLE SECURITY DEFINER</a:t>
            </a:r>
          </a:p>
          <a:p>
            <a:r>
              <a:rPr lang="en-US" dirty="0"/>
              <a:t>                RETURN 1;</a:t>
            </a:r>
          </a:p>
          <a:p>
            <a:r>
              <a:rPr lang="en-US" dirty="0"/>
              <a:t>CREATE FUNCTION</a:t>
            </a:r>
          </a:p>
          <a:p>
            <a:r>
              <a:rPr lang="en-US" dirty="0"/>
              <a:t>bob=&gt; SELECT bar();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524" y="2419465"/>
            <a:ext cx="4502146" cy="127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36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23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СОЗДАНИЕ ЛОГИНА И НАСТРОЙКА ЕГО ПАРАМЕТРОВ</a:t>
            </a: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Создание</a:t>
            </a:r>
          </a:p>
          <a:p>
            <a:pPr algn="just"/>
            <a:r>
              <a:rPr lang="ru-RU" dirty="0"/>
              <a:t>Существует два основных способа создать пользователя в </a:t>
            </a:r>
            <a:r>
              <a:rPr lang="en-US" dirty="0"/>
              <a:t>PostgreSQL:  </a:t>
            </a:r>
          </a:p>
          <a:p>
            <a:pPr algn="just"/>
            <a:r>
              <a:rPr lang="en-US" dirty="0"/>
              <a:t>1.	</a:t>
            </a:r>
            <a:r>
              <a:rPr lang="ru-RU" dirty="0"/>
              <a:t>Из консоли с помощью команды </a:t>
            </a:r>
            <a:r>
              <a:rPr lang="ru-RU" dirty="0" smtClean="0"/>
              <a:t> -</a:t>
            </a:r>
            <a:r>
              <a:rPr lang="en-US" b="1" dirty="0" smtClean="0"/>
              <a:t>CREATE </a:t>
            </a:r>
            <a:r>
              <a:rPr lang="en-US" b="1" dirty="0"/>
              <a:t>USER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Для </a:t>
            </a:r>
            <a:r>
              <a:rPr lang="ru-RU" dirty="0"/>
              <a:t>создания </a:t>
            </a:r>
            <a:r>
              <a:rPr lang="ru-RU" dirty="0" err="1"/>
              <a:t>суперпользователя</a:t>
            </a:r>
            <a:r>
              <a:rPr lang="ru-RU" dirty="0"/>
              <a:t> — </a:t>
            </a:r>
            <a:r>
              <a:rPr lang="en-US" dirty="0" smtClean="0"/>
              <a:t>CREATE </a:t>
            </a:r>
            <a:r>
              <a:rPr lang="en-US" dirty="0"/>
              <a:t>USER name WITH PASSWORD 'pass' SUPERUSER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Для </a:t>
            </a:r>
            <a:r>
              <a:rPr lang="ru-RU" dirty="0"/>
              <a:t>создания обычного пользователя — </a:t>
            </a:r>
            <a:r>
              <a:rPr lang="en-US" dirty="0" smtClean="0"/>
              <a:t>CREATE </a:t>
            </a:r>
            <a:r>
              <a:rPr lang="en-US" dirty="0"/>
              <a:t>USER name WITH PASSWORD </a:t>
            </a:r>
            <a:r>
              <a:rPr lang="en-US" dirty="0" smtClean="0"/>
              <a:t>'pass‘</a:t>
            </a:r>
            <a:endParaRPr lang="ru-RU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Для </a:t>
            </a:r>
            <a:r>
              <a:rPr lang="ru-RU" dirty="0"/>
              <a:t>создания пользователя с дополнительными параметрами </a:t>
            </a:r>
            <a:r>
              <a:rPr lang="ru-RU" dirty="0" smtClean="0"/>
              <a:t>— CREATE </a:t>
            </a:r>
            <a:r>
              <a:rPr lang="ru-RU" dirty="0"/>
              <a:t>USER </a:t>
            </a:r>
            <a:r>
              <a:rPr lang="ru-RU" dirty="0" err="1"/>
              <a:t>name</a:t>
            </a:r>
            <a:r>
              <a:rPr lang="ru-RU" dirty="0"/>
              <a:t> WITH PASSWORD '</a:t>
            </a:r>
            <a:r>
              <a:rPr lang="ru-RU" dirty="0" err="1"/>
              <a:t>pass</a:t>
            </a:r>
            <a:r>
              <a:rPr lang="ru-RU" dirty="0"/>
              <a:t>' CONNECTION LIMIT 5</a:t>
            </a:r>
          </a:p>
          <a:p>
            <a:pPr algn="just"/>
            <a:r>
              <a:rPr lang="ru-RU" b="1" dirty="0"/>
              <a:t>Через графический интерфейс (например, </a:t>
            </a:r>
            <a:r>
              <a:rPr lang="ru-RU" b="1" dirty="0" err="1"/>
              <a:t>pgAdmin</a:t>
            </a:r>
            <a:r>
              <a:rPr lang="ru-RU" b="1" dirty="0"/>
              <a:t>). Алгоритм создания:  </a:t>
            </a:r>
          </a:p>
          <a:p>
            <a:pPr algn="just"/>
            <a:r>
              <a:rPr lang="ru-RU" dirty="0" smtClean="0"/>
              <a:t>1. В </a:t>
            </a:r>
            <a:r>
              <a:rPr lang="ru-RU" dirty="0" err="1"/>
              <a:t>pgAdmin</a:t>
            </a:r>
            <a:r>
              <a:rPr lang="ru-RU" dirty="0"/>
              <a:t> подключиться к БД, </a:t>
            </a:r>
            <a:r>
              <a:rPr lang="ru-RU" dirty="0" smtClean="0"/>
              <a:t>- </a:t>
            </a:r>
            <a:r>
              <a:rPr lang="ru-RU" dirty="0" err="1" smtClean="0"/>
              <a:t>Login</a:t>
            </a:r>
            <a:r>
              <a:rPr lang="ru-RU" dirty="0" smtClean="0"/>
              <a:t>/</a:t>
            </a:r>
            <a:r>
              <a:rPr lang="ru-RU" dirty="0" err="1" smtClean="0"/>
              <a:t>Group</a:t>
            </a:r>
            <a:r>
              <a:rPr lang="ru-RU" dirty="0" smtClean="0"/>
              <a:t> </a:t>
            </a:r>
            <a:r>
              <a:rPr lang="ru-RU" dirty="0" err="1" smtClean="0"/>
              <a:t>Roles</a:t>
            </a:r>
            <a:r>
              <a:rPr lang="ru-RU" dirty="0" smtClean="0"/>
              <a:t> – выбрать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/>
              <a:t>— </a:t>
            </a:r>
            <a:r>
              <a:rPr lang="ru-RU" dirty="0" err="1"/>
              <a:t>Login</a:t>
            </a:r>
            <a:r>
              <a:rPr lang="ru-RU" dirty="0"/>
              <a:t>/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/>
              <a:t>Role</a:t>
            </a:r>
            <a:endParaRPr lang="ru-RU" dirty="0"/>
          </a:p>
          <a:p>
            <a:pPr algn="just"/>
            <a:r>
              <a:rPr lang="ru-RU" dirty="0" smtClean="0"/>
              <a:t>2. В </a:t>
            </a:r>
            <a:r>
              <a:rPr lang="ru-RU" dirty="0"/>
              <a:t>открывшемся окне во вкладке </a:t>
            </a:r>
            <a:r>
              <a:rPr lang="ru-RU" dirty="0" err="1" smtClean="0"/>
              <a:t>General</a:t>
            </a:r>
            <a:r>
              <a:rPr lang="ru-RU" dirty="0" smtClean="0"/>
              <a:t> – его описание </a:t>
            </a:r>
            <a:r>
              <a:rPr lang="ru-RU" dirty="0" err="1" smtClean="0"/>
              <a:t>Comments</a:t>
            </a:r>
            <a:endParaRPr lang="ru-RU" dirty="0" smtClean="0"/>
          </a:p>
          <a:p>
            <a:pPr algn="just"/>
            <a:r>
              <a:rPr lang="ru-RU" dirty="0" smtClean="0"/>
              <a:t>3. </a:t>
            </a:r>
            <a:r>
              <a:rPr lang="ru-RU" dirty="0" err="1" smtClean="0"/>
              <a:t>Definition</a:t>
            </a:r>
            <a:r>
              <a:rPr lang="ru-RU" dirty="0" smtClean="0"/>
              <a:t> -задать </a:t>
            </a:r>
            <a:r>
              <a:rPr lang="ru-RU" dirty="0"/>
              <a:t>пароль </a:t>
            </a:r>
            <a:r>
              <a:rPr lang="ru-RU" dirty="0" smtClean="0"/>
              <a:t>.</a:t>
            </a:r>
            <a:endParaRPr lang="ru-RU" dirty="0"/>
          </a:p>
          <a:p>
            <a:pPr algn="just"/>
            <a:r>
              <a:rPr lang="ru-RU" dirty="0"/>
              <a:t>4</a:t>
            </a:r>
            <a:r>
              <a:rPr lang="ru-RU" dirty="0" smtClean="0"/>
              <a:t>. Во </a:t>
            </a:r>
            <a:r>
              <a:rPr lang="ru-RU" dirty="0"/>
              <a:t>вкладке </a:t>
            </a:r>
            <a:r>
              <a:rPr lang="ru-RU" dirty="0" smtClean="0"/>
              <a:t>- </a:t>
            </a:r>
            <a:r>
              <a:rPr lang="ru-RU" dirty="0" err="1" smtClean="0"/>
              <a:t>Privileges</a:t>
            </a:r>
            <a:r>
              <a:rPr lang="ru-RU" dirty="0" smtClean="0"/>
              <a:t> </a:t>
            </a:r>
            <a:r>
              <a:rPr lang="ru-RU" dirty="0"/>
              <a:t>необходимый набор </a:t>
            </a:r>
            <a:r>
              <a:rPr lang="ru-RU" dirty="0" smtClean="0"/>
              <a:t>прав</a:t>
            </a:r>
          </a:p>
          <a:p>
            <a:pPr algn="just"/>
            <a:r>
              <a:rPr lang="ru-RU" dirty="0" smtClean="0"/>
              <a:t>5. </a:t>
            </a:r>
            <a:r>
              <a:rPr lang="ru-RU" dirty="0" err="1" smtClean="0"/>
              <a:t>Membership</a:t>
            </a:r>
            <a:r>
              <a:rPr lang="ru-RU" dirty="0" smtClean="0"/>
              <a:t> – присвоить роли, </a:t>
            </a:r>
            <a:r>
              <a:rPr lang="ru-RU" dirty="0"/>
              <a:t>например — дефолтную для </a:t>
            </a:r>
            <a:r>
              <a:rPr lang="ru-RU" dirty="0" err="1"/>
              <a:t>PostgreSQL</a:t>
            </a:r>
            <a:r>
              <a:rPr lang="ru-RU" dirty="0"/>
              <a:t> роль </a:t>
            </a:r>
            <a:r>
              <a:rPr lang="ru-RU" dirty="0" err="1" smtClean="0"/>
              <a:t>pg_monitor</a:t>
            </a:r>
            <a:endParaRPr lang="ru-RU" dirty="0"/>
          </a:p>
          <a:p>
            <a:pPr algn="just"/>
            <a:r>
              <a:rPr lang="ru-RU" dirty="0" smtClean="0"/>
              <a:t>6. Во </a:t>
            </a:r>
            <a:r>
              <a:rPr lang="ru-RU" dirty="0"/>
              <a:t>вкладке </a:t>
            </a:r>
            <a:r>
              <a:rPr lang="ru-RU" dirty="0" smtClean="0"/>
              <a:t>SQL - команды</a:t>
            </a:r>
            <a:r>
              <a:rPr lang="ru-RU" dirty="0"/>
              <a:t>, отвечающие за применение </a:t>
            </a:r>
            <a:r>
              <a:rPr lang="ru-RU" dirty="0" smtClean="0"/>
              <a:t>настроек</a:t>
            </a:r>
          </a:p>
          <a:p>
            <a:pPr algn="just"/>
            <a:r>
              <a:rPr lang="ru-RU" dirty="0" smtClean="0"/>
              <a:t>7. Нажать </a:t>
            </a:r>
            <a:r>
              <a:rPr lang="ru-RU" dirty="0" err="1" smtClean="0"/>
              <a:t>Save</a:t>
            </a:r>
            <a:r>
              <a:rPr lang="ru-RU" dirty="0" smtClean="0"/>
              <a:t> - , пользователь </a:t>
            </a:r>
            <a:r>
              <a:rPr lang="ru-RU" dirty="0"/>
              <a:t>будет создан и доступен в разделе </a:t>
            </a:r>
            <a:r>
              <a:rPr lang="ru-RU" dirty="0" err="1"/>
              <a:t>Login</a:t>
            </a:r>
            <a:r>
              <a:rPr lang="ru-RU" dirty="0"/>
              <a:t>/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/>
              <a:t>Roles</a:t>
            </a:r>
            <a:endParaRPr lang="ru-RU" dirty="0"/>
          </a:p>
          <a:p>
            <a:pPr algn="just"/>
            <a:r>
              <a:rPr lang="ru-RU" b="1" dirty="0"/>
              <a:t>Настройка параметров</a:t>
            </a:r>
          </a:p>
          <a:p>
            <a:pPr algn="just"/>
            <a:r>
              <a:rPr lang="ru-RU" dirty="0" smtClean="0"/>
              <a:t>• </a:t>
            </a:r>
            <a:r>
              <a:rPr lang="ru-RU" dirty="0"/>
              <a:t>Ограничения на подключение — CONNECTION LIMIT</a:t>
            </a:r>
          </a:p>
          <a:p>
            <a:pPr algn="just"/>
            <a:r>
              <a:rPr lang="ru-RU" dirty="0"/>
              <a:t> </a:t>
            </a:r>
            <a:r>
              <a:rPr lang="ru-RU" b="1" dirty="0"/>
              <a:t>нужно задать на </a:t>
            </a:r>
          </a:p>
          <a:p>
            <a:pPr algn="just"/>
            <a:r>
              <a:rPr lang="ru-RU" dirty="0"/>
              <a:t>• Дата и время истечения прав учётной записи — на вкладке </a:t>
            </a:r>
            <a:r>
              <a:rPr lang="ru-RU" dirty="0" err="1"/>
              <a:t>Definition</a:t>
            </a:r>
            <a:endParaRPr lang="ru-RU" dirty="0"/>
          </a:p>
          <a:p>
            <a:pPr algn="just"/>
            <a:r>
              <a:rPr lang="ru-RU" dirty="0"/>
              <a:t>задан вход без пароля, то значение, указанное в поле </a:t>
            </a:r>
            <a:r>
              <a:rPr lang="ru-RU" dirty="0" err="1"/>
              <a:t>Account</a:t>
            </a:r>
            <a:r>
              <a:rPr lang="ru-RU" dirty="0"/>
              <a:t> </a:t>
            </a:r>
            <a:r>
              <a:rPr lang="ru-RU" dirty="0" err="1"/>
              <a:t>expires</a:t>
            </a:r>
            <a:r>
              <a:rPr lang="ru-RU" dirty="0"/>
              <a:t> , применяться не будет.</a:t>
            </a:r>
          </a:p>
          <a:p>
            <a:pPr algn="just"/>
            <a:r>
              <a:rPr lang="ru-RU" dirty="0"/>
              <a:t>• Привилегии —</a:t>
            </a:r>
            <a:r>
              <a:rPr lang="ru-RU" dirty="0" err="1"/>
              <a:t>Privileges</a:t>
            </a:r>
            <a:r>
              <a:rPr lang="ru-RU" dirty="0"/>
              <a:t>  выбрать необходимые привилегии, </a:t>
            </a:r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login</a:t>
            </a:r>
            <a:r>
              <a:rPr lang="ru-RU" dirty="0"/>
              <a:t>?</a:t>
            </a:r>
          </a:p>
          <a:p>
            <a:pPr algn="just"/>
            <a:r>
              <a:rPr lang="ru-RU" dirty="0"/>
              <a:t>) или выдать права </a:t>
            </a:r>
            <a:r>
              <a:rPr lang="ru-RU" dirty="0" err="1"/>
              <a:t>суперпользователя</a:t>
            </a:r>
            <a:r>
              <a:rPr lang="ru-RU" dirty="0"/>
              <a:t> (опция </a:t>
            </a:r>
            <a:r>
              <a:rPr lang="ru-RU" dirty="0" err="1"/>
              <a:t>Superuser</a:t>
            </a:r>
            <a:r>
              <a:rPr lang="ru-RU" dirty="0"/>
              <a:t>?).</a:t>
            </a:r>
          </a:p>
          <a:p>
            <a:pPr algn="just"/>
            <a:r>
              <a:rPr lang="ru-RU" dirty="0"/>
              <a:t>назначить ему различные права доступа к базам данных GRANT</a:t>
            </a:r>
          </a:p>
          <a:p>
            <a:pPr algn="just"/>
            <a:r>
              <a:rPr lang="ru-RU" dirty="0"/>
              <a:t> Например</a:t>
            </a:r>
            <a:r>
              <a:rPr lang="ru-RU" b="1" dirty="0"/>
              <a:t>: GRANT ALL PRIVILEGES ON DATABASE </a:t>
            </a:r>
            <a:r>
              <a:rPr lang="ru-RU" b="1" dirty="0" err="1"/>
              <a:t>dbname</a:t>
            </a:r>
            <a:r>
              <a:rPr lang="ru-RU" b="1" dirty="0"/>
              <a:t> TO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3815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Способ 2. Через </a:t>
            </a:r>
            <a:r>
              <a:rPr lang="ru-RU" sz="2000" b="1" dirty="0" err="1"/>
              <a:t>pgAdmin</a:t>
            </a:r>
            <a:endParaRPr lang="ru-RU" sz="2000" b="1" dirty="0"/>
          </a:p>
          <a:p>
            <a:r>
              <a:rPr lang="ru-RU" sz="2000" dirty="0" smtClean="0"/>
              <a:t>создание </a:t>
            </a:r>
            <a:r>
              <a:rPr lang="ru-RU" sz="2000" dirty="0"/>
              <a:t>новых пользователей выполняется следующим образом:</a:t>
            </a:r>
          </a:p>
          <a:p>
            <a:r>
              <a:rPr lang="ru-RU" sz="2000" dirty="0"/>
              <a:t>1.	Откройте </a:t>
            </a:r>
            <a:r>
              <a:rPr lang="ru-RU" sz="2000" dirty="0" err="1"/>
              <a:t>pgAdmin</a:t>
            </a:r>
            <a:r>
              <a:rPr lang="ru-RU" sz="2000" dirty="0"/>
              <a:t> и подключитесь к серверу </a:t>
            </a:r>
            <a:r>
              <a:rPr lang="ru-RU" sz="2000" dirty="0" err="1"/>
              <a:t>PostgreSQL</a:t>
            </a:r>
            <a:r>
              <a:rPr lang="ru-RU" sz="2000" dirty="0"/>
              <a:t>.</a:t>
            </a:r>
          </a:p>
          <a:p>
            <a:r>
              <a:rPr lang="ru-RU" sz="2000" dirty="0"/>
              <a:t>2.	В левой панели навигации выберите базу данных, в которой вы хотите создать пользователя.</a:t>
            </a:r>
          </a:p>
          <a:p>
            <a:r>
              <a:rPr lang="ru-RU" sz="2000" dirty="0"/>
              <a:t>3.	Щёлкните правой кнопкой мыши на «</a:t>
            </a:r>
            <a:r>
              <a:rPr lang="ru-RU" sz="2000" dirty="0" err="1"/>
              <a:t>Login</a:t>
            </a:r>
            <a:r>
              <a:rPr lang="ru-RU" sz="2000" dirty="0"/>
              <a:t>/</a:t>
            </a:r>
            <a:r>
              <a:rPr lang="ru-RU" sz="2000" dirty="0" err="1"/>
              <a:t>Group</a:t>
            </a:r>
            <a:r>
              <a:rPr lang="ru-RU" sz="2000" dirty="0"/>
              <a:t> </a:t>
            </a:r>
            <a:r>
              <a:rPr lang="ru-RU" sz="2000" dirty="0" err="1"/>
              <a:t>Roles</a:t>
            </a:r>
            <a:r>
              <a:rPr lang="ru-RU" sz="2000" dirty="0"/>
              <a:t>». </a:t>
            </a:r>
          </a:p>
          <a:p>
            <a:r>
              <a:rPr lang="ru-RU" sz="2000" dirty="0"/>
              <a:t>4.	Выберите «</a:t>
            </a:r>
            <a:r>
              <a:rPr lang="ru-RU" sz="2000" dirty="0" err="1"/>
              <a:t>Create</a:t>
            </a:r>
            <a:r>
              <a:rPr lang="ru-RU" sz="2000" dirty="0"/>
              <a:t>», а затем – «</a:t>
            </a:r>
            <a:r>
              <a:rPr lang="ru-RU" sz="2000" dirty="0" err="1"/>
              <a:t>Login</a:t>
            </a:r>
            <a:r>
              <a:rPr lang="ru-RU" sz="2000" dirty="0"/>
              <a:t>/</a:t>
            </a:r>
            <a:r>
              <a:rPr lang="ru-RU" sz="2000" dirty="0" err="1"/>
              <a:t>Group</a:t>
            </a:r>
            <a:r>
              <a:rPr lang="ru-RU" sz="2000" dirty="0"/>
              <a:t> </a:t>
            </a:r>
            <a:r>
              <a:rPr lang="ru-RU" sz="2000" dirty="0" err="1"/>
              <a:t>Role</a:t>
            </a:r>
            <a:r>
              <a:rPr lang="ru-RU" sz="2000" dirty="0"/>
              <a:t>».</a:t>
            </a:r>
          </a:p>
          <a:p>
            <a:r>
              <a:rPr lang="ru-RU" sz="2000" dirty="0"/>
              <a:t>5.	В появившемся окне заполните следующую информацию:</a:t>
            </a:r>
          </a:p>
          <a:p>
            <a:r>
              <a:rPr lang="ru-RU" sz="2000" dirty="0"/>
              <a:t>•	В разделе </a:t>
            </a:r>
            <a:r>
              <a:rPr lang="ru-RU" sz="2000" dirty="0" err="1"/>
              <a:t>General</a:t>
            </a:r>
            <a:r>
              <a:rPr lang="ru-RU" sz="2000" dirty="0"/>
              <a:t> в поле </a:t>
            </a:r>
            <a:r>
              <a:rPr lang="ru-RU" sz="2000" dirty="0" err="1"/>
              <a:t>Name</a:t>
            </a:r>
            <a:r>
              <a:rPr lang="ru-RU" sz="2000" dirty="0"/>
              <a:t> введите имя пользователя</a:t>
            </a:r>
            <a:r>
              <a:rPr lang="ru-RU" sz="2000" dirty="0" smtClean="0"/>
              <a:t>.</a:t>
            </a:r>
          </a:p>
          <a:p>
            <a:r>
              <a:rPr lang="ru-RU" sz="2000" dirty="0"/>
              <a:t>6.	В разделе </a:t>
            </a:r>
            <a:r>
              <a:rPr lang="ru-RU" sz="2000" dirty="0" err="1"/>
              <a:t>Privileges</a:t>
            </a:r>
            <a:r>
              <a:rPr lang="ru-RU" sz="2000" dirty="0"/>
              <a:t> выберите необходимые привилегии. Например, включите опцию «</a:t>
            </a:r>
            <a:r>
              <a:rPr lang="ru-RU" sz="2000" dirty="0" err="1"/>
              <a:t>Can</a:t>
            </a:r>
            <a:r>
              <a:rPr lang="ru-RU" sz="2000" dirty="0"/>
              <a:t> </a:t>
            </a:r>
            <a:r>
              <a:rPr lang="ru-RU" sz="2000" dirty="0" err="1"/>
              <a:t>login</a:t>
            </a:r>
            <a:r>
              <a:rPr lang="ru-RU" sz="2000" dirty="0"/>
              <a:t>?», </a:t>
            </a:r>
            <a:r>
              <a:rPr lang="ru-RU" sz="2000" dirty="0" smtClean="0"/>
              <a:t>можно </a:t>
            </a:r>
            <a:r>
              <a:rPr lang="ru-RU" sz="2000" dirty="0"/>
              <a:t>назначить пользователю права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 с помощью опции «</a:t>
            </a:r>
            <a:r>
              <a:rPr lang="ru-RU" sz="2000" dirty="0" err="1"/>
              <a:t>Superuser</a:t>
            </a:r>
            <a:r>
              <a:rPr lang="ru-RU" sz="2000" dirty="0"/>
              <a:t>?».</a:t>
            </a:r>
          </a:p>
          <a:p>
            <a:r>
              <a:rPr lang="ru-RU" sz="2000" dirty="0"/>
              <a:t>7.	В разделе </a:t>
            </a:r>
            <a:r>
              <a:rPr lang="ru-RU" sz="2000" dirty="0" err="1"/>
              <a:t>Membership</a:t>
            </a:r>
            <a:r>
              <a:rPr lang="ru-RU" sz="2000" dirty="0"/>
              <a:t> вы можете назначить пользователю специфические роли. </a:t>
            </a:r>
          </a:p>
          <a:p>
            <a:r>
              <a:rPr lang="ru-RU" sz="2000" dirty="0"/>
              <a:t>8.	Проверьте сгенерированный SQL-код на крайней правой вкладке и затем нажмите кнопку </a:t>
            </a:r>
            <a:r>
              <a:rPr lang="ru-RU" sz="2000" dirty="0" err="1"/>
              <a:t>Save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98466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1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Различие в командах </a:t>
            </a:r>
            <a:r>
              <a:rPr lang="ru-RU" sz="2000" b="1" dirty="0"/>
              <a:t>CREATE USER и CREATE </a:t>
            </a:r>
            <a:r>
              <a:rPr lang="ru-RU" sz="2000" b="1" dirty="0" smtClean="0"/>
              <a:t>ROLE</a:t>
            </a:r>
          </a:p>
          <a:p>
            <a:pPr algn="just"/>
            <a:r>
              <a:rPr lang="ru-RU" sz="2000" dirty="0"/>
              <a:t>команда </a:t>
            </a:r>
            <a:r>
              <a:rPr lang="en-US" sz="2000" dirty="0"/>
              <a:t>CREATE USER – </a:t>
            </a:r>
            <a:r>
              <a:rPr lang="ru-RU" sz="2000" dirty="0"/>
              <a:t>это, по сути, команда </a:t>
            </a:r>
            <a:r>
              <a:rPr lang="en-US" sz="2000" dirty="0"/>
              <a:t>CREATE ROLE </a:t>
            </a:r>
            <a:r>
              <a:rPr lang="ru-RU" sz="2000" dirty="0"/>
              <a:t>с опцией </a:t>
            </a:r>
            <a:r>
              <a:rPr lang="en-US" sz="2000" dirty="0"/>
              <a:t>LOGIN. </a:t>
            </a:r>
            <a:r>
              <a:rPr lang="ru-RU" sz="2000" dirty="0"/>
              <a:t>Например, команды «</a:t>
            </a:r>
            <a:r>
              <a:rPr lang="en-US" sz="2000" dirty="0"/>
              <a:t>CREATE USER </a:t>
            </a:r>
            <a:r>
              <a:rPr lang="en-US" sz="2000" dirty="0" err="1"/>
              <a:t>user</a:t>
            </a:r>
            <a:r>
              <a:rPr lang="en-US" sz="2000" dirty="0"/>
              <a:t>» </a:t>
            </a:r>
            <a:r>
              <a:rPr lang="ru-RU" sz="2000" dirty="0"/>
              <a:t>и «</a:t>
            </a:r>
            <a:r>
              <a:rPr lang="en-US" sz="2000" dirty="0"/>
              <a:t>CREATE ROLE user WITH LOGIN» </a:t>
            </a:r>
            <a:r>
              <a:rPr lang="ru-RU" sz="2000" dirty="0"/>
              <a:t>равнозначны</a:t>
            </a:r>
            <a:r>
              <a:rPr lang="ru-RU" sz="2000" dirty="0" smtClean="0"/>
              <a:t>.</a:t>
            </a:r>
          </a:p>
          <a:p>
            <a:pPr algn="ctr"/>
            <a:r>
              <a:rPr lang="ru-RU" sz="2000" b="1" dirty="0"/>
              <a:t>Создание групп</a:t>
            </a:r>
          </a:p>
          <a:p>
            <a:pPr algn="just"/>
            <a:r>
              <a:rPr lang="ru-RU" sz="2000" dirty="0"/>
              <a:t>1.	Создайте группы, прописав:</a:t>
            </a:r>
          </a:p>
          <a:p>
            <a:pPr algn="just"/>
            <a:r>
              <a:rPr lang="en-US" sz="2000" dirty="0"/>
              <a:t>CREATE ROLE "</a:t>
            </a:r>
            <a:r>
              <a:rPr lang="en-US" sz="2000" dirty="0" err="1"/>
              <a:t>read_only_role</a:t>
            </a:r>
            <a:r>
              <a:rPr lang="en-US" sz="2000" dirty="0"/>
              <a:t>";</a:t>
            </a:r>
          </a:p>
          <a:p>
            <a:pPr algn="just"/>
            <a:r>
              <a:rPr lang="en-US" sz="2000" dirty="0"/>
              <a:t>CREATE ROLE "</a:t>
            </a:r>
            <a:r>
              <a:rPr lang="en-US" sz="2000" dirty="0" err="1"/>
              <a:t>read_write_role</a:t>
            </a:r>
            <a:endParaRPr lang="en-US" sz="2000" dirty="0"/>
          </a:p>
          <a:p>
            <a:pPr algn="just"/>
            <a:r>
              <a:rPr lang="ru-RU" sz="2000" dirty="0" smtClean="0"/>
              <a:t>2. Группе </a:t>
            </a:r>
            <a:r>
              <a:rPr lang="en-US" sz="2000" dirty="0" err="1"/>
              <a:t>read_only_role</a:t>
            </a:r>
            <a:r>
              <a:rPr lang="en-US" sz="2000" dirty="0"/>
              <a:t> </a:t>
            </a:r>
            <a:r>
              <a:rPr lang="ru-RU" sz="2000" dirty="0"/>
              <a:t>дайте права на чтение этой таблицы, а группе </a:t>
            </a:r>
            <a:r>
              <a:rPr lang="en-US" sz="2000" dirty="0" err="1"/>
              <a:t>read_write_role</a:t>
            </a:r>
            <a:r>
              <a:rPr lang="en-US" sz="2000" dirty="0"/>
              <a:t> – </a:t>
            </a:r>
            <a:r>
              <a:rPr lang="ru-RU" sz="2000" dirty="0"/>
              <a:t>права на чтение и запись:</a:t>
            </a:r>
          </a:p>
          <a:p>
            <a:pPr algn="just"/>
            <a:r>
              <a:rPr lang="en-US" sz="2000" dirty="0"/>
              <a:t>GRANT SELECT ON TABLE </a:t>
            </a:r>
            <a:r>
              <a:rPr lang="en-US" sz="2000" dirty="0" err="1"/>
              <a:t>swebtbl</a:t>
            </a:r>
            <a:r>
              <a:rPr lang="en-US" sz="2000" dirty="0"/>
              <a:t> TO </a:t>
            </a:r>
            <a:r>
              <a:rPr lang="en-US" sz="2000" dirty="0" err="1"/>
              <a:t>read_only_role</a:t>
            </a:r>
            <a:r>
              <a:rPr lang="en-US" sz="2000" dirty="0"/>
              <a:t>;</a:t>
            </a:r>
          </a:p>
          <a:p>
            <a:pPr algn="just"/>
            <a:r>
              <a:rPr lang="en-US" sz="2000" dirty="0"/>
              <a:t>GRANT SELECT, INSERT, UPDATE, DELETE ON TABLE </a:t>
            </a:r>
            <a:r>
              <a:rPr lang="en-US" sz="2000" dirty="0" err="1"/>
              <a:t>swebtbl</a:t>
            </a:r>
            <a:r>
              <a:rPr lang="en-US" sz="2000" dirty="0"/>
              <a:t> TO </a:t>
            </a:r>
            <a:r>
              <a:rPr lang="en-US" sz="2000" dirty="0" err="1"/>
              <a:t>read_write_role</a:t>
            </a:r>
            <a:r>
              <a:rPr lang="en-US" sz="2000" dirty="0"/>
              <a:t>;</a:t>
            </a:r>
          </a:p>
          <a:p>
            <a:pPr algn="ctr"/>
            <a:r>
              <a:rPr lang="ru-RU" sz="2000" b="1" dirty="0" err="1" smtClean="0"/>
              <a:t>Привелегии</a:t>
            </a:r>
            <a:r>
              <a:rPr lang="ru-RU" sz="2000" b="1" dirty="0" smtClean="0"/>
              <a:t> </a:t>
            </a:r>
          </a:p>
          <a:p>
            <a:pPr algn="just"/>
            <a:r>
              <a:rPr lang="ru-RU" sz="2000" dirty="0"/>
              <a:t>1.	Войдите в базу данных как пользователь </a:t>
            </a:r>
            <a:r>
              <a:rPr lang="en-US" sz="2000" dirty="0" err="1"/>
              <a:t>sweb_user</a:t>
            </a:r>
            <a:r>
              <a:rPr lang="en-US" sz="2000" dirty="0"/>
              <a:t> </a:t>
            </a:r>
            <a:r>
              <a:rPr lang="ru-RU" sz="2000" dirty="0"/>
              <a:t>и выполните команду:</a:t>
            </a:r>
          </a:p>
          <a:p>
            <a:pPr algn="just"/>
            <a:r>
              <a:rPr lang="en-US" sz="2000" dirty="0"/>
              <a:t>SELECT * FROM </a:t>
            </a:r>
            <a:r>
              <a:rPr lang="en-US" sz="2000" dirty="0" err="1"/>
              <a:t>swebtbl</a:t>
            </a:r>
            <a:r>
              <a:rPr lang="en-US" sz="2000" dirty="0"/>
              <a:t>;</a:t>
            </a:r>
          </a:p>
          <a:p>
            <a:pPr algn="just"/>
            <a:r>
              <a:rPr lang="ru-RU" sz="2000" dirty="0"/>
              <a:t>На экране появится </a:t>
            </a:r>
            <a:r>
              <a:rPr lang="ru-RU" sz="2000" dirty="0" smtClean="0"/>
              <a:t>ошибка </a:t>
            </a:r>
            <a:r>
              <a:rPr lang="en-US" sz="2000" dirty="0" smtClean="0"/>
              <a:t>ERROR</a:t>
            </a:r>
            <a:r>
              <a:rPr lang="en-US" sz="2000" dirty="0"/>
              <a:t>: permission denied for table </a:t>
            </a:r>
            <a:r>
              <a:rPr lang="en-US" sz="2000" dirty="0" err="1"/>
              <a:t>swebtbl</a:t>
            </a:r>
            <a:endParaRPr lang="en-US" sz="2000" dirty="0"/>
          </a:p>
          <a:p>
            <a:pPr algn="just"/>
            <a:r>
              <a:rPr lang="en-US" sz="2000" dirty="0"/>
              <a:t>2.	</a:t>
            </a:r>
            <a:r>
              <a:rPr lang="ru-RU" sz="2000" dirty="0"/>
              <a:t>Присвойте пользователю роль на чтение</a:t>
            </a:r>
            <a:r>
              <a:rPr lang="ru-RU" sz="2000" dirty="0" smtClean="0"/>
              <a:t>: </a:t>
            </a:r>
            <a:r>
              <a:rPr lang="en-US" sz="2000" dirty="0" smtClean="0"/>
              <a:t>GRANT </a:t>
            </a:r>
            <a:r>
              <a:rPr lang="en-US" sz="2000" dirty="0" err="1"/>
              <a:t>read_only_role</a:t>
            </a:r>
            <a:r>
              <a:rPr lang="en-US" sz="2000" dirty="0"/>
              <a:t> TO </a:t>
            </a:r>
            <a:r>
              <a:rPr lang="en-US" sz="2000" dirty="0" err="1"/>
              <a:t>sweb_user</a:t>
            </a:r>
            <a:r>
              <a:rPr lang="en-US" sz="2000" dirty="0"/>
              <a:t>;</a:t>
            </a:r>
          </a:p>
          <a:p>
            <a:pPr algn="just"/>
            <a:r>
              <a:rPr lang="ru-RU" sz="2000" dirty="0"/>
              <a:t>3.	Заберите у пользователя группу на чтение и присвоим группу с правами на чтение и запись:</a:t>
            </a:r>
          </a:p>
          <a:p>
            <a:pPr algn="just"/>
            <a:r>
              <a:rPr lang="en-US" sz="2000" dirty="0"/>
              <a:t>REVOKE </a:t>
            </a:r>
            <a:r>
              <a:rPr lang="en-US" sz="2000" dirty="0" err="1"/>
              <a:t>read_only_role</a:t>
            </a:r>
            <a:r>
              <a:rPr lang="en-US" sz="2000" dirty="0"/>
              <a:t> FROM </a:t>
            </a:r>
            <a:r>
              <a:rPr lang="en-US" sz="2000" dirty="0" err="1"/>
              <a:t>sweb_user</a:t>
            </a:r>
            <a:r>
              <a:rPr lang="en-US" sz="2000" dirty="0"/>
              <a:t>;</a:t>
            </a:r>
          </a:p>
          <a:p>
            <a:pPr algn="just"/>
            <a:r>
              <a:rPr lang="en-US" sz="2000" dirty="0"/>
              <a:t>GRANT </a:t>
            </a:r>
            <a:r>
              <a:rPr lang="en-US" sz="2000" dirty="0" err="1"/>
              <a:t>read_write_role</a:t>
            </a:r>
            <a:r>
              <a:rPr lang="en-US" sz="2000" dirty="0"/>
              <a:t> TO </a:t>
            </a:r>
            <a:r>
              <a:rPr lang="en-US" sz="2000" dirty="0" err="1"/>
              <a:t>sweb_user</a:t>
            </a:r>
            <a:r>
              <a:rPr lang="en-US" sz="2000" dirty="0"/>
              <a:t>;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04644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допустимы </a:t>
            </a:r>
            <a:r>
              <a:rPr lang="ru-RU" sz="2000" dirty="0" smtClean="0"/>
              <a:t> </a:t>
            </a:r>
            <a:r>
              <a:rPr lang="ru-RU" sz="2000" dirty="0"/>
              <a:t>изменения</a:t>
            </a:r>
            <a:r>
              <a:rPr lang="ru-RU" sz="2000" dirty="0" smtClean="0"/>
              <a:t>: ALTER </a:t>
            </a:r>
            <a:r>
              <a:rPr lang="ru-RU" sz="2000" dirty="0"/>
              <a:t>USER </a:t>
            </a:r>
            <a:r>
              <a:rPr lang="ru-RU" sz="2000" dirty="0" err="1"/>
              <a:t>role_specification</a:t>
            </a:r>
            <a:r>
              <a:rPr lang="ru-RU" sz="2000" dirty="0"/>
              <a:t> WITH ОПЦИЯ1 ОПЦИЯ2 ОПЦИЯ3;</a:t>
            </a:r>
          </a:p>
          <a:p>
            <a:r>
              <a:rPr lang="ru-RU" sz="2000" dirty="0"/>
              <a:t>1</a:t>
            </a:r>
            <a:r>
              <a:rPr lang="ru-RU" sz="2000" dirty="0" smtClean="0"/>
              <a:t>. Если </a:t>
            </a:r>
            <a:r>
              <a:rPr lang="ru-RU" sz="2000" dirty="0"/>
              <a:t>вы допустили ошибку при назначении разрешений </a:t>
            </a:r>
            <a:r>
              <a:rPr lang="ru-RU" sz="2000" dirty="0" smtClean="0"/>
              <a:t> </a:t>
            </a:r>
            <a:r>
              <a:rPr lang="ru-RU" sz="2000" dirty="0"/>
              <a:t>ALTER USER с необходимыми параметрами.</a:t>
            </a:r>
          </a:p>
          <a:p>
            <a:r>
              <a:rPr lang="ru-RU" sz="2000" dirty="0"/>
              <a:t>Например, чтобы удалить статус SUPERUSER у пользователя </a:t>
            </a:r>
            <a:r>
              <a:rPr lang="ru-RU" sz="2000" dirty="0" err="1"/>
              <a:t>swebusr</a:t>
            </a:r>
            <a:r>
              <a:rPr lang="ru-RU" sz="2000" dirty="0"/>
              <a:t>, выполните следующую команду:</a:t>
            </a:r>
          </a:p>
          <a:p>
            <a:r>
              <a:rPr lang="ru-RU" sz="2000" dirty="0"/>
              <a:t>ALTER USER </a:t>
            </a:r>
            <a:r>
              <a:rPr lang="ru-RU" sz="2000" dirty="0" err="1"/>
              <a:t>swebusr</a:t>
            </a:r>
            <a:r>
              <a:rPr lang="ru-RU" sz="2000" dirty="0"/>
              <a:t> WITH NOSUPERUSER;</a:t>
            </a:r>
          </a:p>
          <a:p>
            <a:r>
              <a:rPr lang="ru-RU" sz="2000" dirty="0" smtClean="0"/>
              <a:t>2. Чтобы </a:t>
            </a:r>
            <a:r>
              <a:rPr lang="ru-RU" sz="2000" dirty="0"/>
              <a:t>снова предоставить пользователю </a:t>
            </a:r>
            <a:r>
              <a:rPr lang="ru-RU" sz="2000" dirty="0" err="1"/>
              <a:t>swebusr</a:t>
            </a:r>
            <a:r>
              <a:rPr lang="ru-RU" sz="2000" dirty="0"/>
              <a:t> права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, используйте следующую команду</a:t>
            </a:r>
            <a:r>
              <a:rPr lang="ru-RU" sz="2000" dirty="0" smtClean="0"/>
              <a:t>: ALTER </a:t>
            </a:r>
            <a:r>
              <a:rPr lang="ru-RU" sz="2000" dirty="0"/>
              <a:t>USER </a:t>
            </a:r>
            <a:r>
              <a:rPr lang="ru-RU" sz="2000" dirty="0" err="1"/>
              <a:t>swebusr</a:t>
            </a:r>
            <a:r>
              <a:rPr lang="ru-RU" sz="2000" dirty="0"/>
              <a:t> WITH SUPERUSER;</a:t>
            </a:r>
          </a:p>
          <a:p>
            <a:pPr algn="ctr"/>
            <a:r>
              <a:rPr lang="ru-RU" sz="2000" b="1" dirty="0"/>
              <a:t>Удаление </a:t>
            </a:r>
            <a:r>
              <a:rPr lang="ru-RU" sz="2000" b="1" dirty="0" smtClean="0"/>
              <a:t>пользователя</a:t>
            </a:r>
          </a:p>
          <a:p>
            <a:pPr algn="just"/>
            <a:r>
              <a:rPr lang="ru-RU" sz="2000" dirty="0"/>
              <a:t>DROP USER </a:t>
            </a:r>
            <a:r>
              <a:rPr lang="ru-RU" sz="2000" dirty="0" err="1"/>
              <a:t>имя_пользователя</a:t>
            </a:r>
            <a:endParaRPr lang="ru-RU" sz="2000" dirty="0"/>
          </a:p>
          <a:p>
            <a:pPr algn="just"/>
            <a:r>
              <a:rPr lang="ru-RU" sz="2000" dirty="0" smtClean="0"/>
              <a:t>1. Убедитесь</a:t>
            </a:r>
            <a:r>
              <a:rPr lang="ru-RU" sz="2000" dirty="0"/>
              <a:t>, что он не владеет какими-либо объектами в базе данных. В противном случае, вы получите сообщение об ошибке</a:t>
            </a:r>
            <a:r>
              <a:rPr lang="ru-RU" sz="2000" dirty="0" smtClean="0"/>
              <a:t>: ERROR</a:t>
            </a:r>
            <a:r>
              <a:rPr lang="ru-RU" sz="2000" dirty="0"/>
              <a:t>:  </a:t>
            </a:r>
            <a:r>
              <a:rPr lang="ru-RU" sz="2000" dirty="0" err="1"/>
              <a:t>role</a:t>
            </a:r>
            <a:r>
              <a:rPr lang="ru-RU" sz="2000" dirty="0"/>
              <a:t> "</a:t>
            </a:r>
            <a:r>
              <a:rPr lang="ru-RU" sz="2000" dirty="0" err="1"/>
              <a:t>имя_пользователя</a:t>
            </a:r>
            <a:r>
              <a:rPr lang="ru-RU" sz="2000" dirty="0"/>
              <a:t>" </a:t>
            </a:r>
            <a:r>
              <a:rPr lang="ru-RU" sz="2000" dirty="0" err="1"/>
              <a:t>cannot</a:t>
            </a:r>
            <a:r>
              <a:rPr lang="ru-RU" sz="2000" dirty="0"/>
              <a:t> </a:t>
            </a:r>
            <a:r>
              <a:rPr lang="ru-RU" sz="2000" dirty="0" err="1"/>
              <a:t>be</a:t>
            </a:r>
            <a:r>
              <a:rPr lang="ru-RU" sz="2000" dirty="0"/>
              <a:t> </a:t>
            </a:r>
            <a:r>
              <a:rPr lang="ru-RU" sz="2000" dirty="0" err="1"/>
              <a:t>dropped</a:t>
            </a:r>
            <a:r>
              <a:rPr lang="ru-RU" sz="2000" dirty="0"/>
              <a:t> </a:t>
            </a:r>
            <a:r>
              <a:rPr lang="ru-RU" sz="2000" dirty="0" err="1"/>
              <a:t>because</a:t>
            </a:r>
            <a:r>
              <a:rPr lang="ru-RU" sz="2000" dirty="0"/>
              <a:t> </a:t>
            </a:r>
            <a:r>
              <a:rPr lang="ru-RU" sz="2000" dirty="0" err="1"/>
              <a:t>some</a:t>
            </a:r>
            <a:r>
              <a:rPr lang="ru-RU" sz="2000" dirty="0"/>
              <a:t> </a:t>
            </a:r>
            <a:r>
              <a:rPr lang="ru-RU" sz="2000" dirty="0" err="1"/>
              <a:t>objects</a:t>
            </a:r>
            <a:r>
              <a:rPr lang="ru-RU" sz="2000" dirty="0"/>
              <a:t> </a:t>
            </a:r>
            <a:r>
              <a:rPr lang="ru-RU" sz="2000" dirty="0" err="1"/>
              <a:t>depend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</a:t>
            </a:r>
            <a:r>
              <a:rPr lang="ru-RU" sz="2000" dirty="0" err="1"/>
              <a:t>it</a:t>
            </a:r>
            <a:endParaRPr lang="ru-RU" sz="2000" dirty="0"/>
          </a:p>
          <a:p>
            <a:pPr algn="just"/>
            <a:r>
              <a:rPr lang="ru-RU" sz="2000" dirty="0" smtClean="0"/>
              <a:t>2. Если </a:t>
            </a:r>
            <a:r>
              <a:rPr lang="ru-RU" sz="2000" dirty="0"/>
              <a:t>пользователь действительно владелец объектов, вам нужно сначала сменить его. Например, чтобы сменить владельца таблицы, пропишите</a:t>
            </a:r>
            <a:r>
              <a:rPr lang="ru-RU" sz="2000" dirty="0" smtClean="0"/>
              <a:t>: ALTER </a:t>
            </a:r>
            <a:r>
              <a:rPr lang="ru-RU" sz="2000" dirty="0"/>
              <a:t>TABLE </a:t>
            </a:r>
            <a:r>
              <a:rPr lang="ru-RU" sz="2000" dirty="0" err="1"/>
              <a:t>название_таблицы</a:t>
            </a:r>
            <a:r>
              <a:rPr lang="ru-RU" sz="2000" dirty="0"/>
              <a:t> OWNER TO </a:t>
            </a:r>
            <a:r>
              <a:rPr lang="ru-RU" sz="2000" dirty="0" err="1"/>
              <a:t>новый_владелец</a:t>
            </a:r>
            <a:r>
              <a:rPr lang="ru-RU" sz="2000" dirty="0"/>
              <a:t>;</a:t>
            </a:r>
          </a:p>
          <a:p>
            <a:pPr algn="just"/>
            <a:r>
              <a:rPr lang="ru-RU" sz="2000" dirty="0"/>
              <a:t>Чтобы сменить владельца базы данных, выполните</a:t>
            </a:r>
            <a:r>
              <a:rPr lang="ru-RU" sz="2000" dirty="0" smtClean="0"/>
              <a:t>: ALTER </a:t>
            </a:r>
            <a:r>
              <a:rPr lang="ru-RU" sz="2000" dirty="0"/>
              <a:t>DATABASE </a:t>
            </a:r>
            <a:r>
              <a:rPr lang="ru-RU" sz="2000" dirty="0" err="1"/>
              <a:t>название_базы_данных</a:t>
            </a:r>
            <a:r>
              <a:rPr lang="ru-RU" sz="2000" dirty="0"/>
              <a:t> OWNER TO </a:t>
            </a:r>
            <a:r>
              <a:rPr lang="ru-RU" sz="2000" dirty="0" err="1"/>
              <a:t>новый_владелец</a:t>
            </a:r>
            <a:r>
              <a:rPr lang="ru-RU" sz="2000" dirty="0"/>
              <a:t>;</a:t>
            </a:r>
          </a:p>
          <a:p>
            <a:pPr algn="just"/>
            <a:r>
              <a:rPr lang="ru-RU" sz="2000" dirty="0" smtClean="0"/>
              <a:t>3. Теперь </a:t>
            </a:r>
            <a:r>
              <a:rPr lang="ru-RU" sz="2000" dirty="0"/>
              <a:t>можно удалить пользователя</a:t>
            </a:r>
            <a:r>
              <a:rPr lang="ru-RU" sz="2000" dirty="0" smtClean="0"/>
              <a:t>: DROP </a:t>
            </a:r>
            <a:r>
              <a:rPr lang="ru-RU" sz="2000" dirty="0"/>
              <a:t>USER </a:t>
            </a:r>
            <a:r>
              <a:rPr lang="ru-RU" sz="2000" dirty="0" err="1"/>
              <a:t>имя_пользователя</a:t>
            </a:r>
            <a:r>
              <a:rPr lang="ru-RU" sz="2000" dirty="0"/>
              <a:t>;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420375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28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</a:p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РЕЖИМЫ АУТЕНТИФИКАЦИИ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1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доступны разные режимы </a:t>
            </a:r>
            <a:r>
              <a:rPr lang="ru-RU" sz="2000" dirty="0" smtClean="0"/>
              <a:t>аутентификации - </a:t>
            </a:r>
            <a:r>
              <a:rPr lang="en-US" sz="2000" dirty="0" smtClean="0"/>
              <a:t> </a:t>
            </a:r>
            <a:r>
              <a:rPr lang="en-US" sz="2000" b="1" dirty="0"/>
              <a:t>trust, password, GSSAPI </a:t>
            </a:r>
            <a:r>
              <a:rPr lang="ru-RU" sz="2000" b="1" dirty="0"/>
              <a:t>и</a:t>
            </a:r>
            <a:r>
              <a:rPr lang="en-US" sz="2000" b="1" dirty="0"/>
              <a:t> certificate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pPr algn="ctr"/>
            <a:r>
              <a:rPr lang="en-US" dirty="0"/>
              <a:t>  </a:t>
            </a:r>
            <a:r>
              <a:rPr lang="ru-RU" sz="2000" dirty="0" smtClean="0"/>
              <a:t> </a:t>
            </a:r>
            <a:r>
              <a:rPr lang="en-US" sz="2000" b="1" dirty="0" smtClean="0"/>
              <a:t>Trust</a:t>
            </a:r>
            <a:endParaRPr lang="ru-RU" sz="2000" b="1" dirty="0" smtClean="0"/>
          </a:p>
          <a:p>
            <a:pPr algn="just"/>
            <a:r>
              <a:rPr lang="ru-RU" sz="2000" dirty="0"/>
              <a:t>Особенности:</a:t>
            </a:r>
          </a:p>
          <a:p>
            <a:pPr algn="just"/>
            <a:r>
              <a:rPr lang="ru-RU" sz="2000" dirty="0"/>
              <a:t>•	Удобен для локальных подключений на однопользовательской рабочей станции.</a:t>
            </a:r>
          </a:p>
          <a:p>
            <a:pPr algn="just"/>
            <a:r>
              <a:rPr lang="ru-RU" sz="2000" dirty="0"/>
              <a:t>•	Обычно не подходит для машин с несколькими пользователями.</a:t>
            </a:r>
          </a:p>
          <a:p>
            <a:pPr algn="just"/>
            <a:r>
              <a:rPr lang="ru-RU" sz="2000" dirty="0"/>
              <a:t>•	Для подключений по TCP/IP допустим только если доверяется каждому пользователю </a:t>
            </a:r>
            <a:r>
              <a:rPr lang="ru-RU" sz="2000" dirty="0" smtClean="0"/>
              <a:t>компьютера</a:t>
            </a:r>
          </a:p>
          <a:p>
            <a:pPr algn="ctr"/>
            <a:r>
              <a:rPr lang="ru-RU" sz="2000" b="1" dirty="0" err="1"/>
              <a:t>Password</a:t>
            </a:r>
            <a:endParaRPr lang="ru-RU" sz="2000" b="1" dirty="0"/>
          </a:p>
          <a:p>
            <a:pPr algn="just"/>
            <a:r>
              <a:rPr lang="ru-RU" sz="2000" dirty="0" smtClean="0"/>
              <a:t>• scram-sha-256 </a:t>
            </a:r>
            <a:r>
              <a:rPr lang="ru-RU" sz="2000" dirty="0"/>
              <a:t>— аутентификация SCRAM-SHA-256 по схеме «</a:t>
            </a:r>
            <a:r>
              <a:rPr lang="ru-RU" sz="2000" dirty="0" smtClean="0"/>
              <a:t>вызов-ответ»</a:t>
            </a:r>
            <a:endParaRPr lang="ru-RU" sz="2000" dirty="0"/>
          </a:p>
          <a:p>
            <a:pPr algn="just"/>
            <a:r>
              <a:rPr lang="ru-RU" sz="2000" dirty="0" smtClean="0"/>
              <a:t>• md5 </a:t>
            </a:r>
            <a:r>
              <a:rPr lang="ru-RU" sz="2000" dirty="0"/>
              <a:t>— менее безопасный механизм «вызов-ответ</a:t>
            </a:r>
            <a:r>
              <a:rPr lang="ru-RU" sz="2000" dirty="0" smtClean="0"/>
              <a:t>» </a:t>
            </a:r>
            <a:endParaRPr lang="ru-RU" sz="2000" dirty="0"/>
          </a:p>
          <a:p>
            <a:pPr algn="just"/>
            <a:r>
              <a:rPr lang="ru-RU" sz="2000" dirty="0" smtClean="0"/>
              <a:t>• </a:t>
            </a:r>
            <a:r>
              <a:rPr lang="ru-RU" sz="2000" dirty="0" err="1" smtClean="0"/>
              <a:t>password</a:t>
            </a:r>
            <a:r>
              <a:rPr lang="ru-RU" sz="2000" dirty="0" smtClean="0"/>
              <a:t> </a:t>
            </a:r>
            <a:r>
              <a:rPr lang="ru-RU" sz="2000" dirty="0"/>
              <a:t>— пароль передаётся в открытом </a:t>
            </a:r>
            <a:r>
              <a:rPr lang="ru-RU" sz="2000" dirty="0" smtClean="0"/>
              <a:t>виде</a:t>
            </a:r>
          </a:p>
          <a:p>
            <a:pPr algn="ctr"/>
            <a:r>
              <a:rPr lang="ru-RU" sz="2000" b="1" dirty="0"/>
              <a:t>GSSAPI</a:t>
            </a:r>
          </a:p>
          <a:p>
            <a:pPr algn="just"/>
            <a:r>
              <a:rPr lang="ru-RU" sz="2000" dirty="0" smtClean="0"/>
              <a:t>библиотеку </a:t>
            </a:r>
            <a:r>
              <a:rPr lang="ru-RU" sz="2000" dirty="0"/>
              <a:t>безопасности, совместимую с GSSAPI. </a:t>
            </a:r>
            <a:r>
              <a:rPr lang="ru-RU" sz="2000" dirty="0" smtClean="0"/>
              <a:t>например </a:t>
            </a:r>
            <a:r>
              <a:rPr lang="ru-RU" sz="2000" dirty="0" err="1"/>
              <a:t>Kerberos</a:t>
            </a:r>
            <a:r>
              <a:rPr lang="ru-RU" sz="2000" dirty="0"/>
              <a:t> или </a:t>
            </a:r>
            <a:r>
              <a:rPr lang="ru-RU" sz="2000" dirty="0" err="1"/>
              <a:t>Microsoft</a:t>
            </a:r>
            <a:r>
              <a:rPr lang="ru-RU" sz="2000" dirty="0"/>
              <a:t> </a:t>
            </a:r>
            <a:r>
              <a:rPr lang="ru-RU" sz="2000" dirty="0" err="1"/>
              <a:t>Active</a:t>
            </a:r>
            <a:r>
              <a:rPr lang="ru-RU" sz="2000" dirty="0"/>
              <a:t> </a:t>
            </a:r>
            <a:r>
              <a:rPr lang="ru-RU" sz="2000" dirty="0" err="1"/>
              <a:t>Directory</a:t>
            </a:r>
            <a:r>
              <a:rPr lang="ru-RU" sz="2000" dirty="0"/>
              <a:t>. </a:t>
            </a:r>
          </a:p>
          <a:p>
            <a:pPr algn="just"/>
            <a:r>
              <a:rPr lang="ru-RU" sz="2000" dirty="0"/>
              <a:t>Особенности:</a:t>
            </a:r>
          </a:p>
          <a:p>
            <a:pPr algn="just"/>
            <a:r>
              <a:rPr lang="ru-RU" sz="2000" dirty="0" smtClean="0"/>
              <a:t>• имя </a:t>
            </a:r>
            <a:r>
              <a:rPr lang="ru-RU" sz="2000" dirty="0"/>
              <a:t>клиента должно быть связано с именем пользователя базы </a:t>
            </a:r>
            <a:r>
              <a:rPr lang="ru-RU" sz="2000" dirty="0" smtClean="0"/>
              <a:t>данных. в конфигурации </a:t>
            </a:r>
            <a:r>
              <a:rPr lang="ru-RU" sz="2000" dirty="0" err="1"/>
              <a:t>pg_ident.conf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 smtClean="0"/>
              <a:t>• Если </a:t>
            </a:r>
            <a:r>
              <a:rPr lang="ru-RU" sz="2000" dirty="0"/>
              <a:t>GSSAPI использует </a:t>
            </a:r>
            <a:r>
              <a:rPr lang="ru-RU" sz="2000" dirty="0" err="1"/>
              <a:t>Kerberos</a:t>
            </a:r>
            <a:r>
              <a:rPr lang="ru-RU" sz="2000" dirty="0"/>
              <a:t>, используется стандартное имя сервиса (идентификации аутентификации) в формате </a:t>
            </a:r>
            <a:r>
              <a:rPr lang="ru-RU" sz="2000" dirty="0" err="1"/>
              <a:t>servicename</a:t>
            </a:r>
            <a:r>
              <a:rPr lang="ru-RU" sz="2000" dirty="0"/>
              <a:t>/</a:t>
            </a:r>
            <a:r>
              <a:rPr lang="ru-RU" sz="2000" dirty="0" err="1"/>
              <a:t>hostname@realm</a:t>
            </a:r>
            <a:r>
              <a:rPr lang="ru-RU" sz="2000" dirty="0"/>
              <a:t>.</a:t>
            </a:r>
          </a:p>
          <a:p>
            <a:pPr algn="ctr"/>
            <a:r>
              <a:rPr lang="ru-RU" sz="2000" b="1" dirty="0" err="1"/>
              <a:t>Certificate</a:t>
            </a:r>
            <a:endParaRPr lang="ru-RU" sz="2000" b="1" dirty="0"/>
          </a:p>
          <a:p>
            <a:pPr algn="just"/>
            <a:r>
              <a:rPr lang="ru-RU" sz="2000" dirty="0" smtClean="0"/>
              <a:t>Особенности</a:t>
            </a:r>
            <a:r>
              <a:rPr lang="ru-RU" sz="2000" dirty="0"/>
              <a:t>:</a:t>
            </a:r>
          </a:p>
          <a:p>
            <a:pPr algn="just"/>
            <a:r>
              <a:rPr lang="ru-RU" sz="2000" dirty="0" smtClean="0"/>
              <a:t>• имя </a:t>
            </a:r>
            <a:r>
              <a:rPr lang="ru-RU" sz="2000" dirty="0"/>
              <a:t>пользователя должно совпадать с </a:t>
            </a:r>
            <a:r>
              <a:rPr lang="ru-RU" sz="2000" dirty="0" err="1"/>
              <a:t>Common</a:t>
            </a:r>
            <a:r>
              <a:rPr lang="ru-RU" sz="2000" dirty="0"/>
              <a:t> </a:t>
            </a:r>
            <a:r>
              <a:rPr lang="ru-RU" sz="2000" dirty="0" err="1"/>
              <a:t>Name</a:t>
            </a:r>
            <a:r>
              <a:rPr lang="ru-RU" sz="2000" dirty="0"/>
              <a:t> (CN) из сертификата.</a:t>
            </a:r>
          </a:p>
          <a:p>
            <a:pPr algn="just"/>
            <a:r>
              <a:rPr lang="ru-RU" sz="2000" dirty="0" smtClean="0"/>
              <a:t>• использовать </a:t>
            </a:r>
            <a:r>
              <a:rPr lang="ru-RU" sz="2000" dirty="0"/>
              <a:t>сертификаты, подписанные доверенным центром сертификации (CA), </a:t>
            </a:r>
          </a:p>
          <a:p>
            <a:pPr algn="just"/>
            <a:r>
              <a:rPr lang="ru-RU" sz="2000" dirty="0" smtClean="0"/>
              <a:t>• настроить </a:t>
            </a:r>
            <a:r>
              <a:rPr lang="ru-RU" sz="2000" dirty="0" err="1"/>
              <a:t>pg_hba.conf</a:t>
            </a:r>
            <a:r>
              <a:rPr lang="ru-RU" sz="2000" dirty="0"/>
              <a:t>, чтобы требовать SSL-соединения (параметр </a:t>
            </a:r>
            <a:r>
              <a:rPr lang="ru-RU" sz="2000" dirty="0" err="1"/>
              <a:t>sslmode</a:t>
            </a:r>
            <a:r>
              <a:rPr lang="ru-RU" sz="2000" dirty="0"/>
              <a:t>) для всех </a:t>
            </a:r>
            <a:r>
              <a:rPr lang="ru-RU" sz="2000" dirty="0" smtClean="0"/>
              <a:t>пользователей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99604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Аудит попыток </a:t>
            </a:r>
            <a:r>
              <a:rPr lang="ru-RU" sz="2000" b="1" dirty="0" smtClean="0"/>
              <a:t>входа</a:t>
            </a:r>
          </a:p>
          <a:p>
            <a:pPr algn="just"/>
            <a:r>
              <a:rPr lang="ru-RU" sz="2000" i="1" dirty="0"/>
              <a:t>Встроенные средства</a:t>
            </a:r>
          </a:p>
          <a:p>
            <a:pPr algn="just"/>
            <a:r>
              <a:rPr lang="ru-RU" sz="2000" dirty="0"/>
              <a:t>•	Параметр </a:t>
            </a:r>
            <a:r>
              <a:rPr lang="ru-RU" sz="2000" dirty="0" smtClean="0"/>
              <a:t> </a:t>
            </a:r>
            <a:r>
              <a:rPr lang="en-US" sz="2000" b="1" dirty="0" err="1" smtClean="0"/>
              <a:t>log_connections</a:t>
            </a:r>
            <a:endParaRPr lang="ru-RU" sz="2000" b="1" dirty="0" smtClean="0"/>
          </a:p>
          <a:p>
            <a:pPr algn="just"/>
            <a:r>
              <a:rPr lang="ru-RU" sz="2000" b="1" dirty="0"/>
              <a:t>•	</a:t>
            </a:r>
            <a:r>
              <a:rPr lang="ru-RU" sz="2000" dirty="0"/>
              <a:t>Событие </a:t>
            </a:r>
            <a:r>
              <a:rPr lang="ru-RU" sz="2000" dirty="0" smtClean="0"/>
              <a:t> </a:t>
            </a:r>
            <a:r>
              <a:rPr lang="ru-RU" sz="2000" b="1" dirty="0" smtClean="0"/>
              <a:t>FAILED</a:t>
            </a:r>
            <a:endParaRPr lang="ru-RU" sz="2000" b="1" dirty="0"/>
          </a:p>
          <a:p>
            <a:pPr algn="just"/>
            <a:r>
              <a:rPr lang="ru-RU" sz="2000" i="1" dirty="0" smtClean="0"/>
              <a:t>Расширения - 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pgAudit</a:t>
            </a:r>
            <a:endParaRPr lang="ru-RU" sz="2000" b="1" dirty="0"/>
          </a:p>
          <a:p>
            <a:pPr algn="just"/>
            <a:r>
              <a:rPr lang="ru-RU" sz="2000" i="1" dirty="0" smtClean="0"/>
              <a:t>Триггеры -</a:t>
            </a:r>
            <a:r>
              <a:rPr lang="ru-RU" sz="2000" dirty="0" smtClean="0"/>
              <a:t>   </a:t>
            </a:r>
            <a:r>
              <a:rPr lang="en-US" sz="2000" b="1" dirty="0" smtClean="0"/>
              <a:t>login</a:t>
            </a:r>
            <a:endParaRPr lang="ru-RU" sz="2000" b="1" dirty="0" smtClean="0"/>
          </a:p>
          <a:p>
            <a:pPr algn="ctr"/>
            <a:r>
              <a:rPr lang="ru-RU" sz="2000" b="1" dirty="0" smtClean="0"/>
              <a:t>Настройка</a:t>
            </a:r>
            <a:endParaRPr lang="ru-RU" sz="2000" b="1" dirty="0"/>
          </a:p>
          <a:p>
            <a:pPr algn="just"/>
            <a:r>
              <a:rPr lang="ru-RU" sz="2000" dirty="0"/>
              <a:t>•	Для аудита с помощью </a:t>
            </a:r>
            <a:r>
              <a:rPr lang="ru-RU" sz="2000" dirty="0" err="1"/>
              <a:t>pgAudit</a:t>
            </a:r>
            <a:r>
              <a:rPr lang="ru-RU" sz="2000" dirty="0"/>
              <a:t> нужно:</a:t>
            </a:r>
          </a:p>
          <a:p>
            <a:pPr algn="just"/>
            <a:r>
              <a:rPr lang="ru-RU" sz="2000" dirty="0"/>
              <a:t>o	Убедиться, что расширение включено в установку </a:t>
            </a:r>
            <a:r>
              <a:rPr lang="ru-RU" sz="2000" dirty="0" err="1"/>
              <a:t>PostgreSQL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o	Изменить файл </a:t>
            </a:r>
            <a:r>
              <a:rPr lang="ru-RU" sz="2000" dirty="0" err="1"/>
              <a:t>postgresql.conf</a:t>
            </a:r>
            <a:r>
              <a:rPr lang="ru-RU" sz="2000" dirty="0"/>
              <a:t>: включить расширение ( </a:t>
            </a:r>
          </a:p>
          <a:p>
            <a:pPr algn="just"/>
            <a:r>
              <a:rPr lang="ru-RU" sz="2000" dirty="0" err="1"/>
              <a:t>shared_preload_libraries</a:t>
            </a:r>
            <a:r>
              <a:rPr lang="ru-RU" sz="2000" dirty="0"/>
              <a:t> = '</a:t>
            </a:r>
            <a:r>
              <a:rPr lang="ru-RU" sz="2000" dirty="0" err="1"/>
              <a:t>pgaudit</a:t>
            </a:r>
            <a:r>
              <a:rPr lang="ru-RU" sz="2000" dirty="0"/>
              <a:t>'</a:t>
            </a:r>
          </a:p>
          <a:p>
            <a:pPr algn="just"/>
            <a:r>
              <a:rPr lang="ru-RU" sz="2000" dirty="0"/>
              <a:t>), определить формат журнала аудита сессии ( </a:t>
            </a:r>
          </a:p>
          <a:p>
            <a:pPr algn="just"/>
            <a:r>
              <a:rPr lang="ru-RU" sz="2000" dirty="0"/>
              <a:t>pgaudit.log = '</a:t>
            </a:r>
            <a:r>
              <a:rPr lang="ru-RU" sz="2000" dirty="0" err="1"/>
              <a:t>all</a:t>
            </a:r>
            <a:r>
              <a:rPr lang="ru-RU" sz="2000" dirty="0"/>
              <a:t>'</a:t>
            </a:r>
          </a:p>
          <a:p>
            <a:pPr algn="just"/>
            <a:r>
              <a:rPr lang="ru-RU" sz="2000" dirty="0"/>
              <a:t>). Для более точного контроля можно указать разные уровни лога, например, </a:t>
            </a:r>
          </a:p>
          <a:p>
            <a:pPr algn="just"/>
            <a:r>
              <a:rPr lang="ru-RU" sz="2000" dirty="0" err="1"/>
              <a:t>read</a:t>
            </a:r>
            <a:r>
              <a:rPr lang="ru-RU" sz="2000" dirty="0"/>
              <a:t>, </a:t>
            </a:r>
            <a:r>
              <a:rPr lang="ru-RU" sz="2000" dirty="0" err="1"/>
              <a:t>write</a:t>
            </a:r>
            <a:r>
              <a:rPr lang="ru-RU" sz="2000" dirty="0"/>
              <a:t>, </a:t>
            </a:r>
            <a:r>
              <a:rPr lang="ru-RU" sz="2000" dirty="0" err="1"/>
              <a:t>function</a:t>
            </a:r>
            <a:r>
              <a:rPr lang="ru-RU" sz="2000" dirty="0"/>
              <a:t>  и </a:t>
            </a:r>
            <a:r>
              <a:rPr lang="ru-RU" sz="2000" dirty="0" err="1"/>
              <a:t>role</a:t>
            </a:r>
            <a:endParaRPr lang="ru-RU" sz="2000" dirty="0"/>
          </a:p>
          <a:p>
            <a:pPr algn="just"/>
            <a:r>
              <a:rPr lang="ru-RU" sz="2000" dirty="0"/>
              <a:t>o	После настройки перезагрузить сервер </a:t>
            </a:r>
            <a:r>
              <a:rPr lang="ru-RU" sz="2000" dirty="0" err="1"/>
              <a:t>PostgreSQL</a:t>
            </a:r>
            <a:r>
              <a:rPr lang="ru-RU" sz="2000" dirty="0"/>
              <a:t>, чтобы изменения вступили в силу.</a:t>
            </a:r>
          </a:p>
          <a:p>
            <a:pPr algn="just"/>
            <a:r>
              <a:rPr lang="ru-RU" sz="2000" dirty="0"/>
              <a:t>•	Для аудита с помощью триггеров </a:t>
            </a:r>
            <a:r>
              <a:rPr lang="ru-RU" sz="2000" dirty="0" smtClean="0"/>
              <a:t>создать функцию, регистрирует </a:t>
            </a:r>
            <a:r>
              <a:rPr lang="ru-RU" sz="2000" dirty="0"/>
              <a:t>событие, и привязать её к операциям таблицы (например, INSERT или UPDATE).</a:t>
            </a:r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582815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Понятие серверных </a:t>
            </a:r>
            <a:r>
              <a:rPr lang="ru-RU" sz="2000" b="1" dirty="0" smtClean="0"/>
              <a:t>ролей</a:t>
            </a:r>
          </a:p>
          <a:p>
            <a:pPr algn="just"/>
            <a:r>
              <a:rPr lang="ru-RU" sz="2000" i="1" dirty="0"/>
              <a:t>Особенности ролей:</a:t>
            </a:r>
          </a:p>
          <a:p>
            <a:pPr algn="just"/>
            <a:r>
              <a:rPr lang="ru-RU" sz="2000" dirty="0"/>
              <a:t>•	Создаются глобально для всего кластера баз данных, а не для отдельной базы данных.  </a:t>
            </a:r>
          </a:p>
          <a:p>
            <a:pPr algn="just"/>
            <a:r>
              <a:rPr lang="ru-RU" sz="2000" dirty="0"/>
              <a:t>•	Могут владеть объектами базы </a:t>
            </a:r>
            <a:r>
              <a:rPr lang="ru-RU" sz="2000" dirty="0" smtClean="0"/>
              <a:t>данных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Можно предоставить членство в роли другой </a:t>
            </a:r>
            <a:r>
              <a:rPr lang="ru-RU" sz="2000" dirty="0" smtClean="0"/>
              <a:t>роли</a:t>
            </a:r>
          </a:p>
          <a:p>
            <a:pPr algn="ctr"/>
            <a:r>
              <a:rPr lang="ru-RU" sz="2000" b="1" dirty="0"/>
              <a:t> Виды</a:t>
            </a:r>
          </a:p>
          <a:p>
            <a:pPr algn="just"/>
            <a:r>
              <a:rPr lang="ru-RU" sz="2000" dirty="0"/>
              <a:t>Роль может быть:</a:t>
            </a:r>
          </a:p>
          <a:p>
            <a:pPr algn="just"/>
            <a:r>
              <a:rPr lang="ru-RU" sz="2000" dirty="0"/>
              <a:t>•	Пользователем (с атрибутом LOGIN).</a:t>
            </a:r>
          </a:p>
          <a:p>
            <a:pPr algn="just"/>
            <a:r>
              <a:rPr lang="ru-RU" sz="2000" dirty="0"/>
              <a:t>•	Группой (объединяет другие роли для упрощения управления правами).</a:t>
            </a:r>
          </a:p>
          <a:p>
            <a:pPr algn="ctr"/>
            <a:r>
              <a:rPr lang="ru-RU" sz="2000" b="1" dirty="0"/>
              <a:t>Предопределённые роли </a:t>
            </a:r>
            <a:endParaRPr lang="ru-RU" sz="2000" b="1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pg_read_server_files</a:t>
            </a:r>
            <a:r>
              <a:rPr lang="ru-RU" sz="2000" dirty="0"/>
              <a:t>/</a:t>
            </a:r>
            <a:r>
              <a:rPr lang="ru-RU" sz="2000" dirty="0" err="1"/>
              <a:t>pg_write_server_files</a:t>
            </a:r>
            <a:r>
              <a:rPr lang="ru-RU" sz="2000" dirty="0"/>
              <a:t> — чтение/запись файлов на стороне сервера.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pg_execute_server_program</a:t>
            </a:r>
            <a:r>
              <a:rPr lang="ru-RU" sz="2000" dirty="0"/>
              <a:t> — выполнение программного кода на стороне сервера.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pg_database_owner</a:t>
            </a:r>
            <a:r>
              <a:rPr lang="ru-RU" sz="2000" dirty="0"/>
              <a:t> — относится к владельцу текущей базы </a:t>
            </a:r>
            <a:r>
              <a:rPr lang="ru-RU" sz="2000" dirty="0" smtClean="0"/>
              <a:t>данных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85944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Атрибуты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LOGIN — позволяет войти в СУБД (аналог «пользователя»).</a:t>
            </a:r>
          </a:p>
          <a:p>
            <a:pPr algn="just"/>
            <a:r>
              <a:rPr lang="ru-RU" sz="2000" dirty="0"/>
              <a:t>•	SUPERUSER — даёт полный контроль над </a:t>
            </a:r>
            <a:r>
              <a:rPr lang="ru-RU" sz="2000" dirty="0" err="1"/>
              <a:t>PostgreSQL</a:t>
            </a:r>
            <a:r>
              <a:rPr lang="ru-RU" sz="2000" dirty="0"/>
              <a:t> (опасно!).</a:t>
            </a:r>
          </a:p>
          <a:p>
            <a:pPr algn="just"/>
            <a:r>
              <a:rPr lang="ru-RU" sz="2000" dirty="0"/>
              <a:t>•	CREATEDB — позволяет создавать базы данных.</a:t>
            </a:r>
          </a:p>
          <a:p>
            <a:pPr algn="just"/>
            <a:r>
              <a:rPr lang="ru-RU" sz="2000" dirty="0"/>
              <a:t>•	CREATEROLE — позволяет создавать и управлять другими ролями.</a:t>
            </a:r>
          </a:p>
          <a:p>
            <a:pPr algn="just"/>
            <a:r>
              <a:rPr lang="ru-RU" sz="2000" dirty="0"/>
              <a:t>•	REPLICATION — даёт права на репликацию (для </a:t>
            </a:r>
            <a:r>
              <a:rPr lang="ru-RU" sz="2000" dirty="0" err="1"/>
              <a:t>standby</a:t>
            </a:r>
            <a:r>
              <a:rPr lang="ru-RU" sz="2000" dirty="0"/>
              <a:t>-серверов).</a:t>
            </a:r>
          </a:p>
          <a:p>
            <a:pPr algn="just"/>
            <a:r>
              <a:rPr lang="ru-RU" sz="2000" dirty="0"/>
              <a:t>•	PASSWORD «пароль» — устанавливает пароль для входа.</a:t>
            </a:r>
          </a:p>
          <a:p>
            <a:pPr algn="just"/>
            <a:r>
              <a:rPr lang="ru-RU" sz="2000" dirty="0"/>
              <a:t>•	VALID UNTIL «дата» — ограничивает срок действия роли.</a:t>
            </a:r>
          </a:p>
          <a:p>
            <a:pPr algn="ctr"/>
            <a:r>
              <a:rPr lang="ru-RU" sz="2000" dirty="0"/>
              <a:t> </a:t>
            </a:r>
            <a:r>
              <a:rPr lang="ru-RU" sz="2000" b="1" dirty="0"/>
              <a:t>Управление</a:t>
            </a:r>
          </a:p>
          <a:p>
            <a:pPr algn="just"/>
            <a:r>
              <a:rPr lang="ru-RU" sz="2000" dirty="0"/>
              <a:t>•	Создание роли — используется SQL-команда CREATE ROLE.  </a:t>
            </a:r>
          </a:p>
          <a:p>
            <a:pPr algn="just"/>
            <a:r>
              <a:rPr lang="ru-RU" sz="2000" dirty="0"/>
              <a:t>•	Изменение роли — команда ALTER ROLE.  </a:t>
            </a:r>
          </a:p>
          <a:p>
            <a:pPr algn="just"/>
            <a:r>
              <a:rPr lang="ru-RU" sz="2000" dirty="0"/>
              <a:t>•	Удаление роли — команда DROP ROLE.  </a:t>
            </a:r>
          </a:p>
          <a:p>
            <a:pPr algn="just"/>
            <a:r>
              <a:rPr lang="ru-RU" sz="2000" dirty="0"/>
              <a:t>•	Просмотр ролей </a:t>
            </a:r>
            <a:r>
              <a:rPr lang="ru-RU" sz="2000" dirty="0" smtClean="0"/>
              <a:t>— посмотреть </a:t>
            </a:r>
            <a:r>
              <a:rPr lang="ru-RU" sz="2000" dirty="0"/>
              <a:t>с помощью команды SELECT * FROM </a:t>
            </a:r>
            <a:r>
              <a:rPr lang="ru-RU" sz="2000" dirty="0" err="1"/>
              <a:t>pg_roles</a:t>
            </a:r>
            <a:r>
              <a:rPr lang="ru-RU" sz="2000" dirty="0" smtClean="0"/>
              <a:t>.</a:t>
            </a:r>
          </a:p>
          <a:p>
            <a:pPr algn="ctr"/>
            <a:r>
              <a:rPr lang="ru-RU" sz="2000" dirty="0"/>
              <a:t> </a:t>
            </a:r>
            <a:r>
              <a:rPr lang="ru-RU" sz="2000" b="1" dirty="0"/>
              <a:t>Привилегии</a:t>
            </a:r>
          </a:p>
          <a:p>
            <a:pPr algn="just"/>
            <a:r>
              <a:rPr lang="ru-RU" sz="2000" dirty="0" smtClean="0"/>
              <a:t>прав </a:t>
            </a:r>
            <a:r>
              <a:rPr lang="ru-RU" sz="2000" dirty="0"/>
              <a:t>ролям применяется команда </a:t>
            </a:r>
            <a:r>
              <a:rPr lang="ru-RU" sz="2000" b="1" dirty="0"/>
              <a:t>GRANT</a:t>
            </a:r>
            <a:r>
              <a:rPr lang="ru-RU" sz="2000" dirty="0"/>
              <a:t>. Например, если в базе данных есть роль </a:t>
            </a:r>
            <a:r>
              <a:rPr lang="ru-RU" sz="2000" b="1" dirty="0" err="1"/>
              <a:t>joe</a:t>
            </a:r>
            <a:r>
              <a:rPr lang="ru-RU" sz="2000" dirty="0"/>
              <a:t> и таблица </a:t>
            </a:r>
            <a:r>
              <a:rPr lang="ru-RU" sz="2000" dirty="0" err="1"/>
              <a:t>accounts</a:t>
            </a:r>
            <a:r>
              <a:rPr lang="ru-RU" sz="2000" dirty="0"/>
              <a:t>, право на изменение таблицы можно дать этой роли так: </a:t>
            </a:r>
            <a:r>
              <a:rPr lang="ru-RU" sz="2000" dirty="0" smtClean="0"/>
              <a:t>GRANT </a:t>
            </a:r>
            <a:r>
              <a:rPr lang="ru-RU" sz="2000" dirty="0"/>
              <a:t>UPDATE ON </a:t>
            </a:r>
            <a:r>
              <a:rPr lang="ru-RU" sz="2000" dirty="0" err="1"/>
              <a:t>accounts</a:t>
            </a:r>
            <a:r>
              <a:rPr lang="ru-RU" sz="2000" dirty="0"/>
              <a:t> TO </a:t>
            </a:r>
            <a:r>
              <a:rPr lang="ru-RU" sz="2000" dirty="0" err="1"/>
              <a:t>joe</a:t>
            </a:r>
            <a:endParaRPr lang="ru-RU" sz="2000" dirty="0"/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33050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Разрешения на уровне </a:t>
            </a:r>
            <a:r>
              <a:rPr lang="ru-RU" sz="2000" b="1" dirty="0" smtClean="0"/>
              <a:t>сервера</a:t>
            </a:r>
          </a:p>
          <a:p>
            <a:pPr algn="just"/>
            <a:r>
              <a:rPr lang="ru-RU" sz="2000" dirty="0"/>
              <a:t>Некоторые особенности ролей:  </a:t>
            </a:r>
          </a:p>
          <a:p>
            <a:pPr algn="just"/>
            <a:r>
              <a:rPr lang="ru-RU" sz="2000" dirty="0" smtClean="0"/>
              <a:t>• Могут </a:t>
            </a:r>
            <a:r>
              <a:rPr lang="ru-RU" sz="2000" dirty="0"/>
              <a:t>владеть объектами базы данных (например, таблицами и функциями).</a:t>
            </a:r>
          </a:p>
          <a:p>
            <a:pPr algn="just"/>
            <a:r>
              <a:rPr lang="ru-RU" sz="2000" dirty="0" smtClean="0"/>
              <a:t>• Могут </a:t>
            </a:r>
            <a:r>
              <a:rPr lang="ru-RU" sz="2000" dirty="0"/>
              <a:t>назначать права для этих объектов другим ролям, контролируя, кто имеет доступ к каким объектам.</a:t>
            </a:r>
          </a:p>
          <a:p>
            <a:pPr algn="just"/>
            <a:r>
              <a:rPr lang="ru-RU" sz="2000" dirty="0" smtClean="0"/>
              <a:t>• Можно </a:t>
            </a:r>
            <a:r>
              <a:rPr lang="ru-RU" sz="2000" dirty="0"/>
              <a:t>предоставить членство в роли другой роли, чтобы использовать её привилегии.</a:t>
            </a:r>
          </a:p>
          <a:p>
            <a:pPr algn="ctr"/>
            <a:r>
              <a:rPr lang="ru-RU" sz="2000" b="1" dirty="0"/>
              <a:t>Конфигурация</a:t>
            </a:r>
          </a:p>
          <a:p>
            <a:pPr algn="just"/>
            <a:r>
              <a:rPr lang="ru-RU" sz="2000" dirty="0"/>
              <a:t>Файл </a:t>
            </a:r>
            <a:r>
              <a:rPr lang="ru-RU" sz="2000" dirty="0" err="1"/>
              <a:t>pg_hba.conf</a:t>
            </a:r>
            <a:r>
              <a:rPr lang="ru-RU" sz="2000" dirty="0"/>
              <a:t> (</a:t>
            </a:r>
            <a:r>
              <a:rPr lang="ru-RU" sz="2000" dirty="0" err="1"/>
              <a:t>Host-Based</a:t>
            </a:r>
            <a:r>
              <a:rPr lang="ru-RU" sz="2000" dirty="0"/>
              <a:t> </a:t>
            </a:r>
            <a:r>
              <a:rPr lang="ru-RU" sz="2000" dirty="0" err="1"/>
              <a:t>Authentication</a:t>
            </a:r>
            <a:r>
              <a:rPr lang="ru-RU" sz="2000" dirty="0"/>
              <a:t>) управляет доступом на уровне сервера. </a:t>
            </a:r>
            <a:endParaRPr lang="ru-RU" sz="2000" dirty="0" smtClean="0"/>
          </a:p>
          <a:p>
            <a:pPr algn="just"/>
            <a:r>
              <a:rPr lang="ru-RU" sz="2000" i="1" dirty="0" smtClean="0"/>
              <a:t>Некоторые </a:t>
            </a:r>
            <a:r>
              <a:rPr lang="ru-RU" sz="2000" i="1" dirty="0"/>
              <a:t>особенности файла:</a:t>
            </a:r>
          </a:p>
          <a:p>
            <a:pPr algn="just"/>
            <a:r>
              <a:rPr lang="ru-RU" sz="2000" dirty="0" smtClean="0"/>
              <a:t>• Состоит </a:t>
            </a:r>
            <a:r>
              <a:rPr lang="ru-RU" sz="2000" dirty="0"/>
              <a:t>из строк, каждая из которых указывает тип соединения, базу данных, пользователя, IP-адрес, метод аутентификации и другие детали.  </a:t>
            </a:r>
          </a:p>
          <a:p>
            <a:pPr algn="just"/>
            <a:r>
              <a:rPr lang="ru-RU" sz="2000" dirty="0" smtClean="0"/>
              <a:t>• Для </a:t>
            </a:r>
            <a:r>
              <a:rPr lang="ru-RU" sz="2000" dirty="0"/>
              <a:t>каждого нового клиента сервер определяет, надо ли разрешить подключение к базе данных.  </a:t>
            </a:r>
          </a:p>
          <a:p>
            <a:pPr algn="just"/>
            <a:r>
              <a:rPr lang="ru-RU" sz="2000" dirty="0" smtClean="0"/>
              <a:t>• Порядок </a:t>
            </a:r>
            <a:r>
              <a:rPr lang="ru-RU" sz="2000" dirty="0"/>
              <a:t>записей в файле важен: для заданного хоста </a:t>
            </a:r>
            <a:r>
              <a:rPr lang="ru-RU" sz="2000" dirty="0" err="1"/>
              <a:t>PostgreSQL</a:t>
            </a:r>
            <a:r>
              <a:rPr lang="ru-RU" sz="2000" dirty="0"/>
              <a:t> использует первое правило, которое соответствует. 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620338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Привилегии</a:t>
            </a:r>
            <a:r>
              <a:rPr lang="ru-RU" sz="2000" dirty="0"/>
              <a:t> — типы доступа, которые могут быть предоставлены роли на объект базы данных.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Для назначения прав применяется команда GRANT. Например, если в базе данных есть роль </a:t>
            </a:r>
            <a:r>
              <a:rPr lang="ru-RU" sz="2000" dirty="0" err="1"/>
              <a:t>joe</a:t>
            </a:r>
            <a:r>
              <a:rPr lang="ru-RU" sz="2000" dirty="0"/>
              <a:t> и таблица </a:t>
            </a:r>
            <a:r>
              <a:rPr lang="ru-RU" sz="2000" dirty="0" err="1"/>
              <a:t>accounts</a:t>
            </a:r>
            <a:r>
              <a:rPr lang="ru-RU" sz="2000" dirty="0"/>
              <a:t>, право на изменение таблицы можно дать этой роли так: </a:t>
            </a:r>
            <a:r>
              <a:rPr lang="ru-RU" sz="2000" dirty="0" smtClean="0"/>
              <a:t>GRANT </a:t>
            </a:r>
            <a:r>
              <a:rPr lang="ru-RU" sz="2000" dirty="0"/>
              <a:t>UPDATE ON </a:t>
            </a:r>
            <a:r>
              <a:rPr lang="ru-RU" sz="2000" dirty="0" err="1"/>
              <a:t>accounts</a:t>
            </a:r>
            <a:r>
              <a:rPr lang="ru-RU" sz="2000" dirty="0"/>
              <a:t> TO </a:t>
            </a:r>
            <a:r>
              <a:rPr lang="ru-RU" sz="2000" dirty="0" err="1"/>
              <a:t>joe</a:t>
            </a:r>
            <a:endParaRPr lang="ru-RU" sz="2000" dirty="0"/>
          </a:p>
          <a:p>
            <a:r>
              <a:rPr lang="ru-RU" sz="2000" dirty="0" smtClean="0"/>
              <a:t>• Если </a:t>
            </a:r>
            <a:r>
              <a:rPr lang="ru-RU" sz="2000" dirty="0"/>
              <a:t>вместо конкретного права написать </a:t>
            </a:r>
            <a:r>
              <a:rPr lang="ru-RU" sz="2000" dirty="0" smtClean="0"/>
              <a:t>ALL.</a:t>
            </a:r>
            <a:endParaRPr lang="ru-RU" sz="2000" dirty="0"/>
          </a:p>
          <a:p>
            <a:r>
              <a:rPr lang="ru-RU" sz="2000" dirty="0" smtClean="0"/>
              <a:t>• Для </a:t>
            </a:r>
            <a:r>
              <a:rPr lang="ru-RU" sz="2000" dirty="0"/>
              <a:t>назначения права всем ролям в системе </a:t>
            </a:r>
            <a:r>
              <a:rPr lang="ru-RU" sz="2000" dirty="0" smtClean="0"/>
              <a:t> </a:t>
            </a:r>
            <a:r>
              <a:rPr lang="ru-RU" sz="2000" dirty="0"/>
              <a:t>использовать </a:t>
            </a:r>
            <a:r>
              <a:rPr lang="ru-RU" sz="2000" dirty="0" smtClean="0"/>
              <a:t>имя </a:t>
            </a:r>
            <a:r>
              <a:rPr lang="ru-RU" sz="2000" dirty="0"/>
              <a:t>«роли»: PUBLIC.</a:t>
            </a:r>
          </a:p>
          <a:p>
            <a:r>
              <a:rPr lang="ru-RU" sz="2000" dirty="0" smtClean="0"/>
              <a:t>• Владелец </a:t>
            </a:r>
            <a:r>
              <a:rPr lang="ru-RU" sz="2000" dirty="0"/>
              <a:t>объекта </a:t>
            </a:r>
            <a:r>
              <a:rPr lang="ru-RU" sz="2000" dirty="0" smtClean="0"/>
              <a:t> </a:t>
            </a:r>
            <a:r>
              <a:rPr lang="ru-RU" sz="2000" dirty="0"/>
              <a:t>отозвать (посредством REVOKE) как явно назначенные права, так и права по умолчанию.</a:t>
            </a:r>
          </a:p>
          <a:p>
            <a:pPr algn="ctr"/>
            <a:r>
              <a:rPr lang="ru-RU" sz="2000" b="1" dirty="0"/>
              <a:t>Аутентификация</a:t>
            </a:r>
          </a:p>
          <a:p>
            <a:r>
              <a:rPr lang="ru-RU" sz="2000" dirty="0"/>
              <a:t>Для доступа к серверу </a:t>
            </a:r>
            <a:r>
              <a:rPr lang="ru-RU" sz="2000" dirty="0" err="1"/>
              <a:t>PostgreSQL</a:t>
            </a:r>
            <a:r>
              <a:rPr lang="ru-RU" sz="2000" dirty="0"/>
              <a:t> используются различные методы аутентификации. </a:t>
            </a:r>
            <a:endParaRPr lang="ru-RU" sz="2000" dirty="0" smtClean="0"/>
          </a:p>
          <a:p>
            <a:r>
              <a:rPr lang="ru-RU" sz="2000" dirty="0" smtClean="0"/>
              <a:t>• Аутентификация </a:t>
            </a:r>
            <a:r>
              <a:rPr lang="ru-RU" sz="2000" dirty="0"/>
              <a:t>по паролю </a:t>
            </a:r>
            <a:endParaRPr lang="ru-RU" sz="2000" dirty="0" smtClean="0"/>
          </a:p>
          <a:p>
            <a:r>
              <a:rPr lang="ru-RU" sz="2000" dirty="0" smtClean="0"/>
              <a:t>• </a:t>
            </a:r>
            <a:r>
              <a:rPr lang="ru-RU" sz="2000" dirty="0" err="1" smtClean="0"/>
              <a:t>Peer</a:t>
            </a:r>
            <a:r>
              <a:rPr lang="ru-RU" sz="2000" dirty="0" smtClean="0"/>
              <a:t>-аутентификация - имя </a:t>
            </a:r>
            <a:r>
              <a:rPr lang="ru-RU" sz="2000" dirty="0"/>
              <a:t>пользователя берётся из </a:t>
            </a:r>
            <a:r>
              <a:rPr lang="ru-RU" sz="2000" dirty="0" err="1"/>
              <a:t>Unix</a:t>
            </a:r>
            <a:r>
              <a:rPr lang="ru-RU" sz="2000" dirty="0"/>
              <a:t>-сокет-соединения, и сервер сверяет его с разрешёнными правилами в </a:t>
            </a:r>
            <a:r>
              <a:rPr lang="ru-RU" sz="2000" dirty="0" err="1"/>
              <a:t>pg_hba.conf</a:t>
            </a:r>
            <a:r>
              <a:rPr lang="ru-RU" sz="2000" dirty="0"/>
              <a:t>.</a:t>
            </a:r>
          </a:p>
          <a:p>
            <a:r>
              <a:rPr lang="ru-RU" sz="2000" dirty="0" smtClean="0"/>
              <a:t>• Аутентификация </a:t>
            </a:r>
            <a:r>
              <a:rPr lang="ru-RU" sz="2000" dirty="0"/>
              <a:t>по клиентскому сертификату — метод </a:t>
            </a:r>
            <a:r>
              <a:rPr lang="ru-RU" sz="2000" dirty="0" err="1"/>
              <a:t>cert</a:t>
            </a:r>
            <a:r>
              <a:rPr lang="ru-RU" sz="2000" dirty="0"/>
              <a:t> использует TLS-сертификаты для подтверждения личности клиента.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16273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35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ПОЛЬЗОВАТЕЛИ БАЗ ДАННЫХ 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5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11944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пользователи баз данных — </a:t>
            </a:r>
            <a:r>
              <a:rPr lang="ru-RU" sz="2000" b="1" dirty="0"/>
              <a:t>это сущности</a:t>
            </a:r>
            <a:r>
              <a:rPr lang="ru-RU" sz="2000" dirty="0"/>
              <a:t>, которые определяют, кому разрешено выполнение определённых действий в системе</a:t>
            </a:r>
            <a:r>
              <a:rPr lang="ru-RU" dirty="0" smtClean="0"/>
              <a:t>.</a:t>
            </a:r>
            <a:endParaRPr lang="en-US" dirty="0" smtClean="0"/>
          </a:p>
          <a:p>
            <a:pPr algn="ctr"/>
            <a:r>
              <a:rPr lang="ru-RU" sz="2000" b="1" dirty="0"/>
              <a:t>Виды</a:t>
            </a:r>
          </a:p>
          <a:p>
            <a:r>
              <a:rPr lang="ru-RU" sz="2000" i="1" dirty="0" smtClean="0"/>
              <a:t>Некоторые </a:t>
            </a:r>
            <a:r>
              <a:rPr lang="ru-RU" sz="2000" i="1" dirty="0"/>
              <a:t>особенности ролей:</a:t>
            </a:r>
          </a:p>
          <a:p>
            <a:r>
              <a:rPr lang="ru-RU" sz="2000" dirty="0"/>
              <a:t>•	Могут владеть объектами, на которые имеют полные права.</a:t>
            </a:r>
          </a:p>
          <a:p>
            <a:r>
              <a:rPr lang="ru-RU" sz="2000" dirty="0"/>
              <a:t>•	Могут назначать права для этих объектов другим </a:t>
            </a:r>
            <a:r>
              <a:rPr lang="ru-RU" sz="2000" dirty="0" smtClean="0"/>
              <a:t>ролям</a:t>
            </a:r>
            <a:endParaRPr lang="en-US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Можно предоставить членство в роли другой </a:t>
            </a:r>
            <a:r>
              <a:rPr lang="ru-RU" sz="2000" dirty="0" smtClean="0"/>
              <a:t>роли</a:t>
            </a:r>
            <a:endParaRPr lang="en-US" sz="2000" dirty="0" smtClean="0"/>
          </a:p>
          <a:p>
            <a:r>
              <a:rPr lang="ru-RU" sz="2000" dirty="0" err="1" smtClean="0"/>
              <a:t>С</a:t>
            </a:r>
            <a:r>
              <a:rPr lang="ru-RU" sz="2000" b="1" dirty="0" err="1" smtClean="0"/>
              <a:t>уперпользователь</a:t>
            </a:r>
            <a:r>
              <a:rPr lang="ru-RU" sz="2000" dirty="0" smtClean="0"/>
              <a:t> </a:t>
            </a:r>
            <a:r>
              <a:rPr lang="ru-RU" sz="2000" dirty="0"/>
              <a:t>— это пользователь, обладающий всеми правами во всех базах </a:t>
            </a:r>
            <a:r>
              <a:rPr lang="ru-RU" sz="2000" dirty="0" smtClean="0"/>
              <a:t>данных.  В </a:t>
            </a:r>
            <a:r>
              <a:rPr lang="ru-RU" sz="2000" dirty="0" err="1"/>
              <a:t>PostgreSQL</a:t>
            </a:r>
            <a:r>
              <a:rPr lang="ru-RU" sz="2000" dirty="0"/>
              <a:t> создаётся один </a:t>
            </a:r>
            <a:r>
              <a:rPr lang="ru-RU" sz="2000" dirty="0" err="1"/>
              <a:t>суперпользователь</a:t>
            </a:r>
            <a:r>
              <a:rPr lang="ru-RU" sz="2000" dirty="0"/>
              <a:t> — </a:t>
            </a:r>
            <a:r>
              <a:rPr lang="ru-RU" sz="2000" dirty="0" err="1"/>
              <a:t>postgres</a:t>
            </a:r>
            <a:r>
              <a:rPr lang="ru-RU" sz="2000" dirty="0"/>
              <a:t>. </a:t>
            </a:r>
          </a:p>
          <a:p>
            <a:pPr algn="ctr"/>
            <a:r>
              <a:rPr lang="ru-RU" sz="2000" b="1" dirty="0"/>
              <a:t>Создание</a:t>
            </a:r>
          </a:p>
          <a:p>
            <a:r>
              <a:rPr lang="ru-RU" sz="2000" dirty="0"/>
              <a:t>Создать пользователя в </a:t>
            </a:r>
            <a:r>
              <a:rPr lang="ru-RU" sz="2000" dirty="0" err="1"/>
              <a:t>PostgreSQL</a:t>
            </a:r>
            <a:r>
              <a:rPr lang="ru-RU" sz="2000" dirty="0"/>
              <a:t> можно двумя способами: </a:t>
            </a:r>
          </a:p>
          <a:p>
            <a:r>
              <a:rPr lang="ru-RU" sz="2000" b="1" dirty="0" smtClean="0"/>
              <a:t>Первый способ:</a:t>
            </a:r>
            <a:r>
              <a:rPr lang="ru-RU" sz="2000" dirty="0"/>
              <a:t>	Через командную строку с помощью команды </a:t>
            </a:r>
            <a:r>
              <a:rPr lang="ru-RU" sz="2000" b="1" dirty="0" smtClean="0"/>
              <a:t>CREATE </a:t>
            </a:r>
            <a:r>
              <a:rPr lang="ru-RU" sz="2000" b="1" dirty="0"/>
              <a:t>USER</a:t>
            </a:r>
          </a:p>
          <a:p>
            <a:r>
              <a:rPr lang="ru-RU" sz="2000" dirty="0" smtClean="0"/>
              <a:t>Например</a:t>
            </a:r>
            <a:r>
              <a:rPr lang="ru-RU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Для </a:t>
            </a:r>
            <a:r>
              <a:rPr lang="ru-RU" sz="2000" dirty="0"/>
              <a:t>создания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: </a:t>
            </a:r>
            <a:r>
              <a:rPr lang="ru-RU" sz="2000" dirty="0" smtClean="0"/>
              <a:t>CREATE </a:t>
            </a:r>
            <a:r>
              <a:rPr lang="ru-RU" sz="2000" dirty="0"/>
              <a:t>USER </a:t>
            </a:r>
            <a:r>
              <a:rPr lang="ru-RU" sz="2000" dirty="0" err="1"/>
              <a:t>name</a:t>
            </a:r>
            <a:r>
              <a:rPr lang="ru-RU" sz="2000" dirty="0"/>
              <a:t> WITH PASSWORD '</a:t>
            </a:r>
            <a:r>
              <a:rPr lang="ru-RU" sz="2000" dirty="0" err="1"/>
              <a:t>pass</a:t>
            </a:r>
            <a:r>
              <a:rPr lang="ru-RU" sz="2000" dirty="0"/>
              <a:t>' SUPERUSER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Для </a:t>
            </a:r>
            <a:r>
              <a:rPr lang="ru-RU" sz="2000" dirty="0"/>
              <a:t>создания обычного пользователя: </a:t>
            </a:r>
            <a:r>
              <a:rPr lang="ru-RU" sz="2000" dirty="0" smtClean="0"/>
              <a:t>CREATE </a:t>
            </a:r>
            <a:r>
              <a:rPr lang="ru-RU" sz="2000" dirty="0"/>
              <a:t>USER </a:t>
            </a:r>
            <a:r>
              <a:rPr lang="ru-RU" sz="2000" dirty="0" err="1"/>
              <a:t>name</a:t>
            </a:r>
            <a:r>
              <a:rPr lang="ru-RU" sz="2000" dirty="0"/>
              <a:t> WITH PASSWORD '</a:t>
            </a:r>
            <a:r>
              <a:rPr lang="ru-RU" sz="2000" dirty="0" err="1"/>
              <a:t>pass</a:t>
            </a:r>
            <a:r>
              <a:rPr lang="ru-RU" sz="2000" dirty="0"/>
              <a:t>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Для </a:t>
            </a:r>
            <a:r>
              <a:rPr lang="ru-RU" sz="2000" dirty="0"/>
              <a:t>создания пользователя с дополнительными </a:t>
            </a:r>
            <a:r>
              <a:rPr lang="ru-RU" sz="2000" dirty="0" smtClean="0"/>
              <a:t>параметрами: CREATE </a:t>
            </a:r>
            <a:r>
              <a:rPr lang="ru-RU" sz="2000" dirty="0"/>
              <a:t>USER </a:t>
            </a:r>
            <a:r>
              <a:rPr lang="ru-RU" sz="2000" dirty="0" err="1"/>
              <a:t>name</a:t>
            </a:r>
            <a:r>
              <a:rPr lang="ru-RU" sz="2000" dirty="0"/>
              <a:t> WITH PASSWORD '</a:t>
            </a:r>
            <a:r>
              <a:rPr lang="ru-RU" sz="2000" dirty="0" err="1"/>
              <a:t>pass</a:t>
            </a:r>
            <a:r>
              <a:rPr lang="ru-RU" sz="2000" dirty="0"/>
              <a:t>' CONNECTION LIMIT 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757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344" y="0"/>
            <a:ext cx="1210665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Второй способ</a:t>
            </a:r>
            <a:r>
              <a:rPr lang="ru-RU" dirty="0" smtClean="0"/>
              <a:t>:</a:t>
            </a:r>
            <a:r>
              <a:rPr lang="ru-RU" dirty="0"/>
              <a:t>	</a:t>
            </a:r>
            <a:r>
              <a:rPr lang="ru-RU" dirty="0" smtClean="0"/>
              <a:t>через </a:t>
            </a:r>
            <a:r>
              <a:rPr lang="ru-RU" dirty="0"/>
              <a:t>графический интерфейс (например, </a:t>
            </a:r>
            <a:r>
              <a:rPr lang="ru-RU" dirty="0" err="1"/>
              <a:t>pgAdmin</a:t>
            </a:r>
            <a:r>
              <a:rPr lang="ru-RU" dirty="0"/>
              <a:t>). В разделе </a:t>
            </a:r>
            <a:r>
              <a:rPr lang="ru-RU" b="1" dirty="0" err="1" smtClean="0"/>
              <a:t>Login</a:t>
            </a:r>
            <a:r>
              <a:rPr lang="ru-RU" b="1" dirty="0" smtClean="0"/>
              <a:t>/</a:t>
            </a:r>
            <a:r>
              <a:rPr lang="ru-RU" b="1" dirty="0" err="1" smtClean="0"/>
              <a:t>Group</a:t>
            </a:r>
            <a:r>
              <a:rPr lang="ru-RU" b="1" dirty="0" smtClean="0"/>
              <a:t> </a:t>
            </a:r>
            <a:r>
              <a:rPr lang="ru-RU" b="1" dirty="0" err="1" smtClean="0"/>
              <a:t>Roles</a:t>
            </a:r>
            <a:r>
              <a:rPr lang="ru-RU" b="1" dirty="0" smtClean="0"/>
              <a:t> </a:t>
            </a:r>
            <a:r>
              <a:rPr lang="ru-RU" dirty="0" smtClean="0"/>
              <a:t>заполнить </a:t>
            </a:r>
            <a:r>
              <a:rPr lang="ru-RU" dirty="0"/>
              <a:t>необходимые параметры: имя пользователя, пароль, привилегии и другие</a:t>
            </a:r>
            <a:r>
              <a:rPr lang="ru-RU" dirty="0" smtClean="0"/>
              <a:t>.</a:t>
            </a:r>
          </a:p>
          <a:p>
            <a:r>
              <a:rPr lang="ru-RU" dirty="0"/>
              <a:t>1</a:t>
            </a:r>
            <a:r>
              <a:rPr lang="ru-RU" dirty="0" smtClean="0"/>
              <a:t>.  </a:t>
            </a:r>
            <a:r>
              <a:rPr lang="ru-RU" dirty="0"/>
              <a:t>нужно заполнить необходимые параметры: имя пользователя, пароль, привилегии и другие. Из графического интерфейса (например, </a:t>
            </a:r>
            <a:r>
              <a:rPr lang="ru-RU" dirty="0" err="1"/>
              <a:t>pgAdmin</a:t>
            </a:r>
            <a:r>
              <a:rPr lang="ru-RU" dirty="0"/>
              <a:t>) с помощью SQL-запроса. Алгоритм создания пользователя в </a:t>
            </a:r>
            <a:r>
              <a:rPr lang="ru-RU" dirty="0" err="1"/>
              <a:t>pgAdmin</a:t>
            </a:r>
            <a:r>
              <a:rPr lang="ru-RU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 В </a:t>
            </a:r>
            <a:r>
              <a:rPr lang="ru-RU" dirty="0" err="1"/>
              <a:t>pgAdmin</a:t>
            </a:r>
            <a:r>
              <a:rPr lang="ru-RU" dirty="0"/>
              <a:t> подключиться к БД, зайти в раздел </a:t>
            </a:r>
            <a:r>
              <a:rPr lang="ru-RU" dirty="0" err="1"/>
              <a:t>Login</a:t>
            </a:r>
            <a:r>
              <a:rPr lang="ru-RU" dirty="0"/>
              <a:t> / 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/>
              <a:t>Roles</a:t>
            </a:r>
            <a:r>
              <a:rPr lang="ru-RU" dirty="0"/>
              <a:t>, вызвать контекстное меню и выбрать </a:t>
            </a:r>
            <a:r>
              <a:rPr lang="ru-RU" dirty="0" err="1"/>
              <a:t>Create</a:t>
            </a:r>
            <a:r>
              <a:rPr lang="ru-RU" dirty="0"/>
              <a:t> — </a:t>
            </a:r>
            <a:r>
              <a:rPr lang="ru-RU" dirty="0" err="1"/>
              <a:t>Login</a:t>
            </a:r>
            <a:r>
              <a:rPr lang="ru-RU" dirty="0"/>
              <a:t> / 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 smtClean="0"/>
              <a:t>Role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В </a:t>
            </a:r>
            <a:r>
              <a:rPr lang="ru-RU" dirty="0"/>
              <a:t>открывшемся окне во вкладке </a:t>
            </a:r>
            <a:r>
              <a:rPr lang="ru-RU" dirty="0" err="1"/>
              <a:t>General</a:t>
            </a:r>
            <a:r>
              <a:rPr lang="ru-RU" dirty="0"/>
              <a:t> ввести имя пользователя и, по желанию, его описание в поле </a:t>
            </a:r>
            <a:r>
              <a:rPr lang="ru-RU" dirty="0" err="1" smtClean="0"/>
              <a:t>Comments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Во </a:t>
            </a:r>
            <a:r>
              <a:rPr lang="ru-RU" dirty="0"/>
              <a:t>вкладке </a:t>
            </a:r>
            <a:r>
              <a:rPr lang="ru-RU" dirty="0" err="1"/>
              <a:t>Definition</a:t>
            </a:r>
            <a:r>
              <a:rPr lang="ru-RU" dirty="0"/>
              <a:t> задать пароль и, по желанию, срок его </a:t>
            </a:r>
            <a:r>
              <a:rPr lang="ru-RU" dirty="0" smtClean="0"/>
              <a:t>действия.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Во </a:t>
            </a:r>
            <a:r>
              <a:rPr lang="ru-RU" dirty="0"/>
              <a:t>вкладке </a:t>
            </a:r>
            <a:r>
              <a:rPr lang="ru-RU" dirty="0" err="1"/>
              <a:t>Privileges</a:t>
            </a:r>
            <a:r>
              <a:rPr lang="ru-RU" dirty="0"/>
              <a:t> выдать пользователю необходимый набор прав: возможность </a:t>
            </a:r>
            <a:r>
              <a:rPr lang="ru-RU" dirty="0" err="1"/>
              <a:t>логиниться</a:t>
            </a:r>
            <a:r>
              <a:rPr lang="ru-RU" dirty="0"/>
              <a:t>, создавать другие </a:t>
            </a:r>
            <a:r>
              <a:rPr lang="ru-RU" dirty="0" smtClean="0"/>
              <a:t>роли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Во </a:t>
            </a:r>
            <a:r>
              <a:rPr lang="ru-RU" dirty="0"/>
              <a:t>вкладке </a:t>
            </a:r>
            <a:r>
              <a:rPr lang="ru-RU" dirty="0" err="1"/>
              <a:t>Membership</a:t>
            </a:r>
            <a:r>
              <a:rPr lang="ru-RU" dirty="0"/>
              <a:t> присвоить пользователю нужные роли, например — дефолтную для </a:t>
            </a:r>
            <a:r>
              <a:rPr lang="ru-RU" dirty="0" err="1"/>
              <a:t>PostgreSQL</a:t>
            </a:r>
            <a:r>
              <a:rPr lang="ru-RU" dirty="0"/>
              <a:t> роль </a:t>
            </a:r>
            <a:r>
              <a:rPr lang="ru-RU" dirty="0" err="1"/>
              <a:t>pg_monitor</a:t>
            </a:r>
            <a:r>
              <a:rPr lang="ru-RU" dirty="0"/>
              <a:t>, позволяющую просматривать разные таблицы и представления, связанные с мониторингом </a:t>
            </a:r>
            <a:r>
              <a:rPr lang="ru-RU" dirty="0" smtClean="0"/>
              <a:t>БД.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Во </a:t>
            </a:r>
            <a:r>
              <a:rPr lang="ru-RU" dirty="0"/>
              <a:t>вкладке SQL привести SQL-команды, отвечающие за применение настроек, выполненных в предыдущих </a:t>
            </a:r>
            <a:r>
              <a:rPr lang="ru-RU" dirty="0" smtClean="0"/>
              <a:t>вкладках.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Нажать </a:t>
            </a:r>
            <a:r>
              <a:rPr lang="ru-RU" dirty="0" err="1"/>
              <a:t>Save</a:t>
            </a:r>
            <a:r>
              <a:rPr lang="ru-RU" dirty="0"/>
              <a:t>, после чего пользователь будет создан и доступен в разделе </a:t>
            </a:r>
            <a:r>
              <a:rPr lang="ru-RU" dirty="0" err="1"/>
              <a:t>Login</a:t>
            </a:r>
            <a:r>
              <a:rPr lang="ru-RU" dirty="0"/>
              <a:t> / 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/>
              <a:t>Roles</a:t>
            </a:r>
            <a:r>
              <a:rPr lang="ru-RU" dirty="0"/>
              <a:t>.</a:t>
            </a:r>
          </a:p>
          <a:p>
            <a:pPr algn="ctr"/>
            <a:r>
              <a:rPr lang="ru-RU" b="1" dirty="0" smtClean="0"/>
              <a:t>Права</a:t>
            </a:r>
            <a:endParaRPr lang="ru-RU" b="1" dirty="0"/>
          </a:p>
          <a:p>
            <a:r>
              <a:rPr lang="ru-RU" i="1" dirty="0" smtClean="0"/>
              <a:t>Некоторые </a:t>
            </a:r>
            <a:r>
              <a:rPr lang="ru-RU" i="1" dirty="0"/>
              <a:t>особенности назначения прав:</a:t>
            </a:r>
          </a:p>
          <a:p>
            <a:r>
              <a:rPr lang="ru-RU" dirty="0"/>
              <a:t>•	Можно выдать права на определённую операцию (например, INSERT), только на определённую таблицу или несколько таблиц в схеме, на базы данных, схемы и последовательности.  </a:t>
            </a:r>
          </a:p>
          <a:p>
            <a:r>
              <a:rPr lang="ru-RU" dirty="0"/>
              <a:t>•	Права выдаются только на существующие объекты, помимо DEFAULT-прав.  </a:t>
            </a:r>
          </a:p>
          <a:p>
            <a:r>
              <a:rPr lang="ru-RU" dirty="0"/>
              <a:t>•	Роли могут наследовать привилегии от других ролей, поэтому пользователи могут наследовать привилегии от групп или других пользователей.  </a:t>
            </a:r>
          </a:p>
          <a:p>
            <a:pPr algn="ctr"/>
            <a:r>
              <a:rPr lang="ru-RU" b="1" dirty="0" smtClean="0"/>
              <a:t>Безопасность</a:t>
            </a:r>
          </a:p>
          <a:p>
            <a:r>
              <a:rPr lang="ru-RU" dirty="0" smtClean="0"/>
              <a:t>•</a:t>
            </a:r>
            <a:r>
              <a:rPr lang="ru-RU" dirty="0"/>
              <a:t>	Правильное распределение привилегий </a:t>
            </a:r>
            <a:endParaRPr lang="ru-RU" dirty="0" smtClean="0"/>
          </a:p>
          <a:p>
            <a:r>
              <a:rPr lang="ru-RU" dirty="0" smtClean="0"/>
              <a:t>•</a:t>
            </a:r>
            <a:r>
              <a:rPr lang="ru-RU" dirty="0"/>
              <a:t>	Мониторинг действий </a:t>
            </a:r>
            <a:r>
              <a:rPr lang="ru-RU" dirty="0" smtClean="0"/>
              <a:t>пользователей</a:t>
            </a:r>
          </a:p>
          <a:p>
            <a:r>
              <a:rPr lang="ru-RU" dirty="0" smtClean="0"/>
              <a:t>•</a:t>
            </a:r>
            <a:r>
              <a:rPr lang="ru-RU" dirty="0"/>
              <a:t>	Использование надёжных паролей и регулярное их </a:t>
            </a:r>
            <a:r>
              <a:rPr lang="ru-RU" dirty="0" smtClean="0"/>
              <a:t>изменение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5218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Понятие пользовательской </a:t>
            </a:r>
            <a:r>
              <a:rPr lang="ru-RU" sz="2000" b="1" dirty="0" smtClean="0"/>
              <a:t>схемы</a:t>
            </a:r>
          </a:p>
          <a:p>
            <a:pPr algn="just"/>
            <a:r>
              <a:rPr lang="ru-RU" sz="2000" i="1" dirty="0"/>
              <a:t>В </a:t>
            </a:r>
            <a:r>
              <a:rPr lang="ru-RU" sz="2000" i="1" dirty="0" err="1"/>
              <a:t>PostgreSQL</a:t>
            </a:r>
            <a:r>
              <a:rPr lang="ru-RU" sz="2000" i="1" dirty="0"/>
              <a:t> пользователь может создавать собственные схемы </a:t>
            </a:r>
            <a:r>
              <a:rPr lang="ru-RU" sz="2000" dirty="0"/>
              <a:t>— пространства имён для объектов базы данных (таблиц, типов данных, функций, операторов и прочего). </a:t>
            </a:r>
            <a:endParaRPr lang="ru-RU" sz="2000" dirty="0" smtClean="0"/>
          </a:p>
          <a:p>
            <a:pPr algn="just"/>
            <a:r>
              <a:rPr lang="ru-RU" sz="2000" dirty="0"/>
              <a:t>•	Организовать объекты в логические группы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Использовать одну базу данных несколькими пользователями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Исключить конфликты имён </a:t>
            </a:r>
            <a:endParaRPr lang="ru-RU" sz="2000" dirty="0" smtClean="0"/>
          </a:p>
          <a:p>
            <a:pPr algn="ctr"/>
            <a:r>
              <a:rPr lang="ru-RU" sz="2000" b="1" dirty="0"/>
              <a:t>Структура</a:t>
            </a:r>
          </a:p>
          <a:p>
            <a:pPr algn="just"/>
            <a:r>
              <a:rPr lang="ru-RU" sz="2000" dirty="0" smtClean="0"/>
              <a:t>• База </a:t>
            </a:r>
            <a:r>
              <a:rPr lang="ru-RU" sz="2000" dirty="0"/>
              <a:t>данных содержит одну или несколько именованных схем.  </a:t>
            </a:r>
          </a:p>
          <a:p>
            <a:pPr algn="just"/>
            <a:r>
              <a:rPr lang="ru-RU" sz="2000" dirty="0" smtClean="0"/>
              <a:t>• Одно </a:t>
            </a:r>
            <a:r>
              <a:rPr lang="ru-RU" sz="2000" dirty="0"/>
              <a:t>и то же имя объекта </a:t>
            </a:r>
            <a:r>
              <a:rPr lang="ru-RU" sz="2000" dirty="0" smtClean="0"/>
              <a:t>использовать </a:t>
            </a:r>
            <a:r>
              <a:rPr lang="ru-RU" sz="2000" dirty="0"/>
              <a:t>в разных </a:t>
            </a:r>
            <a:r>
              <a:rPr lang="ru-RU" sz="2000" dirty="0" smtClean="0"/>
              <a:t>схемах, могут </a:t>
            </a:r>
            <a:r>
              <a:rPr lang="ru-RU" sz="2000" dirty="0"/>
              <a:t>содержать таблицы с именем </a:t>
            </a:r>
            <a:r>
              <a:rPr lang="ru-RU" sz="2000" dirty="0" err="1"/>
              <a:t>mytable</a:t>
            </a:r>
            <a:r>
              <a:rPr lang="ru-RU" sz="2000" dirty="0"/>
              <a:t>.  </a:t>
            </a:r>
          </a:p>
          <a:p>
            <a:pPr algn="just"/>
            <a:r>
              <a:rPr lang="ru-RU" sz="2000" dirty="0" smtClean="0"/>
              <a:t>• В </a:t>
            </a:r>
            <a:r>
              <a:rPr lang="ru-RU" sz="2000" dirty="0"/>
              <a:t>одной схеме два объекта одного типа не могут иметь одно имя.  </a:t>
            </a:r>
          </a:p>
          <a:p>
            <a:pPr algn="just"/>
            <a:r>
              <a:rPr lang="ru-RU" sz="2000" dirty="0" smtClean="0"/>
              <a:t>• Схемы </a:t>
            </a:r>
            <a:r>
              <a:rPr lang="ru-RU" sz="2000" dirty="0"/>
              <a:t>не могут быть вложенными. </a:t>
            </a:r>
            <a:endParaRPr lang="ru-RU" sz="2000" dirty="0" smtClean="0"/>
          </a:p>
          <a:p>
            <a:pPr algn="ctr"/>
            <a:r>
              <a:rPr lang="ru-RU" sz="2000" b="1" dirty="0"/>
              <a:t>Создание</a:t>
            </a:r>
          </a:p>
          <a:p>
            <a:pPr algn="just"/>
            <a:r>
              <a:rPr lang="ru-RU" sz="2000" dirty="0" smtClean="0"/>
              <a:t>• Для </a:t>
            </a:r>
            <a:r>
              <a:rPr lang="ru-RU" sz="2000" dirty="0"/>
              <a:t>создания схемы используется команда CREATE SCHEMA. </a:t>
            </a:r>
            <a:endParaRPr lang="ru-RU" sz="2000" dirty="0" smtClean="0"/>
          </a:p>
          <a:p>
            <a:pPr algn="just"/>
            <a:r>
              <a:rPr lang="ru-RU" sz="2000" dirty="0" smtClean="0"/>
              <a:t>• Некоторые </a:t>
            </a:r>
            <a:r>
              <a:rPr lang="ru-RU" sz="2000" dirty="0"/>
              <a:t>параметры команды: 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err="1" smtClean="0"/>
              <a:t>имя_схемы</a:t>
            </a:r>
            <a:r>
              <a:rPr lang="ru-RU" sz="2000" dirty="0" smtClean="0"/>
              <a:t> </a:t>
            </a:r>
            <a:r>
              <a:rPr lang="ru-RU" sz="2000" dirty="0"/>
              <a:t>— имя создаваемой схемы</a:t>
            </a:r>
            <a:r>
              <a:rPr lang="ru-RU" sz="2000" dirty="0" smtClean="0"/>
              <a:t>. </a:t>
            </a:r>
            <a:r>
              <a:rPr lang="ru-RU" sz="2000" dirty="0"/>
              <a:t>Имя не может начинаться с </a:t>
            </a:r>
            <a:r>
              <a:rPr lang="ru-RU" sz="2000" dirty="0" err="1" smtClean="0"/>
              <a:t>pg</a:t>
            </a:r>
            <a:endParaRPr lang="ru-RU" sz="2000" dirty="0" smtClean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err="1" smtClean="0"/>
              <a:t>имя_пользователя</a:t>
            </a:r>
            <a:r>
              <a:rPr lang="ru-RU" sz="2000" dirty="0" smtClean="0"/>
              <a:t> </a:t>
            </a:r>
            <a:r>
              <a:rPr lang="ru-RU" sz="2000" dirty="0"/>
              <a:t>— имя роли </a:t>
            </a:r>
            <a:r>
              <a:rPr lang="ru-RU" sz="2000" dirty="0" smtClean="0"/>
              <a:t>пользователя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dirty="0" err="1" smtClean="0"/>
              <a:t>схема_элемент</a:t>
            </a:r>
            <a:r>
              <a:rPr lang="ru-RU" sz="2000" dirty="0" smtClean="0"/>
              <a:t> </a:t>
            </a:r>
            <a:r>
              <a:rPr lang="ru-RU" sz="2000" dirty="0"/>
              <a:t>— оператор </a:t>
            </a:r>
            <a:r>
              <a:rPr lang="ru-RU" sz="2000" dirty="0" smtClean="0"/>
              <a:t>SQL. </a:t>
            </a:r>
            <a:r>
              <a:rPr lang="ru-RU" sz="2000" dirty="0"/>
              <a:t>В настоящее время в качестве предложений в CREATE SCHEMA принимаются только CREATE TABLE, CREATE VIEW, CREATE INDEX, CREATE SEQUENCE, CREATE TRIGGER и GRANT. </a:t>
            </a:r>
          </a:p>
          <a:p>
            <a:pPr algn="just"/>
            <a:r>
              <a:rPr lang="ru-RU" sz="2000" dirty="0" smtClean="0"/>
              <a:t>• Чтобы </a:t>
            </a:r>
            <a:r>
              <a:rPr lang="ru-RU" sz="2000" dirty="0"/>
              <a:t>создать схему, вызывающий пользователь должен иметь привилегию CREATE для текущей базы данных.  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60680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Права</a:t>
            </a:r>
          </a:p>
          <a:p>
            <a:r>
              <a:rPr lang="ru-RU" sz="2000" dirty="0"/>
              <a:t>•	По умолчанию пользователь может обращаться к объектам только в своих схемах. </a:t>
            </a:r>
            <a:r>
              <a:rPr lang="ru-RU" sz="2000" dirty="0" smtClean="0"/>
              <a:t>Владелец </a:t>
            </a:r>
            <a:r>
              <a:rPr lang="ru-RU" sz="2000" dirty="0"/>
              <a:t>должен дать пользователю право USAGE для этой схемы.  </a:t>
            </a:r>
          </a:p>
          <a:p>
            <a:r>
              <a:rPr lang="ru-RU" sz="2000" dirty="0"/>
              <a:t>•	Пользователю можно разрешить создавать объекты в схеме, не принадлежащей ему, — для этого ему нужно дать право CREATE в требуемой схеме.  </a:t>
            </a:r>
          </a:p>
          <a:p>
            <a:r>
              <a:rPr lang="ru-RU" sz="2000" dirty="0"/>
              <a:t>•	По умолчанию все пользователи имеют права CREATE и USAGE в схеме </a:t>
            </a:r>
            <a:r>
              <a:rPr lang="ru-RU" sz="2000" dirty="0" err="1"/>
              <a:t>public</a:t>
            </a:r>
            <a:r>
              <a:rPr lang="ru-RU" sz="2000" dirty="0"/>
              <a:t>. </a:t>
            </a:r>
            <a:r>
              <a:rPr lang="ru-RU" sz="2000" dirty="0" smtClean="0"/>
              <a:t>Шаблоны </a:t>
            </a:r>
            <a:r>
              <a:rPr lang="ru-RU" sz="2000" dirty="0"/>
              <a:t>использования требуют запретить это: </a:t>
            </a:r>
            <a:r>
              <a:rPr lang="ru-RU" sz="2000" dirty="0" smtClean="0"/>
              <a:t>REVOKE </a:t>
            </a:r>
            <a:r>
              <a:rPr lang="ru-RU" sz="2000" dirty="0"/>
              <a:t>CREATE ON SCHEMA </a:t>
            </a:r>
            <a:r>
              <a:rPr lang="ru-RU" sz="2000" dirty="0" err="1"/>
              <a:t>public</a:t>
            </a:r>
            <a:r>
              <a:rPr lang="ru-RU" sz="2000" dirty="0"/>
              <a:t> FROM PUBLIC</a:t>
            </a:r>
          </a:p>
          <a:p>
            <a:pPr algn="ctr"/>
            <a:endParaRPr lang="ru-RU" sz="2000" b="1" dirty="0" smtClean="0"/>
          </a:p>
          <a:p>
            <a:pPr algn="ctr"/>
            <a:r>
              <a:rPr lang="ru-RU" sz="2000" b="1" dirty="0" smtClean="0"/>
              <a:t>Оптимизация</a:t>
            </a:r>
            <a:endParaRPr lang="ru-RU" sz="2000" b="1" dirty="0"/>
          </a:p>
          <a:p>
            <a:r>
              <a:rPr lang="ru-RU" sz="2000" dirty="0"/>
              <a:t>•	Чтобы создать объекты в схеме или обратиться к ним, указывается полное имя, состоящее из имён схемы и объекта, разделённых точкой: схема</a:t>
            </a:r>
            <a:r>
              <a:rPr lang="ru-RU" sz="2000" dirty="0" smtClean="0"/>
              <a:t>. таблица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Система определяет, какая именно таблица подразумевается, используя путь поиска — список просматриваемых схем. </a:t>
            </a:r>
            <a:endParaRPr lang="ru-RU" sz="2000" dirty="0" smtClean="0"/>
          </a:p>
          <a:p>
            <a:endParaRPr lang="ru-RU" sz="2000" dirty="0"/>
          </a:p>
          <a:p>
            <a:pPr algn="just"/>
            <a:r>
              <a:rPr lang="ru-RU" sz="2000" i="1" dirty="0" smtClean="0"/>
              <a:t>Подразумеваемой </a:t>
            </a:r>
            <a:r>
              <a:rPr lang="ru-RU" sz="2000" i="1" dirty="0"/>
              <a:t>таблицей считается первая подходящая таблица, найденная в схемах пути. Если подходящая таблица не найдена, возникает ошибка, даже если таблица с таким именем есть в других схемах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441702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40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СОЗДАНИЕ, ПРИМЕНЕИЕ И УДАЛЕНИЕ ПОЛЬЗОВАТЕЛЕЙ БАЗЫ ДАННЫХ </a:t>
            </a:r>
          </a:p>
          <a:p>
            <a:pPr algn="ctr"/>
            <a:r>
              <a:rPr lang="ru-RU" sz="5400" b="1" dirty="0" smtClean="0"/>
              <a:t>Вопрос 6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9697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540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После создания пользователя можно изменить его разрешения с помощью команды </a:t>
            </a:r>
            <a:r>
              <a:rPr lang="en-US" sz="2000" dirty="0"/>
              <a:t>ALTER USER. </a:t>
            </a:r>
            <a:r>
              <a:rPr lang="ru-RU" sz="2000" dirty="0"/>
              <a:t>Некоторые примеры команд:  </a:t>
            </a:r>
          </a:p>
          <a:p>
            <a:r>
              <a:rPr lang="ru-RU" sz="2000" dirty="0" smtClean="0"/>
              <a:t>•Повысить </a:t>
            </a:r>
            <a:r>
              <a:rPr lang="ru-RU" sz="2000" dirty="0"/>
              <a:t>права пользователя до уровня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: </a:t>
            </a:r>
            <a:r>
              <a:rPr lang="en-US" sz="2000" dirty="0" smtClean="0"/>
              <a:t>ALTER </a:t>
            </a:r>
            <a:r>
              <a:rPr lang="en-US" sz="2000" dirty="0"/>
              <a:t>USER </a:t>
            </a:r>
            <a:r>
              <a:rPr lang="ru-RU" sz="2000" dirty="0" err="1"/>
              <a:t>имя_пользователя</a:t>
            </a:r>
            <a:r>
              <a:rPr lang="ru-RU" sz="2000" dirty="0"/>
              <a:t> </a:t>
            </a:r>
            <a:r>
              <a:rPr lang="en-US" sz="2000" dirty="0"/>
              <a:t>WITH SUPERUSER</a:t>
            </a:r>
          </a:p>
          <a:p>
            <a:r>
              <a:rPr lang="en-US" sz="2000" dirty="0" smtClean="0"/>
              <a:t>•</a:t>
            </a:r>
            <a:r>
              <a:rPr lang="ru-RU" sz="2000" dirty="0" smtClean="0"/>
              <a:t> Аннулировать </a:t>
            </a:r>
            <a:r>
              <a:rPr lang="ru-RU" sz="2000" dirty="0"/>
              <a:t>статус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: </a:t>
            </a:r>
            <a:r>
              <a:rPr lang="en-US" sz="2000" dirty="0" smtClean="0"/>
              <a:t>ALTER </a:t>
            </a:r>
            <a:r>
              <a:rPr lang="en-US" sz="2000" dirty="0"/>
              <a:t>USER </a:t>
            </a:r>
            <a:r>
              <a:rPr lang="ru-RU" sz="2000" dirty="0" err="1"/>
              <a:t>имя_пользователя</a:t>
            </a:r>
            <a:r>
              <a:rPr lang="ru-RU" sz="2000" dirty="0"/>
              <a:t> </a:t>
            </a:r>
            <a:r>
              <a:rPr lang="en-US" sz="2000" dirty="0"/>
              <a:t>WITH NOSUPERUSER</a:t>
            </a:r>
          </a:p>
          <a:p>
            <a:r>
              <a:rPr lang="en-US" sz="2000" dirty="0" smtClean="0"/>
              <a:t>•</a:t>
            </a:r>
            <a:r>
              <a:rPr lang="ru-RU" sz="2000" dirty="0" smtClean="0"/>
              <a:t> Разрешить </a:t>
            </a:r>
            <a:r>
              <a:rPr lang="ru-RU" sz="2000" dirty="0"/>
              <a:t>создание баз данных: </a:t>
            </a:r>
            <a:r>
              <a:rPr lang="en-US" sz="2000" dirty="0" smtClean="0"/>
              <a:t>ALTER </a:t>
            </a:r>
            <a:r>
              <a:rPr lang="en-US" sz="2000" dirty="0"/>
              <a:t>USER </a:t>
            </a:r>
            <a:r>
              <a:rPr lang="ru-RU" sz="2000" dirty="0" err="1"/>
              <a:t>имя_пользователя</a:t>
            </a:r>
            <a:r>
              <a:rPr lang="ru-RU" sz="2000" dirty="0"/>
              <a:t> </a:t>
            </a:r>
            <a:r>
              <a:rPr lang="en-US" sz="2000" dirty="0"/>
              <a:t>CREATEDB</a:t>
            </a:r>
          </a:p>
          <a:p>
            <a:r>
              <a:rPr lang="en-US" sz="2000" dirty="0" smtClean="0"/>
              <a:t>•</a:t>
            </a:r>
            <a:r>
              <a:rPr lang="ru-RU" sz="2000" dirty="0" smtClean="0"/>
              <a:t> Изменить </a:t>
            </a:r>
            <a:r>
              <a:rPr lang="ru-RU" sz="2000" dirty="0"/>
              <a:t>пароль пользователя: </a:t>
            </a:r>
            <a:r>
              <a:rPr lang="en-US" sz="2000" dirty="0" smtClean="0"/>
              <a:t>ALTER </a:t>
            </a:r>
            <a:r>
              <a:rPr lang="en-US" sz="2000" dirty="0"/>
              <a:t>USER </a:t>
            </a:r>
            <a:r>
              <a:rPr lang="en-US" sz="2000" dirty="0" err="1"/>
              <a:t>my_user</a:t>
            </a:r>
            <a:r>
              <a:rPr lang="en-US" sz="2000" dirty="0"/>
              <a:t> WITH ENCRYPTED PASSWORD '</a:t>
            </a:r>
            <a:r>
              <a:rPr lang="en-US" sz="2000" dirty="0" err="1"/>
              <a:t>newpassword</a:t>
            </a:r>
            <a:r>
              <a:rPr lang="en-US" sz="2000" dirty="0"/>
              <a:t>'</a:t>
            </a:r>
          </a:p>
          <a:p>
            <a:r>
              <a:rPr lang="en-US" sz="2000" dirty="0" smtClean="0"/>
              <a:t>•</a:t>
            </a:r>
            <a:r>
              <a:rPr lang="ru-RU" sz="2000" dirty="0" smtClean="0"/>
              <a:t> Установить </a:t>
            </a:r>
            <a:r>
              <a:rPr lang="ru-RU" sz="2000" dirty="0"/>
              <a:t>срок действия учётной записи: </a:t>
            </a:r>
            <a:r>
              <a:rPr lang="en-US" sz="2000" dirty="0" smtClean="0"/>
              <a:t>ALTER </a:t>
            </a:r>
            <a:r>
              <a:rPr lang="en-US" sz="2000" dirty="0"/>
              <a:t>USER </a:t>
            </a:r>
            <a:r>
              <a:rPr lang="ru-RU" sz="2000" dirty="0" err="1"/>
              <a:t>имя_пользователя</a:t>
            </a:r>
            <a:r>
              <a:rPr lang="ru-RU" sz="2000" dirty="0"/>
              <a:t> </a:t>
            </a:r>
            <a:r>
              <a:rPr lang="en-US" sz="2000" dirty="0"/>
              <a:t>VALID UNTIL '</a:t>
            </a:r>
            <a:r>
              <a:rPr lang="en-US" sz="2000" dirty="0" err="1"/>
              <a:t>expiration_timestamp</a:t>
            </a:r>
            <a:r>
              <a:rPr lang="en-US" sz="2000" dirty="0"/>
              <a:t>'</a:t>
            </a:r>
          </a:p>
          <a:p>
            <a:pPr algn="just"/>
            <a:r>
              <a:rPr lang="en-US" sz="2000" dirty="0" smtClean="0"/>
              <a:t>•</a:t>
            </a:r>
            <a:r>
              <a:rPr lang="ru-RU" sz="1900" dirty="0" smtClean="0"/>
              <a:t>Ограничивать </a:t>
            </a:r>
            <a:r>
              <a:rPr lang="ru-RU" sz="1900" dirty="0"/>
              <a:t>количество соединений: </a:t>
            </a:r>
            <a:r>
              <a:rPr lang="en-US" sz="1900" dirty="0" smtClean="0"/>
              <a:t>ALTER </a:t>
            </a:r>
            <a:r>
              <a:rPr lang="en-US" sz="1900" dirty="0"/>
              <a:t>USER </a:t>
            </a:r>
            <a:r>
              <a:rPr lang="ru-RU" sz="1900" dirty="0" err="1"/>
              <a:t>имя_пользователя</a:t>
            </a:r>
            <a:r>
              <a:rPr lang="ru-RU" sz="1900" dirty="0"/>
              <a:t> </a:t>
            </a:r>
            <a:r>
              <a:rPr lang="en-US" sz="1900" dirty="0"/>
              <a:t>CONNECTION LIMIT </a:t>
            </a:r>
            <a:r>
              <a:rPr lang="ru-RU" sz="1900" dirty="0" err="1" smtClean="0"/>
              <a:t>аксимальное_количество</a:t>
            </a:r>
            <a:endParaRPr lang="ru-RU" sz="1900" dirty="0" smtClean="0"/>
          </a:p>
          <a:p>
            <a:pPr algn="ctr"/>
            <a:r>
              <a:rPr lang="ru-RU" sz="2000" b="1" dirty="0"/>
              <a:t>Удаление</a:t>
            </a:r>
          </a:p>
          <a:p>
            <a:pPr algn="just"/>
            <a:r>
              <a:rPr lang="ru-RU" sz="2000" dirty="0"/>
              <a:t>Синтаксис: </a:t>
            </a:r>
            <a:r>
              <a:rPr lang="ru-RU" sz="2000" dirty="0" smtClean="0"/>
              <a:t> DROP </a:t>
            </a:r>
            <a:r>
              <a:rPr lang="ru-RU" sz="2000" dirty="0"/>
              <a:t>USER </a:t>
            </a:r>
            <a:r>
              <a:rPr lang="ru-RU" sz="2000" dirty="0" err="1"/>
              <a:t>имя_пользователя</a:t>
            </a:r>
            <a:endParaRPr lang="ru-RU" sz="2000" dirty="0"/>
          </a:p>
          <a:p>
            <a:pPr algn="just"/>
            <a:endParaRPr lang="ru-RU" sz="2000" dirty="0" smtClean="0"/>
          </a:p>
          <a:p>
            <a:pPr algn="just"/>
            <a:r>
              <a:rPr lang="ru-RU" sz="2000" dirty="0" smtClean="0"/>
              <a:t>ERROR</a:t>
            </a:r>
            <a:r>
              <a:rPr lang="ru-RU" sz="2000" dirty="0"/>
              <a:t>: </a:t>
            </a:r>
            <a:r>
              <a:rPr lang="ru-RU" sz="2000" dirty="0" err="1"/>
              <a:t>role</a:t>
            </a:r>
            <a:r>
              <a:rPr lang="ru-RU" sz="2000" dirty="0"/>
              <a:t> "</a:t>
            </a:r>
            <a:r>
              <a:rPr lang="ru-RU" sz="2000" dirty="0" err="1"/>
              <a:t>имя_пользователя</a:t>
            </a:r>
            <a:r>
              <a:rPr lang="ru-RU" sz="2000" dirty="0"/>
              <a:t>" </a:t>
            </a:r>
            <a:r>
              <a:rPr lang="ru-RU" sz="2000" dirty="0" err="1"/>
              <a:t>cannot</a:t>
            </a:r>
            <a:r>
              <a:rPr lang="ru-RU" sz="2000" dirty="0"/>
              <a:t> </a:t>
            </a:r>
            <a:r>
              <a:rPr lang="ru-RU" sz="2000" dirty="0" err="1"/>
              <a:t>be</a:t>
            </a:r>
            <a:r>
              <a:rPr lang="ru-RU" sz="2000" dirty="0"/>
              <a:t> </a:t>
            </a:r>
            <a:r>
              <a:rPr lang="ru-RU" sz="2000" dirty="0" err="1"/>
              <a:t>dropped</a:t>
            </a:r>
            <a:r>
              <a:rPr lang="ru-RU" sz="2000" dirty="0"/>
              <a:t> </a:t>
            </a:r>
            <a:r>
              <a:rPr lang="ru-RU" sz="2000" dirty="0" err="1"/>
              <a:t>because</a:t>
            </a:r>
            <a:r>
              <a:rPr lang="ru-RU" sz="2000" dirty="0"/>
              <a:t> </a:t>
            </a:r>
            <a:r>
              <a:rPr lang="ru-RU" sz="2000" dirty="0" err="1"/>
              <a:t>some</a:t>
            </a:r>
            <a:r>
              <a:rPr lang="ru-RU" sz="2000" dirty="0"/>
              <a:t> </a:t>
            </a:r>
            <a:r>
              <a:rPr lang="ru-RU" sz="2000" dirty="0" err="1"/>
              <a:t>objects</a:t>
            </a:r>
            <a:r>
              <a:rPr lang="ru-RU" sz="2000" dirty="0"/>
              <a:t> </a:t>
            </a:r>
            <a:r>
              <a:rPr lang="ru-RU" sz="2000" dirty="0" err="1"/>
              <a:t>depend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</a:t>
            </a:r>
            <a:r>
              <a:rPr lang="ru-RU" sz="2000" dirty="0" err="1"/>
              <a:t>it</a:t>
            </a:r>
            <a:endParaRPr lang="ru-RU" sz="2000" dirty="0"/>
          </a:p>
          <a:p>
            <a:pPr algn="just"/>
            <a:r>
              <a:rPr lang="ru-RU" sz="2000" dirty="0"/>
              <a:t>Если пользователь действительно владелец объектов, нужно сначала сменить его</a:t>
            </a:r>
            <a:r>
              <a:rPr lang="ru-RU" sz="2000" dirty="0" smtClean="0"/>
              <a:t>.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 smtClean="0"/>
              <a:t> </a:t>
            </a:r>
            <a:r>
              <a:rPr lang="ru-RU" sz="2000" dirty="0"/>
              <a:t>Например, чтобы сменить владельца таблицы, прописать: </a:t>
            </a:r>
          </a:p>
          <a:p>
            <a:pPr algn="just"/>
            <a:r>
              <a:rPr lang="ru-RU" sz="2000" dirty="0"/>
              <a:t>ALTER TABLE </a:t>
            </a:r>
            <a:r>
              <a:rPr lang="ru-RU" sz="2000" dirty="0" err="1"/>
              <a:t>название_таблицы</a:t>
            </a:r>
            <a:r>
              <a:rPr lang="ru-RU" sz="2000" dirty="0"/>
              <a:t> OWNER TO </a:t>
            </a:r>
            <a:r>
              <a:rPr lang="ru-RU" sz="2000" dirty="0" err="1"/>
              <a:t>новый_владелец</a:t>
            </a:r>
            <a:endParaRPr lang="ru-RU" sz="2000" dirty="0"/>
          </a:p>
          <a:p>
            <a:pPr algn="just"/>
            <a:r>
              <a:rPr lang="ru-RU" sz="2000" dirty="0"/>
              <a:t>. Чтобы сменить владельца базы данных, выполнить: </a:t>
            </a:r>
          </a:p>
          <a:p>
            <a:pPr algn="just"/>
            <a:r>
              <a:rPr lang="ru-RU" sz="2000" dirty="0"/>
              <a:t>ALTER DATABASE </a:t>
            </a:r>
            <a:r>
              <a:rPr lang="ru-RU" sz="2000" dirty="0" err="1"/>
              <a:t>название_базы_данных</a:t>
            </a:r>
            <a:r>
              <a:rPr lang="ru-RU" sz="2000" dirty="0"/>
              <a:t> OWNER TO </a:t>
            </a:r>
            <a:r>
              <a:rPr lang="ru-RU" sz="2000" dirty="0" err="1"/>
              <a:t>новый_владелец</a:t>
            </a:r>
            <a:endParaRPr lang="ru-RU" sz="2000" dirty="0"/>
          </a:p>
          <a:p>
            <a:pPr algn="just"/>
            <a:r>
              <a:rPr lang="ru-RU" sz="2000" dirty="0"/>
              <a:t>. Теперь можно удалить пользователя: </a:t>
            </a:r>
          </a:p>
          <a:p>
            <a:pPr algn="just"/>
            <a:r>
              <a:rPr lang="ru-RU" sz="2000" dirty="0"/>
              <a:t>DROP USER </a:t>
            </a:r>
            <a:r>
              <a:rPr lang="ru-RU" sz="2000" dirty="0" err="1"/>
              <a:t>имя_пользователя</a:t>
            </a:r>
            <a:endParaRPr lang="ru-RU" sz="2000" dirty="0"/>
          </a:p>
          <a:p>
            <a:pPr algn="just"/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32601137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9728" y="0"/>
            <a:ext cx="1208227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Роли баз </a:t>
            </a:r>
            <a:r>
              <a:rPr lang="ru-RU" sz="2000" b="1" dirty="0" smtClean="0"/>
              <a:t>данных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Пользователя базы данных (с атрибутом LOGIN);  </a:t>
            </a:r>
          </a:p>
          <a:p>
            <a:pPr algn="just"/>
            <a:r>
              <a:rPr lang="ru-RU" sz="2000" dirty="0"/>
              <a:t>•	Группу пользователей (объединяет другие роли для упрощения управления правами).  </a:t>
            </a:r>
          </a:p>
          <a:p>
            <a:pPr algn="ctr"/>
            <a:r>
              <a:rPr lang="ru-RU" sz="2000" b="1" dirty="0" smtClean="0"/>
              <a:t>Виды</a:t>
            </a:r>
            <a:endParaRPr lang="ru-RU" sz="2000" b="1" dirty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LOGIN — позволяет роли подключаться к базе данных.</a:t>
            </a:r>
          </a:p>
          <a:p>
            <a:pPr algn="just"/>
            <a:r>
              <a:rPr lang="ru-RU" sz="2000" dirty="0"/>
              <a:t>•	SUPERUSER — предоставляет все привилегии базы данных (использовать осторожно).</a:t>
            </a:r>
          </a:p>
          <a:p>
            <a:pPr algn="just"/>
            <a:r>
              <a:rPr lang="ru-RU" sz="2000" dirty="0"/>
              <a:t>•	CREATEROLE — позволяет роли создавать, изменять и удалять другие роли.</a:t>
            </a:r>
          </a:p>
          <a:p>
            <a:pPr algn="just"/>
            <a:r>
              <a:rPr lang="ru-RU" sz="2000" dirty="0"/>
              <a:t>•	CREATEDB — позволяет роли создавать новые базы данных.</a:t>
            </a:r>
          </a:p>
          <a:p>
            <a:pPr algn="just"/>
            <a:r>
              <a:rPr lang="ru-RU" sz="2000" dirty="0"/>
              <a:t>•	REPLICATION — позволяет роли инициировать потоковую репликацию.</a:t>
            </a:r>
          </a:p>
          <a:p>
            <a:pPr algn="just"/>
            <a:r>
              <a:rPr lang="ru-RU" sz="2000" dirty="0"/>
              <a:t>•	INHERIT / NOINHERIT — контролирует, наследует ли роль автоматически привилегии от ролей, членом которых она является (по умолчанию — INHERIT</a:t>
            </a:r>
            <a:r>
              <a:rPr lang="ru-RU" sz="2000" dirty="0" smtClean="0"/>
              <a:t>).</a:t>
            </a:r>
          </a:p>
          <a:p>
            <a:pPr algn="ctr"/>
            <a:r>
              <a:rPr lang="ru-RU" sz="2000" b="1" dirty="0"/>
              <a:t>Создание</a:t>
            </a:r>
          </a:p>
          <a:p>
            <a:pPr algn="just"/>
            <a:r>
              <a:rPr lang="ru-RU" sz="2000" dirty="0"/>
              <a:t>Для создания роли в </a:t>
            </a:r>
            <a:r>
              <a:rPr lang="ru-RU" sz="2000" dirty="0" err="1"/>
              <a:t>PostgreSQL</a:t>
            </a:r>
            <a:r>
              <a:rPr lang="ru-RU" sz="2000" dirty="0"/>
              <a:t> используется команда CREATE ROLE. При создании роли нужно указать её атрибуты.  </a:t>
            </a:r>
          </a:p>
          <a:p>
            <a:pPr algn="just"/>
            <a:r>
              <a:rPr lang="ru-RU" sz="2000" dirty="0" smtClean="0"/>
              <a:t>• По </a:t>
            </a:r>
            <a:r>
              <a:rPr lang="ru-RU" sz="2000" dirty="0"/>
              <a:t>умолчанию создаётся роль с параметром NOLOGIN, </a:t>
            </a:r>
            <a:r>
              <a:rPr lang="ru-RU" sz="2000" dirty="0" smtClean="0"/>
              <a:t>означает</a:t>
            </a:r>
            <a:r>
              <a:rPr lang="ru-RU" sz="2000" dirty="0"/>
              <a:t>, что она не может </a:t>
            </a:r>
            <a:r>
              <a:rPr lang="ru-RU" sz="2000" dirty="0" err="1"/>
              <a:t>залогиниться</a:t>
            </a:r>
            <a:r>
              <a:rPr lang="ru-RU" sz="2000" dirty="0"/>
              <a:t> в СУБД.  </a:t>
            </a:r>
          </a:p>
          <a:p>
            <a:pPr algn="just"/>
            <a:r>
              <a:rPr lang="ru-RU" sz="2000" dirty="0" smtClean="0"/>
              <a:t>• Если </a:t>
            </a:r>
            <a:r>
              <a:rPr lang="ru-RU" sz="2000" dirty="0"/>
              <a:t>указать явно параметр LOGIN, тогда команда будет эквивалентна созданию пользователя.  </a:t>
            </a:r>
          </a:p>
          <a:p>
            <a:pPr algn="just"/>
            <a:r>
              <a:rPr lang="ru-RU" sz="2000" dirty="0" smtClean="0"/>
              <a:t>• Роли </a:t>
            </a:r>
            <a:r>
              <a:rPr lang="ru-RU" sz="2000" dirty="0"/>
              <a:t>могут наследовать привилегии от других ролей (атрибут INHERIT). </a:t>
            </a:r>
          </a:p>
        </p:txBody>
      </p:sp>
    </p:spTree>
    <p:extLst>
      <p:ext uri="{BB962C8B-B14F-4D97-AF65-F5344CB8AC3E}">
        <p14:creationId xmlns:p14="http://schemas.microsoft.com/office/powerpoint/2010/main" val="2261780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Права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Членство </a:t>
            </a:r>
            <a:r>
              <a:rPr lang="ru-RU" sz="2000" dirty="0"/>
              <a:t>в других ролях. </a:t>
            </a:r>
            <a:endParaRPr lang="ru-RU" sz="2000" dirty="0" smtClean="0"/>
          </a:p>
          <a:p>
            <a:pPr marL="457200" indent="-457200">
              <a:buAutoNum type="arabicPeriod"/>
            </a:pPr>
            <a:r>
              <a:rPr lang="ru-RU" sz="2000" dirty="0" smtClean="0"/>
              <a:t>Привилегии </a:t>
            </a:r>
            <a:r>
              <a:rPr lang="ru-RU" sz="2000" dirty="0"/>
              <a:t>на объекты базы данных. </a:t>
            </a:r>
            <a:endParaRPr lang="ru-RU" sz="2000" dirty="0" smtClean="0"/>
          </a:p>
          <a:p>
            <a:pPr algn="ctr"/>
            <a:r>
              <a:rPr lang="ru-RU" sz="2000" b="1" dirty="0" smtClean="0"/>
              <a:t>Некоторые </a:t>
            </a:r>
            <a:r>
              <a:rPr lang="ru-RU" sz="2000" b="1" dirty="0"/>
              <a:t>рекомендации по предоставлению прав:</a:t>
            </a:r>
          </a:p>
          <a:p>
            <a:r>
              <a:rPr lang="ru-RU" sz="2000" dirty="0"/>
              <a:t>•	Принцип наименьших привилегий (</a:t>
            </a:r>
            <a:r>
              <a:rPr lang="ru-RU" sz="2000" dirty="0" err="1"/>
              <a:t>PoLP</a:t>
            </a:r>
            <a:r>
              <a:rPr lang="ru-RU" sz="2000" dirty="0"/>
              <a:t>) — предоставлять только минимальный набор разрешений, необходимый роли для выполнения её функции.</a:t>
            </a:r>
          </a:p>
          <a:p>
            <a:r>
              <a:rPr lang="ru-RU" sz="2000" dirty="0"/>
              <a:t>•	Разделять роли </a:t>
            </a:r>
            <a:r>
              <a:rPr lang="ru-RU" sz="2000" dirty="0" smtClean="0"/>
              <a:t>приложений. Приложения </a:t>
            </a:r>
            <a:r>
              <a:rPr lang="ru-RU" sz="2000" dirty="0"/>
              <a:t>обычно должны иметь только разрешения DML (SELECT, INSERT, UPDATE, DELETE), а не разрешения DDL (CREATE, DROP).</a:t>
            </a:r>
          </a:p>
          <a:p>
            <a:pPr algn="ctr"/>
            <a:r>
              <a:rPr lang="ru-RU" sz="2000" b="1" dirty="0"/>
              <a:t>Безопасность</a:t>
            </a:r>
          </a:p>
          <a:p>
            <a:r>
              <a:rPr lang="ru-RU" sz="2000" dirty="0" smtClean="0"/>
              <a:t>• Избегать </a:t>
            </a:r>
            <a:r>
              <a:rPr lang="ru-RU" sz="2000" dirty="0"/>
              <a:t>использования ролей по </a:t>
            </a:r>
            <a:r>
              <a:rPr lang="ru-RU" sz="2000" dirty="0" smtClean="0"/>
              <a:t>умолчанию</a:t>
            </a:r>
            <a:endParaRPr lang="ru-RU" sz="2000" dirty="0"/>
          </a:p>
          <a:p>
            <a:r>
              <a:rPr lang="ru-RU" sz="2000" dirty="0" smtClean="0"/>
              <a:t>• Использовать </a:t>
            </a:r>
            <a:r>
              <a:rPr lang="ru-RU" sz="2000" dirty="0"/>
              <a:t>надёжные пароли и</a:t>
            </a:r>
            <a:r>
              <a:rPr lang="ru-RU" sz="2000" dirty="0" smtClean="0"/>
              <a:t>, </a:t>
            </a:r>
            <a:r>
              <a:rPr lang="ru-RU" sz="2000" dirty="0"/>
              <a:t>использовать аутентификацию на основе клиентских </a:t>
            </a:r>
            <a:r>
              <a:rPr lang="ru-RU" sz="2000" dirty="0" smtClean="0"/>
              <a:t>сертификатов</a:t>
            </a:r>
          </a:p>
          <a:p>
            <a:pPr algn="ctr"/>
            <a:r>
              <a:rPr lang="ru-RU" sz="2000" b="1" dirty="0" smtClean="0"/>
              <a:t>СОЗДАНИЕ РОЛЕЙ</a:t>
            </a:r>
            <a:endParaRPr lang="ru-RU" sz="2000" b="1" dirty="0"/>
          </a:p>
          <a:p>
            <a:pPr algn="just"/>
            <a:r>
              <a:rPr lang="ru-RU" sz="2000" dirty="0"/>
              <a:t>Для создания роли используется команда </a:t>
            </a:r>
            <a:r>
              <a:rPr lang="ru-RU" sz="2000" b="1" dirty="0"/>
              <a:t>SQL CREATE ROLE</a:t>
            </a:r>
            <a:r>
              <a:rPr lang="ru-RU" sz="2000" b="1" dirty="0" smtClean="0"/>
              <a:t>:     </a:t>
            </a:r>
            <a:r>
              <a:rPr lang="ru-RU" sz="2000" dirty="0" smtClean="0"/>
              <a:t>CREATE </a:t>
            </a:r>
            <a:r>
              <a:rPr lang="ru-RU" sz="2000" dirty="0"/>
              <a:t>ROLE имя;</a:t>
            </a:r>
          </a:p>
          <a:p>
            <a:pPr algn="just"/>
            <a:r>
              <a:rPr lang="ru-RU" sz="2000" dirty="0"/>
              <a:t>Для удаления роли используется команда </a:t>
            </a:r>
            <a:r>
              <a:rPr lang="ru-RU" sz="2000" b="1" dirty="0"/>
              <a:t>DROP ROLE</a:t>
            </a:r>
            <a:r>
              <a:rPr lang="ru-RU" sz="2000" dirty="0" smtClean="0"/>
              <a:t>:   DROP </a:t>
            </a:r>
            <a:r>
              <a:rPr lang="ru-RU" sz="2000" dirty="0"/>
              <a:t>ROLE </a:t>
            </a:r>
            <a:r>
              <a:rPr lang="ru-RU" sz="2000" dirty="0" smtClean="0"/>
              <a:t>имя.</a:t>
            </a:r>
            <a:endParaRPr lang="ru-RU" sz="2000" dirty="0"/>
          </a:p>
          <a:p>
            <a:pPr algn="ctr"/>
            <a:r>
              <a:rPr lang="ru-RU" sz="2000" b="1" dirty="0" smtClean="0"/>
              <a:t>программы </a:t>
            </a:r>
            <a:r>
              <a:rPr lang="ru-RU" sz="2000" b="1" dirty="0" err="1"/>
              <a:t>createuser</a:t>
            </a:r>
            <a:r>
              <a:rPr lang="ru-RU" sz="2000" b="1" dirty="0"/>
              <a:t> и </a:t>
            </a:r>
            <a:r>
              <a:rPr lang="ru-RU" sz="2000" b="1" dirty="0" err="1"/>
              <a:t>dropuser</a:t>
            </a:r>
            <a:r>
              <a:rPr lang="ru-RU" sz="2000" b="1" dirty="0"/>
              <a:t>, которые являются </a:t>
            </a:r>
            <a:r>
              <a:rPr lang="ru-RU" sz="2000" b="1" dirty="0" smtClean="0"/>
              <a:t>обёртками</a:t>
            </a:r>
            <a:endParaRPr lang="ru-RU" sz="2000" b="1" dirty="0"/>
          </a:p>
          <a:p>
            <a:pPr algn="just"/>
            <a:r>
              <a:rPr lang="ru-RU" sz="2000" dirty="0" err="1"/>
              <a:t>createuser</a:t>
            </a:r>
            <a:r>
              <a:rPr lang="ru-RU" sz="2000" dirty="0"/>
              <a:t> имя</a:t>
            </a:r>
          </a:p>
          <a:p>
            <a:pPr algn="just"/>
            <a:r>
              <a:rPr lang="ru-RU" sz="2000" dirty="0" err="1"/>
              <a:t>dropuser</a:t>
            </a:r>
            <a:r>
              <a:rPr lang="ru-RU" sz="2000" dirty="0"/>
              <a:t> имя</a:t>
            </a:r>
          </a:p>
          <a:p>
            <a:pPr algn="just"/>
            <a:r>
              <a:rPr lang="ru-RU" sz="2000" dirty="0"/>
              <a:t>Чтобы получить список существующих ролей, обратитесь к представлению </a:t>
            </a:r>
            <a:r>
              <a:rPr lang="ru-RU" sz="2000" dirty="0" err="1"/>
              <a:t>pg_roles</a:t>
            </a:r>
            <a:r>
              <a:rPr lang="ru-RU" sz="2000" dirty="0"/>
              <a:t>, например:</a:t>
            </a:r>
          </a:p>
          <a:p>
            <a:pPr algn="just"/>
            <a:r>
              <a:rPr lang="ru-RU" sz="2000" dirty="0"/>
              <a:t>SELECT </a:t>
            </a:r>
            <a:r>
              <a:rPr lang="ru-RU" sz="2000" dirty="0" err="1"/>
              <a:t>rolname</a:t>
            </a:r>
            <a:r>
              <a:rPr lang="ru-RU" sz="2000" dirty="0"/>
              <a:t> FROM </a:t>
            </a:r>
            <a:r>
              <a:rPr lang="ru-RU" sz="2000" dirty="0" err="1"/>
              <a:t>pg_roles</a:t>
            </a:r>
            <a:r>
              <a:rPr lang="ru-RU" sz="2000" dirty="0"/>
              <a:t>;</a:t>
            </a:r>
          </a:p>
          <a:p>
            <a:pPr algn="just"/>
            <a:r>
              <a:rPr lang="ru-RU" sz="2000" dirty="0"/>
              <a:t>Чтобы проверить, какие роли могут подключаться к базе данных, выполните:</a:t>
            </a:r>
          </a:p>
          <a:p>
            <a:pPr algn="just"/>
            <a:r>
              <a:rPr lang="ru-RU" sz="2000" dirty="0"/>
              <a:t>SELECT </a:t>
            </a:r>
            <a:r>
              <a:rPr lang="ru-RU" sz="2000" dirty="0" err="1"/>
              <a:t>rolname</a:t>
            </a:r>
            <a:r>
              <a:rPr lang="ru-RU" sz="2000" dirty="0"/>
              <a:t> FROM </a:t>
            </a:r>
            <a:r>
              <a:rPr lang="ru-RU" sz="2000" dirty="0" err="1"/>
              <a:t>pg_roles</a:t>
            </a:r>
            <a:r>
              <a:rPr lang="ru-RU" sz="2000" dirty="0"/>
              <a:t> WHERE </a:t>
            </a:r>
            <a:r>
              <a:rPr lang="ru-RU" sz="2000" dirty="0" err="1"/>
              <a:t>rolcanlogin</a:t>
            </a:r>
            <a:r>
              <a:rPr lang="ru-RU" sz="2000" dirty="0"/>
              <a:t>;</a:t>
            </a:r>
          </a:p>
          <a:p>
            <a:pPr algn="just"/>
            <a:r>
              <a:rPr lang="ru-RU" sz="2000" dirty="0" err="1"/>
              <a:t>Метакоманда</a:t>
            </a:r>
            <a:r>
              <a:rPr lang="ru-RU" sz="2000" dirty="0"/>
              <a:t> \</a:t>
            </a:r>
            <a:r>
              <a:rPr lang="ru-RU" sz="2000" dirty="0" err="1"/>
              <a:t>du</a:t>
            </a:r>
            <a:r>
              <a:rPr lang="ru-RU" sz="2000" dirty="0"/>
              <a:t> программы </a:t>
            </a:r>
            <a:r>
              <a:rPr lang="ru-RU" sz="2000" dirty="0" err="1"/>
              <a:t>psql</a:t>
            </a:r>
            <a:r>
              <a:rPr lang="ru-RU" sz="2000" dirty="0"/>
              <a:t> также полезна для получения списка существующих ролей</a:t>
            </a:r>
            <a:r>
              <a:rPr lang="ru-RU" sz="2000" dirty="0" smtClean="0"/>
              <a:t>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234283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Право </a:t>
            </a:r>
            <a:r>
              <a:rPr lang="ru-RU" sz="2000" b="1" dirty="0" smtClean="0"/>
              <a:t>подключения</a:t>
            </a:r>
          </a:p>
          <a:p>
            <a:pPr algn="just"/>
            <a:r>
              <a:rPr lang="ru-RU" sz="2000" dirty="0"/>
              <a:t>использовать любой из вариантов:</a:t>
            </a:r>
          </a:p>
          <a:p>
            <a:pPr algn="just"/>
            <a:r>
              <a:rPr lang="ru-RU" sz="2000" dirty="0"/>
              <a:t>CREATE ROLE имя LOGIN;</a:t>
            </a:r>
          </a:p>
          <a:p>
            <a:pPr algn="just"/>
            <a:r>
              <a:rPr lang="ru-RU" sz="2000" dirty="0"/>
              <a:t>CREATE USER имя; </a:t>
            </a:r>
            <a:endParaRPr lang="ru-RU" sz="2000" dirty="0" smtClean="0"/>
          </a:p>
          <a:p>
            <a:pPr algn="ctr"/>
            <a:r>
              <a:rPr lang="ru-RU" sz="2000" b="1" dirty="0" smtClean="0"/>
              <a:t>Статус </a:t>
            </a:r>
            <a:r>
              <a:rPr lang="ru-RU" sz="2000" b="1" dirty="0" err="1"/>
              <a:t>суперпользователя</a:t>
            </a:r>
            <a:endParaRPr lang="ru-RU" sz="2000" b="1" dirty="0"/>
          </a:p>
          <a:p>
            <a:pPr algn="just"/>
            <a:r>
              <a:rPr lang="ru-RU" sz="2000" dirty="0"/>
              <a:t>Для создания нового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 используется CREATE ROLE имя SUPERUSER</a:t>
            </a:r>
            <a:r>
              <a:rPr lang="ru-RU" sz="2000" b="1" dirty="0" smtClean="0"/>
              <a:t>.</a:t>
            </a:r>
          </a:p>
          <a:p>
            <a:pPr algn="ctr"/>
            <a:r>
              <a:rPr lang="ru-RU" sz="2000" b="1" dirty="0" smtClean="0"/>
              <a:t>Создание базы данных</a:t>
            </a:r>
          </a:p>
          <a:p>
            <a:pPr algn="just"/>
            <a:r>
              <a:rPr lang="ru-RU" sz="2000" b="1" dirty="0"/>
              <a:t> </a:t>
            </a:r>
            <a:r>
              <a:rPr lang="ru-RU" sz="2000" dirty="0"/>
              <a:t>Для создания такой роли используется CREATE ROLE имя CREATEDB</a:t>
            </a:r>
            <a:r>
              <a:rPr lang="ru-RU" sz="2000" dirty="0" smtClean="0"/>
              <a:t>.</a:t>
            </a:r>
          </a:p>
          <a:p>
            <a:pPr algn="ctr"/>
            <a:r>
              <a:rPr lang="ru-RU" sz="2000" b="1" dirty="0"/>
              <a:t>Создание </a:t>
            </a:r>
            <a:r>
              <a:rPr lang="ru-RU" sz="2000" b="1" dirty="0" smtClean="0"/>
              <a:t>роли</a:t>
            </a:r>
          </a:p>
          <a:p>
            <a:pPr algn="just"/>
            <a:r>
              <a:rPr lang="ru-RU" sz="2000" dirty="0"/>
              <a:t>Для создания такой роли используется CREATE ROLE имя CREATEROLE</a:t>
            </a:r>
            <a:r>
              <a:rPr lang="ru-RU" sz="2000" b="1" dirty="0" smtClean="0"/>
              <a:t>.</a:t>
            </a:r>
          </a:p>
          <a:p>
            <a:pPr algn="just"/>
            <a:r>
              <a:rPr lang="ru-RU" sz="2000" i="1" dirty="0"/>
              <a:t>право позволяет использовать команды </a:t>
            </a:r>
            <a:r>
              <a:rPr lang="en-US" sz="2000" i="1" dirty="0"/>
              <a:t>ALTER ROLE ... SET </a:t>
            </a:r>
            <a:r>
              <a:rPr lang="ru-RU" sz="2000" i="1" dirty="0"/>
              <a:t>и </a:t>
            </a:r>
            <a:r>
              <a:rPr lang="en-US" sz="2000" i="1" dirty="0"/>
              <a:t>ALTER ROLE ... RENAME </a:t>
            </a:r>
            <a:r>
              <a:rPr lang="ru-RU" sz="2000" i="1" dirty="0"/>
              <a:t>в отношении ролей </a:t>
            </a:r>
            <a:r>
              <a:rPr lang="en-US" sz="2000" i="1" dirty="0"/>
              <a:t>REPLICATION, </a:t>
            </a:r>
            <a:r>
              <a:rPr lang="ru-RU" sz="2000" i="1" dirty="0"/>
              <a:t>а также </a:t>
            </a:r>
            <a:r>
              <a:rPr lang="en-US" sz="2000" i="1" dirty="0"/>
              <a:t>COMMENT ON ROLE, SECURITY LABEL ON ROLE </a:t>
            </a:r>
            <a:r>
              <a:rPr lang="ru-RU" sz="2000" i="1" dirty="0"/>
              <a:t>и </a:t>
            </a:r>
            <a:r>
              <a:rPr lang="en-US" sz="2000" i="1" dirty="0"/>
              <a:t>DROP ROLE. </a:t>
            </a:r>
            <a:r>
              <a:rPr lang="ru-RU" sz="2000" i="1" dirty="0"/>
              <a:t>Наконец, право </a:t>
            </a:r>
            <a:r>
              <a:rPr lang="en-US" sz="2000" i="1" dirty="0"/>
              <a:t>CREATEROLE </a:t>
            </a:r>
            <a:r>
              <a:rPr lang="ru-RU" sz="2000" i="1" dirty="0"/>
              <a:t>не даёт возможности предоставлять или отзывать право </a:t>
            </a:r>
            <a:r>
              <a:rPr lang="en-US" sz="2000" i="1" dirty="0"/>
              <a:t>BYPASSRLS</a:t>
            </a:r>
            <a:r>
              <a:rPr lang="en-US" sz="2000" i="1" dirty="0" smtClean="0"/>
              <a:t>.</a:t>
            </a:r>
            <a:endParaRPr lang="ru-RU" sz="2000" i="1" dirty="0" smtClean="0"/>
          </a:p>
          <a:p>
            <a:pPr algn="ctr"/>
            <a:r>
              <a:rPr lang="ru-RU" sz="2000" b="1" dirty="0"/>
              <a:t>Запуск </a:t>
            </a:r>
            <a:r>
              <a:rPr lang="ru-RU" sz="2000" b="1" dirty="0" smtClean="0"/>
              <a:t>репликации</a:t>
            </a:r>
          </a:p>
          <a:p>
            <a:pPr algn="just"/>
            <a:r>
              <a:rPr lang="ru-RU" sz="2000" dirty="0"/>
              <a:t>Роль, используемая для потоковой репликации, также должна иметь атрибут LOGIN. Для создания такой роли используется CREATE ROLE имя REPLICATION LOGIN</a:t>
            </a:r>
            <a:r>
              <a:rPr lang="ru-RU" sz="2000" dirty="0" smtClean="0"/>
              <a:t>.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32058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Пароль</a:t>
            </a:r>
          </a:p>
          <a:p>
            <a:pPr algn="just"/>
            <a:r>
              <a:rPr lang="ru-RU" sz="2000" dirty="0"/>
              <a:t>Методы аутентификации </a:t>
            </a:r>
            <a:r>
              <a:rPr lang="ru-RU" sz="2000" dirty="0" err="1"/>
              <a:t>password</a:t>
            </a:r>
            <a:r>
              <a:rPr lang="ru-RU" sz="2000" dirty="0"/>
              <a:t> и md5 используют пароли. База данных и операционная система используют раздельные пароли. Пароль указывается при создании роли: CREATE ROLE имя PASSWORD 'строка</a:t>
            </a:r>
            <a:r>
              <a:rPr lang="ru-RU" sz="2000" dirty="0" smtClean="0"/>
              <a:t>'.</a:t>
            </a:r>
          </a:p>
          <a:p>
            <a:pPr algn="ctr"/>
            <a:r>
              <a:rPr lang="ru-RU" sz="2000" b="1" dirty="0"/>
              <a:t>Наследование </a:t>
            </a:r>
            <a:r>
              <a:rPr lang="ru-RU" sz="2000" b="1" dirty="0" smtClean="0"/>
              <a:t>прав</a:t>
            </a:r>
          </a:p>
          <a:p>
            <a:pPr algn="just"/>
            <a:r>
              <a:rPr lang="ru-RU" sz="2000" dirty="0"/>
              <a:t>выполните </a:t>
            </a:r>
            <a:r>
              <a:rPr lang="en-US" sz="2000" b="1" dirty="0"/>
              <a:t>CREATE ROLE </a:t>
            </a:r>
            <a:r>
              <a:rPr lang="ru-RU" sz="2000" b="1" dirty="0"/>
              <a:t>имя </a:t>
            </a:r>
            <a:r>
              <a:rPr lang="en-US" sz="2000" b="1" dirty="0"/>
              <a:t>NOINHERIT. </a:t>
            </a:r>
            <a:r>
              <a:rPr lang="ru-RU" sz="2000" dirty="0"/>
              <a:t>Как вариант, атрибуты наследования отдельных прав можно переопределить, указав </a:t>
            </a:r>
            <a:r>
              <a:rPr lang="en-US" sz="2000" b="1" dirty="0"/>
              <a:t>WITH INHERIT TRUE </a:t>
            </a:r>
            <a:r>
              <a:rPr lang="ru-RU" sz="2000" b="1" dirty="0"/>
              <a:t>или </a:t>
            </a:r>
            <a:r>
              <a:rPr lang="en-US" sz="2000" b="1" dirty="0"/>
              <a:t>WITH INHERIT FALSE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pPr algn="just"/>
            <a:r>
              <a:rPr lang="ru-RU" sz="2000" i="1" dirty="0"/>
              <a:t>Игнорирование защиты на уровне </a:t>
            </a:r>
            <a:r>
              <a:rPr lang="ru-RU" sz="2000" i="1" dirty="0" smtClean="0"/>
              <a:t>строк</a:t>
            </a:r>
            <a:r>
              <a:rPr lang="ru-RU" sz="2000" i="1" dirty="0"/>
              <a:t>:  </a:t>
            </a:r>
            <a:r>
              <a:rPr lang="ru-RU" sz="2000" dirty="0"/>
              <a:t>выполнив CREATE ROLE имя BYPASSRLS от имени </a:t>
            </a:r>
            <a:r>
              <a:rPr lang="ru-RU" sz="2000" dirty="0" err="1"/>
              <a:t>суперпользователя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i="1" dirty="0"/>
              <a:t>Ограничение </a:t>
            </a:r>
            <a:r>
              <a:rPr lang="ru-RU" sz="2000" i="1" dirty="0" smtClean="0"/>
              <a:t>соединений</a:t>
            </a:r>
            <a:r>
              <a:rPr lang="ru-RU" sz="2000" i="1" dirty="0"/>
              <a:t>: </a:t>
            </a:r>
            <a:r>
              <a:rPr lang="ru-RU" sz="2000" dirty="0"/>
              <a:t>создания роли с ограничением используется CREATE ROLE </a:t>
            </a:r>
            <a:r>
              <a:rPr lang="ru-RU" sz="2000" dirty="0" err="1"/>
              <a:t>name</a:t>
            </a:r>
            <a:r>
              <a:rPr lang="ru-RU" sz="2000" dirty="0"/>
              <a:t> CONNECTION LIMIT </a:t>
            </a:r>
            <a:r>
              <a:rPr lang="ru-RU" sz="2000" dirty="0" smtClean="0"/>
              <a:t>'число‘</a:t>
            </a:r>
          </a:p>
          <a:p>
            <a:pPr algn="just"/>
            <a:r>
              <a:rPr lang="ru-RU" sz="2000" dirty="0"/>
              <a:t>Атрибуты ролей могут быть изменены после создания командой ALTER ROLE. Более детальная информация в справке по командам </a:t>
            </a:r>
            <a:r>
              <a:rPr lang="ru-RU" sz="2000" b="1" dirty="0"/>
              <a:t>CREATE ROLE и ALTER ROLE</a:t>
            </a:r>
            <a:r>
              <a:rPr lang="ru-RU" sz="2000" b="1" dirty="0" smtClean="0"/>
              <a:t>.</a:t>
            </a:r>
          </a:p>
          <a:p>
            <a:pPr algn="just"/>
            <a:endParaRPr lang="ru-RU" sz="2000" dirty="0" smtClean="0"/>
          </a:p>
          <a:p>
            <a:pPr algn="just"/>
            <a:r>
              <a:rPr lang="ru-RU" sz="2000" dirty="0" smtClean="0"/>
              <a:t>Например</a:t>
            </a:r>
            <a:r>
              <a:rPr lang="ru-RU" sz="2000" dirty="0"/>
              <a:t>, если по некоторым причинам всякий раз при подключении к базе данных требуется отключить использование </a:t>
            </a:r>
            <a:r>
              <a:rPr lang="ru-RU" sz="2000" dirty="0" smtClean="0"/>
              <a:t>индексов, </a:t>
            </a:r>
            <a:r>
              <a:rPr lang="ru-RU" sz="2000" dirty="0"/>
              <a:t>можно выполнить</a:t>
            </a:r>
            <a:r>
              <a:rPr lang="ru-RU" sz="2000" dirty="0" smtClean="0"/>
              <a:t>: </a:t>
            </a:r>
            <a:r>
              <a:rPr lang="ru-RU" sz="2000" b="1" dirty="0" smtClean="0"/>
              <a:t>ALTER </a:t>
            </a:r>
            <a:r>
              <a:rPr lang="ru-RU" sz="2000" b="1" dirty="0"/>
              <a:t>ROLE </a:t>
            </a:r>
            <a:r>
              <a:rPr lang="ru-RU" sz="2000" b="1" dirty="0" err="1"/>
              <a:t>myname</a:t>
            </a:r>
            <a:r>
              <a:rPr lang="ru-RU" sz="2000" b="1" dirty="0"/>
              <a:t> SET </a:t>
            </a:r>
            <a:r>
              <a:rPr lang="ru-RU" sz="2000" b="1" dirty="0" err="1"/>
              <a:t>enable_indexscan</a:t>
            </a:r>
            <a:r>
              <a:rPr lang="ru-RU" sz="2000" b="1" dirty="0"/>
              <a:t> TO </a:t>
            </a:r>
            <a:r>
              <a:rPr lang="ru-RU" sz="2000" b="1" dirty="0" err="1"/>
              <a:t>off</a:t>
            </a:r>
            <a:r>
              <a:rPr lang="ru-RU" sz="2000" b="1" dirty="0"/>
              <a:t>;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37259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46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Предоставление прав на объекты в базе </a:t>
            </a:r>
            <a:r>
              <a:rPr lang="ru-RU" sz="4000" b="1" dirty="0" smtClean="0">
                <a:solidFill>
                  <a:srgbClr val="FF0000"/>
                </a:solidFill>
              </a:rPr>
              <a:t>данных </a:t>
            </a:r>
          </a:p>
          <a:p>
            <a:pPr algn="ctr"/>
            <a:r>
              <a:rPr lang="ru-RU" sz="5400" b="1" dirty="0" smtClean="0"/>
              <a:t>Вопрос 7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81811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права на объекты в базе данных предоставляются с помощью команды </a:t>
            </a:r>
            <a:r>
              <a:rPr lang="ru-RU" sz="2000" b="1" i="1" dirty="0" smtClean="0"/>
              <a:t>GRANT</a:t>
            </a:r>
          </a:p>
          <a:p>
            <a:pPr algn="ctr"/>
            <a:r>
              <a:rPr lang="ru-RU" sz="2000" b="1" i="1" dirty="0"/>
              <a:t>Виды прав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b="1" dirty="0"/>
              <a:t>SELECT</a:t>
            </a:r>
            <a:r>
              <a:rPr lang="ru-RU" sz="2000" dirty="0"/>
              <a:t> — позволяет выполнять SELECT для любого столбца или перечисленных столбцов в таблице, представлении и т. д..</a:t>
            </a:r>
          </a:p>
          <a:p>
            <a:pPr algn="just"/>
            <a:r>
              <a:rPr lang="ru-RU" sz="2000" dirty="0"/>
              <a:t>•	</a:t>
            </a:r>
            <a:r>
              <a:rPr lang="ru-RU" sz="2000" b="1" dirty="0"/>
              <a:t>INSERT </a:t>
            </a:r>
            <a:r>
              <a:rPr lang="ru-RU" sz="2000" dirty="0"/>
              <a:t>— позволяет вставлять строки в заданную таблицу, представление и т. п.. Может назначаться для отдельных столбцов — в этом случае только этим столбцам можно присваивать значения в команде INSERT (другие столбцы получат значения по умолчанию).</a:t>
            </a:r>
          </a:p>
          <a:p>
            <a:pPr algn="just"/>
            <a:r>
              <a:rPr lang="ru-RU" sz="2000" dirty="0"/>
              <a:t>•	</a:t>
            </a:r>
            <a:r>
              <a:rPr lang="ru-RU" sz="2000" b="1" dirty="0"/>
              <a:t>UPDATE</a:t>
            </a:r>
            <a:r>
              <a:rPr lang="ru-RU" sz="2000" dirty="0"/>
              <a:t> — позволяет изменять данные во всех или только перечисленных столбцах в заданной таблице, представлении и т. п..</a:t>
            </a:r>
          </a:p>
          <a:p>
            <a:pPr algn="just"/>
            <a:r>
              <a:rPr lang="ru-RU" sz="2000" dirty="0"/>
              <a:t>•	</a:t>
            </a:r>
            <a:r>
              <a:rPr lang="ru-RU" sz="2000" b="1" dirty="0"/>
              <a:t>CONNECT</a:t>
            </a:r>
            <a:r>
              <a:rPr lang="ru-RU" sz="2000" dirty="0"/>
              <a:t> — позволяет подключаться к базе данных.</a:t>
            </a:r>
          </a:p>
          <a:p>
            <a:pPr algn="just"/>
            <a:r>
              <a:rPr lang="ru-RU" sz="2000" dirty="0"/>
              <a:t>•	</a:t>
            </a:r>
            <a:r>
              <a:rPr lang="ru-RU" sz="2000" b="1" dirty="0"/>
              <a:t>TEMPORAR</a:t>
            </a:r>
            <a:r>
              <a:rPr lang="ru-RU" sz="2000" dirty="0"/>
              <a:t>Y — позволяет создавать временные таблицы в определённой базе данных.</a:t>
            </a:r>
          </a:p>
          <a:p>
            <a:pPr algn="just"/>
            <a:r>
              <a:rPr lang="ru-RU" sz="2000" dirty="0"/>
              <a:t>•	</a:t>
            </a:r>
            <a:r>
              <a:rPr lang="ru-RU" sz="2000" b="1" dirty="0"/>
              <a:t>EXECUTE</a:t>
            </a:r>
            <a:r>
              <a:rPr lang="ru-RU" sz="2000" dirty="0"/>
              <a:t> — позволяет вызывать функцию или процедуру.</a:t>
            </a:r>
          </a:p>
          <a:p>
            <a:pPr algn="just"/>
            <a:r>
              <a:rPr lang="en-US" sz="2000" dirty="0" err="1"/>
              <a:t>Синтаксис</a:t>
            </a:r>
            <a:r>
              <a:rPr lang="en-US" sz="2000" dirty="0"/>
              <a:t> </a:t>
            </a:r>
            <a:r>
              <a:rPr lang="en-US" sz="2000" dirty="0" err="1"/>
              <a:t>команды</a:t>
            </a:r>
            <a:r>
              <a:rPr lang="en-US" sz="2000" dirty="0"/>
              <a:t> GRANT</a:t>
            </a:r>
            <a:r>
              <a:rPr lang="en-US" sz="2000" b="1" i="1" dirty="0" smtClean="0"/>
              <a:t>:</a:t>
            </a:r>
            <a:r>
              <a:rPr lang="ru-RU" sz="2000" b="1" i="1" dirty="0" smtClean="0"/>
              <a:t> </a:t>
            </a:r>
            <a:r>
              <a:rPr lang="en-US" sz="2000" b="1" i="1" dirty="0" smtClean="0"/>
              <a:t>GRANT </a:t>
            </a:r>
            <a:r>
              <a:rPr lang="en-US" sz="2000" b="1" i="1" dirty="0"/>
              <a:t>privileges ON object TO user</a:t>
            </a:r>
          </a:p>
          <a:p>
            <a:pPr algn="just"/>
            <a:r>
              <a:rPr lang="ru-RU" sz="2000" b="1" i="1" dirty="0"/>
              <a:t>Параметры:  </a:t>
            </a:r>
          </a:p>
          <a:p>
            <a:pPr algn="just"/>
            <a:r>
              <a:rPr lang="ru-RU" sz="2000" i="1" dirty="0"/>
              <a:t>•	</a:t>
            </a:r>
            <a:r>
              <a:rPr lang="ru-RU" sz="2000" i="1" dirty="0" err="1"/>
              <a:t>privileges</a:t>
            </a:r>
            <a:r>
              <a:rPr lang="ru-RU" sz="2000" i="1" dirty="0"/>
              <a:t> — привилегии, которые предоставляются (например, SELECT, INSERT, UPDATE, DELETE, TRUNCATE, REFERENCES, TRIGGER, CREATE). </a:t>
            </a:r>
          </a:p>
          <a:p>
            <a:pPr algn="just"/>
            <a:r>
              <a:rPr lang="ru-RU" sz="2000" i="1" dirty="0"/>
              <a:t>•	</a:t>
            </a:r>
            <a:r>
              <a:rPr lang="ru-RU" sz="2000" i="1" dirty="0" err="1"/>
              <a:t>object</a:t>
            </a:r>
            <a:r>
              <a:rPr lang="ru-RU" sz="2000" i="1" dirty="0"/>
              <a:t> — имя объекта базы данных, для которого предоставляются привилегии </a:t>
            </a:r>
            <a:endParaRPr lang="ru-RU" sz="2000" i="1" dirty="0" smtClean="0"/>
          </a:p>
          <a:p>
            <a:pPr algn="just"/>
            <a:r>
              <a:rPr lang="ru-RU" sz="2000" i="1" dirty="0" smtClean="0"/>
              <a:t>•</a:t>
            </a:r>
            <a:r>
              <a:rPr lang="ru-RU" sz="2000" i="1" dirty="0"/>
              <a:t>	</a:t>
            </a:r>
            <a:r>
              <a:rPr lang="ru-RU" sz="2000" i="1" dirty="0" err="1"/>
              <a:t>user</a:t>
            </a:r>
            <a:r>
              <a:rPr lang="ru-RU" sz="2000" i="1" dirty="0"/>
              <a:t> — имя пользователя, которому будут предоставлены эти привилегии.</a:t>
            </a:r>
          </a:p>
          <a:p>
            <a:pPr algn="just"/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3557361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344" y="0"/>
            <a:ext cx="1210665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Особенности:</a:t>
            </a:r>
          </a:p>
          <a:p>
            <a:pPr algn="just"/>
            <a:r>
              <a:rPr lang="ru-RU" sz="2000" dirty="0"/>
              <a:t>•	Если указано WITH GRANT OPTION, получатель права может, в свою очередь, давать его другим. </a:t>
            </a:r>
          </a:p>
          <a:p>
            <a:pPr algn="just"/>
            <a:r>
              <a:rPr lang="ru-RU" sz="2000" dirty="0"/>
              <a:t>•	Если указано GRANTED BY, заданным </a:t>
            </a:r>
            <a:r>
              <a:rPr lang="ru-RU" sz="2000" dirty="0" err="1"/>
              <a:t>праводателем</a:t>
            </a:r>
            <a:r>
              <a:rPr lang="ru-RU" sz="2000" dirty="0"/>
              <a:t> должен быть текущий пользователь.</a:t>
            </a:r>
          </a:p>
          <a:p>
            <a:pPr algn="just"/>
            <a:r>
              <a:rPr lang="ru-RU" sz="2000" dirty="0"/>
              <a:t>•	При назначении прав для доступа к таблице они автоматически не распространяются на последовательности, используемые этой таблицей, в том числе, на последовательности, связанные со столбцами SERIAL. </a:t>
            </a:r>
          </a:p>
          <a:p>
            <a:pPr algn="just"/>
            <a:r>
              <a:rPr lang="ru-RU" sz="2000" b="1" dirty="0"/>
              <a:t>Примеры</a:t>
            </a:r>
          </a:p>
          <a:p>
            <a:pPr algn="just"/>
            <a:r>
              <a:rPr lang="ru-RU" sz="2000" dirty="0"/>
              <a:t>•	Предоставление привилегий SELECT, INSERT, UPDATE и DELETE для таблицы с именем </a:t>
            </a:r>
            <a:r>
              <a:rPr lang="ru-RU" sz="2000" dirty="0" err="1"/>
              <a:t>products</a:t>
            </a:r>
            <a:r>
              <a:rPr lang="ru-RU" sz="2000" dirty="0"/>
              <a:t> для пользователя с именем </a:t>
            </a:r>
            <a:r>
              <a:rPr lang="ru-RU" sz="2000" dirty="0" err="1"/>
              <a:t>trizor</a:t>
            </a:r>
            <a:r>
              <a:rPr lang="ru-RU" sz="2000" dirty="0"/>
              <a:t>: </a:t>
            </a:r>
          </a:p>
          <a:p>
            <a:pPr algn="just"/>
            <a:r>
              <a:rPr lang="ru-RU" sz="2000" dirty="0"/>
              <a:t>GRANT SELECT, INSERT, UPDATE, DELETE ON </a:t>
            </a:r>
            <a:r>
              <a:rPr lang="ru-RU" sz="2000" dirty="0" err="1"/>
              <a:t>products</a:t>
            </a:r>
            <a:r>
              <a:rPr lang="ru-RU" sz="2000" dirty="0"/>
              <a:t> TO </a:t>
            </a:r>
            <a:r>
              <a:rPr lang="ru-RU" sz="2000" dirty="0" err="1"/>
              <a:t>trizor</a:t>
            </a:r>
            <a:endParaRPr lang="ru-RU" sz="2000" dirty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Предоставление всем пользователям только доступа SELECT к таблице </a:t>
            </a:r>
            <a:r>
              <a:rPr lang="ru-RU" sz="2000" dirty="0" err="1"/>
              <a:t>products</a:t>
            </a:r>
            <a:r>
              <a:rPr lang="ru-RU" sz="2000" dirty="0"/>
              <a:t>: </a:t>
            </a:r>
          </a:p>
          <a:p>
            <a:pPr algn="just"/>
            <a:r>
              <a:rPr lang="ru-RU" sz="2000" dirty="0"/>
              <a:t>GRANT SELECT ON </a:t>
            </a:r>
            <a:r>
              <a:rPr lang="ru-RU" sz="2000" dirty="0" err="1"/>
              <a:t>products</a:t>
            </a:r>
            <a:r>
              <a:rPr lang="ru-RU" sz="2000" dirty="0"/>
              <a:t> TO PUBLIC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Назначение прав для всех объектов одного типа в одной или нескольких схемах: </a:t>
            </a:r>
          </a:p>
          <a:p>
            <a:pPr algn="just"/>
            <a:r>
              <a:rPr lang="ru-RU" sz="2000" dirty="0"/>
              <a:t>GRANT ALL PRIVILEGES ON ALL TABLES IN SCHEMA </a:t>
            </a:r>
            <a:r>
              <a:rPr lang="ru-RU" sz="2000" dirty="0" err="1"/>
              <a:t>schema_name</a:t>
            </a:r>
            <a:r>
              <a:rPr lang="ru-RU" sz="2000" dirty="0"/>
              <a:t> TO </a:t>
            </a:r>
            <a:r>
              <a:rPr lang="ru-RU" sz="2000" dirty="0" err="1"/>
              <a:t>role_specification</a:t>
            </a:r>
            <a:endParaRPr lang="ru-RU" sz="2000" dirty="0"/>
          </a:p>
          <a:p>
            <a:pPr algn="ctr"/>
            <a:r>
              <a:rPr lang="ru-RU" sz="2000" b="1" dirty="0"/>
              <a:t>Ошибки</a:t>
            </a:r>
          </a:p>
          <a:p>
            <a:pPr algn="just"/>
            <a:r>
              <a:rPr lang="ru-RU" sz="2000" dirty="0"/>
              <a:t>•	Ошибка «</a:t>
            </a:r>
            <a:r>
              <a:rPr lang="ru-RU" sz="2000" dirty="0" err="1"/>
              <a:t>Permission</a:t>
            </a:r>
            <a:r>
              <a:rPr lang="ru-RU" sz="2000" dirty="0"/>
              <a:t> </a:t>
            </a:r>
            <a:r>
              <a:rPr lang="ru-RU" sz="2000" dirty="0" err="1"/>
              <a:t>Denied</a:t>
            </a:r>
            <a:r>
              <a:rPr lang="ru-RU" sz="2000" dirty="0"/>
              <a:t>»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Ошибка «Отказано в доступе к объекту» </a:t>
            </a:r>
            <a:r>
              <a:rPr lang="ru-RU" sz="2000" dirty="0" smtClean="0"/>
              <a:t>.Решение </a:t>
            </a:r>
            <a:r>
              <a:rPr lang="ru-RU" sz="2000" dirty="0"/>
              <a:t>— предоставить права в явном виде для нужной последовательности или установить права доступа по умолчанию для новых последовательностей с помощью команды ALTER DEFAULT PRIVILEGES</a:t>
            </a:r>
          </a:p>
          <a:p>
            <a:pPr algn="just"/>
            <a:r>
              <a:rPr lang="ru-RU" sz="2000" dirty="0"/>
              <a:t>•	Ошибка «Должен быть владельцем отношения</a:t>
            </a:r>
            <a:r>
              <a:rPr lang="ru-RU" sz="2000" dirty="0" smtClean="0"/>
              <a:t>»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36856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2718</Words>
  <Application>Microsoft Office PowerPoint</Application>
  <PresentationFormat>Широкоэкранный</PresentationFormat>
  <Paragraphs>630</Paragraphs>
  <Slides>49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Tahoma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222</cp:revision>
  <dcterms:created xsi:type="dcterms:W3CDTF">2021-10-24T19:59:40Z</dcterms:created>
  <dcterms:modified xsi:type="dcterms:W3CDTF">2026-04-11T10:30:44Z</dcterms:modified>
</cp:coreProperties>
</file>