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48" r:id="rId1"/>
  </p:sldMasterIdLst>
  <p:notesMasterIdLst>
    <p:notesMasterId r:id="rId49"/>
  </p:notesMasterIdLst>
  <p:sldIdLst>
    <p:sldId id="319" r:id="rId2"/>
    <p:sldId id="257" r:id="rId3"/>
    <p:sldId id="627" r:id="rId4"/>
    <p:sldId id="696" r:id="rId5"/>
    <p:sldId id="695" r:id="rId6"/>
    <p:sldId id="699" r:id="rId7"/>
    <p:sldId id="698" r:id="rId8"/>
    <p:sldId id="700" r:id="rId9"/>
    <p:sldId id="697" r:id="rId10"/>
    <p:sldId id="694" r:id="rId11"/>
    <p:sldId id="701" r:id="rId12"/>
    <p:sldId id="703" r:id="rId13"/>
    <p:sldId id="702" r:id="rId14"/>
    <p:sldId id="704" r:id="rId15"/>
    <p:sldId id="706" r:id="rId16"/>
    <p:sldId id="705" r:id="rId17"/>
    <p:sldId id="708" r:id="rId18"/>
    <p:sldId id="707" r:id="rId19"/>
    <p:sldId id="480" r:id="rId20"/>
    <p:sldId id="628" r:id="rId21"/>
    <p:sldId id="711" r:id="rId22"/>
    <p:sldId id="710" r:id="rId23"/>
    <p:sldId id="483" r:id="rId24"/>
    <p:sldId id="653" r:id="rId25"/>
    <p:sldId id="713" r:id="rId26"/>
    <p:sldId id="712" r:id="rId27"/>
    <p:sldId id="621" r:id="rId28"/>
    <p:sldId id="659" r:id="rId29"/>
    <p:sldId id="715" r:id="rId30"/>
    <p:sldId id="662" r:id="rId31"/>
    <p:sldId id="717" r:id="rId32"/>
    <p:sldId id="716" r:id="rId33"/>
    <p:sldId id="623" r:id="rId34"/>
    <p:sldId id="680" r:id="rId35"/>
    <p:sldId id="635" r:id="rId36"/>
    <p:sldId id="683" r:id="rId37"/>
    <p:sldId id="693" r:id="rId38"/>
    <p:sldId id="718" r:id="rId39"/>
    <p:sldId id="720" r:id="rId40"/>
    <p:sldId id="719" r:id="rId41"/>
    <p:sldId id="721" r:id="rId42"/>
    <p:sldId id="722" r:id="rId43"/>
    <p:sldId id="724" r:id="rId44"/>
    <p:sldId id="723" r:id="rId45"/>
    <p:sldId id="725" r:id="rId46"/>
    <p:sldId id="726" r:id="rId47"/>
    <p:sldId id="338" r:id="rId4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29" autoAdjust="0"/>
    <p:restoredTop sz="94662" autoAdjust="0"/>
  </p:normalViewPr>
  <p:slideViewPr>
    <p:cSldViewPr snapToGrid="0">
      <p:cViewPr>
        <p:scale>
          <a:sx n="70" d="100"/>
          <a:sy n="70" d="100"/>
        </p:scale>
        <p:origin x="426" y="912"/>
      </p:cViewPr>
      <p:guideLst>
        <p:guide orient="horz" pos="2160"/>
        <p:guide pos="3840"/>
      </p:guideLst>
    </p:cSldViewPr>
  </p:slideViewPr>
  <p:outlineViewPr>
    <p:cViewPr>
      <p:scale>
        <a:sx n="33" d="100"/>
        <a:sy n="33" d="100"/>
      </p:scale>
      <p:origin x="18" y="223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1E16D-40AE-4F7B-89DA-08FA8576FE62}" type="datetimeFigureOut">
              <a:rPr lang="ru-RU" smtClean="0"/>
              <a:t>28.03.2026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7B180-2896-4825-A371-C953116C1FCE}" type="slidenum">
              <a:rPr lang="ru-RU" smtClean="0"/>
              <a:t>‹#›</a:t>
            </a:fld>
            <a:endParaRPr lang="ru-RU"/>
          </a:p>
        </p:txBody>
      </p:sp>
    </p:spTree>
    <p:extLst>
      <p:ext uri="{BB962C8B-B14F-4D97-AF65-F5344CB8AC3E}">
        <p14:creationId xmlns:p14="http://schemas.microsoft.com/office/powerpoint/2010/main" val="1966748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a:xfrm>
            <a:off x="90488" y="744538"/>
            <a:ext cx="6616700" cy="3722687"/>
          </a:xfrm>
          <a:ln/>
        </p:spPr>
      </p:sp>
      <p:sp>
        <p:nvSpPr>
          <p:cNvPr id="34819"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ru-RU" altLang="ru-RU" smtClean="0">
              <a:latin typeface="Arial" pitchFamily="34" charset="0"/>
            </a:endParaRPr>
          </a:p>
        </p:txBody>
      </p:sp>
      <p:sp>
        <p:nvSpPr>
          <p:cNvPr id="34820"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3995C959-3E6F-4A2D-BBCE-A1FF53A98587}" type="slidenum">
              <a:rPr lang="ru-RU" altLang="ru-RU">
                <a:solidFill>
                  <a:prstClr val="black"/>
                </a:solidFill>
              </a:rPr>
              <a:pPr/>
              <a:t>1</a:t>
            </a:fld>
            <a:endParaRPr lang="ru-RU" altLang="ru-RU">
              <a:solidFill>
                <a:prstClr val="black"/>
              </a:solidFill>
            </a:endParaRPr>
          </a:p>
        </p:txBody>
      </p:sp>
    </p:spTree>
    <p:extLst>
      <p:ext uri="{BB962C8B-B14F-4D97-AF65-F5344CB8AC3E}">
        <p14:creationId xmlns:p14="http://schemas.microsoft.com/office/powerpoint/2010/main" val="4291879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896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88992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0306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44454585-7C67-480B-A3E7-2717674931C3}" type="datetimeFigureOut">
              <a:rPr lang="ru-RU" smtClean="0"/>
              <a:t>28.03.2026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351046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44454585-7C67-480B-A3E7-2717674931C3}" type="datetimeFigureOut">
              <a:rPr lang="ru-RU" smtClean="0"/>
              <a:t>28.03.2026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9980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44454585-7C67-480B-A3E7-2717674931C3}" type="datetimeFigureOut">
              <a:rPr lang="ru-RU" smtClean="0"/>
              <a:t>28.03.2026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90987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4454585-7C67-480B-A3E7-2717674931C3}" type="datetimeFigureOut">
              <a:rPr lang="ru-RU" smtClean="0"/>
              <a:t>28.03.2026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308135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28.03.2026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71137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28.03.2026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8120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44888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26544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54585-7C67-480B-A3E7-2717674931C3}" type="datetimeFigureOut">
              <a:rPr lang="ru-RU" smtClean="0"/>
              <a:t>28.03.2026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6E1B2-CEBD-427E-9745-F7D5EC90EFA3}" type="slidenum">
              <a:rPr lang="ru-RU" smtClean="0"/>
              <a:t>‹#›</a:t>
            </a:fld>
            <a:endParaRPr lang="ru-RU"/>
          </a:p>
        </p:txBody>
      </p:sp>
    </p:spTree>
    <p:extLst>
      <p:ext uri="{BB962C8B-B14F-4D97-AF65-F5344CB8AC3E}">
        <p14:creationId xmlns:p14="http://schemas.microsoft.com/office/powerpoint/2010/main" val="75720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4956265" y="510698"/>
            <a:ext cx="5691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fontAlgn="base">
              <a:spcBef>
                <a:spcPct val="0"/>
              </a:spcBef>
              <a:spcAft>
                <a:spcPct val="0"/>
              </a:spcAft>
            </a:pPr>
            <a:r>
              <a:rPr lang="ru-RU" altLang="ru-RU" sz="1400" b="1" dirty="0">
                <a:solidFill>
                  <a:srgbClr val="A40000"/>
                </a:solidFill>
                <a:latin typeface="+mn-lt"/>
                <a:cs typeface="Tahoma" pitchFamily="34" charset="0"/>
              </a:rPr>
              <a:t>НИЖЕГОРОДСКИЙ			</a:t>
            </a:r>
          </a:p>
          <a:p>
            <a:pPr fontAlgn="base">
              <a:spcBef>
                <a:spcPct val="0"/>
              </a:spcBef>
              <a:spcAft>
                <a:spcPct val="0"/>
              </a:spcAft>
            </a:pPr>
            <a:r>
              <a:rPr lang="ru-RU" altLang="ru-RU" sz="1400" b="1" dirty="0">
                <a:solidFill>
                  <a:srgbClr val="A40000"/>
                </a:solidFill>
                <a:latin typeface="+mn-lt"/>
                <a:cs typeface="Tahoma" pitchFamily="34" charset="0"/>
              </a:rPr>
              <a:t>ИНСТИТУТ				</a:t>
            </a:r>
          </a:p>
          <a:p>
            <a:pPr fontAlgn="base">
              <a:spcBef>
                <a:spcPct val="0"/>
              </a:spcBef>
              <a:spcAft>
                <a:spcPct val="0"/>
              </a:spcAft>
            </a:pPr>
            <a:r>
              <a:rPr lang="ru-RU" altLang="ru-RU" sz="1400" b="1" dirty="0">
                <a:solidFill>
                  <a:srgbClr val="A40000"/>
                </a:solidFill>
                <a:latin typeface="+mn-lt"/>
                <a:cs typeface="Tahoma" pitchFamily="34" charset="0"/>
              </a:rPr>
              <a:t>УПРАВЛЕНИЯ			</a:t>
            </a:r>
            <a:endParaRPr lang="en-US" altLang="ru-RU" sz="1400" b="1" dirty="0">
              <a:solidFill>
                <a:srgbClr val="A40000"/>
              </a:solidFill>
              <a:latin typeface="+mn-lt"/>
              <a:cs typeface="Tahoma"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854076"/>
            <a:ext cx="23447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Прямоугольник 7"/>
          <p:cNvSpPr>
            <a:spLocks noChangeArrowheads="1"/>
          </p:cNvSpPr>
          <p:nvPr/>
        </p:nvSpPr>
        <p:spPr bwMode="auto">
          <a:xfrm flipH="1">
            <a:off x="351631" y="2762182"/>
            <a:ext cx="2843213" cy="1538287"/>
          </a:xfrm>
          <a:prstGeom prst="rect">
            <a:avLst/>
          </a:prstGeom>
          <a:gradFill rotWithShape="1">
            <a:gsLst>
              <a:gs pos="0">
                <a:srgbClr val="770000"/>
              </a:gs>
              <a:gs pos="50000">
                <a:srgbClr val="AD0000"/>
              </a:gs>
              <a:gs pos="100000">
                <a:srgbClr val="CE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1042988">
              <a:defRPr>
                <a:solidFill>
                  <a:schemeClr val="tx1"/>
                </a:solidFill>
                <a:latin typeface="Arial" pitchFamily="34" charset="0"/>
              </a:defRPr>
            </a:lvl1pPr>
            <a:lvl2pPr marL="742950" indent="-285750" defTabSz="1042988">
              <a:defRPr>
                <a:solidFill>
                  <a:schemeClr val="tx1"/>
                </a:solidFill>
                <a:latin typeface="Arial" pitchFamily="34" charset="0"/>
              </a:defRPr>
            </a:lvl2pPr>
            <a:lvl3pPr marL="1143000" indent="-228600" defTabSz="1042988">
              <a:defRPr>
                <a:solidFill>
                  <a:schemeClr val="tx1"/>
                </a:solidFill>
                <a:latin typeface="Arial" pitchFamily="34" charset="0"/>
              </a:defRPr>
            </a:lvl3pPr>
            <a:lvl4pPr marL="1600200" indent="-228600" defTabSz="1042988">
              <a:defRPr>
                <a:solidFill>
                  <a:schemeClr val="tx1"/>
                </a:solidFill>
                <a:latin typeface="Arial" pitchFamily="34" charset="0"/>
              </a:defRPr>
            </a:lvl4pPr>
            <a:lvl5pPr marL="2057400" indent="-228600" defTabSz="1042988">
              <a:defRPr>
                <a:solidFill>
                  <a:schemeClr val="tx1"/>
                </a:solidFill>
                <a:latin typeface="Arial" pitchFamily="34" charset="0"/>
              </a:defRPr>
            </a:lvl5pPr>
            <a:lvl6pPr marL="2514600" indent="-228600" defTabSz="1042988" eaLnBrk="0" fontAlgn="base" hangingPunct="0">
              <a:spcBef>
                <a:spcPct val="0"/>
              </a:spcBef>
              <a:spcAft>
                <a:spcPct val="0"/>
              </a:spcAft>
              <a:defRPr>
                <a:solidFill>
                  <a:schemeClr val="tx1"/>
                </a:solidFill>
                <a:latin typeface="Arial" pitchFamily="34" charset="0"/>
              </a:defRPr>
            </a:lvl6pPr>
            <a:lvl7pPr marL="2971800" indent="-228600" defTabSz="1042988" eaLnBrk="0" fontAlgn="base" hangingPunct="0">
              <a:spcBef>
                <a:spcPct val="0"/>
              </a:spcBef>
              <a:spcAft>
                <a:spcPct val="0"/>
              </a:spcAft>
              <a:defRPr>
                <a:solidFill>
                  <a:schemeClr val="tx1"/>
                </a:solidFill>
                <a:latin typeface="Arial" pitchFamily="34" charset="0"/>
              </a:defRPr>
            </a:lvl7pPr>
            <a:lvl8pPr marL="3429000" indent="-228600" defTabSz="1042988" eaLnBrk="0" fontAlgn="base" hangingPunct="0">
              <a:spcBef>
                <a:spcPct val="0"/>
              </a:spcBef>
              <a:spcAft>
                <a:spcPct val="0"/>
              </a:spcAft>
              <a:defRPr>
                <a:solidFill>
                  <a:schemeClr val="tx1"/>
                </a:solidFill>
                <a:latin typeface="Arial" pitchFamily="34" charset="0"/>
              </a:defRPr>
            </a:lvl8pPr>
            <a:lvl9pPr marL="3886200" indent="-228600" defTabSz="1042988"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altLang="ru-RU" sz="2400" b="1" dirty="0" smtClean="0">
                <a:solidFill>
                  <a:schemeClr val="bg1"/>
                </a:solidFill>
              </a:rPr>
              <a:t>ТЕМА № 9</a:t>
            </a:r>
            <a:endParaRPr lang="ru-RU" altLang="ru-RU" sz="2400" b="1" dirty="0">
              <a:solidFill>
                <a:schemeClr val="bg1"/>
              </a:solidFill>
            </a:endParaRPr>
          </a:p>
        </p:txBody>
      </p:sp>
      <p:sp>
        <p:nvSpPr>
          <p:cNvPr id="5127" name="Text Box 23"/>
          <p:cNvSpPr txBox="1">
            <a:spLocks noChangeArrowheads="1"/>
          </p:cNvSpPr>
          <p:nvPr/>
        </p:nvSpPr>
        <p:spPr bwMode="auto">
          <a:xfrm>
            <a:off x="7535435" y="4944070"/>
            <a:ext cx="44339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fontAlgn="base" hangingPunct="1">
              <a:spcBef>
                <a:spcPct val="0"/>
              </a:spcBef>
              <a:spcAft>
                <a:spcPct val="0"/>
              </a:spcAft>
              <a:defRPr/>
            </a:pPr>
            <a:r>
              <a:rPr lang="ru-RU" sz="1600" dirty="0" smtClean="0"/>
              <a:t>кафедра </a:t>
            </a:r>
            <a:r>
              <a:rPr lang="ru-RU" sz="1600" dirty="0"/>
              <a:t>информатики и информационных технологий, </a:t>
            </a:r>
            <a:r>
              <a:rPr lang="ru-RU" sz="1600" dirty="0" err="1"/>
              <a:t>к.т.н</a:t>
            </a:r>
            <a:r>
              <a:rPr lang="ru-RU" sz="1600" dirty="0"/>
              <a:t>, доцент, </a:t>
            </a:r>
            <a:r>
              <a:rPr lang="ru-RU" sz="1600" dirty="0" smtClean="0"/>
              <a:t>Гордеев А.Б.</a:t>
            </a:r>
            <a:endParaRPr lang="ru-RU" altLang="ru-RU" sz="1600" b="1" dirty="0">
              <a:solidFill>
                <a:srgbClr val="000000"/>
              </a:solidFill>
              <a:latin typeface="Arial"/>
              <a:cs typeface="Arial" charset="0"/>
            </a:endParaRPr>
          </a:p>
        </p:txBody>
      </p:sp>
      <p:grpSp>
        <p:nvGrpSpPr>
          <p:cNvPr id="17415" name="Группа 12"/>
          <p:cNvGrpSpPr>
            <a:grpSpLocks/>
          </p:cNvGrpSpPr>
          <p:nvPr/>
        </p:nvGrpSpPr>
        <p:grpSpPr bwMode="auto">
          <a:xfrm>
            <a:off x="4616451" y="1598613"/>
            <a:ext cx="5732463" cy="781050"/>
            <a:chOff x="0" y="0"/>
            <a:chExt cx="6210300" cy="781275"/>
          </a:xfrm>
        </p:grpSpPr>
        <p:pic>
          <p:nvPicPr>
            <p:cNvPr id="17416" name="Рисунок 13" descr="D:\ИПК\Фотографии\на стенд\на сайт\главная\Академия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0"/>
              <a:ext cx="1028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Рисунок 14" descr="D:\для фотопрезентации ФПК\Презид.программа\фото Открытие Президентской  Прогр\6.jpg"/>
            <p:cNvPicPr>
              <a:picLocks noChangeAspect="1"/>
            </p:cNvPicPr>
            <p:nvPr/>
          </p:nvPicPr>
          <p:blipFill>
            <a:blip r:embed="rId5">
              <a:extLst>
                <a:ext uri="{28A0092B-C50C-407E-A947-70E740481C1C}">
                  <a14:useLocalDpi xmlns:a14="http://schemas.microsoft.com/office/drawing/2010/main" val="0"/>
                </a:ext>
              </a:extLst>
            </a:blip>
            <a:srcRect l="5675" r="-2" b="1205"/>
            <a:stretch>
              <a:fillRect/>
            </a:stretch>
          </p:blipFill>
          <p:spPr bwMode="auto">
            <a:xfrm>
              <a:off x="0" y="1"/>
              <a:ext cx="11144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Рисунок 15" descr="D:\Презид.программа 20 мая-05 июня 2013\30.05.13\работа в проектных группах_30.05.13\DSCF800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9750"/>
              <a:ext cx="10382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Рисунок 16" descr="D:\для фотопрезентации ФПК\Президентская программа (6) 17 сентября 2012 (З).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9525"/>
              <a:ext cx="1028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Рисунок 17" descr="D:\ИПК\Фотографии\для книги Академии\1.2.Здание.jpg"/>
            <p:cNvPicPr>
              <a:picLocks noChangeAspect="1"/>
            </p:cNvPicPr>
            <p:nvPr/>
          </p:nvPicPr>
          <p:blipFill>
            <a:blip r:embed="rId8">
              <a:extLst>
                <a:ext uri="{28A0092B-C50C-407E-A947-70E740481C1C}">
                  <a14:useLocalDpi xmlns:a14="http://schemas.microsoft.com/office/drawing/2010/main" val="0"/>
                </a:ext>
              </a:extLst>
            </a:blip>
            <a:srcRect t="2" b="1219"/>
            <a:stretch>
              <a:fillRect/>
            </a:stretch>
          </p:blipFill>
          <p:spPr bwMode="auto">
            <a:xfrm>
              <a:off x="4191000" y="9525"/>
              <a:ext cx="971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Рисунок 18" descr="D:\ИПК\Фотографии\для книги Академии\5.2.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9525"/>
              <a:ext cx="10477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p:cNvSpPr txBox="1"/>
          <p:nvPr/>
        </p:nvSpPr>
        <p:spPr>
          <a:xfrm>
            <a:off x="4367213" y="6021288"/>
            <a:ext cx="3718804" cy="338554"/>
          </a:xfrm>
          <a:prstGeom prst="rect">
            <a:avLst/>
          </a:prstGeom>
          <a:noFill/>
        </p:spPr>
        <p:txBody>
          <a:bodyPr wrap="square" rtlCol="0">
            <a:spAutoFit/>
          </a:bodyPr>
          <a:lstStyle/>
          <a:p>
            <a:r>
              <a:rPr lang="ru-RU" sz="1600" b="1" dirty="0"/>
              <a:t>Нижний Новгород 20</a:t>
            </a:r>
            <a:r>
              <a:rPr lang="en-US" sz="1600" b="1" dirty="0" smtClean="0"/>
              <a:t>2</a:t>
            </a:r>
            <a:r>
              <a:rPr lang="ru-RU" sz="1600" b="1" dirty="0" smtClean="0"/>
              <a:t>6</a:t>
            </a:r>
            <a:endParaRPr lang="ru-RU" sz="1600" b="1" dirty="0"/>
          </a:p>
        </p:txBody>
      </p:sp>
      <p:sp>
        <p:nvSpPr>
          <p:cNvPr id="4" name="Прямоугольник 3"/>
          <p:cNvSpPr/>
          <p:nvPr/>
        </p:nvSpPr>
        <p:spPr>
          <a:xfrm>
            <a:off x="3736428" y="3244334"/>
            <a:ext cx="7993117" cy="707886"/>
          </a:xfrm>
          <a:prstGeom prst="rect">
            <a:avLst/>
          </a:prstGeom>
        </p:spPr>
        <p:txBody>
          <a:bodyPr wrap="square">
            <a:spAutoFit/>
          </a:bodyPr>
          <a:lstStyle/>
          <a:p>
            <a:pPr algn="ctr"/>
            <a:r>
              <a:rPr lang="ru-RU" sz="4000" b="1" i="1" dirty="0" smtClean="0">
                <a:solidFill>
                  <a:srgbClr val="FF0000"/>
                </a:solidFill>
              </a:rPr>
              <a:t>ТРАНЗАКЦИЯ </a:t>
            </a:r>
            <a:endParaRPr lang="ru-RU" sz="4000" b="1" dirty="0">
              <a:solidFill>
                <a:srgbClr val="FF0000"/>
              </a:solidFill>
            </a:endParaRPr>
          </a:p>
        </p:txBody>
      </p:sp>
    </p:spTree>
    <p:extLst>
      <p:ext uri="{BB962C8B-B14F-4D97-AF65-F5344CB8AC3E}">
        <p14:creationId xmlns:p14="http://schemas.microsoft.com/office/powerpoint/2010/main" val="771745572"/>
      </p:ext>
    </p:extLst>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algn="ctr"/>
            <a:r>
              <a:rPr lang="ru-RU" sz="4000" b="1" dirty="0">
                <a:solidFill>
                  <a:srgbClr val="FF0000"/>
                </a:solidFill>
              </a:rPr>
              <a:t>Транзакция в </a:t>
            </a:r>
            <a:r>
              <a:rPr lang="ru-RU" sz="4000" b="1" dirty="0" err="1">
                <a:solidFill>
                  <a:srgbClr val="FF0000"/>
                </a:solidFill>
              </a:rPr>
              <a:t>PostgreSQL</a:t>
            </a:r>
            <a:r>
              <a:rPr lang="ru-RU" sz="4000" b="1" dirty="0">
                <a:solidFill>
                  <a:srgbClr val="FF0000"/>
                </a:solidFill>
              </a:rPr>
              <a:t> </a:t>
            </a:r>
            <a:endParaRPr lang="ru-RU" sz="4000" b="1" dirty="0" smtClean="0">
              <a:solidFill>
                <a:srgbClr val="FF0000"/>
              </a:solidFill>
            </a:endParaRPr>
          </a:p>
          <a:p>
            <a:pPr algn="ctr"/>
            <a:r>
              <a:rPr lang="ru-RU" sz="4000" b="1" dirty="0" smtClean="0"/>
              <a:t>Вопрос 1</a:t>
            </a:r>
            <a:endParaRPr lang="ru-RU" sz="4000" dirty="0"/>
          </a:p>
        </p:txBody>
      </p:sp>
    </p:spTree>
    <p:extLst>
      <p:ext uri="{BB962C8B-B14F-4D97-AF65-F5344CB8AC3E}">
        <p14:creationId xmlns:p14="http://schemas.microsoft.com/office/powerpoint/2010/main" val="1801749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pPr algn="just"/>
            <a:r>
              <a:rPr lang="ru-RU" sz="2000" b="1" dirty="0"/>
              <a:t>Транзакция</a:t>
            </a:r>
            <a:r>
              <a:rPr lang="ru-RU" sz="2000" dirty="0"/>
              <a:t> — это последовательность одной или нескольких операций в базе данных, которая выполняется как единое целое. </a:t>
            </a:r>
            <a:endParaRPr lang="ru-RU" sz="2000" dirty="0" smtClean="0"/>
          </a:p>
          <a:p>
            <a:pPr algn="just"/>
            <a:r>
              <a:rPr lang="ru-RU" sz="2000" b="1" dirty="0" smtClean="0"/>
              <a:t>Цель </a:t>
            </a:r>
            <a:r>
              <a:rPr lang="ru-RU" sz="2000" b="1" dirty="0"/>
              <a:t>транзакции </a:t>
            </a:r>
            <a:r>
              <a:rPr lang="ru-RU" sz="2000" dirty="0"/>
              <a:t>— гарантировать, что все операции внутри нее либо завершатся успешно, либо не будут применены </a:t>
            </a:r>
            <a:r>
              <a:rPr lang="ru-RU" sz="2000" dirty="0" smtClean="0"/>
              <a:t>вообще</a:t>
            </a:r>
          </a:p>
          <a:p>
            <a:pPr algn="ctr"/>
            <a:r>
              <a:rPr lang="ru-RU" sz="2000" b="1" dirty="0"/>
              <a:t>Основные свойства транзакции — </a:t>
            </a:r>
            <a:r>
              <a:rPr lang="en-US" sz="2000" b="1" dirty="0" smtClean="0"/>
              <a:t>ACID</a:t>
            </a:r>
            <a:endParaRPr lang="ru-RU" sz="2000" b="1" dirty="0"/>
          </a:p>
          <a:p>
            <a:pPr algn="just"/>
            <a:r>
              <a:rPr lang="ru-RU" sz="2000" b="1" dirty="0" smtClean="0"/>
              <a:t>Атомарность </a:t>
            </a:r>
            <a:r>
              <a:rPr lang="ru-RU" sz="2000" b="1" dirty="0"/>
              <a:t>(</a:t>
            </a:r>
            <a:r>
              <a:rPr lang="ru-RU" sz="2000" b="1" dirty="0" err="1"/>
              <a:t>Atomicity</a:t>
            </a:r>
            <a:r>
              <a:rPr lang="ru-RU" sz="2000" b="1" dirty="0"/>
              <a:t>) </a:t>
            </a:r>
            <a:r>
              <a:rPr lang="ru-RU" sz="2000" dirty="0"/>
              <a:t>— свойство транзакций в </a:t>
            </a:r>
            <a:r>
              <a:rPr lang="ru-RU" sz="2000" dirty="0" err="1"/>
              <a:t>PostgreSQL</a:t>
            </a:r>
            <a:r>
              <a:rPr lang="ru-RU" sz="2000" dirty="0"/>
              <a:t>, которое гарантирует, что либо транзакция будет зафиксирована в базе данных </a:t>
            </a:r>
            <a:r>
              <a:rPr lang="ru-RU" sz="2000" dirty="0" smtClean="0"/>
              <a:t>полностью, </a:t>
            </a:r>
            <a:r>
              <a:rPr lang="ru-RU" sz="2000" dirty="0"/>
              <a:t>либо не будет зафиксирована ни одна операция транзакции. </a:t>
            </a:r>
          </a:p>
          <a:p>
            <a:pPr algn="just"/>
            <a:r>
              <a:rPr lang="ru-RU" sz="2000" dirty="0"/>
              <a:t>Это свойство относится к понятию ACID — набора свойств, которые гарантируют надёжность транзакций в базах данных</a:t>
            </a:r>
          </a:p>
          <a:p>
            <a:pPr algn="ctr"/>
            <a:r>
              <a:rPr lang="ru-RU" sz="2000" b="1" dirty="0"/>
              <a:t>Принцип работы</a:t>
            </a:r>
          </a:p>
          <a:p>
            <a:pPr algn="just"/>
            <a:r>
              <a:rPr lang="ru-RU" sz="2000" dirty="0"/>
              <a:t>В </a:t>
            </a:r>
            <a:r>
              <a:rPr lang="ru-RU" sz="2000" dirty="0" err="1"/>
              <a:t>PostgreSQL</a:t>
            </a:r>
            <a:r>
              <a:rPr lang="ru-RU" sz="2000" dirty="0"/>
              <a:t> свойство атомарности реализуется с помощью механизма ROLLBACK</a:t>
            </a:r>
            <a:endParaRPr lang="ru-RU" sz="2000" dirty="0" smtClean="0"/>
          </a:p>
          <a:p>
            <a:pPr algn="just"/>
            <a:r>
              <a:rPr lang="ru-RU" sz="2000" b="1" dirty="0" smtClean="0"/>
              <a:t>Атомарность</a:t>
            </a:r>
            <a:r>
              <a:rPr lang="ru-RU" sz="2000" dirty="0" smtClean="0"/>
              <a:t> </a:t>
            </a:r>
            <a:r>
              <a:rPr lang="ru-RU" sz="2000" dirty="0"/>
              <a:t>обеспечивается за счёт </a:t>
            </a:r>
            <a:r>
              <a:rPr lang="ru-RU" sz="2000" b="1" dirty="0"/>
              <a:t>MVCC (</a:t>
            </a:r>
            <a:r>
              <a:rPr lang="ru-RU" sz="2000" b="1" dirty="0" err="1"/>
              <a:t>Multi-Version</a:t>
            </a:r>
            <a:r>
              <a:rPr lang="ru-RU" sz="2000" b="1" dirty="0"/>
              <a:t> </a:t>
            </a:r>
            <a:r>
              <a:rPr lang="ru-RU" sz="2000" b="1" dirty="0" err="1"/>
              <a:t>Concurrency</a:t>
            </a:r>
            <a:r>
              <a:rPr lang="ru-RU" sz="2000" b="1" dirty="0"/>
              <a:t> </a:t>
            </a:r>
            <a:r>
              <a:rPr lang="ru-RU" sz="2000" b="1" dirty="0" err="1"/>
              <a:t>Control</a:t>
            </a:r>
            <a:r>
              <a:rPr lang="ru-RU" sz="2000" b="1" dirty="0"/>
              <a:t>) </a:t>
            </a:r>
            <a:r>
              <a:rPr lang="ru-RU" sz="2000" dirty="0"/>
              <a:t>— механизма, который позволяет транзакциям работать с «снимками» данных, не блокируя их для других </a:t>
            </a:r>
            <a:r>
              <a:rPr lang="ru-RU" sz="2000" dirty="0" smtClean="0"/>
              <a:t>пользователей</a:t>
            </a:r>
          </a:p>
          <a:p>
            <a:pPr algn="just"/>
            <a:r>
              <a:rPr lang="ru-RU" sz="2000" b="1" dirty="0"/>
              <a:t>Пример, иллюстрирующий работу свойства атомарности в </a:t>
            </a:r>
            <a:r>
              <a:rPr lang="ru-RU" sz="2000" b="1" dirty="0" err="1"/>
              <a:t>PostgreSQL</a:t>
            </a:r>
            <a:r>
              <a:rPr lang="ru-RU" sz="2000" b="1" dirty="0"/>
              <a:t>:</a:t>
            </a:r>
          </a:p>
          <a:p>
            <a:pPr algn="just"/>
            <a:r>
              <a:rPr lang="ru-RU" sz="2000" dirty="0"/>
              <a:t>•	Транзакция обновляет 100 строк. Если после 20 строк произошла ошибка, то вся база данных откатится до состояния до изменения этих 20 строк. </a:t>
            </a:r>
          </a:p>
          <a:p>
            <a:pPr algn="just"/>
            <a:r>
              <a:rPr lang="ru-RU" sz="2000" dirty="0"/>
              <a:t>•	Перевод денег с одного счёта на другой. В транзакцию упакованы запрос уменьшения суммы на счёте клиента и начисления этой суммы на счёт продавца. </a:t>
            </a:r>
          </a:p>
        </p:txBody>
      </p:sp>
    </p:spTree>
    <p:extLst>
      <p:ext uri="{BB962C8B-B14F-4D97-AF65-F5344CB8AC3E}">
        <p14:creationId xmlns:p14="http://schemas.microsoft.com/office/powerpoint/2010/main" val="605339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293757"/>
          </a:xfrm>
          <a:prstGeom prst="rect">
            <a:avLst/>
          </a:prstGeom>
        </p:spPr>
        <p:txBody>
          <a:bodyPr wrap="square">
            <a:spAutoFit/>
          </a:bodyPr>
          <a:lstStyle/>
          <a:p>
            <a:pPr algn="ctr"/>
            <a:r>
              <a:rPr lang="ru-RU" sz="2000" b="1" dirty="0" smtClean="0"/>
              <a:t>Ошибки</a:t>
            </a:r>
            <a:endParaRPr lang="ru-RU" sz="2000" b="1" dirty="0"/>
          </a:p>
          <a:p>
            <a:pPr algn="just"/>
            <a:r>
              <a:rPr lang="ru-RU" sz="2000" dirty="0"/>
              <a:t>Нарушение свойства атомарности может привести к </a:t>
            </a:r>
            <a:r>
              <a:rPr lang="ru-RU" sz="2000" dirty="0" err="1"/>
              <a:t>неконсистентным</a:t>
            </a:r>
            <a:r>
              <a:rPr lang="ru-RU" sz="2000" dirty="0"/>
              <a:t> данным </a:t>
            </a:r>
            <a:r>
              <a:rPr lang="ru-RU" sz="2000" dirty="0" smtClean="0"/>
              <a:t>. </a:t>
            </a:r>
            <a:r>
              <a:rPr lang="ru-RU" sz="2000" dirty="0"/>
              <a:t>Чтобы избежать этого, </a:t>
            </a:r>
            <a:r>
              <a:rPr lang="ru-RU" sz="2000" dirty="0" err="1"/>
              <a:t>PostgreSQL</a:t>
            </a:r>
            <a:r>
              <a:rPr lang="ru-RU" sz="2000" dirty="0"/>
              <a:t> использует механизм </a:t>
            </a:r>
            <a:r>
              <a:rPr lang="ru-RU" sz="2000" b="1" dirty="0"/>
              <a:t>ROLLBAC</a:t>
            </a:r>
            <a:r>
              <a:rPr lang="ru-RU" sz="2000" dirty="0"/>
              <a:t>K, который позволяет отменять незавершённые транзакции. </a:t>
            </a:r>
          </a:p>
          <a:p>
            <a:pPr algn="ctr"/>
            <a:r>
              <a:rPr lang="ru-RU" sz="2000" b="1" dirty="0" smtClean="0"/>
              <a:t>Достоинства</a:t>
            </a:r>
          </a:p>
          <a:p>
            <a:r>
              <a:rPr lang="ru-RU" sz="2000" dirty="0" smtClean="0"/>
              <a:t>•</a:t>
            </a:r>
            <a:r>
              <a:rPr lang="ru-RU" sz="2000" dirty="0"/>
              <a:t>	Предотвращение </a:t>
            </a:r>
            <a:r>
              <a:rPr lang="ru-RU" sz="2000" dirty="0" err="1"/>
              <a:t>неконсистентных</a:t>
            </a:r>
            <a:r>
              <a:rPr lang="ru-RU" sz="2000" dirty="0"/>
              <a:t> данных. </a:t>
            </a:r>
            <a:endParaRPr lang="ru-RU" sz="2000" dirty="0" smtClean="0"/>
          </a:p>
          <a:p>
            <a:r>
              <a:rPr lang="ru-RU" sz="2000" dirty="0" smtClean="0"/>
              <a:t>•</a:t>
            </a:r>
            <a:r>
              <a:rPr lang="ru-RU" sz="2000" dirty="0"/>
              <a:t>	Обеспечение надёжности транзакций. </a:t>
            </a:r>
            <a:endParaRPr lang="ru-RU" sz="2000" dirty="0" smtClean="0"/>
          </a:p>
          <a:p>
            <a:r>
              <a:rPr lang="ru-RU" sz="2000" dirty="0" smtClean="0"/>
              <a:t>•</a:t>
            </a:r>
            <a:r>
              <a:rPr lang="ru-RU" sz="2000" dirty="0"/>
              <a:t>	Защита от конфликтов между параллельными транзакциями. </a:t>
            </a:r>
            <a:endParaRPr lang="ru-RU" sz="2000" dirty="0" smtClean="0"/>
          </a:p>
          <a:p>
            <a:r>
              <a:rPr lang="ru-RU" sz="2000" dirty="0" smtClean="0"/>
              <a:t>•</a:t>
            </a:r>
            <a:r>
              <a:rPr lang="ru-RU" sz="2000" dirty="0"/>
              <a:t>	Гарантия долговечности данных. </a:t>
            </a:r>
            <a:endParaRPr lang="ru-RU" sz="2000" dirty="0" smtClean="0"/>
          </a:p>
          <a:p>
            <a:pPr algn="ctr"/>
            <a:r>
              <a:rPr lang="ru-RU" sz="2000" b="1" dirty="0"/>
              <a:t>Недостатки</a:t>
            </a:r>
          </a:p>
          <a:p>
            <a:r>
              <a:rPr lang="ru-RU" sz="2000" dirty="0"/>
              <a:t>•	Ущерб скорости обработки данных</a:t>
            </a:r>
            <a:r>
              <a:rPr lang="ru-RU" sz="2000" dirty="0" smtClean="0"/>
              <a:t>. </a:t>
            </a:r>
            <a:endParaRPr lang="ru-RU" sz="2000" dirty="0"/>
          </a:p>
          <a:p>
            <a:r>
              <a:rPr lang="ru-RU" sz="2000" dirty="0"/>
              <a:t>•	Проблемы с долгими </a:t>
            </a:r>
            <a:r>
              <a:rPr lang="ru-RU" sz="2000" dirty="0" smtClean="0"/>
              <a:t>транзакциями</a:t>
            </a:r>
          </a:p>
          <a:p>
            <a:r>
              <a:rPr lang="ru-RU" sz="2000" dirty="0" smtClean="0"/>
              <a:t>•</a:t>
            </a:r>
            <a:r>
              <a:rPr lang="ru-RU" sz="2000" dirty="0"/>
              <a:t>	Недостатки метода PREPARE </a:t>
            </a:r>
            <a:r>
              <a:rPr lang="ru-RU" sz="2000" dirty="0" smtClean="0"/>
              <a:t>TRANSACTION</a:t>
            </a:r>
            <a:endParaRPr lang="ru-RU" sz="2000" dirty="0"/>
          </a:p>
          <a:p>
            <a:pPr algn="ctr"/>
            <a:r>
              <a:rPr lang="ru-RU" sz="2000" b="1" dirty="0" smtClean="0"/>
              <a:t>Управление</a:t>
            </a:r>
            <a:endParaRPr lang="ru-RU" sz="2000" b="1" dirty="0"/>
          </a:p>
          <a:p>
            <a:r>
              <a:rPr lang="ru-RU" sz="2000" dirty="0"/>
              <a:t>•	</a:t>
            </a:r>
            <a:r>
              <a:rPr lang="ru-RU" sz="2000" b="1" dirty="0"/>
              <a:t>BEGIN</a:t>
            </a:r>
            <a:r>
              <a:rPr lang="ru-RU" sz="2000" dirty="0"/>
              <a:t> — инициирует новую транзакцию. </a:t>
            </a:r>
          </a:p>
          <a:p>
            <a:r>
              <a:rPr lang="ru-RU" sz="2000" dirty="0"/>
              <a:t>•	</a:t>
            </a:r>
            <a:r>
              <a:rPr lang="ru-RU" sz="2000" b="1" dirty="0"/>
              <a:t>COMMIT</a:t>
            </a:r>
            <a:r>
              <a:rPr lang="ru-RU" sz="2000" dirty="0"/>
              <a:t> — завершает текущую транзакцию, применяя все её операции. </a:t>
            </a:r>
          </a:p>
          <a:p>
            <a:r>
              <a:rPr lang="ru-RU" sz="2000" dirty="0"/>
              <a:t>•	</a:t>
            </a:r>
            <a:r>
              <a:rPr lang="ru-RU" sz="2000" b="1" dirty="0"/>
              <a:t>ROLLBACK</a:t>
            </a:r>
            <a:r>
              <a:rPr lang="ru-RU" sz="2000" dirty="0"/>
              <a:t> — откатывает текущую транзакцию, отменяя все её операции</a:t>
            </a:r>
          </a:p>
          <a:p>
            <a:endParaRPr lang="ru-RU" dirty="0"/>
          </a:p>
        </p:txBody>
      </p:sp>
    </p:spTree>
    <p:extLst>
      <p:ext uri="{BB962C8B-B14F-4D97-AF65-F5344CB8AC3E}">
        <p14:creationId xmlns:p14="http://schemas.microsoft.com/office/powerpoint/2010/main" val="2450021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940088"/>
          </a:xfrm>
          <a:prstGeom prst="rect">
            <a:avLst/>
          </a:prstGeom>
        </p:spPr>
        <p:txBody>
          <a:bodyPr wrap="square">
            <a:spAutoFit/>
          </a:bodyPr>
          <a:lstStyle/>
          <a:p>
            <a:pPr algn="ctr"/>
            <a:r>
              <a:rPr lang="en-US" sz="2000" b="1" dirty="0" smtClean="0"/>
              <a:t>BEGIN</a:t>
            </a:r>
            <a:endParaRPr lang="ru-RU" sz="2000" b="1" dirty="0" smtClean="0"/>
          </a:p>
          <a:p>
            <a:pPr algn="just"/>
            <a:r>
              <a:rPr lang="ru-RU" sz="2000" dirty="0"/>
              <a:t>BEGIN в </a:t>
            </a:r>
            <a:r>
              <a:rPr lang="ru-RU" sz="2000" dirty="0" err="1"/>
              <a:t>PostgreSQL</a:t>
            </a:r>
            <a:r>
              <a:rPr lang="ru-RU" sz="2000" dirty="0"/>
              <a:t> — команда, которая начинает блок транзакции</a:t>
            </a:r>
            <a:r>
              <a:rPr lang="ru-RU" sz="2000" dirty="0" smtClean="0"/>
              <a:t>. В</a:t>
            </a:r>
            <a:r>
              <a:rPr lang="ru-RU" dirty="0" smtClean="0"/>
              <a:t>се </a:t>
            </a:r>
            <a:r>
              <a:rPr lang="ru-RU" dirty="0"/>
              <a:t>операторы после команды BEGIN и до явной команды </a:t>
            </a:r>
            <a:r>
              <a:rPr lang="ru-RU" b="1" dirty="0"/>
              <a:t>COMMIT</a:t>
            </a:r>
            <a:r>
              <a:rPr lang="ru-RU" dirty="0"/>
              <a:t> или </a:t>
            </a:r>
            <a:r>
              <a:rPr lang="ru-RU" b="1" dirty="0"/>
              <a:t>ROLLBAC</a:t>
            </a:r>
            <a:r>
              <a:rPr lang="ru-RU" dirty="0"/>
              <a:t>K будут выполняться в одной транзакции</a:t>
            </a:r>
            <a:r>
              <a:rPr lang="ru-RU" sz="2000" dirty="0" smtClean="0"/>
              <a:t>  </a:t>
            </a:r>
          </a:p>
          <a:p>
            <a:pPr algn="just"/>
            <a:r>
              <a:rPr lang="ru-RU" sz="2000" b="1" dirty="0"/>
              <a:t>Описание:</a:t>
            </a:r>
          </a:p>
          <a:p>
            <a:pPr algn="just"/>
            <a:r>
              <a:rPr lang="ru-RU" sz="2000" dirty="0" smtClean="0"/>
              <a:t>• По </a:t>
            </a:r>
            <a:r>
              <a:rPr lang="ru-RU" sz="2000" dirty="0"/>
              <a:t>умолчанию (без BEGIN) </a:t>
            </a:r>
            <a:r>
              <a:rPr lang="ru-RU" sz="2000" dirty="0" err="1"/>
              <a:t>PostgreSQL</a:t>
            </a:r>
            <a:r>
              <a:rPr lang="ru-RU" sz="2000" dirty="0"/>
              <a:t> выполняет транзакции в режиме «</a:t>
            </a:r>
            <a:r>
              <a:rPr lang="ru-RU" sz="2000" dirty="0" err="1"/>
              <a:t>autocommit</a:t>
            </a:r>
            <a:r>
              <a:rPr lang="ru-RU" sz="2000" dirty="0"/>
              <a:t>» (</a:t>
            </a:r>
            <a:r>
              <a:rPr lang="ru-RU" sz="2000" dirty="0" err="1"/>
              <a:t>автофиксация</a:t>
            </a:r>
            <a:r>
              <a:rPr lang="ru-RU" sz="2000" dirty="0" smtClean="0"/>
              <a:t>)</a:t>
            </a:r>
          </a:p>
          <a:p>
            <a:pPr algn="just"/>
            <a:r>
              <a:rPr lang="ru-RU" sz="2000" dirty="0" smtClean="0"/>
              <a:t>• В </a:t>
            </a:r>
            <a:r>
              <a:rPr lang="ru-RU" sz="2000" dirty="0"/>
              <a:t>блоке транзакции операторы выполняются </a:t>
            </a:r>
            <a:r>
              <a:rPr lang="ru-RU" sz="2000" dirty="0" smtClean="0"/>
              <a:t>быстрее</a:t>
            </a:r>
            <a:endParaRPr lang="ru-RU" sz="2000" dirty="0"/>
          </a:p>
          <a:p>
            <a:pPr algn="just"/>
            <a:r>
              <a:rPr lang="ru-RU" sz="2000" dirty="0" smtClean="0"/>
              <a:t>• Выполнение </a:t>
            </a:r>
            <a:r>
              <a:rPr lang="ru-RU" sz="2000" dirty="0"/>
              <a:t>нескольких операторов в одной транзакции позволяет обеспечить целостность при внесении серии связанных </a:t>
            </a:r>
            <a:r>
              <a:rPr lang="ru-RU" sz="2000" dirty="0" smtClean="0"/>
              <a:t>изменений </a:t>
            </a:r>
          </a:p>
          <a:p>
            <a:pPr algn="just"/>
            <a:r>
              <a:rPr lang="ru-RU" sz="2000" b="1" dirty="0"/>
              <a:t>Синтаксис: </a:t>
            </a:r>
          </a:p>
          <a:p>
            <a:pPr algn="just"/>
            <a:r>
              <a:rPr lang="en-US" sz="2000" i="1" dirty="0"/>
              <a:t>BEGIN [ WORK | TRANSACTION ] [ </a:t>
            </a:r>
            <a:r>
              <a:rPr lang="ru-RU" sz="2000" i="1" dirty="0" err="1"/>
              <a:t>режим_транзакции</a:t>
            </a:r>
            <a:r>
              <a:rPr lang="ru-RU" sz="2000" i="1" dirty="0"/>
              <a:t> [, ...] ]</a:t>
            </a:r>
          </a:p>
          <a:p>
            <a:pPr algn="just"/>
            <a:r>
              <a:rPr lang="ru-RU" sz="2000" dirty="0" err="1"/>
              <a:t>Режим_транзакции</a:t>
            </a:r>
            <a:r>
              <a:rPr lang="ru-RU" sz="2000" dirty="0"/>
              <a:t> может быть следующим: </a:t>
            </a:r>
            <a:r>
              <a:rPr lang="en-US" sz="2000" i="1" dirty="0"/>
              <a:t>ISOLATION LEVEL { SERIALIZABLE | REPEATABLE READ | READ COMMITTED | READ UNCOMMITTED } READ WRITE | READ ONLY [ NOT ] DEFERRABLE</a:t>
            </a:r>
            <a:r>
              <a:rPr lang="en-US" sz="2000" dirty="0"/>
              <a:t>.  </a:t>
            </a:r>
          </a:p>
          <a:p>
            <a:pPr algn="just"/>
            <a:r>
              <a:rPr lang="ru-RU" sz="2000" dirty="0"/>
              <a:t>Параметры </a:t>
            </a:r>
            <a:r>
              <a:rPr lang="en-US" sz="2000" dirty="0"/>
              <a:t>WORK </a:t>
            </a:r>
            <a:r>
              <a:rPr lang="ru-RU" sz="2000" dirty="0"/>
              <a:t>и </a:t>
            </a:r>
            <a:r>
              <a:rPr lang="en-US" sz="2000" dirty="0"/>
              <a:t>TRANSACTION — </a:t>
            </a:r>
            <a:r>
              <a:rPr lang="ru-RU" sz="2000" dirty="0"/>
              <a:t>необязательные ключевые слова, не оказывают влияния. </a:t>
            </a:r>
            <a:endParaRPr lang="ru-RU" sz="2000" dirty="0" smtClean="0"/>
          </a:p>
          <a:p>
            <a:pPr algn="just"/>
            <a:r>
              <a:rPr lang="ru-RU" sz="2000" b="1" dirty="0"/>
              <a:t>Примеры использования</a:t>
            </a:r>
          </a:p>
          <a:p>
            <a:pPr algn="just"/>
            <a:r>
              <a:rPr lang="ru-RU" sz="2000" dirty="0"/>
              <a:t>Пример 1: вставка новой записи в таблицу студентов внутри блока транзакции:</a:t>
            </a:r>
          </a:p>
          <a:p>
            <a:pPr algn="just"/>
            <a:r>
              <a:rPr lang="en-US" sz="2000" dirty="0"/>
              <a:t>BEGIN; INSERT INTO students (</a:t>
            </a:r>
            <a:r>
              <a:rPr lang="en-US" sz="2000" dirty="0" err="1"/>
              <a:t>student_id</a:t>
            </a:r>
            <a:r>
              <a:rPr lang="en-US" sz="2000" dirty="0"/>
              <a:t>, </a:t>
            </a:r>
            <a:r>
              <a:rPr lang="en-US" sz="2000" dirty="0" err="1"/>
              <a:t>full_name</a:t>
            </a:r>
            <a:r>
              <a:rPr lang="en-US" sz="2000" dirty="0"/>
              <a:t>, marks) VALUES (5, '</a:t>
            </a:r>
            <a:r>
              <a:rPr lang="en-US" sz="2000" dirty="0" err="1"/>
              <a:t>Mehboob</a:t>
            </a:r>
            <a:r>
              <a:rPr lang="en-US" sz="2000" dirty="0"/>
              <a:t> </a:t>
            </a:r>
            <a:r>
              <a:rPr lang="en-US" sz="2000" dirty="0" err="1"/>
              <a:t>Dilse</a:t>
            </a:r>
            <a:r>
              <a:rPr lang="en-US" sz="2000" dirty="0"/>
              <a:t>', 10); COMMIT;</a:t>
            </a:r>
          </a:p>
          <a:p>
            <a:pPr algn="just"/>
            <a:r>
              <a:rPr lang="ru-RU" sz="2000" dirty="0"/>
              <a:t>Пример 2: обновление записи внутри блока транзакции:</a:t>
            </a:r>
          </a:p>
          <a:p>
            <a:pPr algn="just"/>
            <a:r>
              <a:rPr lang="en-US" sz="2000" dirty="0"/>
              <a:t>BEGIN; UPDATE students SET marks = 2 WHERE </a:t>
            </a:r>
            <a:r>
              <a:rPr lang="en-US" sz="2000" dirty="0" err="1"/>
              <a:t>student_id</a:t>
            </a:r>
            <a:r>
              <a:rPr lang="en-US" sz="2000" dirty="0"/>
              <a:t> = 1; COMMIT;</a:t>
            </a:r>
          </a:p>
          <a:p>
            <a:pPr algn="just"/>
            <a:endParaRPr lang="ru-RU" sz="2000" dirty="0"/>
          </a:p>
        </p:txBody>
      </p:sp>
    </p:spTree>
    <p:extLst>
      <p:ext uri="{BB962C8B-B14F-4D97-AF65-F5344CB8AC3E}">
        <p14:creationId xmlns:p14="http://schemas.microsoft.com/office/powerpoint/2010/main" val="504393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4093428"/>
          </a:xfrm>
          <a:prstGeom prst="rect">
            <a:avLst/>
          </a:prstGeom>
        </p:spPr>
        <p:txBody>
          <a:bodyPr wrap="square">
            <a:spAutoFit/>
          </a:bodyPr>
          <a:lstStyle/>
          <a:p>
            <a:pPr algn="just"/>
            <a:r>
              <a:rPr lang="ru-RU" sz="2000" b="1" dirty="0"/>
              <a:t>Достоинства</a:t>
            </a:r>
          </a:p>
          <a:p>
            <a:pPr algn="just"/>
            <a:r>
              <a:rPr lang="ru-RU" sz="2000" dirty="0"/>
              <a:t>•	Обеспечение целостности данных при внесении серии связанных изменений. </a:t>
            </a:r>
          </a:p>
          <a:p>
            <a:pPr algn="just"/>
            <a:r>
              <a:rPr lang="ru-RU" sz="2000" dirty="0"/>
              <a:t>•	Оптимизация производительности </a:t>
            </a:r>
            <a:endParaRPr lang="ru-RU" sz="2000" dirty="0" smtClean="0"/>
          </a:p>
          <a:p>
            <a:pPr algn="just"/>
            <a:r>
              <a:rPr lang="ru-RU" sz="2000" dirty="0" smtClean="0"/>
              <a:t>•</a:t>
            </a:r>
            <a:r>
              <a:rPr lang="ru-RU" sz="2000" dirty="0"/>
              <a:t>	Возможность явно контролировать границы </a:t>
            </a:r>
            <a:r>
              <a:rPr lang="ru-RU" sz="2000" dirty="0" smtClean="0"/>
              <a:t>транзакции</a:t>
            </a:r>
            <a:endParaRPr lang="ru-RU" sz="2000" dirty="0"/>
          </a:p>
          <a:p>
            <a:pPr algn="just"/>
            <a:r>
              <a:rPr lang="ru-RU" sz="2000" dirty="0"/>
              <a:t>•	Обеспечение гарантированного выполнения </a:t>
            </a:r>
            <a:endParaRPr lang="ru-RU" sz="2000" dirty="0" smtClean="0"/>
          </a:p>
          <a:p>
            <a:pPr algn="just"/>
            <a:r>
              <a:rPr lang="ru-RU" sz="2000" b="1" dirty="0"/>
              <a:t>Недостатки</a:t>
            </a:r>
          </a:p>
          <a:p>
            <a:pPr algn="just"/>
            <a:r>
              <a:rPr lang="ru-RU" sz="2000" dirty="0"/>
              <a:t>•	Предупреждение при попытке выполнить BEGIN внутри уже начатого блока транзакции </a:t>
            </a:r>
            <a:endParaRPr lang="ru-RU" sz="2000" dirty="0" smtClean="0"/>
          </a:p>
          <a:p>
            <a:pPr algn="just"/>
            <a:r>
              <a:rPr lang="ru-RU" sz="2000" dirty="0" smtClean="0"/>
              <a:t>•</a:t>
            </a:r>
            <a:r>
              <a:rPr lang="ru-RU" sz="2000" dirty="0"/>
              <a:t>	Игнорирование последующих команд </a:t>
            </a:r>
            <a:endParaRPr lang="ru-RU" sz="2000" dirty="0" smtClean="0"/>
          </a:p>
          <a:p>
            <a:pPr algn="just"/>
            <a:r>
              <a:rPr lang="ru-RU" sz="2000" dirty="0" smtClean="0"/>
              <a:t>•</a:t>
            </a:r>
            <a:r>
              <a:rPr lang="ru-RU" sz="2000" dirty="0"/>
              <a:t>	Проблема, если забыть написать COMMIT </a:t>
            </a:r>
            <a:endParaRPr lang="ru-RU" sz="2000" dirty="0" smtClean="0"/>
          </a:p>
          <a:p>
            <a:pPr algn="just"/>
            <a:endParaRPr lang="ru-RU" sz="2000" dirty="0" smtClean="0"/>
          </a:p>
          <a:p>
            <a:pPr algn="just"/>
            <a:r>
              <a:rPr lang="ru-RU" sz="2000" i="1" dirty="0"/>
              <a:t>для завершения блока транзакции нужно использовать COMMIT (успешное завершение) или ROLLBACK (откат). Если выполняется одна команда (например, один INSERT), </a:t>
            </a:r>
            <a:r>
              <a:rPr lang="ru-RU" sz="2000" i="1" dirty="0" err="1"/>
              <a:t>PostgreSQL</a:t>
            </a:r>
            <a:r>
              <a:rPr lang="ru-RU" sz="2000" i="1" dirty="0"/>
              <a:t> сам неявно делает BEGIN и COMMIT, не нужно писать их вручную. </a:t>
            </a:r>
          </a:p>
        </p:txBody>
      </p:sp>
    </p:spTree>
    <p:extLst>
      <p:ext uri="{BB962C8B-B14F-4D97-AF65-F5344CB8AC3E}">
        <p14:creationId xmlns:p14="http://schemas.microsoft.com/office/powerpoint/2010/main" val="192287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63417"/>
          </a:xfrm>
          <a:prstGeom prst="rect">
            <a:avLst/>
          </a:prstGeom>
        </p:spPr>
        <p:txBody>
          <a:bodyPr wrap="square">
            <a:spAutoFit/>
          </a:bodyPr>
          <a:lstStyle/>
          <a:p>
            <a:pPr algn="ctr"/>
            <a:r>
              <a:rPr lang="ru-RU" sz="2000" b="1" dirty="0" smtClean="0"/>
              <a:t>COMMIT</a:t>
            </a:r>
          </a:p>
          <a:p>
            <a:pPr algn="just"/>
            <a:r>
              <a:rPr lang="ru-RU" sz="2000" b="1" dirty="0"/>
              <a:t>COMMIT в </a:t>
            </a:r>
            <a:r>
              <a:rPr lang="ru-RU" sz="2000" b="1" dirty="0" err="1"/>
              <a:t>PostgreSQL</a:t>
            </a:r>
            <a:r>
              <a:rPr lang="ru-RU" sz="2000" b="1" dirty="0"/>
              <a:t> </a:t>
            </a:r>
            <a:r>
              <a:rPr lang="ru-RU" sz="2000" dirty="0"/>
              <a:t>— команда, которая фиксирует текущую транзакцию, сохраняя все изменения, произведённые в ней (вставки, обновления, удаления). </a:t>
            </a:r>
            <a:endParaRPr lang="ru-RU" sz="2000" dirty="0" smtClean="0"/>
          </a:p>
          <a:p>
            <a:pPr algn="just"/>
            <a:r>
              <a:rPr lang="ru-RU" sz="2000" b="1" dirty="0"/>
              <a:t>Синтаксис</a:t>
            </a:r>
          </a:p>
          <a:p>
            <a:pPr algn="just"/>
            <a:r>
              <a:rPr lang="en-US" sz="2000" dirty="0"/>
              <a:t>COMMIT [ WORK | TRANSACTION ] [ AND [ NO ] CHAIN ].  </a:t>
            </a:r>
          </a:p>
          <a:p>
            <a:pPr algn="ctr"/>
            <a:r>
              <a:rPr lang="ru-RU" sz="2000" b="1" dirty="0"/>
              <a:t>Параметры</a:t>
            </a:r>
            <a:r>
              <a:rPr lang="ru-RU" sz="2000" dirty="0"/>
              <a:t>:</a:t>
            </a:r>
          </a:p>
          <a:p>
            <a:pPr algn="just"/>
            <a:r>
              <a:rPr lang="ru-RU" sz="2000" dirty="0"/>
              <a:t>•	</a:t>
            </a:r>
            <a:r>
              <a:rPr lang="en-US" sz="2000" b="1" dirty="0"/>
              <a:t>WORK, TRANSACTION </a:t>
            </a:r>
            <a:r>
              <a:rPr lang="en-US" sz="2000" dirty="0"/>
              <a:t>— </a:t>
            </a:r>
            <a:r>
              <a:rPr lang="ru-RU" sz="2000" dirty="0"/>
              <a:t>необязательные ключевые слова, не оказывают влияния.</a:t>
            </a:r>
          </a:p>
          <a:p>
            <a:pPr algn="just"/>
            <a:r>
              <a:rPr lang="ru-RU" sz="2000" dirty="0"/>
              <a:t>•	</a:t>
            </a:r>
            <a:r>
              <a:rPr lang="en-US" sz="2000" b="1" dirty="0"/>
              <a:t>AND CHAIN </a:t>
            </a:r>
            <a:r>
              <a:rPr lang="en-US" sz="2000" dirty="0"/>
              <a:t>— </a:t>
            </a:r>
            <a:r>
              <a:rPr lang="ru-RU" sz="2000" dirty="0"/>
              <a:t>если указано, сразу после окончания текущей транзакции начинается новая с такими же характеристиками </a:t>
            </a:r>
            <a:r>
              <a:rPr lang="ru-RU" sz="2000" dirty="0" smtClean="0"/>
              <a:t>транзакции</a:t>
            </a:r>
            <a:endParaRPr lang="ru-RU" sz="2000" dirty="0"/>
          </a:p>
          <a:p>
            <a:pPr algn="just"/>
            <a:r>
              <a:rPr lang="ru-RU" sz="2000" dirty="0"/>
              <a:t>Совместимость: команда </a:t>
            </a:r>
            <a:r>
              <a:rPr lang="en-US" sz="2000" dirty="0"/>
              <a:t>COMMIT </a:t>
            </a:r>
            <a:r>
              <a:rPr lang="ru-RU" sz="2000" dirty="0"/>
              <a:t>соответствует стандарту </a:t>
            </a:r>
            <a:r>
              <a:rPr lang="en-US" sz="2000" dirty="0"/>
              <a:t>SQL, </a:t>
            </a:r>
            <a:r>
              <a:rPr lang="ru-RU" sz="2000" dirty="0"/>
              <a:t>а форма </a:t>
            </a:r>
            <a:r>
              <a:rPr lang="en-US" sz="2000" dirty="0"/>
              <a:t>COMMIT TRANSACTION — </a:t>
            </a:r>
            <a:r>
              <a:rPr lang="ru-RU" sz="2000" dirty="0"/>
              <a:t>расширение </a:t>
            </a:r>
            <a:r>
              <a:rPr lang="en-US" sz="2000" dirty="0"/>
              <a:t>PostgreSQL.  </a:t>
            </a:r>
          </a:p>
          <a:p>
            <a:pPr algn="ctr"/>
            <a:r>
              <a:rPr lang="ru-RU" sz="2000" b="1" dirty="0"/>
              <a:t>Примеры использования</a:t>
            </a:r>
          </a:p>
          <a:p>
            <a:pPr algn="just"/>
            <a:r>
              <a:rPr lang="ru-RU" sz="2000" dirty="0"/>
              <a:t>•	Вставка данных с </a:t>
            </a:r>
            <a:r>
              <a:rPr lang="en-US" sz="2000" dirty="0"/>
              <a:t>COMMIT. </a:t>
            </a:r>
            <a:r>
              <a:rPr lang="ru-RU" sz="2000" dirty="0"/>
              <a:t>Например, нужно вставить новую запись в таблицу </a:t>
            </a:r>
            <a:r>
              <a:rPr lang="en-US" sz="2000" dirty="0" err="1"/>
              <a:t>BankStatements</a:t>
            </a:r>
            <a:r>
              <a:rPr lang="en-US" sz="2000" dirty="0"/>
              <a:t>, </a:t>
            </a:r>
            <a:r>
              <a:rPr lang="ru-RU" sz="2000" dirty="0"/>
              <a:t>а затем зафиксировать транзакцию, чтобы изменения сохранились навсегда. Запрос: </a:t>
            </a:r>
          </a:p>
          <a:p>
            <a:pPr algn="just"/>
            <a:r>
              <a:rPr lang="en-US" sz="2000" dirty="0"/>
              <a:t>BEGIN; INSERT INTO </a:t>
            </a:r>
            <a:r>
              <a:rPr lang="en-US" sz="2000" dirty="0" err="1"/>
              <a:t>BankStatements</a:t>
            </a:r>
            <a:r>
              <a:rPr lang="en-US" sz="2000" dirty="0"/>
              <a:t> (</a:t>
            </a:r>
            <a:r>
              <a:rPr lang="en-US" sz="2000" dirty="0" err="1"/>
              <a:t>customer_id</a:t>
            </a:r>
            <a:r>
              <a:rPr lang="en-US" sz="2000" dirty="0"/>
              <a:t>, </a:t>
            </a:r>
            <a:r>
              <a:rPr lang="en-US" sz="2000" dirty="0" err="1"/>
              <a:t>full_name</a:t>
            </a:r>
            <a:r>
              <a:rPr lang="en-US" sz="2000" dirty="0"/>
              <a:t>, balance) VALUES (4, '</a:t>
            </a:r>
            <a:r>
              <a:rPr lang="en-US" sz="2000" dirty="0" err="1"/>
              <a:t>Priya</a:t>
            </a:r>
            <a:r>
              <a:rPr lang="en-US" sz="2000" dirty="0"/>
              <a:t> </a:t>
            </a:r>
            <a:r>
              <a:rPr lang="en-US" sz="2000" dirty="0" err="1"/>
              <a:t>chetri</a:t>
            </a:r>
            <a:r>
              <a:rPr lang="en-US" sz="2000" dirty="0"/>
              <a:t>', 500); COMMIT</a:t>
            </a:r>
          </a:p>
          <a:p>
            <a:pPr algn="just"/>
            <a:r>
              <a:rPr lang="en-US" sz="2000" dirty="0"/>
              <a:t>•	</a:t>
            </a:r>
            <a:r>
              <a:rPr lang="ru-RU" sz="2000" dirty="0"/>
              <a:t>Обновление данных. В примере нужно обновить баланс двух клиентов без изначально фиксации транзакции, наблюдать данные и затем зафиксировать изменения. Запрос: </a:t>
            </a:r>
          </a:p>
          <a:p>
            <a:pPr algn="just"/>
            <a:r>
              <a:rPr lang="en-US" sz="2000" dirty="0"/>
              <a:t>BEGIN; UPDATE </a:t>
            </a:r>
            <a:r>
              <a:rPr lang="en-US" sz="2000" dirty="0" err="1"/>
              <a:t>BankStatements</a:t>
            </a:r>
            <a:r>
              <a:rPr lang="en-US" sz="2000" dirty="0"/>
              <a:t> SET balance = balance - 500 WHERE </a:t>
            </a:r>
            <a:r>
              <a:rPr lang="en-US" sz="2000" dirty="0" err="1"/>
              <a:t>customer_id</a:t>
            </a:r>
            <a:r>
              <a:rPr lang="en-US" sz="2000" dirty="0"/>
              <a:t> = 1; // </a:t>
            </a:r>
            <a:r>
              <a:rPr lang="ru-RU" sz="2000" dirty="0"/>
              <a:t>отображение данных перед фиксацией транзакции </a:t>
            </a:r>
            <a:r>
              <a:rPr lang="en-US" sz="2000" dirty="0"/>
              <a:t>SELECT </a:t>
            </a:r>
            <a:r>
              <a:rPr lang="en-US" sz="2000" dirty="0" err="1"/>
              <a:t>customer_id</a:t>
            </a:r>
            <a:r>
              <a:rPr lang="en-US" sz="2000" dirty="0"/>
              <a:t>, </a:t>
            </a:r>
            <a:r>
              <a:rPr lang="en-US" sz="2000" dirty="0" err="1"/>
              <a:t>full_name</a:t>
            </a:r>
            <a:r>
              <a:rPr lang="en-US" sz="2000" dirty="0"/>
              <a:t>, balance FROM </a:t>
            </a:r>
            <a:r>
              <a:rPr lang="en-US" sz="2000" dirty="0" err="1"/>
              <a:t>BankStatements</a:t>
            </a:r>
            <a:r>
              <a:rPr lang="en-US" sz="2000" dirty="0"/>
              <a:t>; UPDATE </a:t>
            </a:r>
            <a:r>
              <a:rPr lang="en-US" sz="2000" dirty="0" err="1"/>
              <a:t>BankStatements</a:t>
            </a:r>
            <a:r>
              <a:rPr lang="en-US" sz="2000" dirty="0"/>
              <a:t> SET balance = balance + 500 WHERE </a:t>
            </a:r>
            <a:r>
              <a:rPr lang="en-US" sz="2000" dirty="0" err="1"/>
              <a:t>customer_id</a:t>
            </a:r>
            <a:r>
              <a:rPr lang="en-US" sz="2000" dirty="0"/>
              <a:t> = 2; COMMIT; // </a:t>
            </a:r>
            <a:r>
              <a:rPr lang="ru-RU" sz="2000" dirty="0"/>
              <a:t>отображение данных после фиксации транзакции </a:t>
            </a:r>
            <a:r>
              <a:rPr lang="en-US" sz="2000" dirty="0"/>
              <a:t>SELECT </a:t>
            </a:r>
            <a:r>
              <a:rPr lang="en-US" sz="2000" dirty="0" err="1"/>
              <a:t>customer_id</a:t>
            </a:r>
            <a:r>
              <a:rPr lang="en-US" sz="2000" dirty="0"/>
              <a:t>, </a:t>
            </a:r>
            <a:r>
              <a:rPr lang="en-US" sz="2000" dirty="0" err="1"/>
              <a:t>full_name</a:t>
            </a:r>
            <a:r>
              <a:rPr lang="en-US" sz="2000" dirty="0"/>
              <a:t>, balance FROM </a:t>
            </a:r>
            <a:r>
              <a:rPr lang="en-US" sz="2000" dirty="0" err="1"/>
              <a:t>BankStatements</a:t>
            </a:r>
            <a:endParaRPr lang="en-US" sz="2000" dirty="0"/>
          </a:p>
          <a:p>
            <a:pPr algn="just"/>
            <a:endParaRPr lang="ru-RU" sz="2000" dirty="0"/>
          </a:p>
        </p:txBody>
      </p:sp>
    </p:spTree>
    <p:extLst>
      <p:ext uri="{BB962C8B-B14F-4D97-AF65-F5344CB8AC3E}">
        <p14:creationId xmlns:p14="http://schemas.microsoft.com/office/powerpoint/2010/main" val="387148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7171194"/>
          </a:xfrm>
          <a:prstGeom prst="rect">
            <a:avLst/>
          </a:prstGeom>
        </p:spPr>
        <p:txBody>
          <a:bodyPr wrap="square">
            <a:spAutoFit/>
          </a:bodyPr>
          <a:lstStyle/>
          <a:p>
            <a:pPr algn="ctr"/>
            <a:r>
              <a:rPr lang="ru-RU" sz="2000" b="1" dirty="0"/>
              <a:t>Ошибки</a:t>
            </a:r>
          </a:p>
          <a:p>
            <a:pPr algn="just"/>
            <a:r>
              <a:rPr lang="ru-RU" sz="2000" dirty="0"/>
              <a:t>•	Забытый COMMIT (</a:t>
            </a:r>
            <a:r>
              <a:rPr lang="ru-RU" sz="2000" dirty="0" err="1"/>
              <a:t>Idle</a:t>
            </a:r>
            <a:r>
              <a:rPr lang="ru-RU" sz="2000" dirty="0"/>
              <a:t> </a:t>
            </a:r>
            <a:r>
              <a:rPr lang="ru-RU" sz="2000" dirty="0" err="1"/>
              <a:t>in</a:t>
            </a:r>
            <a:r>
              <a:rPr lang="ru-RU" sz="2000" dirty="0"/>
              <a:t> </a:t>
            </a:r>
            <a:r>
              <a:rPr lang="ru-RU" sz="2000" dirty="0" err="1"/>
              <a:t>transaction</a:t>
            </a:r>
            <a:r>
              <a:rPr lang="ru-RU" sz="2000" dirty="0"/>
              <a:t>). </a:t>
            </a:r>
            <a:r>
              <a:rPr lang="ru-RU" sz="2000" dirty="0" smtClean="0"/>
              <a:t>открыть </a:t>
            </a:r>
            <a:r>
              <a:rPr lang="ru-RU" sz="2000" dirty="0"/>
              <a:t>транзакцию (BEGIN), изменить данные, но забыть написать </a:t>
            </a:r>
            <a:r>
              <a:rPr lang="ru-RU" sz="2000" dirty="0" smtClean="0"/>
              <a:t>COMMIT-заблокированы</a:t>
            </a:r>
            <a:endParaRPr lang="ru-RU" sz="2000" dirty="0"/>
          </a:p>
          <a:p>
            <a:pPr algn="just"/>
            <a:r>
              <a:rPr lang="ru-RU" sz="2000" dirty="0"/>
              <a:t>•	Ошибка внутри транзакции. </a:t>
            </a:r>
            <a:endParaRPr lang="ru-RU" sz="2000" dirty="0" smtClean="0"/>
          </a:p>
          <a:p>
            <a:pPr algn="just"/>
            <a:r>
              <a:rPr lang="ru-RU" sz="2000" dirty="0" smtClean="0"/>
              <a:t>•</a:t>
            </a:r>
            <a:r>
              <a:rPr lang="ru-RU" sz="2000" dirty="0"/>
              <a:t>	Потеря соединения</a:t>
            </a:r>
            <a:r>
              <a:rPr lang="ru-RU" sz="2000" dirty="0" smtClean="0"/>
              <a:t>.</a:t>
            </a:r>
          </a:p>
          <a:p>
            <a:pPr algn="ctr"/>
            <a:r>
              <a:rPr lang="ru-RU" sz="2000" b="1" dirty="0" smtClean="0"/>
              <a:t> Достоинства</a:t>
            </a:r>
            <a:endParaRPr lang="ru-RU" sz="2000" b="1" dirty="0"/>
          </a:p>
          <a:p>
            <a:pPr algn="just"/>
            <a:r>
              <a:rPr lang="ru-RU" sz="2000" dirty="0"/>
              <a:t>•	Обеспечение постоянства изменений. </a:t>
            </a:r>
            <a:endParaRPr lang="ru-RU" sz="2000" dirty="0" smtClean="0"/>
          </a:p>
          <a:p>
            <a:pPr algn="just"/>
            <a:r>
              <a:rPr lang="ru-RU" sz="2000" dirty="0" smtClean="0"/>
              <a:t>•</a:t>
            </a:r>
            <a:r>
              <a:rPr lang="ru-RU" sz="2000" dirty="0"/>
              <a:t>	Видимость изменений для других пользователей и сеансов. </a:t>
            </a:r>
            <a:endParaRPr lang="ru-RU" sz="2000" dirty="0" smtClean="0"/>
          </a:p>
          <a:p>
            <a:pPr algn="just"/>
            <a:r>
              <a:rPr lang="ru-RU" sz="2000" dirty="0" smtClean="0"/>
              <a:t>•</a:t>
            </a:r>
            <a:r>
              <a:rPr lang="ru-RU" sz="2000" dirty="0"/>
              <a:t>	Гарантия сохранения изменений в случае сбоя.  </a:t>
            </a:r>
          </a:p>
          <a:p>
            <a:pPr algn="just"/>
            <a:r>
              <a:rPr lang="ru-RU" sz="2000" dirty="0"/>
              <a:t>•	Возможность отменить изменения в случае ошибок внутри транзакции </a:t>
            </a:r>
            <a:endParaRPr lang="ru-RU" sz="2000" dirty="0" smtClean="0"/>
          </a:p>
          <a:p>
            <a:pPr algn="just"/>
            <a:r>
              <a:rPr lang="ru-RU" sz="2000" dirty="0" smtClean="0"/>
              <a:t>•</a:t>
            </a:r>
            <a:r>
              <a:rPr lang="ru-RU" sz="2000" dirty="0"/>
              <a:t>	Группировка нескольких команд в одну </a:t>
            </a:r>
            <a:r>
              <a:rPr lang="ru-RU" sz="2000" dirty="0" smtClean="0"/>
              <a:t>транзакцию</a:t>
            </a:r>
          </a:p>
          <a:p>
            <a:pPr algn="just"/>
            <a:r>
              <a:rPr lang="ru-RU" sz="2000" b="1" dirty="0" smtClean="0"/>
              <a:t>Важно</a:t>
            </a:r>
            <a:r>
              <a:rPr lang="ru-RU" sz="2000" b="1" dirty="0"/>
              <a:t>:</a:t>
            </a:r>
          </a:p>
          <a:p>
            <a:pPr algn="just"/>
            <a:r>
              <a:rPr lang="ru-RU" sz="2000" dirty="0"/>
              <a:t>•	В </a:t>
            </a:r>
            <a:r>
              <a:rPr lang="ru-RU" sz="2000" dirty="0" err="1"/>
              <a:t>PostgreSQL</a:t>
            </a:r>
            <a:r>
              <a:rPr lang="ru-RU" sz="2000" dirty="0"/>
              <a:t> транзакции неявно фиксируются, </a:t>
            </a:r>
            <a:endParaRPr lang="ru-RU" sz="2000" dirty="0" smtClean="0"/>
          </a:p>
          <a:p>
            <a:pPr algn="just"/>
            <a:r>
              <a:rPr lang="ru-RU" sz="2000" dirty="0" smtClean="0"/>
              <a:t>•</a:t>
            </a:r>
            <a:r>
              <a:rPr lang="ru-RU" sz="2000" dirty="0"/>
              <a:t>	Если указано указание AND </a:t>
            </a:r>
            <a:r>
              <a:rPr lang="ru-RU" sz="2000" dirty="0" smtClean="0"/>
              <a:t>CHAIN - новая.  </a:t>
            </a:r>
            <a:endParaRPr lang="ru-RU" sz="2000" dirty="0"/>
          </a:p>
          <a:p>
            <a:pPr algn="just"/>
            <a:r>
              <a:rPr lang="ru-RU" sz="2000" b="1" dirty="0"/>
              <a:t>Недостатки</a:t>
            </a:r>
          </a:p>
          <a:p>
            <a:pPr algn="just"/>
            <a:r>
              <a:rPr lang="ru-RU" sz="2000" dirty="0"/>
              <a:t>•	Проблема «забытого» COMMIT. </a:t>
            </a:r>
            <a:endParaRPr lang="ru-RU" sz="2000" dirty="0" smtClean="0"/>
          </a:p>
          <a:p>
            <a:pPr algn="just"/>
            <a:r>
              <a:rPr lang="ru-RU" sz="2000" dirty="0" smtClean="0"/>
              <a:t>•</a:t>
            </a:r>
            <a:r>
              <a:rPr lang="ru-RU" sz="2000" dirty="0"/>
              <a:t>	Ошибка внутри </a:t>
            </a:r>
            <a:r>
              <a:rPr lang="ru-RU" sz="2000" dirty="0" smtClean="0"/>
              <a:t>транзакции</a:t>
            </a:r>
          </a:p>
          <a:p>
            <a:pPr algn="just"/>
            <a:r>
              <a:rPr lang="ru-RU" sz="2000" dirty="0" smtClean="0"/>
              <a:t>•</a:t>
            </a:r>
            <a:r>
              <a:rPr lang="ru-RU" sz="2000" dirty="0"/>
              <a:t>	Потеря соединения. </a:t>
            </a:r>
            <a:endParaRPr lang="ru-RU" sz="2000" dirty="0" smtClean="0"/>
          </a:p>
          <a:p>
            <a:pPr algn="just"/>
            <a:r>
              <a:rPr lang="ru-RU" sz="2000" dirty="0" smtClean="0"/>
              <a:t>•</a:t>
            </a:r>
            <a:r>
              <a:rPr lang="ru-RU" sz="2000" dirty="0"/>
              <a:t>	Ограничение в </a:t>
            </a:r>
            <a:r>
              <a:rPr lang="ru-RU" sz="2000" dirty="0" smtClean="0"/>
              <a:t>PL/</a:t>
            </a:r>
            <a:r>
              <a:rPr lang="ru-RU" sz="2000" dirty="0" err="1" smtClean="0"/>
              <a:t>pgSQL</a:t>
            </a:r>
            <a:endParaRPr lang="ru-RU" sz="2000" dirty="0" smtClean="0"/>
          </a:p>
          <a:p>
            <a:pPr algn="just"/>
            <a:endParaRPr lang="ru-RU" sz="2000" dirty="0" smtClean="0"/>
          </a:p>
          <a:p>
            <a:pPr algn="just"/>
            <a:r>
              <a:rPr lang="ru-RU" sz="2000" i="1" dirty="0"/>
              <a:t>команда </a:t>
            </a:r>
            <a:r>
              <a:rPr lang="en-US" sz="2000" i="1" dirty="0"/>
              <a:t>COMMIT </a:t>
            </a:r>
            <a:r>
              <a:rPr lang="ru-RU" sz="2000" i="1" dirty="0"/>
              <a:t>соответствует стандарту </a:t>
            </a:r>
            <a:r>
              <a:rPr lang="en-US" sz="2000" i="1" dirty="0"/>
              <a:t>SQL, </a:t>
            </a:r>
            <a:r>
              <a:rPr lang="ru-RU" sz="2000" i="1" dirty="0"/>
              <a:t>а форма </a:t>
            </a:r>
            <a:r>
              <a:rPr lang="en-US" sz="2000" i="1" dirty="0"/>
              <a:t>COMMIT TRANSACTION — </a:t>
            </a:r>
            <a:r>
              <a:rPr lang="ru-RU" sz="2000" i="1" dirty="0"/>
              <a:t>расширение </a:t>
            </a:r>
            <a:r>
              <a:rPr lang="en-US" sz="2000" i="1" dirty="0"/>
              <a:t>PostgreSQL</a:t>
            </a:r>
            <a:r>
              <a:rPr lang="en-US" sz="2000" dirty="0"/>
              <a:t>.</a:t>
            </a:r>
            <a:endParaRPr lang="ru-RU" sz="2000" dirty="0"/>
          </a:p>
          <a:p>
            <a:pPr algn="just"/>
            <a:endParaRPr lang="ru-RU" sz="2000" dirty="0"/>
          </a:p>
        </p:txBody>
      </p:sp>
    </p:spTree>
    <p:extLst>
      <p:ext uri="{BB962C8B-B14F-4D97-AF65-F5344CB8AC3E}">
        <p14:creationId xmlns:p14="http://schemas.microsoft.com/office/powerpoint/2010/main" val="2084607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63417"/>
          </a:xfrm>
          <a:prstGeom prst="rect">
            <a:avLst/>
          </a:prstGeom>
        </p:spPr>
        <p:txBody>
          <a:bodyPr wrap="square">
            <a:spAutoFit/>
          </a:bodyPr>
          <a:lstStyle/>
          <a:p>
            <a:pPr algn="ctr"/>
            <a:r>
              <a:rPr lang="ru-RU" sz="2000" b="1" dirty="0" smtClean="0"/>
              <a:t>ROLLBACK</a:t>
            </a:r>
          </a:p>
          <a:p>
            <a:pPr algn="just"/>
            <a:r>
              <a:rPr lang="ru-RU" sz="2000" b="1" dirty="0"/>
              <a:t>ROLLBACK</a:t>
            </a:r>
            <a:r>
              <a:rPr lang="ru-RU" sz="2000" dirty="0"/>
              <a:t> — команда в </a:t>
            </a:r>
            <a:r>
              <a:rPr lang="ru-RU" sz="2000" dirty="0" err="1"/>
              <a:t>PostgreSQL</a:t>
            </a:r>
            <a:r>
              <a:rPr lang="ru-RU" sz="2000" dirty="0"/>
              <a:t>, которая откатывает текущую транзакцию и отменяет все изменения, сделанные в её рамках. Это позволяет:  </a:t>
            </a:r>
          </a:p>
          <a:p>
            <a:pPr algn="just"/>
            <a:r>
              <a:rPr lang="ru-RU" sz="2000" dirty="0"/>
              <a:t>•	Отменить ошибки в процессе выполнения </a:t>
            </a:r>
            <a:r>
              <a:rPr lang="ru-RU" sz="2000" dirty="0" smtClean="0"/>
              <a:t>транзакции</a:t>
            </a:r>
          </a:p>
          <a:p>
            <a:pPr algn="just"/>
            <a:r>
              <a:rPr lang="ru-RU" sz="2000" dirty="0" smtClean="0"/>
              <a:t>•</a:t>
            </a:r>
            <a:r>
              <a:rPr lang="ru-RU" sz="2000" dirty="0"/>
              <a:t>	Восстановить базу данных до </a:t>
            </a:r>
            <a:r>
              <a:rPr lang="ru-RU" sz="2000" dirty="0" smtClean="0"/>
              <a:t>состояния</a:t>
            </a:r>
          </a:p>
          <a:p>
            <a:pPr algn="just"/>
            <a:r>
              <a:rPr lang="ru-RU" sz="2000" dirty="0" smtClean="0"/>
              <a:t> •</a:t>
            </a:r>
            <a:r>
              <a:rPr lang="ru-RU" sz="2000" dirty="0"/>
              <a:t>	Прервать транзакцию </a:t>
            </a:r>
            <a:endParaRPr lang="ru-RU" sz="2000" dirty="0" smtClean="0"/>
          </a:p>
          <a:p>
            <a:pPr algn="just"/>
            <a:r>
              <a:rPr lang="ru-RU" sz="2000" b="1" dirty="0"/>
              <a:t>Принцип работы</a:t>
            </a:r>
          </a:p>
          <a:p>
            <a:pPr algn="just"/>
            <a:r>
              <a:rPr lang="ru-RU" sz="2000" dirty="0"/>
              <a:t>Когда транзакция начинается с команды </a:t>
            </a:r>
            <a:r>
              <a:rPr lang="ru-RU" sz="2000" b="1" dirty="0"/>
              <a:t>BEGIN</a:t>
            </a:r>
            <a:r>
              <a:rPr lang="ru-RU" sz="2000" dirty="0"/>
              <a:t>, все последующие операции хранятся во временном состоянии. Если всё идёт хорошо, изменения можно сохранить с помощью команды </a:t>
            </a:r>
            <a:r>
              <a:rPr lang="ru-RU" sz="2000" b="1" dirty="0"/>
              <a:t>COMM</a:t>
            </a:r>
            <a:r>
              <a:rPr lang="ru-RU" sz="2000" dirty="0"/>
              <a:t>IT. Если возникает проблема, ROLLBACK отменяет все операции, сделанные во время транзакции. </a:t>
            </a:r>
          </a:p>
          <a:p>
            <a:pPr algn="just"/>
            <a:r>
              <a:rPr lang="ru-RU" sz="2000" b="1" dirty="0"/>
              <a:t>Синтаксис</a:t>
            </a:r>
            <a:endParaRPr lang="ru-RU" sz="2000" dirty="0"/>
          </a:p>
          <a:p>
            <a:pPr algn="just"/>
            <a:r>
              <a:rPr lang="ru-RU" sz="2000" dirty="0"/>
              <a:t>ROLLBACK [ WORK | TRANSACTION ] [ AND [ NO ] CHAIN ].  </a:t>
            </a:r>
            <a:endParaRPr lang="ru-RU" sz="2000" i="1" dirty="0"/>
          </a:p>
          <a:p>
            <a:pPr algn="just"/>
            <a:r>
              <a:rPr lang="ru-RU" sz="2000" dirty="0"/>
              <a:t>Параметры:</a:t>
            </a:r>
          </a:p>
          <a:p>
            <a:pPr algn="just"/>
            <a:r>
              <a:rPr lang="ru-RU" sz="2000" dirty="0"/>
              <a:t>•	WORK и TRANSACTION </a:t>
            </a:r>
            <a:endParaRPr lang="ru-RU" sz="2000" dirty="0" smtClean="0"/>
          </a:p>
          <a:p>
            <a:pPr algn="just"/>
            <a:r>
              <a:rPr lang="ru-RU" sz="2000" dirty="0" smtClean="0"/>
              <a:t>•</a:t>
            </a:r>
            <a:r>
              <a:rPr lang="ru-RU" sz="2000" dirty="0"/>
              <a:t>	AND </a:t>
            </a:r>
            <a:r>
              <a:rPr lang="ru-RU" sz="2000" dirty="0" smtClean="0"/>
              <a:t>CHAIN</a:t>
            </a:r>
          </a:p>
          <a:p>
            <a:pPr algn="just"/>
            <a:r>
              <a:rPr lang="ru-RU" sz="2000" dirty="0"/>
              <a:t>Пример, который отменяет изменения, сделанные в таблице </a:t>
            </a:r>
            <a:r>
              <a:rPr lang="en-US" sz="2000" dirty="0"/>
              <a:t>accounts:</a:t>
            </a:r>
          </a:p>
          <a:p>
            <a:pPr algn="just"/>
            <a:r>
              <a:rPr lang="en-US" sz="2000" dirty="0"/>
              <a:t>-- </a:t>
            </a:r>
            <a:r>
              <a:rPr lang="ru-RU" sz="2000" dirty="0"/>
              <a:t>начать транзакцию  </a:t>
            </a:r>
          </a:p>
          <a:p>
            <a:pPr algn="just"/>
            <a:r>
              <a:rPr lang="en-US" sz="2000" b="1" dirty="0"/>
              <a:t>BEGIN;  </a:t>
            </a:r>
          </a:p>
          <a:p>
            <a:pPr algn="just"/>
            <a:r>
              <a:rPr lang="en-US" sz="2000" dirty="0"/>
              <a:t>UPDATE accounts SET balance = balance - 1000 WHERE id = 1;  </a:t>
            </a:r>
          </a:p>
          <a:p>
            <a:pPr algn="just"/>
            <a:r>
              <a:rPr lang="en-US" sz="2000" dirty="0"/>
              <a:t>-- </a:t>
            </a:r>
            <a:r>
              <a:rPr lang="ru-RU" sz="2000" dirty="0"/>
              <a:t>откатить изменения  </a:t>
            </a:r>
          </a:p>
          <a:p>
            <a:pPr algn="just"/>
            <a:r>
              <a:rPr lang="en-US" sz="2000" b="1" dirty="0"/>
              <a:t>ROLLBACK</a:t>
            </a:r>
            <a:r>
              <a:rPr lang="en-US" sz="2000" dirty="0"/>
              <a:t>  </a:t>
            </a:r>
          </a:p>
          <a:p>
            <a:pPr algn="just"/>
            <a:r>
              <a:rPr lang="ru-RU" sz="2000" dirty="0"/>
              <a:t>После выполнения команды </a:t>
            </a:r>
            <a:r>
              <a:rPr lang="en-US" sz="2000" dirty="0"/>
              <a:t>ROLLBACK </a:t>
            </a:r>
            <a:r>
              <a:rPr lang="ru-RU" sz="2000" dirty="0"/>
              <a:t>изменения, сделанные в таблице </a:t>
            </a:r>
            <a:r>
              <a:rPr lang="en-US" sz="2000" dirty="0"/>
              <a:t>accounts, </a:t>
            </a:r>
            <a:r>
              <a:rPr lang="ru-RU" sz="2000" dirty="0"/>
              <a:t>не фиксируются </a:t>
            </a:r>
          </a:p>
        </p:txBody>
      </p:sp>
    </p:spTree>
    <p:extLst>
      <p:ext uri="{BB962C8B-B14F-4D97-AF65-F5344CB8AC3E}">
        <p14:creationId xmlns:p14="http://schemas.microsoft.com/office/powerpoint/2010/main" val="40039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r>
              <a:rPr lang="ru-RU" sz="2000" b="1" dirty="0"/>
              <a:t>Ошибки</a:t>
            </a:r>
          </a:p>
          <a:p>
            <a:r>
              <a:rPr lang="ru-RU" sz="2000" dirty="0"/>
              <a:t>ROLLBACK AND CHAIN вне блока транзакции вызывает ошибку. </a:t>
            </a:r>
          </a:p>
          <a:p>
            <a:endParaRPr lang="ru-RU" sz="2000" b="1" dirty="0"/>
          </a:p>
          <a:p>
            <a:r>
              <a:rPr lang="ru-RU" sz="2000" b="1" dirty="0"/>
              <a:t>Достоинства</a:t>
            </a:r>
          </a:p>
          <a:p>
            <a:r>
              <a:rPr lang="ru-RU" sz="2000" dirty="0"/>
              <a:t>•	Обеспечение согласованности данных. </a:t>
            </a:r>
            <a:endParaRPr lang="ru-RU" sz="2000" dirty="0" smtClean="0"/>
          </a:p>
          <a:p>
            <a:r>
              <a:rPr lang="ru-RU" sz="2000" dirty="0" smtClean="0"/>
              <a:t>•</a:t>
            </a:r>
            <a:r>
              <a:rPr lang="ru-RU" sz="2000" dirty="0"/>
              <a:t>	Возможность вернуть базу данных к предыдущему состоянию. </a:t>
            </a:r>
            <a:endParaRPr lang="ru-RU" sz="2000" dirty="0" smtClean="0"/>
          </a:p>
          <a:p>
            <a:r>
              <a:rPr lang="ru-RU" sz="2000" dirty="0" smtClean="0"/>
              <a:t>•</a:t>
            </a:r>
            <a:r>
              <a:rPr lang="ru-RU" sz="2000" dirty="0"/>
              <a:t>	Автоматическое выполнение. </a:t>
            </a:r>
            <a:endParaRPr lang="ru-RU" sz="2000" dirty="0" smtClean="0"/>
          </a:p>
          <a:p>
            <a:endParaRPr lang="ru-RU" sz="2000" dirty="0" smtClean="0"/>
          </a:p>
          <a:p>
            <a:r>
              <a:rPr lang="ru-RU" sz="2000" b="1" dirty="0" smtClean="0"/>
              <a:t>Важно</a:t>
            </a:r>
            <a:r>
              <a:rPr lang="ru-RU" sz="2000" dirty="0"/>
              <a:t>: когда вызывается ROLLBACK, только изменения, сделанные в рамках текущей транзакции, отменяются. </a:t>
            </a:r>
          </a:p>
          <a:p>
            <a:endParaRPr lang="ru-RU" sz="2000" b="1" dirty="0" smtClean="0"/>
          </a:p>
          <a:p>
            <a:r>
              <a:rPr lang="ru-RU" sz="2000" b="1" dirty="0" smtClean="0"/>
              <a:t>Недостатки</a:t>
            </a:r>
            <a:endParaRPr lang="ru-RU" sz="2000" b="1" dirty="0"/>
          </a:p>
          <a:p>
            <a:r>
              <a:rPr lang="ru-RU" sz="2000" dirty="0"/>
              <a:t>•	ROLLBACK работает только на изменениях, которые ещё не были зафиксированы. После команды COMMIT изменения становятся постоянными, и ROLLBACK не может их отменить. </a:t>
            </a:r>
            <a:endParaRPr lang="ru-RU" sz="2000" dirty="0" smtClean="0"/>
          </a:p>
          <a:p>
            <a:r>
              <a:rPr lang="ru-RU" sz="2000" dirty="0" smtClean="0"/>
              <a:t>•</a:t>
            </a:r>
            <a:r>
              <a:rPr lang="ru-RU" sz="2000" dirty="0"/>
              <a:t>	Команда ROLLBACK должна использоваться внутри транзакции. Если запустить её вне блока BEGIN или START TRANSACTION, она не будет работать. </a:t>
            </a:r>
            <a:endParaRPr lang="ru-RU" sz="2000" dirty="0" smtClean="0"/>
          </a:p>
          <a:p>
            <a:r>
              <a:rPr lang="ru-RU" sz="2000" dirty="0" smtClean="0"/>
              <a:t>•</a:t>
            </a:r>
            <a:r>
              <a:rPr lang="ru-RU" sz="2000" dirty="0"/>
              <a:t>	При выполнении команды ROLLBACK вне блока транзакции выдаётся </a:t>
            </a:r>
            <a:r>
              <a:rPr lang="ru-RU" sz="2000" dirty="0" smtClean="0"/>
              <a:t>предупреждение</a:t>
            </a:r>
          </a:p>
          <a:p>
            <a:r>
              <a:rPr lang="ru-RU" sz="2000" dirty="0" smtClean="0"/>
              <a:t>Однако </a:t>
            </a:r>
            <a:r>
              <a:rPr lang="ru-RU" sz="2000" dirty="0"/>
              <a:t>ROLLBACK AND CHAIN вне блока транзакции вызывает ошибку.  </a:t>
            </a:r>
          </a:p>
        </p:txBody>
      </p:sp>
    </p:spTree>
    <p:extLst>
      <p:ext uri="{BB962C8B-B14F-4D97-AF65-F5344CB8AC3E}">
        <p14:creationId xmlns:p14="http://schemas.microsoft.com/office/powerpoint/2010/main" val="3976835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909310"/>
          </a:xfrm>
          <a:prstGeom prst="rect">
            <a:avLst/>
          </a:prstGeom>
        </p:spPr>
        <p:txBody>
          <a:bodyPr wrap="square">
            <a:spAutoFit/>
          </a:bodyPr>
          <a:lstStyle/>
          <a:p>
            <a:pPr algn="ctr"/>
            <a:r>
              <a:rPr lang="ru-RU" b="1" dirty="0"/>
              <a:t>Согласованность</a:t>
            </a:r>
            <a:endParaRPr lang="ru-RU" sz="2000" b="1" dirty="0"/>
          </a:p>
          <a:p>
            <a:pPr algn="just"/>
            <a:r>
              <a:rPr lang="ru-RU" sz="2000" b="1" dirty="0" smtClean="0"/>
              <a:t>Согласованность</a:t>
            </a:r>
            <a:r>
              <a:rPr lang="ru-RU" sz="2000" dirty="0" smtClean="0"/>
              <a:t> </a:t>
            </a:r>
            <a:r>
              <a:rPr lang="ru-RU" sz="2000" dirty="0"/>
              <a:t>(</a:t>
            </a:r>
            <a:r>
              <a:rPr lang="ru-RU" sz="2000" dirty="0" err="1"/>
              <a:t>Consistency</a:t>
            </a:r>
            <a:r>
              <a:rPr lang="ru-RU" sz="2000" dirty="0"/>
              <a:t>): После завершения транзакции данные должны находиться в согласованном </a:t>
            </a:r>
            <a:r>
              <a:rPr lang="ru-RU" sz="2000" dirty="0" smtClean="0"/>
              <a:t>состоянии</a:t>
            </a:r>
          </a:p>
          <a:p>
            <a:pPr algn="just"/>
            <a:r>
              <a:rPr lang="ru-RU" sz="2000" i="1" dirty="0"/>
              <a:t>Пример</a:t>
            </a:r>
            <a:r>
              <a:rPr lang="ru-RU" sz="2000" dirty="0"/>
              <a:t>: В реляционной базе данных транзакция, которая нарушает уникальность ключа или другие ограничения целостности (например, внешний ключ), не будет завершена.</a:t>
            </a:r>
          </a:p>
          <a:p>
            <a:pPr algn="just"/>
            <a:r>
              <a:rPr lang="ru-RU" sz="2000" b="1" dirty="0"/>
              <a:t>Согласованность</a:t>
            </a:r>
            <a:r>
              <a:rPr lang="ru-RU" sz="2000" dirty="0"/>
              <a:t> (</a:t>
            </a:r>
            <a:r>
              <a:rPr lang="ru-RU" sz="2000" dirty="0" err="1"/>
              <a:t>consistency</a:t>
            </a:r>
            <a:r>
              <a:rPr lang="ru-RU" sz="2000" dirty="0"/>
              <a:t>) в </a:t>
            </a:r>
            <a:r>
              <a:rPr lang="ru-RU" sz="2000" dirty="0" err="1"/>
              <a:t>PostgreSQL</a:t>
            </a:r>
            <a:r>
              <a:rPr lang="ru-RU" sz="2000" dirty="0"/>
              <a:t> гарантирует, что данные в базе переходят только из одного согласованного состояния в другое, все ограничения целостности должны быть соблюдены. </a:t>
            </a:r>
            <a:endParaRPr lang="ru-RU" sz="2000" dirty="0" smtClean="0"/>
          </a:p>
          <a:p>
            <a:pPr algn="just"/>
            <a:r>
              <a:rPr lang="ru-RU" sz="2000" b="1" dirty="0"/>
              <a:t>Механизмы</a:t>
            </a:r>
          </a:p>
          <a:p>
            <a:pPr algn="just"/>
            <a:r>
              <a:rPr lang="ru-RU" sz="2000" dirty="0"/>
              <a:t>В </a:t>
            </a:r>
            <a:r>
              <a:rPr lang="ru-RU" sz="2000" dirty="0" err="1"/>
              <a:t>PostgreSQL</a:t>
            </a:r>
            <a:r>
              <a:rPr lang="ru-RU" sz="2000" dirty="0"/>
              <a:t> для обеспечения согласованности данных при параллельном выполнении операций используется изоляция транзакций. В основе лежит MVCC (</a:t>
            </a:r>
            <a:r>
              <a:rPr lang="ru-RU" sz="2000" dirty="0" err="1"/>
              <a:t>Multiversion</a:t>
            </a:r>
            <a:r>
              <a:rPr lang="ru-RU" sz="2000" dirty="0"/>
              <a:t> </a:t>
            </a:r>
            <a:r>
              <a:rPr lang="ru-RU" sz="2000" dirty="0" err="1"/>
              <a:t>Concurrency</a:t>
            </a:r>
            <a:r>
              <a:rPr lang="ru-RU" sz="2000" dirty="0"/>
              <a:t> </a:t>
            </a:r>
            <a:r>
              <a:rPr lang="ru-RU" sz="2000" dirty="0" err="1"/>
              <a:t>Control</a:t>
            </a:r>
            <a:r>
              <a:rPr lang="ru-RU" sz="2000" dirty="0"/>
              <a:t>) — </a:t>
            </a:r>
            <a:r>
              <a:rPr lang="ru-RU" sz="2000" dirty="0" err="1"/>
              <a:t>многоверсионное</a:t>
            </a:r>
            <a:r>
              <a:rPr lang="ru-RU" sz="2000" dirty="0"/>
              <a:t> управление параллелизмом. </a:t>
            </a:r>
          </a:p>
          <a:p>
            <a:pPr algn="just"/>
            <a:r>
              <a:rPr lang="ru-RU" sz="2000" b="1" dirty="0"/>
              <a:t>Некоторые уровни изоляции транзакций в </a:t>
            </a:r>
            <a:r>
              <a:rPr lang="ru-RU" sz="2000" b="1" dirty="0" err="1"/>
              <a:t>PostgreSQL</a:t>
            </a:r>
            <a:r>
              <a:rPr lang="ru-RU" sz="2000" b="1" dirty="0"/>
              <a:t>:</a:t>
            </a:r>
          </a:p>
          <a:p>
            <a:pPr algn="just"/>
            <a:r>
              <a:rPr lang="ru-RU" sz="2000" dirty="0"/>
              <a:t>•	</a:t>
            </a:r>
            <a:r>
              <a:rPr lang="ru-RU" sz="2000" b="1" dirty="0" err="1"/>
              <a:t>Read</a:t>
            </a:r>
            <a:r>
              <a:rPr lang="ru-RU" sz="2000" b="1" dirty="0"/>
              <a:t> </a:t>
            </a:r>
            <a:r>
              <a:rPr lang="ru-RU" sz="2000" b="1" dirty="0" err="1"/>
              <a:t>Committed</a:t>
            </a:r>
            <a:r>
              <a:rPr lang="ru-RU" sz="2000" b="1" dirty="0"/>
              <a:t> </a:t>
            </a:r>
            <a:r>
              <a:rPr lang="ru-RU" sz="2000" dirty="0"/>
              <a:t>(чтение зафиксированных данных, по умолчанию) </a:t>
            </a:r>
            <a:r>
              <a:rPr lang="ru-RU" sz="2000" dirty="0" smtClean="0"/>
              <a:t>— транзакция видит только те данные, которые были зафиксированы на момент начала выполнения запроса.</a:t>
            </a:r>
          </a:p>
          <a:p>
            <a:pPr algn="just"/>
            <a:r>
              <a:rPr lang="ru-RU" sz="2000" dirty="0" smtClean="0"/>
              <a:t>•	</a:t>
            </a:r>
            <a:r>
              <a:rPr lang="ru-RU" sz="2000" b="1" dirty="0" err="1" smtClean="0"/>
              <a:t>Repeatable</a:t>
            </a:r>
            <a:r>
              <a:rPr lang="ru-RU" sz="2000" b="1" dirty="0" smtClean="0"/>
              <a:t> </a:t>
            </a:r>
            <a:r>
              <a:rPr lang="ru-RU" sz="2000" b="1" dirty="0" err="1" smtClean="0"/>
              <a:t>Read</a:t>
            </a:r>
            <a:r>
              <a:rPr lang="ru-RU" sz="2000" b="1" dirty="0" smtClean="0"/>
              <a:t> </a:t>
            </a:r>
            <a:r>
              <a:rPr lang="ru-RU" sz="2000" dirty="0" smtClean="0"/>
              <a:t>(повторяемое чтение) — гарантирует, что транзакция видит согласованный снимок базы данных на момент начала выполнения транзакции. Препятствует грязному чтению и неповторяемому чтению, применяя блокировки чтения на доступные данные.</a:t>
            </a:r>
          </a:p>
          <a:p>
            <a:pPr algn="just"/>
            <a:r>
              <a:rPr lang="ru-RU" sz="2000" dirty="0" smtClean="0"/>
              <a:t>•</a:t>
            </a:r>
            <a:r>
              <a:rPr lang="ru-RU" sz="2000" dirty="0"/>
              <a:t>	</a:t>
            </a:r>
            <a:r>
              <a:rPr lang="ru-RU" sz="2000" b="1" dirty="0" err="1"/>
              <a:t>Serializable</a:t>
            </a:r>
            <a:r>
              <a:rPr lang="ru-RU" sz="2000" dirty="0"/>
              <a:t> — максимальная защита от конфликтов, но с возможными откатами транзакций.</a:t>
            </a:r>
          </a:p>
          <a:p>
            <a:pPr algn="just"/>
            <a:endParaRPr lang="ru-RU" sz="2000" dirty="0"/>
          </a:p>
        </p:txBody>
      </p:sp>
    </p:spTree>
    <p:extLst>
      <p:ext uri="{BB962C8B-B14F-4D97-AF65-F5344CB8AC3E}">
        <p14:creationId xmlns:p14="http://schemas.microsoft.com/office/powerpoint/2010/main" val="2659051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016758"/>
          </a:xfrm>
          <a:prstGeom prst="rect">
            <a:avLst/>
          </a:prstGeom>
        </p:spPr>
        <p:txBody>
          <a:bodyPr wrap="square">
            <a:spAutoFit/>
          </a:bodyPr>
          <a:lstStyle/>
          <a:p>
            <a:pPr algn="just"/>
            <a:r>
              <a:rPr lang="ru-RU" sz="2000" dirty="0"/>
              <a:t>для обеспечения согласованности могут использоваться явные блокировки — например, </a:t>
            </a:r>
            <a:r>
              <a:rPr lang="en-US" sz="2000" dirty="0"/>
              <a:t>SELECT FOR UPDATE, SELECT FOR SHARE </a:t>
            </a:r>
            <a:r>
              <a:rPr lang="ru-RU" sz="2000" dirty="0"/>
              <a:t>или оператор </a:t>
            </a:r>
            <a:r>
              <a:rPr lang="en-US" sz="2000" dirty="0"/>
              <a:t>LOCK TABLE. SELECT FOR UPDATE </a:t>
            </a:r>
            <a:r>
              <a:rPr lang="ru-RU" sz="2000" dirty="0"/>
              <a:t>и </a:t>
            </a:r>
            <a:r>
              <a:rPr lang="en-US" sz="2000" dirty="0"/>
              <a:t>SELECT FOR SHARE </a:t>
            </a:r>
            <a:r>
              <a:rPr lang="ru-RU" sz="2000" dirty="0"/>
              <a:t>защищают от параллельных изменений только возвращаемые строки, тогда как </a:t>
            </a:r>
            <a:r>
              <a:rPr lang="en-US" sz="2000" dirty="0"/>
              <a:t>LOCK TABLE </a:t>
            </a:r>
            <a:r>
              <a:rPr lang="ru-RU" sz="2000" dirty="0"/>
              <a:t>блокирует всю таблицу.  </a:t>
            </a:r>
          </a:p>
          <a:p>
            <a:pPr algn="ctr"/>
            <a:r>
              <a:rPr lang="ru-RU" sz="2000" b="1" dirty="0"/>
              <a:t>Настройки</a:t>
            </a:r>
          </a:p>
          <a:p>
            <a:pPr algn="just"/>
            <a:r>
              <a:rPr lang="ru-RU" sz="2000" dirty="0"/>
              <a:t>Уровень изоляции можно настроить в </a:t>
            </a:r>
            <a:r>
              <a:rPr lang="en-US" sz="2000" dirty="0"/>
              <a:t>PostgreSQL:  </a:t>
            </a:r>
          </a:p>
          <a:p>
            <a:pPr algn="just"/>
            <a:r>
              <a:rPr lang="en-US" sz="2000" dirty="0"/>
              <a:t>•	</a:t>
            </a:r>
            <a:r>
              <a:rPr lang="ru-RU" sz="2000" dirty="0"/>
              <a:t>Глобальная настройка — например, в файле </a:t>
            </a:r>
            <a:r>
              <a:rPr lang="en-US" sz="2000" dirty="0" err="1"/>
              <a:t>postgresql.conf</a:t>
            </a:r>
            <a:r>
              <a:rPr lang="en-US" sz="2000" dirty="0"/>
              <a:t> </a:t>
            </a:r>
            <a:r>
              <a:rPr lang="ru-RU" sz="2000" dirty="0"/>
              <a:t>можно установить </a:t>
            </a:r>
            <a:r>
              <a:rPr lang="en-US" sz="2000" dirty="0" err="1"/>
              <a:t>default_transaction_isolation</a:t>
            </a:r>
            <a:r>
              <a:rPr lang="en-US" sz="2000" dirty="0"/>
              <a:t> = 'repeatable read'.</a:t>
            </a:r>
          </a:p>
          <a:p>
            <a:pPr algn="just"/>
            <a:r>
              <a:rPr lang="en-US" sz="2000" dirty="0"/>
              <a:t>•	</a:t>
            </a:r>
            <a:r>
              <a:rPr lang="ru-RU" sz="2000" dirty="0"/>
              <a:t>Для конкретной транзакции — можно указать уровень изоляции, например, </a:t>
            </a:r>
            <a:r>
              <a:rPr lang="en-US" sz="2000" dirty="0"/>
              <a:t>BEGIN ISOLATION LEVEL SERIALIZABLE.</a:t>
            </a:r>
          </a:p>
          <a:p>
            <a:pPr algn="ctr"/>
            <a:endParaRPr lang="ru-RU" sz="2000" b="1" dirty="0"/>
          </a:p>
          <a:p>
            <a:pPr algn="ctr"/>
            <a:r>
              <a:rPr lang="ru-RU" sz="2000" b="1" dirty="0"/>
              <a:t>Ошибки</a:t>
            </a:r>
          </a:p>
          <a:p>
            <a:pPr algn="just"/>
            <a:r>
              <a:rPr lang="ru-RU" sz="2000" dirty="0" smtClean="0"/>
              <a:t>На </a:t>
            </a:r>
            <a:r>
              <a:rPr lang="ru-RU" sz="2000" dirty="0"/>
              <a:t>уровне </a:t>
            </a:r>
            <a:r>
              <a:rPr lang="ru-RU" sz="2000" b="1" dirty="0" err="1"/>
              <a:t>Repeatable</a:t>
            </a:r>
            <a:r>
              <a:rPr lang="ru-RU" sz="2000" b="1" dirty="0"/>
              <a:t> </a:t>
            </a:r>
            <a:r>
              <a:rPr lang="ru-RU" sz="2000" b="1" dirty="0" err="1"/>
              <a:t>Read</a:t>
            </a:r>
            <a:r>
              <a:rPr lang="ru-RU" sz="2000" b="1" dirty="0"/>
              <a:t> </a:t>
            </a:r>
            <a:r>
              <a:rPr lang="ru-RU" sz="2000" dirty="0"/>
              <a:t>или </a:t>
            </a:r>
            <a:r>
              <a:rPr lang="ru-RU" sz="2000" b="1" dirty="0" err="1"/>
              <a:t>Serializable</a:t>
            </a:r>
            <a:r>
              <a:rPr lang="ru-RU" sz="2000" b="1" dirty="0"/>
              <a:t> </a:t>
            </a:r>
            <a:r>
              <a:rPr lang="ru-RU" sz="2000" dirty="0"/>
              <a:t>в </a:t>
            </a:r>
            <a:r>
              <a:rPr lang="ru-RU" sz="2000" dirty="0" err="1"/>
              <a:t>PostgreSQL</a:t>
            </a:r>
            <a:r>
              <a:rPr lang="ru-RU" sz="2000" dirty="0"/>
              <a:t> могут возникнуть ошибки, которые заставляют откатывать транзакцию и пробовать снова. Например: </a:t>
            </a:r>
          </a:p>
          <a:p>
            <a:pPr algn="just"/>
            <a:r>
              <a:rPr lang="ru-RU" sz="2000" dirty="0"/>
              <a:t>•	</a:t>
            </a:r>
            <a:r>
              <a:rPr lang="ru-RU" sz="2000" dirty="0" err="1"/>
              <a:t>Lost</a:t>
            </a:r>
            <a:r>
              <a:rPr lang="ru-RU" sz="2000" dirty="0"/>
              <a:t> </a:t>
            </a:r>
            <a:r>
              <a:rPr lang="ru-RU" sz="2000" dirty="0" err="1"/>
              <a:t>Update</a:t>
            </a:r>
            <a:r>
              <a:rPr lang="ru-RU" sz="2000" dirty="0"/>
              <a:t> </a:t>
            </a:r>
            <a:endParaRPr lang="ru-RU" sz="2000" dirty="0" smtClean="0"/>
          </a:p>
          <a:p>
            <a:pPr algn="just"/>
            <a:r>
              <a:rPr lang="ru-RU" sz="2000" dirty="0" smtClean="0"/>
              <a:t>•</a:t>
            </a:r>
            <a:r>
              <a:rPr lang="ru-RU" sz="2000" dirty="0"/>
              <a:t>	</a:t>
            </a:r>
            <a:r>
              <a:rPr lang="ru-RU" sz="2000" dirty="0" err="1"/>
              <a:t>Write</a:t>
            </a:r>
            <a:r>
              <a:rPr lang="ru-RU" sz="2000" dirty="0"/>
              <a:t> </a:t>
            </a:r>
            <a:r>
              <a:rPr lang="ru-RU" sz="2000" dirty="0" err="1"/>
              <a:t>Skew</a:t>
            </a:r>
            <a:r>
              <a:rPr lang="ru-RU" sz="2000" dirty="0"/>
              <a:t> </a:t>
            </a:r>
            <a:endParaRPr lang="ru-RU" sz="2000" dirty="0" smtClean="0"/>
          </a:p>
          <a:p>
            <a:pPr algn="just"/>
            <a:endParaRPr lang="ru-RU" sz="2000" dirty="0"/>
          </a:p>
        </p:txBody>
      </p:sp>
    </p:spTree>
    <p:extLst>
      <p:ext uri="{BB962C8B-B14F-4D97-AF65-F5344CB8AC3E}">
        <p14:creationId xmlns:p14="http://schemas.microsoft.com/office/powerpoint/2010/main" val="125005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940088"/>
          </a:xfrm>
          <a:prstGeom prst="rect">
            <a:avLst/>
          </a:prstGeom>
        </p:spPr>
        <p:txBody>
          <a:bodyPr wrap="square">
            <a:spAutoFit/>
          </a:bodyPr>
          <a:lstStyle/>
          <a:p>
            <a:pPr algn="ctr"/>
            <a:r>
              <a:rPr lang="ru-RU" sz="2000" b="1" dirty="0"/>
              <a:t>Тестирование</a:t>
            </a:r>
          </a:p>
          <a:p>
            <a:pPr algn="just"/>
            <a:r>
              <a:rPr lang="ru-RU" sz="2000" dirty="0"/>
              <a:t>Для проверки согласованности данных в </a:t>
            </a:r>
            <a:r>
              <a:rPr lang="ru-RU" sz="2000" dirty="0" err="1"/>
              <a:t>PostgreSQL</a:t>
            </a:r>
            <a:r>
              <a:rPr lang="ru-RU" sz="2000" dirty="0"/>
              <a:t> используются, например:</a:t>
            </a:r>
          </a:p>
          <a:p>
            <a:pPr marL="342900" indent="-342900" algn="just">
              <a:buFont typeface="Wingdings" panose="05000000000000000000" pitchFamily="2" charset="2"/>
              <a:buChar char="q"/>
            </a:pPr>
            <a:r>
              <a:rPr lang="ru-RU" sz="2000" dirty="0"/>
              <a:t>	Модуль </a:t>
            </a:r>
            <a:r>
              <a:rPr lang="ru-RU" sz="2000" dirty="0" err="1"/>
              <a:t>amcheck</a:t>
            </a:r>
            <a:r>
              <a:rPr lang="ru-RU" sz="2000" dirty="0"/>
              <a:t> — предоставляет функции, которые проверяют логическую согласованность структуры </a:t>
            </a:r>
            <a:r>
              <a:rPr lang="ru-RU" sz="2000" dirty="0" smtClean="0"/>
              <a:t>отношений</a:t>
            </a:r>
          </a:p>
          <a:p>
            <a:pPr marL="342900" indent="-342900" algn="just">
              <a:buFont typeface="Wingdings" panose="05000000000000000000" pitchFamily="2" charset="2"/>
              <a:buChar char="q"/>
            </a:pPr>
            <a:r>
              <a:rPr lang="ru-RU" sz="2000" dirty="0"/>
              <a:t>	Проверки на уровне приложения — в официальной документации </a:t>
            </a:r>
            <a:r>
              <a:rPr lang="ru-RU" sz="2000" dirty="0" err="1"/>
              <a:t>PostgreSQL</a:t>
            </a:r>
            <a:r>
              <a:rPr lang="ru-RU" sz="2000" dirty="0"/>
              <a:t> есть раздел </a:t>
            </a:r>
            <a:r>
              <a:rPr lang="ru-RU" sz="2000" dirty="0" err="1"/>
              <a:t>Data</a:t>
            </a:r>
            <a:r>
              <a:rPr lang="ru-RU" sz="2000" dirty="0"/>
              <a:t> </a:t>
            </a:r>
            <a:r>
              <a:rPr lang="ru-RU" sz="2000" dirty="0" err="1"/>
              <a:t>Consistency</a:t>
            </a:r>
            <a:r>
              <a:rPr lang="ru-RU" sz="2000" dirty="0"/>
              <a:t> </a:t>
            </a:r>
            <a:r>
              <a:rPr lang="ru-RU" sz="2000" dirty="0" err="1"/>
              <a:t>Checks</a:t>
            </a:r>
            <a:r>
              <a:rPr lang="ru-RU" sz="2000" dirty="0"/>
              <a:t> </a:t>
            </a:r>
            <a:r>
              <a:rPr lang="ru-RU" sz="2000" dirty="0" err="1"/>
              <a:t>at</a:t>
            </a:r>
            <a:r>
              <a:rPr lang="ru-RU" sz="2000" dirty="0"/>
              <a:t> </a:t>
            </a:r>
            <a:r>
              <a:rPr lang="ru-RU" sz="2000" dirty="0" err="1"/>
              <a:t>the</a:t>
            </a:r>
            <a:r>
              <a:rPr lang="ru-RU" sz="2000" dirty="0"/>
              <a:t> </a:t>
            </a:r>
            <a:r>
              <a:rPr lang="ru-RU" sz="2000" dirty="0" err="1"/>
              <a:t>Application</a:t>
            </a:r>
            <a:r>
              <a:rPr lang="ru-RU" sz="2000" dirty="0"/>
              <a:t> </a:t>
            </a:r>
            <a:r>
              <a:rPr lang="ru-RU" sz="2000" dirty="0" err="1" smtClean="0"/>
              <a:t>Level</a:t>
            </a:r>
            <a:endParaRPr lang="ru-RU" sz="2000" dirty="0" smtClean="0"/>
          </a:p>
          <a:p>
            <a:pPr algn="just"/>
            <a:r>
              <a:rPr lang="ru-RU" sz="2000" b="1" dirty="0" smtClean="0"/>
              <a:t>Достоинства</a:t>
            </a:r>
            <a:endParaRPr lang="ru-RU" sz="2000" b="1" dirty="0"/>
          </a:p>
          <a:p>
            <a:pPr algn="just"/>
            <a:r>
              <a:rPr lang="ru-RU" sz="2000" dirty="0"/>
              <a:t>•	Гарантия, что данные остаются согласованными в любых </a:t>
            </a:r>
            <a:r>
              <a:rPr lang="ru-RU" sz="2000" dirty="0" smtClean="0"/>
              <a:t>условиях</a:t>
            </a:r>
          </a:p>
          <a:p>
            <a:pPr algn="just"/>
            <a:r>
              <a:rPr lang="ru-RU" sz="2000" dirty="0" smtClean="0"/>
              <a:t>•</a:t>
            </a:r>
            <a:r>
              <a:rPr lang="ru-RU" sz="2000" dirty="0"/>
              <a:t>	Возможность управлять согласованностью транзакций с помощью различных уровней изоляции. </a:t>
            </a:r>
            <a:r>
              <a:rPr lang="ru-RU" sz="2000" b="1" dirty="0"/>
              <a:t>Например:</a:t>
            </a:r>
          </a:p>
          <a:p>
            <a:pPr marL="342900" indent="-342900" algn="just">
              <a:buFont typeface="Wingdings" panose="05000000000000000000" pitchFamily="2" charset="2"/>
              <a:buChar char="§"/>
            </a:pPr>
            <a:r>
              <a:rPr lang="ru-RU" sz="2000" dirty="0"/>
              <a:t>	</a:t>
            </a:r>
            <a:r>
              <a:rPr lang="ru-RU" sz="2000" dirty="0" err="1"/>
              <a:t>Read</a:t>
            </a:r>
            <a:r>
              <a:rPr lang="ru-RU" sz="2000" dirty="0"/>
              <a:t> </a:t>
            </a:r>
            <a:r>
              <a:rPr lang="ru-RU" sz="2000" dirty="0" err="1"/>
              <a:t>Committed</a:t>
            </a:r>
            <a:r>
              <a:rPr lang="ru-RU" sz="2000" dirty="0"/>
              <a:t> (чтение зафиксированных данных, по умолчанию) </a:t>
            </a:r>
            <a:endParaRPr lang="ru-RU" sz="2000" dirty="0" smtClean="0"/>
          </a:p>
          <a:p>
            <a:pPr marL="342900" indent="-342900" algn="just">
              <a:buFont typeface="Wingdings" panose="05000000000000000000" pitchFamily="2" charset="2"/>
              <a:buChar char="§"/>
            </a:pPr>
            <a:r>
              <a:rPr lang="ru-RU" sz="2000" dirty="0"/>
              <a:t>	</a:t>
            </a:r>
            <a:r>
              <a:rPr lang="ru-RU" sz="2000" dirty="0" err="1"/>
              <a:t>Repeatable</a:t>
            </a:r>
            <a:r>
              <a:rPr lang="ru-RU" sz="2000" dirty="0"/>
              <a:t> </a:t>
            </a:r>
            <a:r>
              <a:rPr lang="ru-RU" sz="2000" dirty="0" err="1"/>
              <a:t>Read</a:t>
            </a:r>
            <a:r>
              <a:rPr lang="ru-RU" sz="2000" dirty="0"/>
              <a:t> (повторяемое чтение) </a:t>
            </a:r>
            <a:endParaRPr lang="ru-RU" sz="2000" dirty="0" smtClean="0"/>
          </a:p>
          <a:p>
            <a:pPr marL="342900" indent="-342900" algn="just">
              <a:buFont typeface="Wingdings" panose="05000000000000000000" pitchFamily="2" charset="2"/>
              <a:buChar char="§"/>
            </a:pPr>
            <a:r>
              <a:rPr lang="ru-RU" sz="2000" dirty="0" err="1" smtClean="0"/>
              <a:t>Serializable</a:t>
            </a:r>
            <a:r>
              <a:rPr lang="ru-RU" sz="2000" dirty="0" smtClean="0"/>
              <a:t> </a:t>
            </a:r>
          </a:p>
          <a:p>
            <a:pPr marL="342900" indent="-342900" algn="just">
              <a:buFont typeface="Wingdings" panose="05000000000000000000" pitchFamily="2" charset="2"/>
              <a:buChar char="q"/>
            </a:pPr>
            <a:r>
              <a:rPr lang="ru-RU" sz="2000" dirty="0" smtClean="0"/>
              <a:t>Возможность </a:t>
            </a:r>
            <a:r>
              <a:rPr lang="ru-RU" sz="2000" dirty="0"/>
              <a:t>настраивать согласованность для разных приложений, </a:t>
            </a:r>
            <a:endParaRPr lang="ru-RU" sz="2000" dirty="0"/>
          </a:p>
          <a:p>
            <a:pPr algn="ctr"/>
            <a:r>
              <a:rPr lang="ru-RU" sz="2000" b="1" dirty="0"/>
              <a:t>Недостатки</a:t>
            </a:r>
          </a:p>
          <a:p>
            <a:pPr algn="just"/>
            <a:r>
              <a:rPr lang="ru-RU" sz="2000" dirty="0"/>
              <a:t>•	Непредсказуемый порядок выполнения транзакций из-за метода </a:t>
            </a:r>
            <a:r>
              <a:rPr lang="ru-RU" sz="2000" b="1" dirty="0"/>
              <a:t>MVCC</a:t>
            </a:r>
            <a:r>
              <a:rPr lang="ru-RU" sz="2000" dirty="0"/>
              <a:t>. </a:t>
            </a:r>
          </a:p>
          <a:p>
            <a:pPr algn="just"/>
            <a:r>
              <a:rPr lang="ru-RU" sz="2000" dirty="0"/>
              <a:t>•	Возможны фантомные чтения при некоторых уровнях изоляции, например, при </a:t>
            </a:r>
            <a:r>
              <a:rPr lang="ru-RU" sz="2000" b="1" dirty="0" err="1"/>
              <a:t>Repeatable</a:t>
            </a:r>
            <a:r>
              <a:rPr lang="ru-RU" sz="2000" b="1" dirty="0"/>
              <a:t> </a:t>
            </a:r>
            <a:r>
              <a:rPr lang="ru-RU" sz="2000" b="1" dirty="0" err="1"/>
              <a:t>Read</a:t>
            </a:r>
            <a:r>
              <a:rPr lang="ru-RU" sz="2000" dirty="0"/>
              <a:t>, </a:t>
            </a:r>
            <a:endParaRPr lang="ru-RU" sz="2000" dirty="0" smtClean="0"/>
          </a:p>
          <a:p>
            <a:pPr algn="just"/>
            <a:r>
              <a:rPr lang="ru-RU" sz="2000" dirty="0" smtClean="0"/>
              <a:t>•</a:t>
            </a:r>
            <a:r>
              <a:rPr lang="ru-RU" sz="2000" dirty="0"/>
              <a:t>	Высокий риск блокировок и взаимоблокировок при высоком уровне изоляции </a:t>
            </a:r>
            <a:r>
              <a:rPr lang="ru-RU" sz="2000" b="1" dirty="0"/>
              <a:t>(</a:t>
            </a:r>
            <a:r>
              <a:rPr lang="ru-RU" sz="2000" b="1" dirty="0" err="1"/>
              <a:t>Serializable</a:t>
            </a:r>
            <a:r>
              <a:rPr lang="ru-RU" sz="2000" b="1" dirty="0"/>
              <a:t>).</a:t>
            </a:r>
          </a:p>
          <a:p>
            <a:pPr algn="ctr"/>
            <a:endParaRPr lang="ru-RU" sz="2000" b="1" dirty="0"/>
          </a:p>
        </p:txBody>
      </p:sp>
    </p:spTree>
    <p:extLst>
      <p:ext uri="{BB962C8B-B14F-4D97-AF65-F5344CB8AC3E}">
        <p14:creationId xmlns:p14="http://schemas.microsoft.com/office/powerpoint/2010/main" val="2769801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217087"/>
          </a:xfrm>
          <a:prstGeom prst="rect">
            <a:avLst/>
          </a:prstGeom>
        </p:spPr>
        <p:txBody>
          <a:bodyPr wrap="square">
            <a:spAutoFit/>
          </a:bodyPr>
          <a:lstStyle/>
          <a:p>
            <a:pPr algn="ctr"/>
            <a:r>
              <a:rPr lang="ru-RU" sz="2000" b="1" dirty="0"/>
              <a:t>Уровни </a:t>
            </a:r>
            <a:r>
              <a:rPr lang="ru-RU" sz="2000" b="1" dirty="0" smtClean="0"/>
              <a:t>изоляции</a:t>
            </a:r>
          </a:p>
          <a:p>
            <a:pPr algn="ctr"/>
            <a:r>
              <a:rPr lang="ru-RU" sz="2000" b="1" dirty="0" smtClean="0"/>
              <a:t>Изоляция </a:t>
            </a:r>
            <a:r>
              <a:rPr lang="ru-RU" sz="2000" b="1" dirty="0"/>
              <a:t>(</a:t>
            </a:r>
            <a:r>
              <a:rPr lang="ru-RU" sz="2000" b="1" dirty="0" err="1"/>
              <a:t>Isolation</a:t>
            </a:r>
            <a:r>
              <a:rPr lang="ru-RU" sz="2000" b="1" dirty="0"/>
              <a:t>): </a:t>
            </a:r>
            <a:r>
              <a:rPr lang="ru-RU" sz="2000" dirty="0"/>
              <a:t>Транзакции, выполняющиеся одновременно, не должны влиять друг на друга.</a:t>
            </a:r>
            <a:endParaRPr lang="ru-RU" sz="2000" dirty="0"/>
          </a:p>
          <a:p>
            <a:pPr algn="ctr"/>
            <a:r>
              <a:rPr lang="ru-RU" sz="2000" b="1" dirty="0"/>
              <a:t>Уровни изоляции: </a:t>
            </a:r>
            <a:r>
              <a:rPr lang="ru-RU" sz="2000" b="1" dirty="0" err="1"/>
              <a:t>остоинства</a:t>
            </a:r>
            <a:r>
              <a:rPr lang="ru-RU" sz="2000" b="1" dirty="0"/>
              <a:t> и недостатки</a:t>
            </a:r>
          </a:p>
          <a:p>
            <a:pPr algn="just"/>
            <a:r>
              <a:rPr lang="ru-RU" sz="2000" b="1" dirty="0"/>
              <a:t>READ </a:t>
            </a:r>
            <a:r>
              <a:rPr lang="ru-RU" sz="2000" b="1" dirty="0" smtClean="0"/>
              <a:t>UNCOMMITTED: </a:t>
            </a:r>
            <a:r>
              <a:rPr lang="ru-RU" sz="2000" dirty="0" smtClean="0"/>
              <a:t>Транзакция </a:t>
            </a:r>
            <a:r>
              <a:rPr lang="ru-RU" sz="2000" dirty="0"/>
              <a:t>может видеть изменения, сделанные незавершенными транзакциями </a:t>
            </a:r>
            <a:r>
              <a:rPr lang="ru-RU" sz="2000" b="1" dirty="0" smtClean="0"/>
              <a:t>READ </a:t>
            </a:r>
            <a:r>
              <a:rPr lang="ru-RU" sz="2000" b="1" dirty="0"/>
              <a:t>COMMITTED</a:t>
            </a:r>
            <a:r>
              <a:rPr lang="ru-RU" sz="2000" dirty="0"/>
              <a:t>: Транзакция видит только изменения, подтвержденные другими транзакциями </a:t>
            </a:r>
            <a:r>
              <a:rPr lang="ru-RU" sz="2000" b="1" dirty="0" smtClean="0"/>
              <a:t>REPEATABLE </a:t>
            </a:r>
            <a:r>
              <a:rPr lang="ru-RU" sz="2000" b="1" dirty="0"/>
              <a:t>READ: </a:t>
            </a:r>
            <a:r>
              <a:rPr lang="ru-RU" sz="2000" dirty="0"/>
              <a:t>Транзакция видит одни и те же данные на протяжении всего ее </a:t>
            </a:r>
            <a:r>
              <a:rPr lang="ru-RU" sz="2000" dirty="0" smtClean="0"/>
              <a:t>выполнения </a:t>
            </a:r>
            <a:endParaRPr lang="ru-RU" sz="2000" dirty="0"/>
          </a:p>
          <a:p>
            <a:pPr algn="just"/>
            <a:r>
              <a:rPr lang="ru-RU" sz="2000" dirty="0"/>
              <a:t> </a:t>
            </a:r>
            <a:r>
              <a:rPr lang="ru-RU" sz="2000" b="1" dirty="0" smtClean="0"/>
              <a:t>SERIALIZABLE</a:t>
            </a:r>
            <a:r>
              <a:rPr lang="ru-RU" sz="2000" dirty="0"/>
              <a:t>: Самый строгий уровень </a:t>
            </a:r>
            <a:r>
              <a:rPr lang="ru-RU" sz="2000" dirty="0" smtClean="0"/>
              <a:t>изоляции</a:t>
            </a:r>
          </a:p>
          <a:p>
            <a:pPr algn="ctr"/>
            <a:r>
              <a:rPr lang="ru-RU" sz="2000" b="1" dirty="0"/>
              <a:t>Настройка</a:t>
            </a:r>
          </a:p>
          <a:p>
            <a:pPr marL="342900" indent="-342900" algn="just">
              <a:buFont typeface="Wingdings" panose="05000000000000000000" pitchFamily="2" charset="2"/>
              <a:buChar char="v"/>
            </a:pPr>
            <a:r>
              <a:rPr lang="ru-RU" sz="2000" dirty="0"/>
              <a:t>Уровень изоляции транзакции можно изменить с помощью команды SET TRANSACTION ISOLATION LEVEL. Второй вариант — сразу начать транзакцию на нужном уровне изоляции, например: BEGIN TRANSACTION ISOLATION LEVEL REPEATABLE READ.  </a:t>
            </a:r>
          </a:p>
          <a:p>
            <a:pPr marL="342900" indent="-342900" algn="just">
              <a:buFont typeface="Wingdings" panose="05000000000000000000" pitchFamily="2" charset="2"/>
              <a:buChar char="v"/>
            </a:pPr>
            <a:r>
              <a:rPr lang="ru-RU" sz="2000" dirty="0"/>
              <a:t>Уровень изоляции транзакции нельзя изменить после выполнения первого запроса на выборку или изменение данных (SELECT, INSERT, DELETE, UPDATE, MERGE, FETCH или COPY) в текущей транзакции. </a:t>
            </a:r>
          </a:p>
          <a:p>
            <a:pPr algn="just"/>
            <a:r>
              <a:rPr lang="ru-RU" sz="2000" dirty="0"/>
              <a:t>Выбор уровня изоляции зависит от требований к согласованности данных и производительности</a:t>
            </a:r>
            <a:r>
              <a:rPr lang="ru-RU" sz="2000" dirty="0" smtClean="0"/>
              <a:t>.</a:t>
            </a:r>
          </a:p>
          <a:p>
            <a:pPr algn="just"/>
            <a:r>
              <a:rPr lang="ru-RU" sz="2000" b="1" dirty="0"/>
              <a:t>Ошибки</a:t>
            </a:r>
          </a:p>
          <a:p>
            <a:pPr algn="just"/>
            <a:r>
              <a:rPr lang="ru-RU" sz="2000" dirty="0" smtClean="0"/>
              <a:t>•</a:t>
            </a:r>
            <a:r>
              <a:rPr lang="ru-RU" sz="2000" dirty="0"/>
              <a:t>	Аномалия </a:t>
            </a:r>
            <a:r>
              <a:rPr lang="ru-RU" sz="2000" dirty="0" err="1"/>
              <a:t>сериализации</a:t>
            </a:r>
            <a:r>
              <a:rPr lang="ru-RU" sz="2000" dirty="0"/>
              <a:t> — СУБД пытается выстроить транзакции последовательно во всех возможных комбинациях, и при невозможности одного из вариантов происходит ошибка. </a:t>
            </a:r>
            <a:r>
              <a:rPr lang="ru-RU" sz="2000" dirty="0" smtClean="0"/>
              <a:t>Например: ERROR</a:t>
            </a:r>
            <a:r>
              <a:rPr lang="ru-RU" sz="2000" dirty="0"/>
              <a:t>: </a:t>
            </a:r>
            <a:r>
              <a:rPr lang="ru-RU" sz="2000" dirty="0" err="1"/>
              <a:t>could</a:t>
            </a:r>
            <a:r>
              <a:rPr lang="ru-RU" sz="2000" dirty="0"/>
              <a:t> </a:t>
            </a:r>
            <a:r>
              <a:rPr lang="ru-RU" sz="2000" dirty="0" err="1"/>
              <a:t>not</a:t>
            </a:r>
            <a:r>
              <a:rPr lang="ru-RU" sz="2000" dirty="0"/>
              <a:t> </a:t>
            </a:r>
            <a:r>
              <a:rPr lang="ru-RU" sz="2000" dirty="0" err="1"/>
              <a:t>serialize</a:t>
            </a:r>
            <a:r>
              <a:rPr lang="ru-RU" sz="2000" dirty="0"/>
              <a:t> </a:t>
            </a:r>
            <a:r>
              <a:rPr lang="ru-RU" sz="2000" dirty="0" err="1"/>
              <a:t>access</a:t>
            </a:r>
            <a:r>
              <a:rPr lang="ru-RU" sz="2000" dirty="0"/>
              <a:t> </a:t>
            </a:r>
            <a:r>
              <a:rPr lang="ru-RU" sz="2000" dirty="0" err="1"/>
              <a:t>due</a:t>
            </a:r>
            <a:r>
              <a:rPr lang="ru-RU" sz="2000" dirty="0"/>
              <a:t> </a:t>
            </a:r>
            <a:r>
              <a:rPr lang="ru-RU" sz="2000" dirty="0" err="1"/>
              <a:t>to</a:t>
            </a:r>
            <a:r>
              <a:rPr lang="ru-RU" sz="2000" dirty="0"/>
              <a:t> </a:t>
            </a:r>
            <a:r>
              <a:rPr lang="ru-RU" sz="2000" dirty="0" err="1"/>
              <a:t>read</a:t>
            </a:r>
            <a:r>
              <a:rPr lang="ru-RU" sz="2000" dirty="0"/>
              <a:t>/</a:t>
            </a:r>
            <a:r>
              <a:rPr lang="ru-RU" sz="2000" dirty="0" err="1"/>
              <a:t>write</a:t>
            </a:r>
            <a:r>
              <a:rPr lang="ru-RU" sz="2000" dirty="0"/>
              <a:t> </a:t>
            </a:r>
            <a:r>
              <a:rPr lang="ru-RU" sz="2000" dirty="0" err="1"/>
              <a:t>dependencies</a:t>
            </a:r>
            <a:r>
              <a:rPr lang="ru-RU" sz="2000" dirty="0"/>
              <a:t> </a:t>
            </a:r>
            <a:r>
              <a:rPr lang="ru-RU" sz="2000" dirty="0" err="1"/>
              <a:t>among</a:t>
            </a:r>
            <a:r>
              <a:rPr lang="ru-RU" sz="2000" dirty="0"/>
              <a:t> </a:t>
            </a:r>
            <a:r>
              <a:rPr lang="ru-RU" sz="2000" dirty="0" err="1"/>
              <a:t>transactions</a:t>
            </a:r>
            <a:r>
              <a:rPr lang="ru-RU" sz="2000" dirty="0"/>
              <a:t>.</a:t>
            </a:r>
          </a:p>
          <a:p>
            <a:pPr algn="just"/>
            <a:r>
              <a:rPr lang="ru-RU" sz="2000" dirty="0"/>
              <a:t>•	Чтение «грязных» данных (</a:t>
            </a:r>
            <a:r>
              <a:rPr lang="ru-RU" sz="2000" dirty="0" err="1"/>
              <a:t>Phantom</a:t>
            </a:r>
            <a:r>
              <a:rPr lang="ru-RU" sz="2000" dirty="0"/>
              <a:t> </a:t>
            </a:r>
            <a:r>
              <a:rPr lang="ru-RU" sz="2000" dirty="0" err="1"/>
              <a:t>Reads</a:t>
            </a:r>
            <a:r>
              <a:rPr lang="ru-RU" sz="2000" dirty="0"/>
              <a:t>) </a:t>
            </a:r>
            <a:r>
              <a:rPr lang="ru-RU" dirty="0"/>
              <a:t>— на уровне </a:t>
            </a:r>
            <a:r>
              <a:rPr lang="ru-RU" dirty="0" err="1"/>
              <a:t>Read</a:t>
            </a:r>
            <a:r>
              <a:rPr lang="ru-RU" dirty="0"/>
              <a:t> </a:t>
            </a:r>
            <a:r>
              <a:rPr lang="ru-RU" dirty="0" err="1"/>
              <a:t>Committed</a:t>
            </a:r>
            <a:r>
              <a:rPr lang="ru-RU" dirty="0"/>
              <a:t> данные могут измениться прямо посреди работы</a:t>
            </a:r>
            <a:endParaRPr lang="ru-RU" sz="2000" dirty="0"/>
          </a:p>
        </p:txBody>
      </p:sp>
    </p:spTree>
    <p:extLst>
      <p:ext uri="{BB962C8B-B14F-4D97-AF65-F5344CB8AC3E}">
        <p14:creationId xmlns:p14="http://schemas.microsoft.com/office/powerpoint/2010/main" val="85337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pPr algn="ctr"/>
            <a:r>
              <a:rPr lang="ru-RU" sz="2000" b="1" dirty="0"/>
              <a:t>Уровни </a:t>
            </a:r>
            <a:r>
              <a:rPr lang="ru-RU" sz="2000" b="1" dirty="0" smtClean="0"/>
              <a:t>изоляции</a:t>
            </a:r>
          </a:p>
          <a:p>
            <a:pPr algn="ctr"/>
            <a:r>
              <a:rPr lang="ru-RU" sz="2000" b="1" dirty="0"/>
              <a:t>Достоинства</a:t>
            </a:r>
          </a:p>
          <a:p>
            <a:pPr marL="342900" indent="-342900" algn="just">
              <a:buFont typeface="Wingdings" panose="05000000000000000000" pitchFamily="2" charset="2"/>
              <a:buChar char="Ø"/>
            </a:pPr>
            <a:r>
              <a:rPr lang="ru-RU" sz="2000" dirty="0" smtClean="0"/>
              <a:t>Обеспечение </a:t>
            </a:r>
            <a:r>
              <a:rPr lang="ru-RU" sz="2000" dirty="0"/>
              <a:t>согласованности </a:t>
            </a:r>
            <a:r>
              <a:rPr lang="ru-RU" sz="2000" dirty="0" smtClean="0"/>
              <a:t>данных.</a:t>
            </a:r>
          </a:p>
          <a:p>
            <a:pPr algn="just"/>
            <a:r>
              <a:rPr lang="ru-RU" sz="2000" dirty="0" smtClean="0"/>
              <a:t>Например</a:t>
            </a:r>
            <a:r>
              <a:rPr lang="ru-RU" sz="2000" dirty="0"/>
              <a:t>:</a:t>
            </a:r>
          </a:p>
          <a:p>
            <a:pPr marL="342900" indent="-342900" algn="just">
              <a:buFont typeface="Arial" panose="020B0604020202020204" pitchFamily="34" charset="0"/>
              <a:buChar char="•"/>
            </a:pPr>
            <a:r>
              <a:rPr lang="ru-RU" sz="2000" dirty="0" err="1" smtClean="0"/>
              <a:t>Read</a:t>
            </a:r>
            <a:r>
              <a:rPr lang="ru-RU" sz="2000" dirty="0" smtClean="0"/>
              <a:t> </a:t>
            </a:r>
            <a:r>
              <a:rPr lang="ru-RU" sz="2000" dirty="0" err="1"/>
              <a:t>Committed</a:t>
            </a:r>
            <a:r>
              <a:rPr lang="ru-RU" sz="2000" dirty="0"/>
              <a:t> (чтение зафиксированных данных, используется по умолчанию) </a:t>
            </a:r>
            <a:endParaRPr lang="ru-RU" sz="2000" dirty="0" smtClean="0"/>
          </a:p>
          <a:p>
            <a:pPr marL="342900" indent="-342900" algn="just">
              <a:buFont typeface="Arial" panose="020B0604020202020204" pitchFamily="34" charset="0"/>
              <a:buChar char="•"/>
            </a:pPr>
            <a:r>
              <a:rPr lang="ru-RU" sz="2000" dirty="0" err="1" smtClean="0"/>
              <a:t>Repeatable</a:t>
            </a:r>
            <a:r>
              <a:rPr lang="ru-RU" sz="2000" dirty="0" smtClean="0"/>
              <a:t> </a:t>
            </a:r>
            <a:r>
              <a:rPr lang="ru-RU" sz="2000" dirty="0" err="1"/>
              <a:t>Read</a:t>
            </a:r>
            <a:r>
              <a:rPr lang="ru-RU" sz="2000" dirty="0"/>
              <a:t> </a:t>
            </a:r>
            <a:endParaRPr lang="ru-RU" sz="2000" dirty="0" smtClean="0"/>
          </a:p>
          <a:p>
            <a:pPr marL="342900" indent="-342900" algn="just">
              <a:buFont typeface="Arial" panose="020B0604020202020204" pitchFamily="34" charset="0"/>
              <a:buChar char="•"/>
            </a:pPr>
            <a:r>
              <a:rPr lang="ru-RU" sz="2000" dirty="0" err="1" smtClean="0"/>
              <a:t>Serializable</a:t>
            </a:r>
            <a:endParaRPr lang="ru-RU" sz="2000" dirty="0" smtClean="0"/>
          </a:p>
          <a:p>
            <a:pPr marL="342900" indent="-342900" algn="just">
              <a:buFont typeface="Wingdings" panose="05000000000000000000" pitchFamily="2" charset="2"/>
              <a:buChar char="Ø"/>
            </a:pPr>
            <a:r>
              <a:rPr lang="ru-RU" sz="2000" dirty="0" smtClean="0"/>
              <a:t>Баланс </a:t>
            </a:r>
            <a:r>
              <a:rPr lang="ru-RU" sz="2000" dirty="0"/>
              <a:t>между согласованностью и параллельностью. </a:t>
            </a:r>
            <a:endParaRPr lang="ru-RU" sz="2000" dirty="0" smtClean="0"/>
          </a:p>
          <a:p>
            <a:pPr marL="342900" indent="-342900" algn="just">
              <a:buFont typeface="Wingdings" panose="05000000000000000000" pitchFamily="2" charset="2"/>
              <a:buChar char="Ø"/>
            </a:pPr>
            <a:r>
              <a:rPr lang="ru-RU" sz="2000" dirty="0" smtClean="0"/>
              <a:t>Удобство </a:t>
            </a:r>
            <a:r>
              <a:rPr lang="ru-RU" sz="2000" dirty="0"/>
              <a:t>для отчётов </a:t>
            </a:r>
            <a:endParaRPr lang="ru-RU" sz="2000" dirty="0" smtClean="0"/>
          </a:p>
          <a:p>
            <a:pPr algn="just"/>
            <a:r>
              <a:rPr lang="ru-RU" sz="2000" b="1" dirty="0" smtClean="0"/>
              <a:t>Недостатки</a:t>
            </a:r>
            <a:endParaRPr lang="ru-RU" sz="2000" b="1" dirty="0"/>
          </a:p>
          <a:p>
            <a:pPr algn="just"/>
            <a:r>
              <a:rPr lang="ru-RU" sz="2000" dirty="0"/>
              <a:t>•	Возможность непредсказуемых результатов на некоторых уровнях изоляции. Например:</a:t>
            </a:r>
          </a:p>
          <a:p>
            <a:pPr marL="342900" indent="-342900" algn="just">
              <a:buFont typeface="Wingdings" panose="05000000000000000000" pitchFamily="2" charset="2"/>
              <a:buChar char="v"/>
            </a:pPr>
            <a:r>
              <a:rPr lang="ru-RU" sz="2000" b="1" dirty="0" err="1" smtClean="0"/>
              <a:t>Read</a:t>
            </a:r>
            <a:r>
              <a:rPr lang="ru-RU" sz="2000" b="1" dirty="0" smtClean="0"/>
              <a:t> </a:t>
            </a:r>
            <a:r>
              <a:rPr lang="ru-RU" sz="2000" b="1" dirty="0" err="1"/>
              <a:t>Uncommitted</a:t>
            </a:r>
            <a:r>
              <a:rPr lang="ru-RU" sz="2000" b="1" dirty="0"/>
              <a:t> </a:t>
            </a:r>
            <a:endParaRPr lang="ru-RU" sz="2000" b="1" dirty="0" smtClean="0"/>
          </a:p>
          <a:p>
            <a:pPr marL="342900" indent="-342900" algn="just">
              <a:buFont typeface="Wingdings" panose="05000000000000000000" pitchFamily="2" charset="2"/>
              <a:buChar char="v"/>
            </a:pPr>
            <a:r>
              <a:rPr lang="ru-RU" sz="2000" b="1" dirty="0" err="1" smtClean="0"/>
              <a:t>Read</a:t>
            </a:r>
            <a:r>
              <a:rPr lang="ru-RU" sz="2000" b="1" dirty="0" smtClean="0"/>
              <a:t> </a:t>
            </a:r>
            <a:r>
              <a:rPr lang="ru-RU" sz="2000" b="1" dirty="0" err="1"/>
              <a:t>Committed</a:t>
            </a:r>
            <a:r>
              <a:rPr lang="ru-RU" sz="2000" b="1" dirty="0"/>
              <a:t> </a:t>
            </a:r>
            <a:endParaRPr lang="ru-RU" sz="2000" b="1" dirty="0" smtClean="0"/>
          </a:p>
          <a:p>
            <a:pPr marL="342900" indent="-342900" algn="just">
              <a:buFont typeface="Wingdings" panose="05000000000000000000" pitchFamily="2" charset="2"/>
              <a:buChar char="v"/>
            </a:pPr>
            <a:r>
              <a:rPr lang="ru-RU" sz="2000" b="1" dirty="0" err="1" smtClean="0"/>
              <a:t>Repeatable</a:t>
            </a:r>
            <a:r>
              <a:rPr lang="ru-RU" sz="2000" b="1" dirty="0" smtClean="0"/>
              <a:t> </a:t>
            </a:r>
            <a:r>
              <a:rPr lang="ru-RU" sz="2000" b="1" dirty="0" err="1" smtClean="0"/>
              <a:t>Read</a:t>
            </a:r>
            <a:r>
              <a:rPr lang="ru-RU" sz="2000" dirty="0" smtClean="0"/>
              <a:t>  </a:t>
            </a:r>
            <a:endParaRPr lang="ru-RU" sz="2000" dirty="0"/>
          </a:p>
          <a:p>
            <a:pPr algn="just"/>
            <a:r>
              <a:rPr lang="ru-RU" sz="2000" dirty="0"/>
              <a:t>•	Риск блокировок и </a:t>
            </a:r>
            <a:r>
              <a:rPr lang="ru-RU" sz="2000" dirty="0" smtClean="0"/>
              <a:t>взаимоблокировок.(уровень </a:t>
            </a:r>
            <a:r>
              <a:rPr lang="ru-RU" sz="2000" dirty="0" err="1" smtClean="0"/>
              <a:t>Serializable</a:t>
            </a:r>
            <a:r>
              <a:rPr lang="ru-RU" sz="2000" dirty="0" smtClean="0"/>
              <a:t>).  </a:t>
            </a:r>
            <a:endParaRPr lang="ru-RU" sz="2000" dirty="0"/>
          </a:p>
          <a:p>
            <a:pPr algn="just"/>
            <a:r>
              <a:rPr lang="ru-RU" sz="2000" dirty="0"/>
              <a:t>•	Ограничения на производительность </a:t>
            </a:r>
            <a:r>
              <a:rPr lang="ru-RU" sz="2000" dirty="0" smtClean="0"/>
              <a:t>(</a:t>
            </a:r>
            <a:r>
              <a:rPr lang="ru-RU" sz="2000" dirty="0"/>
              <a:t>например, </a:t>
            </a:r>
            <a:r>
              <a:rPr lang="ru-RU" sz="2000" dirty="0" err="1"/>
              <a:t>Serializable</a:t>
            </a:r>
            <a:r>
              <a:rPr lang="ru-RU" sz="2000" dirty="0" smtClean="0"/>
              <a:t>)</a:t>
            </a:r>
            <a:endParaRPr lang="ru-RU" sz="2000" dirty="0"/>
          </a:p>
          <a:p>
            <a:pPr algn="just"/>
            <a:r>
              <a:rPr lang="ru-RU" sz="2000" dirty="0"/>
              <a:t>•	Ошибки из-за аномалий </a:t>
            </a:r>
            <a:r>
              <a:rPr lang="ru-RU" sz="2000" dirty="0" err="1"/>
              <a:t>сериализации</a:t>
            </a:r>
            <a:r>
              <a:rPr lang="ru-RU" sz="2000" dirty="0"/>
              <a:t> </a:t>
            </a:r>
            <a:endParaRPr lang="ru-RU" sz="2000" dirty="0"/>
          </a:p>
          <a:p>
            <a:pPr algn="ctr"/>
            <a:endParaRPr lang="ru-RU" sz="2000" b="1" dirty="0"/>
          </a:p>
        </p:txBody>
      </p:sp>
    </p:spTree>
    <p:extLst>
      <p:ext uri="{BB962C8B-B14F-4D97-AF65-F5344CB8AC3E}">
        <p14:creationId xmlns:p14="http://schemas.microsoft.com/office/powerpoint/2010/main" val="3886091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01862"/>
          </a:xfrm>
          <a:prstGeom prst="rect">
            <a:avLst/>
          </a:prstGeom>
        </p:spPr>
        <p:txBody>
          <a:bodyPr wrap="square">
            <a:spAutoFit/>
          </a:bodyPr>
          <a:lstStyle/>
          <a:p>
            <a:pPr algn="ctr"/>
            <a:r>
              <a:rPr lang="ru-RU" sz="2000" b="1" dirty="0"/>
              <a:t>Долговечность</a:t>
            </a:r>
            <a:endParaRPr lang="ru-RU" sz="2000" b="1" dirty="0" smtClean="0"/>
          </a:p>
          <a:p>
            <a:pPr algn="just"/>
            <a:r>
              <a:rPr lang="ru-RU" sz="2000" b="1" dirty="0" smtClean="0"/>
              <a:t>Долговечность </a:t>
            </a:r>
            <a:r>
              <a:rPr lang="ru-RU" sz="2000" b="1" dirty="0"/>
              <a:t>(</a:t>
            </a:r>
            <a:r>
              <a:rPr lang="ru-RU" sz="2000" b="1" dirty="0" err="1"/>
              <a:t>Durability</a:t>
            </a:r>
            <a:r>
              <a:rPr lang="ru-RU" sz="2000" b="1" dirty="0"/>
              <a:t>): </a:t>
            </a:r>
            <a:r>
              <a:rPr lang="ru-RU" sz="2000" dirty="0"/>
              <a:t>После того как транзакция завершена (</a:t>
            </a:r>
            <a:r>
              <a:rPr lang="ru-RU" sz="2000" dirty="0" err="1"/>
              <a:t>закоммичена</a:t>
            </a:r>
            <a:r>
              <a:rPr lang="ru-RU" sz="2000" dirty="0" smtClean="0"/>
              <a:t>)</a:t>
            </a:r>
          </a:p>
          <a:p>
            <a:pPr algn="just"/>
            <a:r>
              <a:rPr lang="ru-RU" sz="2000" dirty="0" smtClean="0"/>
              <a:t>Одно </a:t>
            </a:r>
            <a:r>
              <a:rPr lang="ru-RU" sz="2000" dirty="0"/>
              <a:t>из свойств ACID (</a:t>
            </a:r>
            <a:r>
              <a:rPr lang="ru-RU" sz="2000" dirty="0" err="1"/>
              <a:t>Atomicity</a:t>
            </a:r>
            <a:r>
              <a:rPr lang="ru-RU" sz="2000" dirty="0"/>
              <a:t>, </a:t>
            </a:r>
            <a:r>
              <a:rPr lang="ru-RU" sz="2000" dirty="0" err="1"/>
              <a:t>Consistency</a:t>
            </a:r>
            <a:r>
              <a:rPr lang="ru-RU" sz="2000" dirty="0"/>
              <a:t>, </a:t>
            </a:r>
            <a:r>
              <a:rPr lang="ru-RU" sz="2000" dirty="0" err="1"/>
              <a:t>Isolation</a:t>
            </a:r>
            <a:r>
              <a:rPr lang="ru-RU" sz="2000" dirty="0"/>
              <a:t>, </a:t>
            </a:r>
            <a:r>
              <a:rPr lang="ru-RU" sz="2000" dirty="0" err="1"/>
              <a:t>Durability</a:t>
            </a:r>
            <a:r>
              <a:rPr lang="ru-RU" sz="2000" dirty="0"/>
              <a:t>).  </a:t>
            </a:r>
          </a:p>
          <a:p>
            <a:pPr algn="just"/>
            <a:r>
              <a:rPr lang="ru-RU" sz="2000" b="1" dirty="0"/>
              <a:t>Принцип </a:t>
            </a:r>
            <a:r>
              <a:rPr lang="ru-RU" sz="2000" b="1" dirty="0" smtClean="0"/>
              <a:t>работы:</a:t>
            </a:r>
            <a:endParaRPr lang="ru-RU" sz="2000" b="1" dirty="0"/>
          </a:p>
          <a:p>
            <a:pPr algn="just"/>
            <a:r>
              <a:rPr lang="ru-RU" sz="2000" dirty="0"/>
              <a:t>Вместо того чтобы полагаться на своевременное безопасное обновление файлов данных в момент </a:t>
            </a:r>
            <a:r>
              <a:rPr lang="ru-RU" sz="2000" dirty="0" err="1" smtClean="0"/>
              <a:t>коммита</a:t>
            </a:r>
            <a:endParaRPr lang="ru-RU" sz="2000" dirty="0" smtClean="0"/>
          </a:p>
          <a:p>
            <a:pPr algn="ctr"/>
            <a:r>
              <a:rPr lang="ru-RU" sz="2000" b="1" dirty="0"/>
              <a:t>Механизмы</a:t>
            </a:r>
          </a:p>
          <a:p>
            <a:pPr algn="just"/>
            <a:r>
              <a:rPr lang="ru-RU" sz="2000" dirty="0"/>
              <a:t>Некоторые механизмы, обеспечивающие свойство долговечности в </a:t>
            </a:r>
            <a:r>
              <a:rPr lang="ru-RU" sz="2000" dirty="0" err="1"/>
              <a:t>PostgreSQL</a:t>
            </a:r>
            <a:r>
              <a:rPr lang="ru-RU" sz="2000" dirty="0"/>
              <a:t>:</a:t>
            </a:r>
          </a:p>
          <a:p>
            <a:pPr algn="just"/>
            <a:r>
              <a:rPr lang="ru-RU" sz="2000" dirty="0"/>
              <a:t>•	</a:t>
            </a:r>
            <a:r>
              <a:rPr lang="ru-RU" sz="2000" b="1" dirty="0" smtClean="0"/>
              <a:t>WAL  </a:t>
            </a:r>
            <a:endParaRPr lang="ru-RU" sz="2000" b="1" dirty="0"/>
          </a:p>
          <a:p>
            <a:pPr algn="just"/>
            <a:r>
              <a:rPr lang="ru-RU" sz="2000" dirty="0"/>
              <a:t>•	</a:t>
            </a:r>
            <a:r>
              <a:rPr lang="ru-RU" sz="2000" b="1" dirty="0"/>
              <a:t>Восстановление после краха. </a:t>
            </a:r>
            <a:endParaRPr lang="ru-RU" sz="2000" b="1" dirty="0" smtClean="0"/>
          </a:p>
          <a:p>
            <a:pPr algn="just"/>
            <a:r>
              <a:rPr lang="ru-RU" sz="2000" b="1" dirty="0" smtClean="0"/>
              <a:t>•</a:t>
            </a:r>
            <a:r>
              <a:rPr lang="ru-RU" sz="2000" b="1" dirty="0"/>
              <a:t>	</a:t>
            </a:r>
            <a:r>
              <a:rPr lang="ru-RU" sz="2000" b="1" dirty="0" err="1"/>
              <a:t>Чекпоинты</a:t>
            </a:r>
            <a:r>
              <a:rPr lang="ru-RU" sz="2000" b="1" dirty="0"/>
              <a:t>. </a:t>
            </a:r>
            <a:endParaRPr lang="ru-RU" sz="2000" b="1" dirty="0" smtClean="0"/>
          </a:p>
          <a:p>
            <a:pPr algn="just"/>
            <a:r>
              <a:rPr lang="ru-RU" sz="2000" b="1" dirty="0" smtClean="0"/>
              <a:t>•</a:t>
            </a:r>
            <a:r>
              <a:rPr lang="ru-RU" sz="2000" b="1" dirty="0"/>
              <a:t>	Автоматическая </a:t>
            </a:r>
            <a:r>
              <a:rPr lang="ru-RU" sz="2000" b="1" dirty="0" smtClean="0"/>
              <a:t>репликация</a:t>
            </a:r>
            <a:endParaRPr lang="ru-RU" sz="2000" b="1" dirty="0"/>
          </a:p>
          <a:p>
            <a:pPr algn="just"/>
            <a:r>
              <a:rPr lang="ru-RU" sz="2000" dirty="0"/>
              <a:t>Пример: INSERT INTO </a:t>
            </a:r>
            <a:r>
              <a:rPr lang="ru-RU" sz="2000" dirty="0" err="1"/>
              <a:t>transactions</a:t>
            </a:r>
            <a:r>
              <a:rPr lang="ru-RU" sz="2000" dirty="0"/>
              <a:t> (</a:t>
            </a:r>
            <a:r>
              <a:rPr lang="ru-RU" sz="2000" dirty="0" err="1"/>
              <a:t>account_id</a:t>
            </a:r>
            <a:r>
              <a:rPr lang="ru-RU" sz="2000" dirty="0"/>
              <a:t>, </a:t>
            </a:r>
            <a:r>
              <a:rPr lang="ru-RU" sz="2000" dirty="0" err="1"/>
              <a:t>amount</a:t>
            </a:r>
            <a:r>
              <a:rPr lang="ru-RU" sz="2000" dirty="0"/>
              <a:t>) VALUES (1, 500); COMMIT — даже если сервер упадёт сразу после COMMIT, данные будут сохранены благодаря WAL. </a:t>
            </a:r>
          </a:p>
          <a:p>
            <a:pPr algn="just"/>
            <a:r>
              <a:rPr lang="ru-RU" sz="2000" b="1" dirty="0"/>
              <a:t>Ошибки</a:t>
            </a:r>
          </a:p>
          <a:p>
            <a:pPr algn="just"/>
            <a:r>
              <a:rPr lang="ru-RU" sz="2000" dirty="0"/>
              <a:t>Чрезмерная генерация WAL может нарушить свойство долговечности, так как приводит к быстрому расходу дискового пространства. </a:t>
            </a:r>
            <a:endParaRPr lang="ru-RU" sz="2000" dirty="0" smtClean="0"/>
          </a:p>
          <a:p>
            <a:pPr algn="just"/>
            <a:r>
              <a:rPr lang="ru-RU" sz="2000" dirty="0" smtClean="0"/>
              <a:t>•</a:t>
            </a:r>
            <a:r>
              <a:rPr lang="ru-RU" sz="2000" dirty="0"/>
              <a:t>	Отставание репликации</a:t>
            </a:r>
            <a:r>
              <a:rPr lang="ru-RU" sz="2000" dirty="0" smtClean="0"/>
              <a:t>.</a:t>
            </a:r>
            <a:endParaRPr lang="ru-RU" sz="2000" dirty="0"/>
          </a:p>
          <a:p>
            <a:pPr algn="just"/>
            <a:r>
              <a:rPr lang="ru-RU" sz="2000" dirty="0"/>
              <a:t>•	Чрезмерные вызовы </a:t>
            </a:r>
            <a:r>
              <a:rPr lang="ru-RU" sz="2000" dirty="0" err="1" smtClean="0"/>
              <a:t>fsync</a:t>
            </a:r>
            <a:endParaRPr lang="ru-RU" sz="2000" dirty="0" smtClean="0"/>
          </a:p>
          <a:p>
            <a:pPr algn="just"/>
            <a:r>
              <a:rPr lang="ru-RU" sz="2000" dirty="0" smtClean="0"/>
              <a:t>•</a:t>
            </a:r>
            <a:r>
              <a:rPr lang="ru-RU" sz="2000" dirty="0"/>
              <a:t>	Неконтролируемый рост каталога </a:t>
            </a:r>
            <a:r>
              <a:rPr lang="ru-RU" sz="2000" dirty="0" err="1"/>
              <a:t>pg_wal</a:t>
            </a:r>
            <a:r>
              <a:rPr lang="ru-RU" sz="2000" dirty="0"/>
              <a:t>. </a:t>
            </a:r>
            <a:endParaRPr lang="ru-RU" sz="2000" dirty="0" smtClean="0"/>
          </a:p>
          <a:p>
            <a:pPr algn="just"/>
            <a:r>
              <a:rPr lang="ru-RU" sz="2000" b="1" dirty="0"/>
              <a:t>Решение</a:t>
            </a:r>
            <a:r>
              <a:rPr lang="ru-RU" sz="2000" dirty="0"/>
              <a:t>: регулярно отслеживать слоты репликации и удалять те, которые больше не используются, чтобы предотвратить накопление файлов WAL. </a:t>
            </a:r>
          </a:p>
          <a:p>
            <a:pPr algn="just"/>
            <a:endParaRPr lang="ru-RU" sz="2000" dirty="0"/>
          </a:p>
        </p:txBody>
      </p:sp>
    </p:spTree>
    <p:extLst>
      <p:ext uri="{BB962C8B-B14F-4D97-AF65-F5344CB8AC3E}">
        <p14:creationId xmlns:p14="http://schemas.microsoft.com/office/powerpoint/2010/main" val="36732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4401205"/>
          </a:xfrm>
          <a:prstGeom prst="rect">
            <a:avLst/>
          </a:prstGeom>
        </p:spPr>
        <p:txBody>
          <a:bodyPr wrap="square">
            <a:spAutoFit/>
          </a:bodyPr>
          <a:lstStyle/>
          <a:p>
            <a:pPr algn="ctr"/>
            <a:r>
              <a:rPr lang="ru-RU" sz="2000" b="1" dirty="0"/>
              <a:t>Рекомендации</a:t>
            </a:r>
          </a:p>
          <a:p>
            <a:pPr algn="just"/>
            <a:r>
              <a:rPr lang="ru-RU" sz="2000" dirty="0"/>
              <a:t>•	Учитывать баланс между надёжностью и </a:t>
            </a:r>
            <a:r>
              <a:rPr lang="ru-RU" sz="2000" dirty="0" smtClean="0"/>
              <a:t>скоростью (отключить </a:t>
            </a:r>
            <a:r>
              <a:rPr lang="ru-RU" sz="2000" dirty="0" err="1"/>
              <a:t>fsync</a:t>
            </a:r>
            <a:r>
              <a:rPr lang="ru-RU" sz="2000" dirty="0"/>
              <a:t> или </a:t>
            </a:r>
            <a:r>
              <a:rPr lang="ru-RU" sz="2000" dirty="0" err="1" smtClean="0"/>
              <a:t>synchronous_commit</a:t>
            </a:r>
            <a:r>
              <a:rPr lang="ru-RU" sz="2000" dirty="0" smtClean="0"/>
              <a:t>).  </a:t>
            </a:r>
            <a:endParaRPr lang="ru-RU" sz="2000" dirty="0"/>
          </a:p>
          <a:p>
            <a:pPr algn="just"/>
            <a:r>
              <a:rPr lang="ru-RU" sz="2000" dirty="0"/>
              <a:t>•	Устранять проблемы с </a:t>
            </a:r>
            <a:r>
              <a:rPr lang="ru-RU" sz="2000" dirty="0" smtClean="0"/>
              <a:t>репликацией</a:t>
            </a:r>
          </a:p>
          <a:p>
            <a:pPr algn="just"/>
            <a:r>
              <a:rPr lang="ru-RU" sz="2000" dirty="0" smtClean="0"/>
              <a:t>•</a:t>
            </a:r>
            <a:r>
              <a:rPr lang="ru-RU" sz="2000" dirty="0"/>
              <a:t>	Контролировать слоты </a:t>
            </a:r>
            <a:r>
              <a:rPr lang="ru-RU" sz="2000" dirty="0" smtClean="0"/>
              <a:t>репликации</a:t>
            </a:r>
          </a:p>
          <a:p>
            <a:pPr algn="just"/>
            <a:r>
              <a:rPr lang="ru-RU" sz="2000" b="1" dirty="0" smtClean="0"/>
              <a:t>Достоинства</a:t>
            </a:r>
            <a:endParaRPr lang="ru-RU" sz="2000" b="1" dirty="0"/>
          </a:p>
          <a:p>
            <a:pPr algn="just"/>
            <a:r>
              <a:rPr lang="ru-RU" sz="2000" dirty="0"/>
              <a:t>•	</a:t>
            </a:r>
            <a:r>
              <a:rPr lang="ru-RU" sz="2000" dirty="0" err="1"/>
              <a:t>Журналирование</a:t>
            </a:r>
            <a:r>
              <a:rPr lang="ru-RU" sz="2000" dirty="0"/>
              <a:t> </a:t>
            </a:r>
            <a:r>
              <a:rPr lang="ru-RU" sz="2000" dirty="0" smtClean="0"/>
              <a:t>изменений</a:t>
            </a:r>
          </a:p>
          <a:p>
            <a:pPr algn="just"/>
            <a:r>
              <a:rPr lang="ru-RU" sz="2000" dirty="0" smtClean="0"/>
              <a:t>•</a:t>
            </a:r>
            <a:r>
              <a:rPr lang="ru-RU" sz="2000" dirty="0"/>
              <a:t>	</a:t>
            </a:r>
            <a:r>
              <a:rPr lang="ru-RU" sz="2000" dirty="0" err="1"/>
              <a:t>Многоверсионное</a:t>
            </a:r>
            <a:r>
              <a:rPr lang="ru-RU" sz="2000" dirty="0"/>
              <a:t> хранение данных (MVCC). </a:t>
            </a:r>
            <a:endParaRPr lang="ru-RU" sz="2000" dirty="0" smtClean="0"/>
          </a:p>
          <a:p>
            <a:pPr algn="just"/>
            <a:r>
              <a:rPr lang="ru-RU" sz="2000" dirty="0" smtClean="0"/>
              <a:t>•</a:t>
            </a:r>
            <a:r>
              <a:rPr lang="ru-RU" sz="2000" dirty="0"/>
              <a:t>	Восстановление после </a:t>
            </a:r>
            <a:r>
              <a:rPr lang="ru-RU" sz="2000" dirty="0" smtClean="0"/>
              <a:t>сбоев</a:t>
            </a:r>
          </a:p>
          <a:p>
            <a:pPr algn="just"/>
            <a:r>
              <a:rPr lang="ru-RU" sz="2000" dirty="0" smtClean="0"/>
              <a:t>•</a:t>
            </a:r>
            <a:r>
              <a:rPr lang="ru-RU" sz="2000" dirty="0"/>
              <a:t>	Защита от повреждения данных. </a:t>
            </a:r>
            <a:r>
              <a:rPr lang="ru-RU" sz="2000" dirty="0" smtClean="0"/>
              <a:t>(защищена по </a:t>
            </a:r>
            <a:r>
              <a:rPr lang="ru-RU" sz="2000" dirty="0"/>
              <a:t>алгоритму CRC-32C (32-bit</a:t>
            </a:r>
            <a:r>
              <a:rPr lang="ru-RU" sz="2000" dirty="0" smtClean="0"/>
              <a:t>)) </a:t>
            </a:r>
          </a:p>
          <a:p>
            <a:pPr algn="just"/>
            <a:r>
              <a:rPr lang="ru-RU" sz="2000" b="1" dirty="0" smtClean="0"/>
              <a:t>Недостатки</a:t>
            </a:r>
            <a:endParaRPr lang="ru-RU" sz="2000" b="1" dirty="0"/>
          </a:p>
          <a:p>
            <a:pPr algn="just"/>
            <a:r>
              <a:rPr lang="ru-RU" sz="2000" dirty="0"/>
              <a:t>•	Проблемы с долгими </a:t>
            </a:r>
            <a:r>
              <a:rPr lang="ru-RU" sz="2000" dirty="0" smtClean="0"/>
              <a:t>транзакциями</a:t>
            </a:r>
          </a:p>
          <a:p>
            <a:pPr algn="just"/>
            <a:r>
              <a:rPr lang="ru-RU" sz="2000" dirty="0" smtClean="0"/>
              <a:t>•</a:t>
            </a:r>
            <a:r>
              <a:rPr lang="ru-RU" sz="2000" dirty="0"/>
              <a:t>	Ограничения на размер и длительность транзакции. </a:t>
            </a:r>
            <a:endParaRPr lang="ru-RU" sz="2000" dirty="0" smtClean="0"/>
          </a:p>
          <a:p>
            <a:pPr algn="just"/>
            <a:r>
              <a:rPr lang="ru-RU" sz="2000" dirty="0" smtClean="0"/>
              <a:t>•</a:t>
            </a:r>
            <a:r>
              <a:rPr lang="ru-RU" sz="2000" dirty="0"/>
              <a:t>	Проблемы с временными файлами данных. </a:t>
            </a:r>
            <a:endParaRPr lang="ru-RU" sz="2000" dirty="0"/>
          </a:p>
          <a:p>
            <a:pPr algn="ctr"/>
            <a:endParaRPr lang="ru-RU" sz="2000" b="1" dirty="0"/>
          </a:p>
        </p:txBody>
      </p:sp>
    </p:spTree>
    <p:extLst>
      <p:ext uri="{BB962C8B-B14F-4D97-AF65-F5344CB8AC3E}">
        <p14:creationId xmlns:p14="http://schemas.microsoft.com/office/powerpoint/2010/main" val="420151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555641"/>
          </a:xfrm>
          <a:prstGeom prst="rect">
            <a:avLst/>
          </a:prstGeom>
        </p:spPr>
        <p:txBody>
          <a:bodyPr wrap="square">
            <a:spAutoFit/>
          </a:bodyPr>
          <a:lstStyle/>
          <a:p>
            <a:pPr algn="ctr"/>
            <a:r>
              <a:rPr lang="en-US" sz="2000" b="1" dirty="0"/>
              <a:t>MVCC (</a:t>
            </a:r>
            <a:r>
              <a:rPr lang="ru-RU" sz="2000" b="1" dirty="0" err="1"/>
              <a:t>Многоверсионное</a:t>
            </a:r>
            <a:r>
              <a:rPr lang="ru-RU" sz="2000" b="1" dirty="0"/>
              <a:t> управление параллелизмом)</a:t>
            </a:r>
          </a:p>
          <a:p>
            <a:pPr algn="just"/>
            <a:r>
              <a:rPr lang="en-US" sz="2000" b="1" dirty="0"/>
              <a:t>MVCC (</a:t>
            </a:r>
            <a:r>
              <a:rPr lang="en-US" sz="2000" b="1" dirty="0" err="1"/>
              <a:t>Multiversion</a:t>
            </a:r>
            <a:r>
              <a:rPr lang="en-US" sz="2000" b="1" dirty="0"/>
              <a:t> Concurrency Control) </a:t>
            </a:r>
            <a:r>
              <a:rPr lang="en-US" sz="2000" dirty="0"/>
              <a:t>— </a:t>
            </a:r>
            <a:r>
              <a:rPr lang="ru-RU" sz="2000" dirty="0"/>
              <a:t>механизм управления параллелизмом в </a:t>
            </a:r>
            <a:r>
              <a:rPr lang="en-US" sz="2000" dirty="0"/>
              <a:t>PostgreSQL</a:t>
            </a:r>
            <a:endParaRPr lang="ru-RU" sz="2000" dirty="0"/>
          </a:p>
          <a:p>
            <a:pPr algn="ctr"/>
            <a:r>
              <a:rPr lang="ru-RU" sz="2000" b="1" dirty="0"/>
              <a:t>Преимущества MVCC:</a:t>
            </a:r>
          </a:p>
          <a:p>
            <a:pPr algn="just"/>
            <a:r>
              <a:rPr lang="ru-RU" sz="2000" b="1" dirty="0"/>
              <a:t>•</a:t>
            </a:r>
            <a:r>
              <a:rPr lang="ru-RU" sz="2000" dirty="0"/>
              <a:t>	снижает уровень конфликтов </a:t>
            </a:r>
            <a:r>
              <a:rPr lang="ru-RU" sz="2000" dirty="0" smtClean="0"/>
              <a:t>блокировок</a:t>
            </a:r>
            <a:endParaRPr lang="ru-RU" sz="2000" dirty="0"/>
          </a:p>
          <a:p>
            <a:pPr algn="just"/>
            <a:r>
              <a:rPr lang="ru-RU" sz="2000" dirty="0"/>
              <a:t>•	блокировки MVCC, полученные для чтения </a:t>
            </a:r>
            <a:r>
              <a:rPr lang="ru-RU" sz="2000" dirty="0" smtClean="0"/>
              <a:t>данных</a:t>
            </a:r>
          </a:p>
          <a:p>
            <a:pPr algn="just"/>
            <a:r>
              <a:rPr lang="ru-RU" sz="2000" b="1" dirty="0" smtClean="0"/>
              <a:t>Достоинства</a:t>
            </a:r>
            <a:endParaRPr lang="ru-RU" sz="2000" b="1" dirty="0"/>
          </a:p>
          <a:p>
            <a:pPr algn="just"/>
            <a:r>
              <a:rPr lang="ru-RU" sz="2000" dirty="0"/>
              <a:t>•	Увеличение накладных расходов на хранение </a:t>
            </a:r>
            <a:endParaRPr lang="ru-RU" sz="2000" dirty="0" smtClean="0"/>
          </a:p>
          <a:p>
            <a:pPr algn="just"/>
            <a:r>
              <a:rPr lang="ru-RU" sz="2000" dirty="0" smtClean="0"/>
              <a:t>•</a:t>
            </a:r>
            <a:r>
              <a:rPr lang="ru-RU" sz="2000" dirty="0"/>
              <a:t>	Сложная сборка мусора </a:t>
            </a:r>
            <a:endParaRPr lang="ru-RU" sz="2000" dirty="0" smtClean="0"/>
          </a:p>
          <a:p>
            <a:pPr algn="just"/>
            <a:r>
              <a:rPr lang="ru-RU" sz="2000" dirty="0" smtClean="0"/>
              <a:t>•</a:t>
            </a:r>
            <a:r>
              <a:rPr lang="ru-RU" sz="2000" dirty="0"/>
              <a:t>	Сокращение гарантий согласованности в определённых </a:t>
            </a:r>
            <a:r>
              <a:rPr lang="ru-RU" sz="2000" dirty="0" smtClean="0"/>
              <a:t>сценариях</a:t>
            </a:r>
            <a:endParaRPr lang="ru-RU" sz="2000" dirty="0"/>
          </a:p>
          <a:p>
            <a:pPr algn="just"/>
            <a:r>
              <a:rPr lang="ru-RU" sz="2000" dirty="0"/>
              <a:t>•	Рост объёма хранимых </a:t>
            </a:r>
            <a:r>
              <a:rPr lang="ru-RU" sz="2000" dirty="0" smtClean="0"/>
              <a:t>данных</a:t>
            </a:r>
            <a:endParaRPr lang="ru-RU" sz="2000" dirty="0"/>
          </a:p>
          <a:p>
            <a:pPr algn="just"/>
            <a:r>
              <a:rPr lang="ru-RU" sz="2000" dirty="0"/>
              <a:t>•	Сложность реализации </a:t>
            </a:r>
            <a:endParaRPr lang="ru-RU" sz="2000" dirty="0" smtClean="0"/>
          </a:p>
          <a:p>
            <a:pPr algn="just"/>
            <a:r>
              <a:rPr lang="ru-RU" sz="2000" dirty="0"/>
              <a:t> </a:t>
            </a:r>
            <a:r>
              <a:rPr lang="ru-RU" sz="2000" b="1" dirty="0"/>
              <a:t>Принцип работы</a:t>
            </a:r>
          </a:p>
          <a:p>
            <a:pPr algn="just"/>
            <a:r>
              <a:rPr lang="ru-RU" sz="2000" dirty="0"/>
              <a:t>MVCC поддерживает несколько версий каждой строки в базе данных. </a:t>
            </a:r>
            <a:endParaRPr lang="ru-RU" sz="2000" dirty="0" smtClean="0"/>
          </a:p>
          <a:p>
            <a:pPr algn="just"/>
            <a:r>
              <a:rPr lang="ru-RU" sz="2000" b="1" dirty="0" smtClean="0"/>
              <a:t>Некоторые </a:t>
            </a:r>
            <a:r>
              <a:rPr lang="ru-RU" sz="2000" b="1" dirty="0"/>
              <a:t>особенности работы:</a:t>
            </a:r>
          </a:p>
          <a:p>
            <a:pPr algn="just"/>
            <a:r>
              <a:rPr lang="ru-RU" sz="2000" dirty="0"/>
              <a:t>•	Каждая версия строки имеет специальные метки:</a:t>
            </a:r>
            <a:r>
              <a:rPr lang="ru-RU" sz="2000" b="1" dirty="0"/>
              <a:t> </a:t>
            </a:r>
            <a:r>
              <a:rPr lang="ru-RU" sz="2000" b="1" dirty="0" err="1"/>
              <a:t>xmin</a:t>
            </a:r>
            <a:r>
              <a:rPr lang="ru-RU" sz="2000" b="1" dirty="0"/>
              <a:t> </a:t>
            </a:r>
            <a:r>
              <a:rPr lang="ru-RU" sz="2000" dirty="0"/>
              <a:t>— идентификатор транзакции, которая создала версию, </a:t>
            </a:r>
            <a:r>
              <a:rPr lang="ru-RU" sz="2000" b="1" dirty="0" err="1"/>
              <a:t>xmax</a:t>
            </a:r>
            <a:r>
              <a:rPr lang="ru-RU" sz="2000" dirty="0"/>
              <a:t> — идентификатор транзакции, которая удалила (или обновила) версию. </a:t>
            </a:r>
            <a:endParaRPr lang="ru-RU" sz="2000" dirty="0" smtClean="0"/>
          </a:p>
          <a:p>
            <a:pPr algn="just"/>
            <a:r>
              <a:rPr lang="ru-RU" sz="2000" dirty="0" smtClean="0"/>
              <a:t>•</a:t>
            </a:r>
            <a:r>
              <a:rPr lang="ru-RU" sz="2000" dirty="0"/>
              <a:t>	Когда транзакция читает данные, </a:t>
            </a:r>
            <a:r>
              <a:rPr lang="ru-RU" sz="2000" dirty="0" err="1"/>
              <a:t>PostgreSQL</a:t>
            </a:r>
            <a:r>
              <a:rPr lang="ru-RU" sz="2000" dirty="0"/>
              <a:t> определяет, какую версию строки ей показывать, на основе правил видимости: транзакция видит строки, созданные до её начала (</a:t>
            </a:r>
            <a:r>
              <a:rPr lang="ru-RU" sz="2000" dirty="0" err="1"/>
              <a:t>xmin</a:t>
            </a:r>
            <a:r>
              <a:rPr lang="ru-RU" sz="2000" dirty="0"/>
              <a:t> меньше её идентификатора), и не помеченные как удалённые (</a:t>
            </a:r>
            <a:r>
              <a:rPr lang="ru-RU" sz="2000" dirty="0" err="1"/>
              <a:t>xmax</a:t>
            </a:r>
            <a:r>
              <a:rPr lang="ru-RU" sz="2000" dirty="0"/>
              <a:t> пустой или больше её идентификатора). </a:t>
            </a:r>
          </a:p>
          <a:p>
            <a:pPr algn="just"/>
            <a:r>
              <a:rPr lang="ru-RU" sz="2000" dirty="0"/>
              <a:t>•	Как только транзакция завершает свои операции, она может зафиксировать свои изменения в базе </a:t>
            </a:r>
            <a:r>
              <a:rPr lang="ru-RU" sz="2000" dirty="0" smtClean="0"/>
              <a:t>данных </a:t>
            </a:r>
            <a:endParaRPr lang="ru-RU" sz="2000" dirty="0"/>
          </a:p>
        </p:txBody>
      </p:sp>
    </p:spTree>
    <p:extLst>
      <p:ext uri="{BB962C8B-B14F-4D97-AF65-F5344CB8AC3E}">
        <p14:creationId xmlns:p14="http://schemas.microsoft.com/office/powerpoint/2010/main" val="3445341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19</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lvl="1" algn="ctr"/>
            <a:r>
              <a:rPr lang="ru-RU" sz="4000" b="1" dirty="0">
                <a:solidFill>
                  <a:srgbClr val="FF0000"/>
                </a:solidFill>
              </a:rPr>
              <a:t>Уровень изоляции </a:t>
            </a:r>
            <a:r>
              <a:rPr lang="en-US" sz="4000" b="1" dirty="0">
                <a:solidFill>
                  <a:srgbClr val="FF0000"/>
                </a:solidFill>
              </a:rPr>
              <a:t>Read </a:t>
            </a:r>
            <a:r>
              <a:rPr lang="en-US" sz="4000" b="1" dirty="0" smtClean="0">
                <a:solidFill>
                  <a:srgbClr val="FF0000"/>
                </a:solidFill>
              </a:rPr>
              <a:t>Uncommitted </a:t>
            </a:r>
            <a:r>
              <a:rPr lang="en-US" sz="4000" b="1" dirty="0">
                <a:solidFill>
                  <a:srgbClr val="FF0000"/>
                </a:solidFill>
              </a:rPr>
              <a:t/>
            </a:r>
            <a:br>
              <a:rPr lang="en-US" sz="4000" b="1" dirty="0">
                <a:solidFill>
                  <a:srgbClr val="FF0000"/>
                </a:solidFill>
              </a:rPr>
            </a:br>
            <a:r>
              <a:rPr lang="ru-RU" sz="4000" b="1" dirty="0" smtClean="0"/>
              <a:t>Вопрос 2</a:t>
            </a:r>
            <a:endParaRPr lang="ru-RU" sz="4000" dirty="0"/>
          </a:p>
        </p:txBody>
      </p:sp>
    </p:spTree>
    <p:extLst>
      <p:ext uri="{BB962C8B-B14F-4D97-AF65-F5344CB8AC3E}">
        <p14:creationId xmlns:p14="http://schemas.microsoft.com/office/powerpoint/2010/main" val="4857559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Прямоугольник 2"/>
          <p:cNvSpPr/>
          <p:nvPr/>
        </p:nvSpPr>
        <p:spPr>
          <a:xfrm>
            <a:off x="0" y="354842"/>
            <a:ext cx="12192000" cy="830997"/>
          </a:xfrm>
          <a:prstGeom prst="rect">
            <a:avLst/>
          </a:prstGeom>
        </p:spPr>
        <p:txBody>
          <a:bodyPr wrap="square">
            <a:spAutoFit/>
          </a:bodyPr>
          <a:lstStyle/>
          <a:p>
            <a:endParaRPr lang="ru-RU" sz="2400" dirty="0"/>
          </a:p>
          <a:p>
            <a:endParaRPr lang="ru-RU" sz="2400" dirty="0"/>
          </a:p>
        </p:txBody>
      </p:sp>
      <p:sp>
        <p:nvSpPr>
          <p:cNvPr id="2" name="Прямоугольник 1"/>
          <p:cNvSpPr/>
          <p:nvPr/>
        </p:nvSpPr>
        <p:spPr>
          <a:xfrm>
            <a:off x="0" y="0"/>
            <a:ext cx="12192000" cy="6863417"/>
          </a:xfrm>
          <a:prstGeom prst="rect">
            <a:avLst/>
          </a:prstGeom>
        </p:spPr>
        <p:txBody>
          <a:bodyPr wrap="square">
            <a:spAutoFit/>
          </a:bodyPr>
          <a:lstStyle/>
          <a:p>
            <a:r>
              <a:rPr lang="ru-RU" sz="2000" b="1" dirty="0" err="1"/>
              <a:t>Read</a:t>
            </a:r>
            <a:r>
              <a:rPr lang="ru-RU" sz="2000" b="1" dirty="0"/>
              <a:t> </a:t>
            </a:r>
            <a:r>
              <a:rPr lang="ru-RU" sz="2000" b="1" dirty="0" err="1"/>
              <a:t>Uncommitted</a:t>
            </a:r>
            <a:r>
              <a:rPr lang="ru-RU" sz="2000" b="1" dirty="0"/>
              <a:t> </a:t>
            </a:r>
            <a:r>
              <a:rPr lang="ru-RU" sz="2000" dirty="0"/>
              <a:t>(«Чтение неподтверждённых данных») — наименьший уровень изоляции транзакций в </a:t>
            </a:r>
            <a:r>
              <a:rPr lang="ru-RU" sz="2000" dirty="0" err="1"/>
              <a:t>PostgreSQL</a:t>
            </a:r>
            <a:r>
              <a:rPr lang="ru-RU" sz="2000" dirty="0"/>
              <a:t>. </a:t>
            </a:r>
            <a:endParaRPr lang="ru-RU" sz="2000" dirty="0" smtClean="0"/>
          </a:p>
          <a:p>
            <a:r>
              <a:rPr lang="ru-RU" sz="2000" dirty="0" err="1"/>
              <a:t>PostgreSQL</a:t>
            </a:r>
            <a:r>
              <a:rPr lang="ru-RU" sz="2000" dirty="0"/>
              <a:t> поддерживает стандартные уровни изоляции, определённые </a:t>
            </a:r>
            <a:r>
              <a:rPr lang="ru-RU" sz="2000" b="1" dirty="0"/>
              <a:t>ANSI SQL, </a:t>
            </a:r>
            <a:r>
              <a:rPr lang="ru-RU" sz="2000" dirty="0"/>
              <a:t>но внутри реализованы только три различных уровня, и </a:t>
            </a:r>
            <a:r>
              <a:rPr lang="ru-RU" sz="2000" b="1" dirty="0" err="1"/>
              <a:t>Read</a:t>
            </a:r>
            <a:r>
              <a:rPr lang="ru-RU" sz="2000" b="1" dirty="0"/>
              <a:t> </a:t>
            </a:r>
            <a:r>
              <a:rPr lang="ru-RU" sz="2000" b="1" dirty="0" err="1"/>
              <a:t>Uncommitted</a:t>
            </a:r>
            <a:r>
              <a:rPr lang="ru-RU" sz="2000" b="1" dirty="0"/>
              <a:t> </a:t>
            </a:r>
            <a:r>
              <a:rPr lang="ru-RU" sz="2000" dirty="0"/>
              <a:t>действует как </a:t>
            </a:r>
            <a:r>
              <a:rPr lang="ru-RU" sz="2000" b="1" dirty="0" err="1"/>
              <a:t>Read</a:t>
            </a:r>
            <a:r>
              <a:rPr lang="ru-RU" sz="2000" b="1" dirty="0"/>
              <a:t> </a:t>
            </a:r>
            <a:r>
              <a:rPr lang="ru-RU" sz="2000" b="1" dirty="0" err="1" smtClean="0"/>
              <a:t>Committed</a:t>
            </a:r>
            <a:endParaRPr lang="ru-RU" sz="2000" b="1" dirty="0" smtClean="0"/>
          </a:p>
          <a:p>
            <a:r>
              <a:rPr lang="ru-RU" sz="2000" b="1" dirty="0"/>
              <a:t>Принцип работы</a:t>
            </a:r>
          </a:p>
          <a:p>
            <a:pPr algn="just"/>
            <a:r>
              <a:rPr lang="ru-RU" sz="2000" dirty="0"/>
              <a:t>На уровне </a:t>
            </a:r>
            <a:r>
              <a:rPr lang="ru-RU" sz="2000" dirty="0" err="1"/>
              <a:t>Read</a:t>
            </a:r>
            <a:r>
              <a:rPr lang="ru-RU" sz="2000" dirty="0"/>
              <a:t> </a:t>
            </a:r>
            <a:r>
              <a:rPr lang="ru-RU" sz="2000" dirty="0" err="1"/>
              <a:t>Uncommitted</a:t>
            </a:r>
            <a:r>
              <a:rPr lang="ru-RU" sz="2000" dirty="0"/>
              <a:t> транзакции видят неподтверждённые изменения других транзакций. </a:t>
            </a:r>
            <a:endParaRPr lang="ru-RU" sz="2000" dirty="0" smtClean="0"/>
          </a:p>
          <a:p>
            <a:pPr algn="just"/>
            <a:r>
              <a:rPr lang="ru-RU" sz="2000" b="1" dirty="0" smtClean="0"/>
              <a:t>Аномалии</a:t>
            </a:r>
            <a:endParaRPr lang="ru-RU" sz="2000" b="1" dirty="0"/>
          </a:p>
          <a:p>
            <a:pPr algn="just"/>
            <a:r>
              <a:rPr lang="ru-RU" sz="2000" dirty="0"/>
              <a:t>При использовании уровня </a:t>
            </a:r>
            <a:r>
              <a:rPr lang="ru-RU" sz="2000" dirty="0" err="1"/>
              <a:t>Read</a:t>
            </a:r>
            <a:r>
              <a:rPr lang="ru-RU" sz="2000" dirty="0"/>
              <a:t> </a:t>
            </a:r>
            <a:r>
              <a:rPr lang="ru-RU" sz="2000" dirty="0" err="1"/>
              <a:t>Uncommitted</a:t>
            </a:r>
            <a:r>
              <a:rPr lang="ru-RU" sz="2000" dirty="0"/>
              <a:t> могут возникать, например:</a:t>
            </a:r>
          </a:p>
          <a:p>
            <a:pPr algn="just"/>
            <a:r>
              <a:rPr lang="ru-RU" sz="2000" dirty="0"/>
              <a:t>•	«</a:t>
            </a:r>
            <a:r>
              <a:rPr lang="ru-RU" sz="2000" b="1" dirty="0"/>
              <a:t>Грязное чтение» </a:t>
            </a:r>
            <a:r>
              <a:rPr lang="ru-RU" sz="2000" dirty="0"/>
              <a:t>— в результатах запроса появляются промежуточные результаты параллельной транзакции, которая ещё не завершилась.</a:t>
            </a:r>
          </a:p>
          <a:p>
            <a:pPr algn="just"/>
            <a:r>
              <a:rPr lang="ru-RU" sz="2000" dirty="0"/>
              <a:t>•	</a:t>
            </a:r>
            <a:r>
              <a:rPr lang="ru-RU" sz="2000" b="1" dirty="0"/>
              <a:t>Неповторяющееся чтение </a:t>
            </a:r>
            <a:r>
              <a:rPr lang="ru-RU" sz="2000" dirty="0"/>
              <a:t>— транзакция читает одну и ту же строку два раза, и в промежутке между чтениями вторая транзакция изменяет (или удаляет) эту строку и фиксирует изменения. Тогда первая транзакция получит разные результаты.</a:t>
            </a:r>
          </a:p>
          <a:p>
            <a:pPr algn="just"/>
            <a:r>
              <a:rPr lang="ru-RU" sz="2000" dirty="0"/>
              <a:t>•	</a:t>
            </a:r>
            <a:r>
              <a:rPr lang="ru-RU" sz="2000" b="1" dirty="0"/>
              <a:t>Фантомное чтение </a:t>
            </a:r>
            <a:r>
              <a:rPr lang="ru-RU" sz="2000" dirty="0"/>
              <a:t>— транзакция два раза читает набор строк по одному и тому же условию, и в промежутке между чтениями вторая транзакция добавляет строки, удовлетворяющие этому условию (и фиксирует изменения).</a:t>
            </a:r>
          </a:p>
          <a:p>
            <a:r>
              <a:rPr lang="ru-RU" sz="2000" b="1" dirty="0"/>
              <a:t>Настройка</a:t>
            </a:r>
          </a:p>
          <a:p>
            <a:pPr algn="just"/>
            <a:r>
              <a:rPr lang="ru-RU" sz="2000" dirty="0"/>
              <a:t>В </a:t>
            </a:r>
            <a:r>
              <a:rPr lang="en-US" sz="2000" dirty="0"/>
              <a:t>PostgreSQL </a:t>
            </a:r>
            <a:r>
              <a:rPr lang="ru-RU" sz="2000" dirty="0"/>
              <a:t>можно изменить уровень изоляции для текущей транзакции с помощью команды </a:t>
            </a:r>
            <a:r>
              <a:rPr lang="en-US" sz="2000" b="1" dirty="0"/>
              <a:t>SET TRANSACTION ISOLATION LEVEL. </a:t>
            </a:r>
            <a:endParaRPr lang="ru-RU" sz="2000" b="1" dirty="0" smtClean="0"/>
          </a:p>
          <a:p>
            <a:pPr algn="just"/>
            <a:r>
              <a:rPr lang="ru-RU" sz="2000" dirty="0" smtClean="0"/>
              <a:t>Второй </a:t>
            </a:r>
            <a:r>
              <a:rPr lang="ru-RU" sz="2000" dirty="0"/>
              <a:t>вариант — сразу начать транзакцию на нужном уровне изоляции, например: </a:t>
            </a:r>
            <a:r>
              <a:rPr lang="en-US" sz="2000" b="1" dirty="0"/>
              <a:t>BEGIN TRANSACTION ISOLATION LEVEL Read Uncommitted</a:t>
            </a:r>
          </a:p>
          <a:p>
            <a:endParaRPr lang="ru-RU" sz="2000" b="1" dirty="0"/>
          </a:p>
        </p:txBody>
      </p:sp>
    </p:spTree>
    <p:extLst>
      <p:ext uri="{BB962C8B-B14F-4D97-AF65-F5344CB8AC3E}">
        <p14:creationId xmlns:p14="http://schemas.microsoft.com/office/powerpoint/2010/main" val="2894545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Прямоугольник 2"/>
          <p:cNvSpPr/>
          <p:nvPr/>
        </p:nvSpPr>
        <p:spPr>
          <a:xfrm>
            <a:off x="0" y="354842"/>
            <a:ext cx="12192000" cy="830997"/>
          </a:xfrm>
          <a:prstGeom prst="rect">
            <a:avLst/>
          </a:prstGeom>
        </p:spPr>
        <p:txBody>
          <a:bodyPr wrap="square">
            <a:spAutoFit/>
          </a:bodyPr>
          <a:lstStyle/>
          <a:p>
            <a:endParaRPr lang="ru-RU" sz="2400" dirty="0"/>
          </a:p>
          <a:p>
            <a:endParaRPr lang="ru-RU" sz="2400" dirty="0"/>
          </a:p>
        </p:txBody>
      </p:sp>
      <p:sp>
        <p:nvSpPr>
          <p:cNvPr id="2" name="Прямоугольник 1"/>
          <p:cNvSpPr/>
          <p:nvPr/>
        </p:nvSpPr>
        <p:spPr>
          <a:xfrm>
            <a:off x="0" y="1"/>
            <a:ext cx="12192000" cy="6247864"/>
          </a:xfrm>
          <a:prstGeom prst="rect">
            <a:avLst/>
          </a:prstGeom>
        </p:spPr>
        <p:txBody>
          <a:bodyPr wrap="square">
            <a:spAutoFit/>
          </a:bodyPr>
          <a:lstStyle/>
          <a:p>
            <a:pPr algn="just"/>
            <a:r>
              <a:rPr lang="ru-RU" sz="2000" dirty="0"/>
              <a:t>две последовательные команды SELECT могут видеть разные данные, даже если они выполняются в рамках одной транзакции, если другие транзакции фиксируют изменения после начала первой команды SELECT и до начала второй команды SELECT .</a:t>
            </a:r>
          </a:p>
          <a:p>
            <a:pPr algn="just"/>
            <a:r>
              <a:rPr lang="ru-RU" sz="2000" b="1" dirty="0" smtClean="0"/>
              <a:t>UPDATE </a:t>
            </a:r>
          </a:p>
          <a:p>
            <a:pPr algn="just"/>
            <a:r>
              <a:rPr lang="ru-RU" sz="2000" dirty="0" smtClean="0"/>
              <a:t>Команды </a:t>
            </a:r>
            <a:r>
              <a:rPr lang="ru-RU" sz="2000" dirty="0"/>
              <a:t>, DELETE, SELECT FOR UPDATE, и SELECT FOR SHARE работают так же, как SELECT при поиске целевых строк: они находят только те целевые строки, которые были зафиксированы на момент запуска </a:t>
            </a:r>
            <a:r>
              <a:rPr lang="ru-RU" sz="2000" dirty="0" smtClean="0"/>
              <a:t>команды</a:t>
            </a:r>
          </a:p>
          <a:p>
            <a:pPr algn="just"/>
            <a:r>
              <a:rPr lang="ru-RU" sz="2000" b="1" dirty="0"/>
              <a:t>INSERT </a:t>
            </a:r>
          </a:p>
          <a:p>
            <a:pPr algn="just"/>
            <a:r>
              <a:rPr lang="ru-RU" sz="2000" dirty="0"/>
              <a:t>Предложение ON CONFLICT DO UPDATE работает аналогичным образом. В режиме </a:t>
            </a:r>
            <a:r>
              <a:rPr lang="ru-RU" sz="2000" dirty="0" err="1"/>
              <a:t>Read</a:t>
            </a:r>
            <a:r>
              <a:rPr lang="ru-RU" sz="2000" dirty="0"/>
              <a:t> </a:t>
            </a:r>
            <a:r>
              <a:rPr lang="ru-RU" sz="2000" dirty="0" err="1"/>
              <a:t>Committed</a:t>
            </a:r>
            <a:r>
              <a:rPr lang="ru-RU" sz="2000" dirty="0"/>
              <a:t> каждая строка, предлагаемая для вставки, будет либо вставлена, либо </a:t>
            </a:r>
            <a:r>
              <a:rPr lang="ru-RU" sz="2000" dirty="0" smtClean="0"/>
              <a:t>обновлен</a:t>
            </a:r>
          </a:p>
          <a:p>
            <a:pPr algn="just"/>
            <a:r>
              <a:rPr lang="ru-RU" sz="2000" b="1" dirty="0"/>
              <a:t>MERGE </a:t>
            </a:r>
            <a:endParaRPr lang="ru-RU" sz="2000" b="1" dirty="0" smtClean="0"/>
          </a:p>
          <a:p>
            <a:pPr algn="just"/>
            <a:r>
              <a:rPr lang="ru-RU" sz="2000" dirty="0" smtClean="0"/>
              <a:t>позволяет </a:t>
            </a:r>
            <a:r>
              <a:rPr lang="ru-RU" sz="2000" dirty="0"/>
              <a:t>пользователю указывать различные комбинации подкоманд INSERT, UPDATE и DELETE . Команда MERGE с подкомандами INSERT и UPDATE выглядит так же, как INSERT с условием ON CONFLICT DO UPDATE , но не гарантирует, что будет выполнена команда INSERT или UPDATE . </a:t>
            </a:r>
            <a:endParaRPr lang="ru-RU" sz="2000" dirty="0" smtClean="0"/>
          </a:p>
          <a:p>
            <a:pPr algn="just"/>
            <a:r>
              <a:rPr lang="ru-RU" sz="2000" i="1" dirty="0"/>
              <a:t>режим</a:t>
            </a:r>
            <a:r>
              <a:rPr lang="ru-RU" sz="2000" dirty="0"/>
              <a:t> </a:t>
            </a:r>
            <a:r>
              <a:rPr lang="ru-RU" sz="2000" b="1" dirty="0" err="1"/>
              <a:t>Read</a:t>
            </a:r>
            <a:r>
              <a:rPr lang="ru-RU" sz="2000" b="1" dirty="0"/>
              <a:t> </a:t>
            </a:r>
            <a:r>
              <a:rPr lang="ru-RU" sz="2000" b="1" dirty="0" err="1"/>
              <a:t>Committed</a:t>
            </a:r>
            <a:r>
              <a:rPr lang="ru-RU" sz="2000" b="1" dirty="0"/>
              <a:t> </a:t>
            </a:r>
            <a:r>
              <a:rPr lang="ru-RU" sz="2000" dirty="0"/>
              <a:t>не подходит для команд со сложными условиями поиска, но отлично подходит для более простых случаев. </a:t>
            </a:r>
            <a:r>
              <a:rPr lang="ru-RU" sz="2000" i="1" dirty="0"/>
              <a:t>Наприм</a:t>
            </a:r>
            <a:r>
              <a:rPr lang="ru-RU" sz="2000" dirty="0"/>
              <a:t>ер, рассмотрим перевод 100 долларов с одного счёта на другой:</a:t>
            </a:r>
          </a:p>
          <a:p>
            <a:pPr algn="just"/>
            <a:r>
              <a:rPr lang="ru-RU" sz="2000" dirty="0"/>
              <a:t>BEGIN;</a:t>
            </a:r>
          </a:p>
          <a:p>
            <a:pPr algn="just"/>
            <a:r>
              <a:rPr lang="ru-RU" sz="2000" dirty="0"/>
              <a:t>ОБНОВИТЬ данные учетной записи SET </a:t>
            </a:r>
            <a:r>
              <a:rPr lang="ru-RU" sz="2000" dirty="0" err="1"/>
              <a:t>balance</a:t>
            </a:r>
            <a:r>
              <a:rPr lang="ru-RU" sz="2000" dirty="0"/>
              <a:t> = </a:t>
            </a:r>
            <a:r>
              <a:rPr lang="ru-RU" sz="2000" dirty="0" err="1"/>
              <a:t>balance</a:t>
            </a:r>
            <a:r>
              <a:rPr lang="ru-RU" sz="2000" dirty="0"/>
              <a:t> + 100,00 WHERE </a:t>
            </a:r>
            <a:r>
              <a:rPr lang="ru-RU" sz="2000" dirty="0" err="1"/>
              <a:t>acctnum</a:t>
            </a:r>
            <a:r>
              <a:rPr lang="ru-RU" sz="2000" dirty="0"/>
              <a:t> = 12345;</a:t>
            </a:r>
          </a:p>
          <a:p>
            <a:pPr algn="just"/>
            <a:r>
              <a:rPr lang="ru-RU" sz="2000" dirty="0"/>
              <a:t>ОБНОВИТЬ данные учетной записи SET </a:t>
            </a:r>
            <a:r>
              <a:rPr lang="ru-RU" sz="2000" dirty="0" err="1"/>
              <a:t>balance</a:t>
            </a:r>
            <a:r>
              <a:rPr lang="ru-RU" sz="2000" dirty="0"/>
              <a:t> = </a:t>
            </a:r>
            <a:r>
              <a:rPr lang="ru-RU" sz="2000" dirty="0" err="1"/>
              <a:t>balance</a:t>
            </a:r>
            <a:r>
              <a:rPr lang="ru-RU" sz="2000" dirty="0"/>
              <a:t> - 100,00 WHERE </a:t>
            </a:r>
            <a:r>
              <a:rPr lang="ru-RU" sz="2000" dirty="0" err="1"/>
              <a:t>acctnum</a:t>
            </a:r>
            <a:r>
              <a:rPr lang="ru-RU" sz="2000" dirty="0"/>
              <a:t> = 7534;</a:t>
            </a:r>
          </a:p>
          <a:p>
            <a:pPr algn="just"/>
            <a:r>
              <a:rPr lang="ru-RU" sz="2000" dirty="0"/>
              <a:t>ЗАВЕРШИТЬ;</a:t>
            </a:r>
          </a:p>
          <a:p>
            <a:pPr algn="just"/>
            <a:endParaRPr lang="ru-RU" sz="2000" dirty="0"/>
          </a:p>
        </p:txBody>
      </p:sp>
    </p:spTree>
    <p:extLst>
      <p:ext uri="{BB962C8B-B14F-4D97-AF65-F5344CB8AC3E}">
        <p14:creationId xmlns:p14="http://schemas.microsoft.com/office/powerpoint/2010/main" val="3866379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Прямоугольник 2"/>
          <p:cNvSpPr/>
          <p:nvPr/>
        </p:nvSpPr>
        <p:spPr>
          <a:xfrm>
            <a:off x="0" y="354842"/>
            <a:ext cx="12192000" cy="830997"/>
          </a:xfrm>
          <a:prstGeom prst="rect">
            <a:avLst/>
          </a:prstGeom>
        </p:spPr>
        <p:txBody>
          <a:bodyPr wrap="square">
            <a:spAutoFit/>
          </a:bodyPr>
          <a:lstStyle/>
          <a:p>
            <a:endParaRPr lang="ru-RU" sz="2400" dirty="0"/>
          </a:p>
          <a:p>
            <a:endParaRPr lang="ru-RU" sz="2400" dirty="0"/>
          </a:p>
        </p:txBody>
      </p:sp>
      <p:sp>
        <p:nvSpPr>
          <p:cNvPr id="2" name="Прямоугольник 1"/>
          <p:cNvSpPr/>
          <p:nvPr/>
        </p:nvSpPr>
        <p:spPr>
          <a:xfrm>
            <a:off x="0" y="-1"/>
            <a:ext cx="12192000" cy="4708981"/>
          </a:xfrm>
          <a:prstGeom prst="rect">
            <a:avLst/>
          </a:prstGeom>
        </p:spPr>
        <p:txBody>
          <a:bodyPr wrap="square">
            <a:spAutoFit/>
          </a:bodyPr>
          <a:lstStyle/>
          <a:p>
            <a:r>
              <a:rPr lang="ru-RU" sz="2000" b="1" dirty="0"/>
              <a:t>Достоинства</a:t>
            </a:r>
          </a:p>
          <a:p>
            <a:r>
              <a:rPr lang="ru-RU" sz="2000" dirty="0"/>
              <a:t>•	Ускорение </a:t>
            </a:r>
            <a:r>
              <a:rPr lang="ru-RU" sz="2000" dirty="0" smtClean="0"/>
              <a:t>запросов.</a:t>
            </a:r>
            <a:endParaRPr lang="ru-RU" sz="2000" dirty="0"/>
          </a:p>
          <a:p>
            <a:r>
              <a:rPr lang="ru-RU" sz="2000" dirty="0"/>
              <a:t>•	Подходит для некоторых </a:t>
            </a:r>
            <a:r>
              <a:rPr lang="ru-RU" sz="2000" dirty="0" smtClean="0"/>
              <a:t>задач</a:t>
            </a:r>
            <a:endParaRPr lang="ru-RU" sz="2000" dirty="0"/>
          </a:p>
          <a:p>
            <a:r>
              <a:rPr lang="ru-RU" sz="2000" dirty="0"/>
              <a:t>Однако </a:t>
            </a:r>
            <a:r>
              <a:rPr lang="ru-RU" sz="2000" dirty="0" err="1"/>
              <a:t>Read</a:t>
            </a:r>
            <a:r>
              <a:rPr lang="ru-RU" sz="2000" dirty="0"/>
              <a:t> </a:t>
            </a:r>
            <a:r>
              <a:rPr lang="ru-RU" sz="2000" dirty="0" err="1"/>
              <a:t>Uncommitted</a:t>
            </a:r>
            <a:r>
              <a:rPr lang="ru-RU" sz="2000" dirty="0"/>
              <a:t> не обеспечивает строгую согласованность данных, в отличие от более строгих уровней изоляции (например, </a:t>
            </a:r>
            <a:r>
              <a:rPr lang="ru-RU" sz="2000" dirty="0" err="1"/>
              <a:t>Read</a:t>
            </a:r>
            <a:r>
              <a:rPr lang="ru-RU" sz="2000" dirty="0"/>
              <a:t> </a:t>
            </a:r>
            <a:r>
              <a:rPr lang="ru-RU" sz="2000" dirty="0" err="1"/>
              <a:t>Committed</a:t>
            </a:r>
            <a:r>
              <a:rPr lang="ru-RU" sz="2000" dirty="0"/>
              <a:t>).  </a:t>
            </a:r>
          </a:p>
          <a:p>
            <a:r>
              <a:rPr lang="ru-RU" sz="2000" b="1" dirty="0"/>
              <a:t>Недостатки</a:t>
            </a:r>
          </a:p>
          <a:p>
            <a:r>
              <a:rPr lang="ru-RU" sz="2000" dirty="0" smtClean="0"/>
              <a:t>• Допускает </a:t>
            </a:r>
            <a:r>
              <a:rPr lang="ru-RU" sz="2000" dirty="0"/>
              <a:t>«грязное чтение» — когда транзакция читает данные, которые ещё не зафиксированы. </a:t>
            </a:r>
            <a:endParaRPr lang="ru-RU" sz="2000" dirty="0" smtClean="0"/>
          </a:p>
          <a:p>
            <a:r>
              <a:rPr lang="ru-RU" sz="2000" dirty="0" smtClean="0"/>
              <a:t>• Может </a:t>
            </a:r>
            <a:r>
              <a:rPr lang="ru-RU" sz="2000" dirty="0"/>
              <a:t>привести к «неповторяющемуся чтению» — когда транзакция читает одну и ту же строку дважды, и между чтениями вторая транзакция изменяет (или удаляет) эту строку и фиксирует изменения. </a:t>
            </a:r>
            <a:endParaRPr lang="ru-RU" sz="2000" dirty="0" smtClean="0"/>
          </a:p>
          <a:p>
            <a:r>
              <a:rPr lang="ru-RU" sz="2000" dirty="0" smtClean="0"/>
              <a:t>• Может </a:t>
            </a:r>
            <a:r>
              <a:rPr lang="ru-RU" sz="2000" dirty="0"/>
              <a:t>возникнуть «потерянное обновление» — когда две транзакции одновременно читают и изменяют одни и те же данные, и при этом одно из изменений может потеряться.  </a:t>
            </a:r>
          </a:p>
          <a:p>
            <a:r>
              <a:rPr lang="ru-RU" sz="2000" dirty="0" smtClean="0"/>
              <a:t>•Транзакция </a:t>
            </a:r>
            <a:r>
              <a:rPr lang="ru-RU" sz="2000" dirty="0"/>
              <a:t>с низким уровнем изоляции не блокирует незавершённые изменения других транзакций </a:t>
            </a:r>
            <a:endParaRPr lang="ru-RU" sz="2000" dirty="0" smtClean="0"/>
          </a:p>
          <a:p>
            <a:endParaRPr lang="ru-RU" sz="2000" dirty="0"/>
          </a:p>
          <a:p>
            <a:r>
              <a:rPr lang="ru-RU" sz="2000" b="1" dirty="0" err="1" smtClean="0"/>
              <a:t>Read</a:t>
            </a:r>
            <a:r>
              <a:rPr lang="ru-RU" sz="2000" b="1" dirty="0" smtClean="0"/>
              <a:t> </a:t>
            </a:r>
            <a:r>
              <a:rPr lang="ru-RU" sz="2000" b="1" dirty="0" err="1" smtClean="0"/>
              <a:t>Uncommitted</a:t>
            </a:r>
            <a:r>
              <a:rPr lang="ru-RU" sz="2000" b="1" dirty="0" smtClean="0"/>
              <a:t> </a:t>
            </a:r>
            <a:r>
              <a:rPr lang="ru-RU" sz="2000" dirty="0" smtClean="0"/>
              <a:t>подходит </a:t>
            </a:r>
            <a:r>
              <a:rPr lang="ru-RU" sz="2000" dirty="0"/>
              <a:t>для задач, где не так важна точность данных, но не для приложений, требующих строгой согласованности</a:t>
            </a:r>
          </a:p>
        </p:txBody>
      </p:sp>
    </p:spTree>
    <p:extLst>
      <p:ext uri="{BB962C8B-B14F-4D97-AF65-F5344CB8AC3E}">
        <p14:creationId xmlns:p14="http://schemas.microsoft.com/office/powerpoint/2010/main" val="1413762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23</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1" algn="ctr"/>
            <a:r>
              <a:rPr lang="ru-RU" sz="4000" b="1" dirty="0" smtClean="0">
                <a:solidFill>
                  <a:srgbClr val="FF0000"/>
                </a:solidFill>
              </a:rPr>
              <a:t>Уровень изоляции </a:t>
            </a:r>
            <a:r>
              <a:rPr lang="en-US" sz="4000" b="1" dirty="0">
                <a:solidFill>
                  <a:srgbClr val="FF0000"/>
                </a:solidFill>
              </a:rPr>
              <a:t>Read Committed </a:t>
            </a:r>
            <a:br>
              <a:rPr lang="en-US" sz="4000" b="1" dirty="0">
                <a:solidFill>
                  <a:srgbClr val="FF0000"/>
                </a:solidFill>
              </a:rPr>
            </a:br>
            <a:endParaRPr lang="ru-RU" sz="4000" b="1" dirty="0" smtClean="0">
              <a:solidFill>
                <a:srgbClr val="FF0000"/>
              </a:solidFill>
            </a:endParaRPr>
          </a:p>
          <a:p>
            <a:pPr lvl="1" algn="ctr"/>
            <a:r>
              <a:rPr lang="ru-RU" sz="4000" b="1" dirty="0" smtClean="0"/>
              <a:t>Вопрос 3</a:t>
            </a:r>
            <a:endParaRPr lang="ru-RU" sz="4000" dirty="0"/>
          </a:p>
        </p:txBody>
      </p:sp>
    </p:spTree>
    <p:extLst>
      <p:ext uri="{BB962C8B-B14F-4D97-AF65-F5344CB8AC3E}">
        <p14:creationId xmlns:p14="http://schemas.microsoft.com/office/powerpoint/2010/main" val="796222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63417"/>
          </a:xfrm>
          <a:prstGeom prst="rect">
            <a:avLst/>
          </a:prstGeom>
        </p:spPr>
        <p:txBody>
          <a:bodyPr wrap="square">
            <a:spAutoFit/>
          </a:bodyPr>
          <a:lstStyle/>
          <a:p>
            <a:pPr algn="just"/>
            <a:r>
              <a:rPr lang="ru-RU" sz="2000" b="1" dirty="0" err="1"/>
              <a:t>Read</a:t>
            </a:r>
            <a:r>
              <a:rPr lang="ru-RU" sz="2000" b="1" dirty="0"/>
              <a:t> </a:t>
            </a:r>
            <a:r>
              <a:rPr lang="ru-RU" sz="2000" b="1" dirty="0" err="1"/>
              <a:t>Committed</a:t>
            </a:r>
            <a:r>
              <a:rPr lang="ru-RU" sz="2000" b="1" dirty="0"/>
              <a:t> </a:t>
            </a:r>
            <a:r>
              <a:rPr lang="ru-RU" sz="2000" dirty="0"/>
              <a:t>— уровень изоляции транзакций в </a:t>
            </a:r>
            <a:r>
              <a:rPr lang="ru-RU" sz="2000" dirty="0" err="1"/>
              <a:t>PostgreSQL</a:t>
            </a:r>
            <a:r>
              <a:rPr lang="ru-RU" sz="2000" dirty="0"/>
              <a:t>, используемый по умолчанию. Также называется «Чтение подтверждённых данных</a:t>
            </a:r>
            <a:r>
              <a:rPr lang="ru-RU" sz="2000" dirty="0" smtClean="0"/>
              <a:t>»</a:t>
            </a:r>
          </a:p>
          <a:p>
            <a:pPr algn="just"/>
            <a:r>
              <a:rPr lang="ru-RU" sz="2000" dirty="0"/>
              <a:t> </a:t>
            </a:r>
            <a:r>
              <a:rPr lang="ru-RU" sz="2000" b="1" dirty="0"/>
              <a:t>Принцип работы</a:t>
            </a:r>
          </a:p>
          <a:p>
            <a:pPr algn="just"/>
            <a:r>
              <a:rPr lang="ru-RU" sz="2000" dirty="0" smtClean="0"/>
              <a:t>• Запрос </a:t>
            </a:r>
            <a:r>
              <a:rPr lang="ru-RU" sz="2000" dirty="0"/>
              <a:t>SELECT (без предложения FOR UPDATE/SHARE) видит только те данные, которые были зафиксированы до начала запроса. </a:t>
            </a:r>
          </a:p>
          <a:p>
            <a:pPr algn="just"/>
            <a:r>
              <a:rPr lang="ru-RU" sz="2000" dirty="0" smtClean="0"/>
              <a:t>• Однако </a:t>
            </a:r>
            <a:r>
              <a:rPr lang="ru-RU" sz="2000" dirty="0"/>
              <a:t>SELECT видит результаты изменений, внесённых ранее в этой же </a:t>
            </a:r>
            <a:r>
              <a:rPr lang="ru-RU" sz="2000" dirty="0" smtClean="0"/>
              <a:t>транзакции</a:t>
            </a:r>
            <a:endParaRPr lang="ru-RU" sz="2000" dirty="0"/>
          </a:p>
          <a:p>
            <a:pPr algn="just"/>
            <a:r>
              <a:rPr lang="ru-RU" sz="2000" dirty="0" smtClean="0"/>
              <a:t>• Два </a:t>
            </a:r>
            <a:r>
              <a:rPr lang="ru-RU" sz="2000" dirty="0"/>
              <a:t>последовательных оператора SELECT могут видеть разные данные даже в рамках одной </a:t>
            </a:r>
            <a:r>
              <a:rPr lang="ru-RU" sz="2000" dirty="0" smtClean="0"/>
              <a:t>транзакции</a:t>
            </a:r>
          </a:p>
          <a:p>
            <a:pPr algn="just"/>
            <a:r>
              <a:rPr lang="ru-RU" sz="2000" dirty="0" smtClean="0"/>
              <a:t>• Команды </a:t>
            </a:r>
            <a:r>
              <a:rPr lang="ru-RU" sz="2000" dirty="0"/>
              <a:t>UPDATE, DELETE, SELECT FOR UPDATE и SELECT FOR SHARE ведут себя подобно SELECT при поиске целевых строк: они находят только те целевые строки, которые были зафиксированы на момент начала команды. </a:t>
            </a:r>
            <a:endParaRPr lang="ru-RU" sz="2000" dirty="0" smtClean="0"/>
          </a:p>
          <a:p>
            <a:pPr algn="just"/>
            <a:r>
              <a:rPr lang="ru-RU" sz="2000" b="1" dirty="0" smtClean="0"/>
              <a:t>Аномалии</a:t>
            </a:r>
            <a:endParaRPr lang="ru-RU" sz="2000" b="1" dirty="0"/>
          </a:p>
          <a:p>
            <a:pPr algn="just"/>
            <a:r>
              <a:rPr lang="ru-RU" sz="2000" dirty="0"/>
              <a:t>На уровне </a:t>
            </a:r>
            <a:r>
              <a:rPr lang="ru-RU" sz="2000" dirty="0" err="1"/>
              <a:t>Read</a:t>
            </a:r>
            <a:r>
              <a:rPr lang="ru-RU" sz="2000" dirty="0"/>
              <a:t> </a:t>
            </a:r>
            <a:r>
              <a:rPr lang="ru-RU" sz="2000" dirty="0" err="1"/>
              <a:t>Committed</a:t>
            </a:r>
            <a:r>
              <a:rPr lang="ru-RU" sz="2000" dirty="0"/>
              <a:t> допускаются некоторые аномалии, но не допускается «грязное» чтение (</a:t>
            </a:r>
            <a:r>
              <a:rPr lang="ru-RU" sz="2000" dirty="0" err="1"/>
              <a:t>dirty</a:t>
            </a:r>
            <a:r>
              <a:rPr lang="ru-RU" sz="2000" dirty="0"/>
              <a:t> </a:t>
            </a:r>
            <a:r>
              <a:rPr lang="ru-RU" sz="2000" dirty="0" err="1"/>
              <a:t>read</a:t>
            </a:r>
            <a:r>
              <a:rPr lang="ru-RU" sz="2000" dirty="0"/>
              <a:t>). Например:  </a:t>
            </a:r>
          </a:p>
          <a:p>
            <a:pPr algn="just"/>
            <a:r>
              <a:rPr lang="ru-RU" sz="2000" dirty="0"/>
              <a:t>•	Неповторяющееся чтение </a:t>
            </a:r>
            <a:endParaRPr lang="ru-RU" sz="2000" dirty="0" smtClean="0"/>
          </a:p>
          <a:p>
            <a:pPr algn="just"/>
            <a:r>
              <a:rPr lang="ru-RU" sz="2000" dirty="0" smtClean="0"/>
              <a:t>•</a:t>
            </a:r>
            <a:r>
              <a:rPr lang="ru-RU" sz="2000" dirty="0"/>
              <a:t>	Фантомное чтение </a:t>
            </a:r>
            <a:endParaRPr lang="ru-RU" sz="2000" dirty="0" smtClean="0"/>
          </a:p>
          <a:p>
            <a:pPr algn="just"/>
            <a:r>
              <a:rPr lang="ru-RU" sz="2000" b="1" dirty="0" smtClean="0"/>
              <a:t>Настройка</a:t>
            </a:r>
            <a:endParaRPr lang="ru-RU" sz="2000" b="1" dirty="0"/>
          </a:p>
          <a:p>
            <a:pPr algn="just"/>
            <a:r>
              <a:rPr lang="ru-RU" sz="2000" dirty="0"/>
              <a:t>•	Для выбора нужного уровня изоляции транзакций используется команда SET TRANSACTION.  </a:t>
            </a:r>
          </a:p>
          <a:p>
            <a:pPr algn="just"/>
            <a:r>
              <a:rPr lang="ru-RU" sz="2000" dirty="0"/>
              <a:t>•	Можно изменить уровень изоляции для текущей транзакции с помощью команды SET TRANSACTION ISOLATION LEVEL. </a:t>
            </a:r>
          </a:p>
          <a:p>
            <a:pPr algn="just"/>
            <a:r>
              <a:rPr lang="ru-RU" sz="2000" dirty="0"/>
              <a:t>Важно: уровень </a:t>
            </a:r>
            <a:r>
              <a:rPr lang="ru-RU" sz="2000" dirty="0" err="1"/>
              <a:t>Read</a:t>
            </a:r>
            <a:r>
              <a:rPr lang="ru-RU" sz="2000" dirty="0"/>
              <a:t> </a:t>
            </a:r>
            <a:r>
              <a:rPr lang="ru-RU" sz="2000" dirty="0" err="1"/>
              <a:t>Committed</a:t>
            </a:r>
            <a:r>
              <a:rPr lang="ru-RU" sz="2000" dirty="0"/>
              <a:t> подходит не для всех случаев — приложениям, выполняющим сложные запросы и изменения, может потребоваться более строго согласованное представление данных, чем то, что даёт </a:t>
            </a:r>
            <a:r>
              <a:rPr lang="ru-RU" sz="2000" dirty="0" err="1"/>
              <a:t>Read</a:t>
            </a:r>
            <a:r>
              <a:rPr lang="ru-RU" sz="2000" dirty="0"/>
              <a:t> </a:t>
            </a:r>
            <a:r>
              <a:rPr lang="ru-RU" sz="2000" dirty="0" err="1"/>
              <a:t>Committed</a:t>
            </a:r>
            <a:r>
              <a:rPr lang="ru-RU" sz="2000" dirty="0" smtClean="0"/>
              <a:t>.</a:t>
            </a:r>
            <a:endParaRPr lang="ru-RU" sz="2000" dirty="0"/>
          </a:p>
        </p:txBody>
      </p:sp>
    </p:spTree>
    <p:extLst>
      <p:ext uri="{BB962C8B-B14F-4D97-AF65-F5344CB8AC3E}">
        <p14:creationId xmlns:p14="http://schemas.microsoft.com/office/powerpoint/2010/main" val="1613815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77404822"/>
              </p:ext>
            </p:extLst>
          </p:nvPr>
        </p:nvGraphicFramePr>
        <p:xfrm>
          <a:off x="0" y="2"/>
          <a:ext cx="12192000" cy="6857997"/>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2964537762"/>
                    </a:ext>
                  </a:extLst>
                </a:gridCol>
                <a:gridCol w="2438400">
                  <a:extLst>
                    <a:ext uri="{9D8B030D-6E8A-4147-A177-3AD203B41FA5}">
                      <a16:colId xmlns:a16="http://schemas.microsoft.com/office/drawing/2014/main" val="719371404"/>
                    </a:ext>
                  </a:extLst>
                </a:gridCol>
                <a:gridCol w="2438400">
                  <a:extLst>
                    <a:ext uri="{9D8B030D-6E8A-4147-A177-3AD203B41FA5}">
                      <a16:colId xmlns:a16="http://schemas.microsoft.com/office/drawing/2014/main" val="2692316194"/>
                    </a:ext>
                  </a:extLst>
                </a:gridCol>
                <a:gridCol w="2438400">
                  <a:extLst>
                    <a:ext uri="{9D8B030D-6E8A-4147-A177-3AD203B41FA5}">
                      <a16:colId xmlns:a16="http://schemas.microsoft.com/office/drawing/2014/main" val="2348382287"/>
                    </a:ext>
                  </a:extLst>
                </a:gridCol>
                <a:gridCol w="2438400">
                  <a:extLst>
                    <a:ext uri="{9D8B030D-6E8A-4147-A177-3AD203B41FA5}">
                      <a16:colId xmlns:a16="http://schemas.microsoft.com/office/drawing/2014/main" val="2637023322"/>
                    </a:ext>
                  </a:extLst>
                </a:gridCol>
              </a:tblGrid>
              <a:tr h="1171747">
                <a:tc>
                  <a:txBody>
                    <a:bodyPr/>
                    <a:lstStyle/>
                    <a:p>
                      <a:pPr indent="450215" algn="just">
                        <a:lnSpc>
                          <a:spcPct val="107000"/>
                        </a:lnSpc>
                        <a:spcAft>
                          <a:spcPts val="0"/>
                        </a:spcAft>
                      </a:pPr>
                      <a:r>
                        <a:rPr lang="ru-RU" sz="1800">
                          <a:effectLst/>
                        </a:rPr>
                        <a:t>Уровень изоляции</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indent="450215" algn="just">
                        <a:lnSpc>
                          <a:spcPct val="107000"/>
                        </a:lnSpc>
                        <a:spcAft>
                          <a:spcPts val="0"/>
                        </a:spcAft>
                      </a:pPr>
                      <a:r>
                        <a:rPr lang="ru-RU" sz="1800" dirty="0">
                          <a:effectLst/>
                        </a:rPr>
                        <a:t>«Грязное» чтение</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indent="450215" algn="just">
                        <a:lnSpc>
                          <a:spcPct val="107000"/>
                        </a:lnSpc>
                        <a:spcAft>
                          <a:spcPts val="0"/>
                        </a:spcAft>
                      </a:pPr>
                      <a:r>
                        <a:rPr lang="ru-RU" sz="1800">
                          <a:effectLst/>
                        </a:rPr>
                        <a:t>Неповторяемое чтение</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indent="450215" algn="just">
                        <a:lnSpc>
                          <a:spcPct val="107000"/>
                        </a:lnSpc>
                        <a:spcAft>
                          <a:spcPts val="0"/>
                        </a:spcAft>
                      </a:pPr>
                      <a:r>
                        <a:rPr lang="ru-RU" sz="1800">
                          <a:effectLst/>
                        </a:rPr>
                        <a:t>Фантомное чтение</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indent="450215" algn="just">
                        <a:lnSpc>
                          <a:spcPct val="107000"/>
                        </a:lnSpc>
                        <a:spcAft>
                          <a:spcPts val="0"/>
                        </a:spcAft>
                      </a:pPr>
                      <a:r>
                        <a:rPr lang="ru-RU" sz="1800">
                          <a:effectLst/>
                        </a:rPr>
                        <a:t>Аномалия сериализации</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nchor="ctr"/>
                </a:tc>
                <a:extLst>
                  <a:ext uri="{0D108BD9-81ED-4DB2-BD59-A6C34878D82A}">
                    <a16:rowId xmlns:a16="http://schemas.microsoft.com/office/drawing/2014/main" val="1344282794"/>
                  </a:ext>
                </a:extLst>
              </a:tr>
              <a:tr h="1671378">
                <a:tc>
                  <a:txBody>
                    <a:bodyPr/>
                    <a:lstStyle/>
                    <a:p>
                      <a:pPr indent="450215" algn="just">
                        <a:lnSpc>
                          <a:spcPct val="107000"/>
                        </a:lnSpc>
                        <a:spcAft>
                          <a:spcPts val="0"/>
                        </a:spcAft>
                      </a:pPr>
                      <a:r>
                        <a:rPr lang="ru-RU" sz="1800">
                          <a:effectLst/>
                        </a:rPr>
                        <a:t>Read uncommitted (Чтение незафиксированных данных)</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Допускается, но не в PG</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Возможно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extLst>
                  <a:ext uri="{0D108BD9-81ED-4DB2-BD59-A6C34878D82A}">
                    <a16:rowId xmlns:a16="http://schemas.microsoft.com/office/drawing/2014/main" val="1412913105"/>
                  </a:ext>
                </a:extLst>
              </a:tr>
              <a:tr h="1671378">
                <a:tc>
                  <a:txBody>
                    <a:bodyPr/>
                    <a:lstStyle/>
                    <a:p>
                      <a:pPr indent="450215" algn="just">
                        <a:lnSpc>
                          <a:spcPct val="107000"/>
                        </a:lnSpc>
                        <a:spcAft>
                          <a:spcPts val="0"/>
                        </a:spcAft>
                      </a:pPr>
                      <a:r>
                        <a:rPr lang="ru-RU" sz="1800">
                          <a:effectLst/>
                        </a:rPr>
                        <a:t>Read committed (Чтение зафиксированных данных)</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Возможно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Возможно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extLst>
                  <a:ext uri="{0D108BD9-81ED-4DB2-BD59-A6C34878D82A}">
                    <a16:rowId xmlns:a16="http://schemas.microsoft.com/office/drawing/2014/main" val="3442306990"/>
                  </a:ext>
                </a:extLst>
              </a:tr>
              <a:tr h="1171747">
                <a:tc>
                  <a:txBody>
                    <a:bodyPr/>
                    <a:lstStyle/>
                    <a:p>
                      <a:pPr indent="450215" algn="just">
                        <a:lnSpc>
                          <a:spcPct val="107000"/>
                        </a:lnSpc>
                        <a:spcAft>
                          <a:spcPts val="0"/>
                        </a:spcAft>
                      </a:pPr>
                      <a:r>
                        <a:rPr lang="ru-RU" sz="1800">
                          <a:effectLst/>
                        </a:rPr>
                        <a:t>Repeatable read (Повторяемое чтение)</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Допускается, но не в PG</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Возможно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extLst>
                  <a:ext uri="{0D108BD9-81ED-4DB2-BD59-A6C34878D82A}">
                    <a16:rowId xmlns:a16="http://schemas.microsoft.com/office/drawing/2014/main" val="284756190"/>
                  </a:ext>
                </a:extLst>
              </a:tr>
              <a:tr h="1171747">
                <a:tc>
                  <a:txBody>
                    <a:bodyPr/>
                    <a:lstStyle/>
                    <a:p>
                      <a:pPr indent="450215" algn="just">
                        <a:lnSpc>
                          <a:spcPct val="107000"/>
                        </a:lnSpc>
                        <a:spcAft>
                          <a:spcPts val="0"/>
                        </a:spcAft>
                      </a:pPr>
                      <a:r>
                        <a:rPr lang="ru-RU" sz="1800">
                          <a:effectLst/>
                        </a:rPr>
                        <a:t>Serializable (Сериализуемость)</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a:effectLst/>
                        </a:rPr>
                        <a:t>Невозможно</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tc>
                  <a:txBody>
                    <a:bodyPr/>
                    <a:lstStyle/>
                    <a:p>
                      <a:pPr indent="450215" algn="ctr">
                        <a:lnSpc>
                          <a:spcPct val="107000"/>
                        </a:lnSpc>
                        <a:spcAft>
                          <a:spcPts val="0"/>
                        </a:spcAft>
                      </a:pPr>
                      <a:r>
                        <a:rPr lang="ru-RU" sz="1800" dirty="0">
                          <a:effectLst/>
                        </a:rPr>
                        <a:t>Невозможно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38100" marB="38100"/>
                </a:tc>
                <a:extLst>
                  <a:ext uri="{0D108BD9-81ED-4DB2-BD59-A6C34878D82A}">
                    <a16:rowId xmlns:a16="http://schemas.microsoft.com/office/drawing/2014/main" val="2286117113"/>
                  </a:ext>
                </a:extLst>
              </a:tr>
            </a:tbl>
          </a:graphicData>
        </a:graphic>
      </p:graphicFrame>
    </p:spTree>
    <p:extLst>
      <p:ext uri="{BB962C8B-B14F-4D97-AF65-F5344CB8AC3E}">
        <p14:creationId xmlns:p14="http://schemas.microsoft.com/office/powerpoint/2010/main" val="3278602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r>
              <a:rPr lang="ru-RU" sz="2000" dirty="0"/>
              <a:t>Для выбора нужного уровня изоляции транзакций используется команда </a:t>
            </a:r>
            <a:r>
              <a:rPr lang="ru-RU" sz="2000" b="1" dirty="0"/>
              <a:t>SET TRANSACTION.</a:t>
            </a:r>
          </a:p>
          <a:p>
            <a:r>
              <a:rPr lang="ru-RU" sz="2000" b="1" dirty="0"/>
              <a:t>Важно</a:t>
            </a:r>
          </a:p>
          <a:p>
            <a:r>
              <a:rPr lang="ru-RU" sz="2000" dirty="0"/>
              <a:t>Поведение некоторых функций и типов данных </a:t>
            </a:r>
            <a:r>
              <a:rPr lang="ru-RU" sz="2000" dirty="0" err="1"/>
              <a:t>PostgreSQL</a:t>
            </a:r>
            <a:r>
              <a:rPr lang="ru-RU" sz="2000" dirty="0"/>
              <a:t> в транзакциях подчиняется особым правилам. В частности, изменения последовательностей (и следовательно, счётчика в столбце, объявленному как </a:t>
            </a:r>
            <a:r>
              <a:rPr lang="ru-RU" sz="2000" dirty="0" err="1"/>
              <a:t>serial</a:t>
            </a:r>
            <a:r>
              <a:rPr lang="ru-RU" sz="2000" dirty="0"/>
              <a:t>) немедленно видны во всех остальных транзакциях и не откатываются назад, если выполнившая их транзакция прерывается. </a:t>
            </a:r>
          </a:p>
          <a:p>
            <a:r>
              <a:rPr lang="ru-RU" sz="2000" b="1" dirty="0" smtClean="0"/>
              <a:t>Достоинства</a:t>
            </a:r>
            <a:endParaRPr lang="ru-RU" sz="2000" b="1" dirty="0"/>
          </a:p>
          <a:p>
            <a:r>
              <a:rPr lang="ru-RU" sz="2000" dirty="0" smtClean="0"/>
              <a:t>• Частичная </a:t>
            </a:r>
            <a:r>
              <a:rPr lang="ru-RU" sz="2000" dirty="0"/>
              <a:t>изоляция транзакций. </a:t>
            </a:r>
            <a:endParaRPr lang="ru-RU" sz="2000" dirty="0" smtClean="0"/>
          </a:p>
          <a:p>
            <a:r>
              <a:rPr lang="ru-RU" sz="2000" dirty="0" smtClean="0"/>
              <a:t>• Быстрота </a:t>
            </a:r>
            <a:r>
              <a:rPr lang="ru-RU" sz="2000" dirty="0"/>
              <a:t>и простота использования.  </a:t>
            </a:r>
          </a:p>
          <a:p>
            <a:r>
              <a:rPr lang="ru-RU" sz="2000" dirty="0" smtClean="0"/>
              <a:t>• Возможность </a:t>
            </a:r>
            <a:r>
              <a:rPr lang="ru-RU" sz="2000" dirty="0"/>
              <a:t>видеть результаты изменений, внесённых ранее в этой же </a:t>
            </a:r>
            <a:r>
              <a:rPr lang="ru-RU" sz="2000" dirty="0" smtClean="0"/>
              <a:t>транзакции</a:t>
            </a:r>
          </a:p>
          <a:p>
            <a:r>
              <a:rPr lang="ru-RU" sz="2000" b="1" dirty="0" smtClean="0"/>
              <a:t>Недостатки</a:t>
            </a:r>
            <a:endParaRPr lang="ru-RU" sz="2000" b="1" dirty="0"/>
          </a:p>
          <a:p>
            <a:r>
              <a:rPr lang="ru-RU" sz="2000" dirty="0"/>
              <a:t>•	В сложных ситуациях уровень </a:t>
            </a:r>
            <a:r>
              <a:rPr lang="ru-RU" sz="2000" dirty="0" err="1"/>
              <a:t>Read</a:t>
            </a:r>
            <a:r>
              <a:rPr lang="ru-RU" sz="2000" dirty="0"/>
              <a:t> </a:t>
            </a:r>
            <a:r>
              <a:rPr lang="ru-RU" sz="2000" dirty="0" err="1"/>
              <a:t>Committed</a:t>
            </a:r>
            <a:r>
              <a:rPr lang="ru-RU" sz="2000" dirty="0"/>
              <a:t> может приводить к нежелательным результатам. </a:t>
            </a:r>
            <a:endParaRPr lang="ru-RU" sz="2000" dirty="0" smtClean="0"/>
          </a:p>
          <a:p>
            <a:r>
              <a:rPr lang="ru-RU" sz="2000" dirty="0" smtClean="0"/>
              <a:t>•</a:t>
            </a:r>
            <a:r>
              <a:rPr lang="ru-RU" sz="2000" dirty="0"/>
              <a:t>	Приложениям, выполняющим сложные запросы и изменения, может потребоваться более строго согласованное представление данных, чем то, что даёт </a:t>
            </a:r>
            <a:r>
              <a:rPr lang="ru-RU" sz="2000" dirty="0" err="1"/>
              <a:t>Read</a:t>
            </a:r>
            <a:r>
              <a:rPr lang="ru-RU" sz="2000" dirty="0"/>
              <a:t> </a:t>
            </a:r>
            <a:r>
              <a:rPr lang="ru-RU" sz="2000" dirty="0" err="1"/>
              <a:t>Committed</a:t>
            </a:r>
            <a:r>
              <a:rPr lang="ru-RU" sz="2000" dirty="0"/>
              <a:t>.  </a:t>
            </a:r>
          </a:p>
          <a:p>
            <a:r>
              <a:rPr lang="ru-RU" sz="2000" dirty="0"/>
              <a:t>•	Зачастую уровень </a:t>
            </a:r>
            <a:r>
              <a:rPr lang="ru-RU" sz="2000" dirty="0" err="1"/>
              <a:t>Read</a:t>
            </a:r>
            <a:r>
              <a:rPr lang="ru-RU" sz="2000" dirty="0"/>
              <a:t> </a:t>
            </a:r>
            <a:r>
              <a:rPr lang="ru-RU" sz="2000" dirty="0" err="1"/>
              <a:t>Committed</a:t>
            </a:r>
            <a:r>
              <a:rPr lang="ru-RU" sz="2000" dirty="0"/>
              <a:t> требует ручной установки блокировок, чтобы обеспечить корректность.  </a:t>
            </a:r>
            <a:endParaRPr lang="ru-RU" sz="2000" dirty="0" smtClean="0"/>
          </a:p>
          <a:p>
            <a:endParaRPr lang="ru-RU" sz="2000" dirty="0"/>
          </a:p>
          <a:p>
            <a:r>
              <a:rPr lang="ru-RU" sz="2000" dirty="0"/>
              <a:t>Таким образом, </a:t>
            </a:r>
            <a:r>
              <a:rPr lang="ru-RU" sz="2000" b="1" dirty="0" err="1"/>
              <a:t>Read</a:t>
            </a:r>
            <a:r>
              <a:rPr lang="ru-RU" sz="2000" b="1" dirty="0"/>
              <a:t> </a:t>
            </a:r>
            <a:r>
              <a:rPr lang="ru-RU" sz="2000" b="1" dirty="0" err="1"/>
              <a:t>Committed</a:t>
            </a:r>
            <a:r>
              <a:rPr lang="ru-RU" sz="2000" b="1" dirty="0"/>
              <a:t> </a:t>
            </a:r>
            <a:r>
              <a:rPr lang="ru-RU" sz="2000" dirty="0"/>
              <a:t>подходит для простых случаев, но не для всех случаев</a:t>
            </a:r>
            <a:r>
              <a:rPr lang="ru-RU" dirty="0"/>
              <a:t>.</a:t>
            </a:r>
          </a:p>
        </p:txBody>
      </p:sp>
    </p:spTree>
    <p:extLst>
      <p:ext uri="{BB962C8B-B14F-4D97-AF65-F5344CB8AC3E}">
        <p14:creationId xmlns:p14="http://schemas.microsoft.com/office/powerpoint/2010/main" val="3624247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27</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04041" y="1844565"/>
            <a:ext cx="10176734" cy="2154436"/>
          </a:xfrm>
          <a:prstGeom prst="rect">
            <a:avLst/>
          </a:prstGeom>
          <a:noFill/>
        </p:spPr>
        <p:txBody>
          <a:bodyPr wrap="square" rtlCol="0">
            <a:spAutoFit/>
          </a:bodyPr>
          <a:lstStyle/>
          <a:p>
            <a:pPr algn="ctr"/>
            <a:r>
              <a:rPr lang="ru-RU" sz="4000" b="1" dirty="0">
                <a:solidFill>
                  <a:srgbClr val="FF0000"/>
                </a:solidFill>
              </a:rPr>
              <a:t>Уровень изоляции </a:t>
            </a:r>
            <a:r>
              <a:rPr lang="en-US" sz="4000" b="1" dirty="0">
                <a:solidFill>
                  <a:srgbClr val="FF0000"/>
                </a:solidFill>
              </a:rPr>
              <a:t>Repeatable Read </a:t>
            </a:r>
            <a:br>
              <a:rPr lang="en-US" sz="4000" b="1" dirty="0">
                <a:solidFill>
                  <a:srgbClr val="FF0000"/>
                </a:solidFill>
              </a:rPr>
            </a:br>
            <a:endParaRPr lang="ru-RU" sz="4000" b="1" dirty="0" smtClean="0">
              <a:solidFill>
                <a:srgbClr val="FF0000"/>
              </a:solidFill>
            </a:endParaRPr>
          </a:p>
          <a:p>
            <a:pPr algn="ctr"/>
            <a:r>
              <a:rPr lang="ru-RU" sz="5400" b="1" dirty="0" smtClean="0"/>
              <a:t>Вопрос 4</a:t>
            </a:r>
            <a:endParaRPr lang="ru-RU" sz="5400" dirty="0"/>
          </a:p>
        </p:txBody>
      </p:sp>
    </p:spTree>
    <p:extLst>
      <p:ext uri="{BB962C8B-B14F-4D97-AF65-F5344CB8AC3E}">
        <p14:creationId xmlns:p14="http://schemas.microsoft.com/office/powerpoint/2010/main" val="11194418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1"/>
            <a:ext cx="12192000" cy="6863417"/>
          </a:xfrm>
          <a:prstGeom prst="rect">
            <a:avLst/>
          </a:prstGeom>
        </p:spPr>
        <p:txBody>
          <a:bodyPr wrap="square">
            <a:spAutoFit/>
          </a:bodyPr>
          <a:lstStyle/>
          <a:p>
            <a:pPr algn="just"/>
            <a:r>
              <a:rPr lang="ru-RU" sz="2000" b="1" dirty="0" err="1"/>
              <a:t>Read</a:t>
            </a:r>
            <a:r>
              <a:rPr lang="ru-RU" sz="2000" b="1" dirty="0"/>
              <a:t> </a:t>
            </a:r>
            <a:r>
              <a:rPr lang="ru-RU" sz="2000" b="1" dirty="0" err="1"/>
              <a:t>Committed</a:t>
            </a:r>
            <a:r>
              <a:rPr lang="ru-RU" sz="2000" b="1" dirty="0"/>
              <a:t> </a:t>
            </a:r>
            <a:r>
              <a:rPr lang="ru-RU" sz="2000" dirty="0"/>
              <a:t>— уровень изоляции транзакции в </a:t>
            </a:r>
            <a:r>
              <a:rPr lang="ru-RU" sz="2000" dirty="0" err="1"/>
              <a:t>PostgreSQL</a:t>
            </a:r>
            <a:r>
              <a:rPr lang="ru-RU" sz="2000" dirty="0"/>
              <a:t>, выбираемый по </a:t>
            </a:r>
            <a:r>
              <a:rPr lang="ru-RU" sz="2000" dirty="0" smtClean="0"/>
              <a:t>умолчанию</a:t>
            </a:r>
          </a:p>
          <a:p>
            <a:pPr algn="just"/>
            <a:r>
              <a:rPr lang="ru-RU" sz="2000" dirty="0"/>
              <a:t>Команды </a:t>
            </a:r>
            <a:r>
              <a:rPr lang="ru-RU" sz="2000" b="1" dirty="0"/>
              <a:t>UPDATE, DELETE, SELECT FOR UPDATE и SELECT FOR SHARE </a:t>
            </a:r>
            <a:r>
              <a:rPr lang="ru-RU" sz="2000" dirty="0"/>
              <a:t>ведут себя подобно SELECT при поиске целевых строк: они найдут только те целевые строки, которые были зафиксированы на момент начала </a:t>
            </a:r>
            <a:r>
              <a:rPr lang="ru-RU" sz="2000" dirty="0" smtClean="0"/>
              <a:t>команды</a:t>
            </a:r>
          </a:p>
          <a:p>
            <a:pPr algn="just"/>
            <a:r>
              <a:rPr lang="ru-RU" sz="2000" b="1" dirty="0"/>
              <a:t>INSERT</a:t>
            </a:r>
            <a:r>
              <a:rPr lang="ru-RU" sz="2000" dirty="0"/>
              <a:t> с предложением ON CONFLICT DO UPDATE. В режиме </a:t>
            </a:r>
            <a:r>
              <a:rPr lang="ru-RU" sz="2000" dirty="0" err="1"/>
              <a:t>Read</a:t>
            </a:r>
            <a:r>
              <a:rPr lang="ru-RU" sz="2000" dirty="0"/>
              <a:t> </a:t>
            </a:r>
            <a:r>
              <a:rPr lang="ru-RU" sz="2000" dirty="0" err="1"/>
              <a:t>Committed</a:t>
            </a:r>
            <a:r>
              <a:rPr lang="ru-RU" sz="2000" dirty="0"/>
              <a:t> каждая строка, предлагаемая для добавления, будет либо вставлена, либо </a:t>
            </a:r>
            <a:r>
              <a:rPr lang="ru-RU" sz="2000" dirty="0" smtClean="0"/>
              <a:t>изменена</a:t>
            </a:r>
          </a:p>
          <a:p>
            <a:pPr algn="just"/>
            <a:r>
              <a:rPr lang="ru-RU" sz="2000" dirty="0"/>
              <a:t>При выполнении INSERT с предложением ON CONFLICT DO NOTHING строка может не добавиться в результате действия другой транзакции, эффект которой не виден в снимке команды </a:t>
            </a:r>
            <a:r>
              <a:rPr lang="ru-RU" sz="2000" dirty="0" smtClean="0"/>
              <a:t>INSERT</a:t>
            </a:r>
          </a:p>
          <a:p>
            <a:pPr algn="just"/>
            <a:r>
              <a:rPr lang="en-US" sz="2000" b="1" dirty="0"/>
              <a:t>MERGE</a:t>
            </a:r>
            <a:r>
              <a:rPr lang="en-US" sz="2000" dirty="0"/>
              <a:t> </a:t>
            </a:r>
            <a:r>
              <a:rPr lang="ru-RU" sz="2000" dirty="0"/>
              <a:t>позволяет пользователю указать различные комбинации подкоманд </a:t>
            </a:r>
            <a:r>
              <a:rPr lang="en-US" sz="2000" dirty="0"/>
              <a:t>INSERT, UPDATE </a:t>
            </a:r>
            <a:r>
              <a:rPr lang="ru-RU" sz="2000" dirty="0"/>
              <a:t>и </a:t>
            </a:r>
            <a:r>
              <a:rPr lang="en-US" sz="2000" dirty="0"/>
              <a:t>DELETE. </a:t>
            </a:r>
            <a:r>
              <a:rPr lang="ru-RU" sz="2000" dirty="0"/>
              <a:t>Команда </a:t>
            </a:r>
            <a:r>
              <a:rPr lang="en-US" sz="2000" dirty="0"/>
              <a:t>MERGE </a:t>
            </a:r>
            <a:r>
              <a:rPr lang="ru-RU" sz="2000" dirty="0"/>
              <a:t>с подкомандами </a:t>
            </a:r>
            <a:r>
              <a:rPr lang="en-US" sz="2000" dirty="0"/>
              <a:t>INSERT </a:t>
            </a:r>
            <a:r>
              <a:rPr lang="ru-RU" sz="2000" dirty="0"/>
              <a:t>и </a:t>
            </a:r>
            <a:r>
              <a:rPr lang="en-US" sz="2000" dirty="0"/>
              <a:t>UPDATE </a:t>
            </a:r>
            <a:r>
              <a:rPr lang="ru-RU" sz="2000" dirty="0"/>
              <a:t>работает аналогично </a:t>
            </a:r>
            <a:r>
              <a:rPr lang="en-US" sz="2000" dirty="0"/>
              <a:t>INSERT </a:t>
            </a:r>
            <a:r>
              <a:rPr lang="ru-RU" sz="2000" dirty="0"/>
              <a:t>с </a:t>
            </a:r>
            <a:r>
              <a:rPr lang="en-US" sz="2000" dirty="0"/>
              <a:t>ON CONFLICT DO </a:t>
            </a:r>
            <a:r>
              <a:rPr lang="en-US" sz="2000" dirty="0" smtClean="0"/>
              <a:t>UPDATE</a:t>
            </a:r>
            <a:endParaRPr lang="ru-RU" sz="2000" dirty="0" smtClean="0"/>
          </a:p>
          <a:p>
            <a:pPr algn="just"/>
            <a:r>
              <a:rPr lang="ru-RU" sz="2000" dirty="0"/>
              <a:t>уровень </a:t>
            </a:r>
            <a:r>
              <a:rPr lang="en-US" sz="2000" b="1" dirty="0"/>
              <a:t>Read Committed </a:t>
            </a:r>
            <a:r>
              <a:rPr lang="ru-RU" sz="2000" dirty="0"/>
              <a:t>не подходит для команд со сложными условиями поиска; однако он вполне пригоден для простых случаев. Например, рассмотрим перевод 100 $ с одного счёта на другой:</a:t>
            </a:r>
          </a:p>
          <a:p>
            <a:pPr algn="just"/>
            <a:r>
              <a:rPr lang="en-US" sz="2000" dirty="0"/>
              <a:t>BEGIN;</a:t>
            </a:r>
          </a:p>
          <a:p>
            <a:pPr algn="just"/>
            <a:r>
              <a:rPr lang="en-US" sz="2000" dirty="0"/>
              <a:t>UPDATE accounts SET balance = balance + 100.00 WHERE </a:t>
            </a:r>
            <a:r>
              <a:rPr lang="en-US" sz="2000" dirty="0" err="1"/>
              <a:t>acctnum</a:t>
            </a:r>
            <a:r>
              <a:rPr lang="en-US" sz="2000" dirty="0"/>
              <a:t> = 12345;</a:t>
            </a:r>
          </a:p>
          <a:p>
            <a:pPr algn="just"/>
            <a:r>
              <a:rPr lang="en-US" sz="2000" dirty="0"/>
              <a:t>UPDATE accounts SET balance = balance - 100.00 WHERE </a:t>
            </a:r>
            <a:r>
              <a:rPr lang="en-US" sz="2000" dirty="0" err="1"/>
              <a:t>acctnum</a:t>
            </a:r>
            <a:r>
              <a:rPr lang="en-US" sz="2000" dirty="0"/>
              <a:t> = 7534;</a:t>
            </a:r>
          </a:p>
          <a:p>
            <a:pPr algn="just"/>
            <a:r>
              <a:rPr lang="en-US" sz="2000" dirty="0"/>
              <a:t>COMMIT;</a:t>
            </a:r>
          </a:p>
          <a:p>
            <a:pPr algn="just"/>
            <a:r>
              <a:rPr lang="ru-RU" sz="2000" dirty="0"/>
              <a:t>Например, предположим, что </a:t>
            </a:r>
            <a:r>
              <a:rPr lang="en-US" sz="2000" dirty="0"/>
              <a:t>website — </a:t>
            </a:r>
            <a:r>
              <a:rPr lang="ru-RU" sz="2000" dirty="0"/>
              <a:t>таблица из двух строк, в которых </a:t>
            </a:r>
            <a:r>
              <a:rPr lang="en-US" sz="2000" dirty="0" err="1"/>
              <a:t>website.hits</a:t>
            </a:r>
            <a:r>
              <a:rPr lang="en-US" sz="2000" dirty="0"/>
              <a:t> </a:t>
            </a:r>
            <a:r>
              <a:rPr lang="ru-RU" sz="2000" dirty="0"/>
              <a:t>равны 9 и 10:</a:t>
            </a:r>
          </a:p>
          <a:p>
            <a:pPr algn="just"/>
            <a:r>
              <a:rPr lang="en-US" sz="2000" dirty="0"/>
              <a:t>BEGIN;</a:t>
            </a:r>
          </a:p>
          <a:p>
            <a:pPr algn="just"/>
            <a:r>
              <a:rPr lang="en-US" sz="2000" dirty="0"/>
              <a:t>UPDATE website SET hits = hits + 1;</a:t>
            </a:r>
          </a:p>
          <a:p>
            <a:pPr algn="just"/>
            <a:r>
              <a:rPr lang="en-US" sz="2000" dirty="0"/>
              <a:t>-- </a:t>
            </a:r>
            <a:r>
              <a:rPr lang="ru-RU" sz="2000" dirty="0"/>
              <a:t>выполняется параллельно:  </a:t>
            </a:r>
            <a:r>
              <a:rPr lang="en-US" sz="2000" dirty="0"/>
              <a:t>DELETE FROM website WHERE hits = 10;</a:t>
            </a:r>
          </a:p>
          <a:p>
            <a:pPr algn="just"/>
            <a:r>
              <a:rPr lang="en-US" sz="2000" dirty="0"/>
              <a:t>COMMIT;</a:t>
            </a:r>
          </a:p>
          <a:p>
            <a:pPr algn="just"/>
            <a:endParaRPr lang="ru-RU" sz="2000" dirty="0"/>
          </a:p>
        </p:txBody>
      </p:sp>
    </p:spTree>
    <p:extLst>
      <p:ext uri="{BB962C8B-B14F-4D97-AF65-F5344CB8AC3E}">
        <p14:creationId xmlns:p14="http://schemas.microsoft.com/office/powerpoint/2010/main" val="2399757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016758"/>
          </a:xfrm>
          <a:prstGeom prst="rect">
            <a:avLst/>
          </a:prstGeom>
        </p:spPr>
        <p:txBody>
          <a:bodyPr wrap="square">
            <a:spAutoFit/>
          </a:bodyPr>
          <a:lstStyle/>
          <a:p>
            <a:r>
              <a:rPr lang="ru-RU" sz="2000" b="1" dirty="0"/>
              <a:t>Достоинства</a:t>
            </a:r>
          </a:p>
          <a:p>
            <a:r>
              <a:rPr lang="ru-RU" sz="2000" dirty="0"/>
              <a:t>•	Баланс между корректностью и производительностью. </a:t>
            </a:r>
            <a:endParaRPr lang="ru-RU" sz="2000" dirty="0" smtClean="0"/>
          </a:p>
          <a:p>
            <a:r>
              <a:rPr lang="ru-RU" sz="2000" dirty="0" smtClean="0"/>
              <a:t>•</a:t>
            </a:r>
            <a:r>
              <a:rPr lang="ru-RU" sz="2000" dirty="0"/>
              <a:t>	Быстрота и простота использования. Режим </a:t>
            </a:r>
            <a:r>
              <a:rPr lang="ru-RU" sz="2000" dirty="0" err="1"/>
              <a:t>Read</a:t>
            </a:r>
            <a:r>
              <a:rPr lang="ru-RU" sz="2000" dirty="0"/>
              <a:t> </a:t>
            </a:r>
            <a:r>
              <a:rPr lang="ru-RU" sz="2000" dirty="0" err="1"/>
              <a:t>Committed</a:t>
            </a:r>
            <a:r>
              <a:rPr lang="ru-RU" sz="2000" dirty="0"/>
              <a:t> быстр и прост в использовании. </a:t>
            </a:r>
          </a:p>
          <a:p>
            <a:r>
              <a:rPr lang="ru-RU" sz="2000" dirty="0"/>
              <a:t>•	Предотвращение «грязного» чтения — транзакции не могут считывать данные, записанные параллельной незафиксированной транзакцией.  </a:t>
            </a:r>
          </a:p>
          <a:p>
            <a:r>
              <a:rPr lang="ru-RU" sz="2000" dirty="0"/>
              <a:t>Однако есть и ограничение: SELECT видит результаты изменений, внесённых ранее в этой же транзакции, даже если они ещё не зафиксированы.  </a:t>
            </a:r>
          </a:p>
          <a:p>
            <a:r>
              <a:rPr lang="ru-RU" sz="2000" b="1" dirty="0"/>
              <a:t>Недостатки</a:t>
            </a:r>
          </a:p>
          <a:p>
            <a:r>
              <a:rPr lang="ru-RU" sz="2000" dirty="0"/>
              <a:t>•	Возможность нежелательных результатов в сложных ситуациях. </a:t>
            </a:r>
            <a:endParaRPr lang="ru-RU" sz="2000" dirty="0" smtClean="0"/>
          </a:p>
          <a:p>
            <a:r>
              <a:rPr lang="ru-RU" sz="2000" dirty="0"/>
              <a:t>•	Разные данные могут быть видны двум последовательным операторам SELECT даже в рамках одной транзакции, </a:t>
            </a:r>
            <a:r>
              <a:rPr lang="ru-RU" sz="2000" dirty="0" smtClean="0"/>
              <a:t>•</a:t>
            </a:r>
            <a:r>
              <a:rPr lang="ru-RU" sz="2000" dirty="0"/>
              <a:t>	Команды UPDATE, DELETE, SELECT FOR UPDATE и SELECT FOR SHARE находят только те целевые строки, которые были зафиксированы на момент начала </a:t>
            </a:r>
            <a:r>
              <a:rPr lang="ru-RU" sz="2000" dirty="0" smtClean="0"/>
              <a:t>команды.</a:t>
            </a:r>
          </a:p>
          <a:p>
            <a:endParaRPr lang="ru-RU" sz="2000" dirty="0"/>
          </a:p>
          <a:p>
            <a:r>
              <a:rPr lang="ru-RU" sz="2000" b="1" dirty="0"/>
              <a:t>Важно</a:t>
            </a:r>
            <a:r>
              <a:rPr lang="ru-RU" sz="2000" dirty="0"/>
              <a:t>: уровень </a:t>
            </a:r>
            <a:r>
              <a:rPr lang="ru-RU" sz="2000" dirty="0" err="1"/>
              <a:t>Read</a:t>
            </a:r>
            <a:r>
              <a:rPr lang="ru-RU" sz="2000" dirty="0"/>
              <a:t> </a:t>
            </a:r>
            <a:r>
              <a:rPr lang="ru-RU" sz="2000" dirty="0" err="1"/>
              <a:t>Committed</a:t>
            </a:r>
            <a:r>
              <a:rPr lang="ru-RU" sz="2000" dirty="0"/>
              <a:t> подходит не для всех случаев — приложениям, выполняющим сложные запросы и изменения, может потребоваться более строго согласованное представление данных, чем то, что даёт </a:t>
            </a:r>
            <a:r>
              <a:rPr lang="ru-RU" sz="2000" dirty="0" err="1"/>
              <a:t>Read</a:t>
            </a:r>
            <a:r>
              <a:rPr lang="ru-RU" sz="2000" dirty="0"/>
              <a:t> </a:t>
            </a:r>
            <a:r>
              <a:rPr lang="ru-RU" sz="2000" dirty="0" err="1"/>
              <a:t>Committed</a:t>
            </a:r>
            <a:r>
              <a:rPr lang="ru-RU" sz="2000" dirty="0"/>
              <a:t>. </a:t>
            </a:r>
          </a:p>
        </p:txBody>
      </p:sp>
    </p:spTree>
    <p:extLst>
      <p:ext uri="{BB962C8B-B14F-4D97-AF65-F5344CB8AC3E}">
        <p14:creationId xmlns:p14="http://schemas.microsoft.com/office/powerpoint/2010/main" val="4158732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1"/>
            <a:ext cx="12192000" cy="6863417"/>
          </a:xfrm>
          <a:prstGeom prst="rect">
            <a:avLst/>
          </a:prstGeom>
        </p:spPr>
        <p:txBody>
          <a:bodyPr wrap="square">
            <a:spAutoFit/>
          </a:bodyPr>
          <a:lstStyle/>
          <a:p>
            <a:r>
              <a:rPr lang="ru-RU" sz="2000" b="1" dirty="0" err="1"/>
              <a:t>Repeatable</a:t>
            </a:r>
            <a:r>
              <a:rPr lang="ru-RU" sz="2000" b="1" dirty="0"/>
              <a:t> </a:t>
            </a:r>
            <a:r>
              <a:rPr lang="ru-RU" sz="2000" b="1" dirty="0" err="1"/>
              <a:t>Read</a:t>
            </a:r>
            <a:r>
              <a:rPr lang="ru-RU" sz="2000" b="1" dirty="0"/>
              <a:t> </a:t>
            </a:r>
            <a:r>
              <a:rPr lang="ru-RU" sz="2000" dirty="0"/>
              <a:t>— уровень изоляции транзакций в </a:t>
            </a:r>
            <a:r>
              <a:rPr lang="ru-RU" sz="2000" dirty="0" err="1"/>
              <a:t>PostgreSQL</a:t>
            </a:r>
            <a:r>
              <a:rPr lang="ru-RU" sz="2000" dirty="0"/>
              <a:t>, который означает «повторяющееся чтение</a:t>
            </a:r>
            <a:r>
              <a:rPr lang="ru-RU" sz="2000" dirty="0" smtClean="0"/>
              <a:t>».</a:t>
            </a:r>
          </a:p>
          <a:p>
            <a:r>
              <a:rPr lang="ru-RU" sz="2000" b="1" dirty="0"/>
              <a:t> Принцип работы</a:t>
            </a:r>
          </a:p>
          <a:p>
            <a:r>
              <a:rPr lang="ru-RU" sz="2000" dirty="0"/>
              <a:t>•	Запрос в транзакции </a:t>
            </a:r>
            <a:r>
              <a:rPr lang="ru-RU" sz="2000" dirty="0" err="1"/>
              <a:t>Repeatable</a:t>
            </a:r>
            <a:r>
              <a:rPr lang="ru-RU" sz="2000" dirty="0"/>
              <a:t> </a:t>
            </a:r>
            <a:r>
              <a:rPr lang="ru-RU" sz="2000" dirty="0" err="1"/>
              <a:t>Read</a:t>
            </a:r>
            <a:r>
              <a:rPr lang="ru-RU" sz="2000" dirty="0"/>
              <a:t> видит «снимок» (</a:t>
            </a:r>
            <a:r>
              <a:rPr lang="ru-RU" sz="2000" dirty="0" err="1"/>
              <a:t>snapshot</a:t>
            </a:r>
            <a:r>
              <a:rPr lang="ru-RU" sz="2000" dirty="0"/>
              <a:t>) данных в начале первого оператора транзакции (команды управления транзакцией не учитываются).</a:t>
            </a:r>
          </a:p>
          <a:p>
            <a:r>
              <a:rPr lang="ru-RU" sz="2000" dirty="0"/>
              <a:t>•	Последующие команды SELECT в одной и той же транзакции видят одни и те же данные </a:t>
            </a:r>
            <a:endParaRPr lang="ru-RU" sz="2000" dirty="0" smtClean="0"/>
          </a:p>
          <a:p>
            <a:r>
              <a:rPr lang="ru-RU" sz="2000" dirty="0" smtClean="0"/>
              <a:t>•</a:t>
            </a:r>
            <a:r>
              <a:rPr lang="ru-RU" sz="2000" dirty="0"/>
              <a:t>	Команды UPDATE, DELETE, SELECT FOR UPDATE и SELECT FOR SHARE находят только те целевые </a:t>
            </a:r>
            <a:r>
              <a:rPr lang="ru-RU" sz="2000" dirty="0" smtClean="0"/>
              <a:t>строки</a:t>
            </a:r>
          </a:p>
          <a:p>
            <a:r>
              <a:rPr lang="ru-RU" sz="2000" dirty="0"/>
              <a:t>Если первая транзакция выполняет откат, транзакция </a:t>
            </a:r>
            <a:r>
              <a:rPr lang="ru-RU" sz="2000" b="1" dirty="0" err="1"/>
              <a:t>Repeatable</a:t>
            </a:r>
            <a:r>
              <a:rPr lang="ru-RU" sz="2000" b="1" dirty="0"/>
              <a:t> </a:t>
            </a:r>
            <a:r>
              <a:rPr lang="ru-RU" sz="2000" b="1" dirty="0" err="1"/>
              <a:t>read</a:t>
            </a:r>
            <a:r>
              <a:rPr lang="ru-RU" sz="2000" b="1" dirty="0"/>
              <a:t> </a:t>
            </a:r>
            <a:r>
              <a:rPr lang="ru-RU" sz="2000" dirty="0"/>
              <a:t>может продолжить обновление первоначально найденной строки. Если первая транзакция фиксируется и обновляет или удаляет строку, а не просто блокирует её, транзакция </a:t>
            </a:r>
            <a:r>
              <a:rPr lang="ru-RU" sz="2000" dirty="0" err="1"/>
              <a:t>Repeatable</a:t>
            </a:r>
            <a:r>
              <a:rPr lang="ru-RU" sz="2000" dirty="0"/>
              <a:t> </a:t>
            </a:r>
            <a:r>
              <a:rPr lang="ru-RU" sz="2000" dirty="0" err="1"/>
              <a:t>read</a:t>
            </a:r>
            <a:r>
              <a:rPr lang="ru-RU" sz="2000" dirty="0"/>
              <a:t> будет отменена с сообщением: </a:t>
            </a:r>
          </a:p>
          <a:p>
            <a:r>
              <a:rPr lang="ru-RU" sz="2000" dirty="0"/>
              <a:t>ERROR: </a:t>
            </a:r>
            <a:r>
              <a:rPr lang="ru-RU" sz="2000" dirty="0" err="1"/>
              <a:t>could</a:t>
            </a:r>
            <a:r>
              <a:rPr lang="ru-RU" sz="2000" dirty="0"/>
              <a:t> </a:t>
            </a:r>
            <a:r>
              <a:rPr lang="ru-RU" sz="2000" dirty="0" err="1"/>
              <a:t>not</a:t>
            </a:r>
            <a:r>
              <a:rPr lang="ru-RU" sz="2000" dirty="0"/>
              <a:t> </a:t>
            </a:r>
            <a:r>
              <a:rPr lang="ru-RU" sz="2000" dirty="0" err="1"/>
              <a:t>serialize</a:t>
            </a:r>
            <a:r>
              <a:rPr lang="ru-RU" sz="2000" dirty="0"/>
              <a:t> </a:t>
            </a:r>
            <a:r>
              <a:rPr lang="ru-RU" sz="2000" dirty="0" err="1"/>
              <a:t>access</a:t>
            </a:r>
            <a:r>
              <a:rPr lang="ru-RU" sz="2000" dirty="0"/>
              <a:t> </a:t>
            </a:r>
            <a:r>
              <a:rPr lang="ru-RU" sz="2000" dirty="0" err="1"/>
              <a:t>due</a:t>
            </a:r>
            <a:r>
              <a:rPr lang="ru-RU" sz="2000" dirty="0"/>
              <a:t> </a:t>
            </a:r>
            <a:r>
              <a:rPr lang="ru-RU" sz="2000" dirty="0" err="1"/>
              <a:t>to</a:t>
            </a:r>
            <a:r>
              <a:rPr lang="ru-RU" sz="2000" dirty="0"/>
              <a:t> </a:t>
            </a:r>
            <a:r>
              <a:rPr lang="ru-RU" sz="2000" dirty="0" err="1"/>
              <a:t>concurrent</a:t>
            </a:r>
            <a:r>
              <a:rPr lang="ru-RU" sz="2000" dirty="0"/>
              <a:t> </a:t>
            </a:r>
            <a:r>
              <a:rPr lang="ru-RU" sz="2000" dirty="0" err="1"/>
              <a:t>update</a:t>
            </a:r>
            <a:endParaRPr lang="ru-RU" sz="2000" dirty="0"/>
          </a:p>
          <a:p>
            <a:r>
              <a:rPr lang="ru-RU" sz="2000" dirty="0"/>
              <a:t>•	Транзакция </a:t>
            </a:r>
            <a:r>
              <a:rPr lang="ru-RU" sz="2000" dirty="0" err="1"/>
              <a:t>Repeatable</a:t>
            </a:r>
            <a:r>
              <a:rPr lang="ru-RU" sz="2000" dirty="0"/>
              <a:t> </a:t>
            </a:r>
            <a:r>
              <a:rPr lang="ru-RU" sz="2000" dirty="0" err="1"/>
              <a:t>Read</a:t>
            </a:r>
            <a:r>
              <a:rPr lang="ru-RU" sz="2000" dirty="0"/>
              <a:t> не может изменять или блокировать строки, изменённые другими транзакциями после её начала.</a:t>
            </a:r>
          </a:p>
          <a:p>
            <a:r>
              <a:rPr lang="ru-RU" sz="2000" b="1" dirty="0"/>
              <a:t>Аномалии</a:t>
            </a:r>
          </a:p>
          <a:p>
            <a:r>
              <a:rPr lang="ru-RU" sz="2000" dirty="0"/>
              <a:t>•	Неповторяющееся чтение (</a:t>
            </a:r>
            <a:r>
              <a:rPr lang="ru-RU" sz="2000" dirty="0" err="1"/>
              <a:t>non-repeatable</a:t>
            </a:r>
            <a:r>
              <a:rPr lang="ru-RU" sz="2000" dirty="0"/>
              <a:t> </a:t>
            </a:r>
            <a:r>
              <a:rPr lang="ru-RU" sz="2000" dirty="0" err="1"/>
              <a:t>read</a:t>
            </a:r>
            <a:r>
              <a:rPr lang="ru-RU" sz="2000" dirty="0"/>
              <a:t>) — после того как транзакция T1 прочитала строку, транзакция T2 изменила или удалила эту строку и зафиксировала изменения (COMMIT). При повторном чтении этой же строки транзакция T1 видит, что строка изменена или удалена.</a:t>
            </a:r>
          </a:p>
          <a:p>
            <a:r>
              <a:rPr lang="ru-RU" sz="2000" dirty="0"/>
              <a:t>•	Фантомное чтение (</a:t>
            </a:r>
            <a:r>
              <a:rPr lang="ru-RU" sz="2000" dirty="0" err="1"/>
              <a:t>phantom</a:t>
            </a:r>
            <a:r>
              <a:rPr lang="ru-RU" sz="2000" dirty="0"/>
              <a:t> </a:t>
            </a:r>
            <a:r>
              <a:rPr lang="ru-RU" sz="2000" dirty="0" err="1"/>
              <a:t>read</a:t>
            </a:r>
            <a:r>
              <a:rPr lang="ru-RU" sz="2000" dirty="0"/>
              <a:t>) — транзакция T1 прочитала набор строк по некоторому условию, затем транзакция T2 добавила строки, также удовлетворяющие этому условию. Если транзакция T1 повторит запрос, она получит другую выборку строк.</a:t>
            </a:r>
          </a:p>
          <a:p>
            <a:r>
              <a:rPr lang="ru-RU" sz="2000" b="1" dirty="0"/>
              <a:t>Важно</a:t>
            </a:r>
            <a:r>
              <a:rPr lang="ru-RU" sz="2000" dirty="0"/>
              <a:t>: режим </a:t>
            </a:r>
            <a:r>
              <a:rPr lang="ru-RU" sz="2000" dirty="0" err="1"/>
              <a:t>Repeatable</a:t>
            </a:r>
            <a:r>
              <a:rPr lang="ru-RU" sz="2000" dirty="0"/>
              <a:t> </a:t>
            </a:r>
            <a:r>
              <a:rPr lang="ru-RU" sz="2000" dirty="0" err="1"/>
              <a:t>Read</a:t>
            </a:r>
            <a:r>
              <a:rPr lang="ru-RU" sz="2000" dirty="0"/>
              <a:t> обеспечивает строгую гарантию, что каждая транзакция видит полностью стабильное представление базы данных, но это представление не обязательно всегда будет соответствовать некоторому последовательному выполнению параллельных транзакций одного и того же уровня</a:t>
            </a:r>
            <a:r>
              <a:rPr lang="ru-RU" sz="2000" dirty="0" smtClean="0"/>
              <a:t>.</a:t>
            </a:r>
            <a:endParaRPr lang="ru-RU" sz="2000" dirty="0"/>
          </a:p>
        </p:txBody>
      </p:sp>
    </p:spTree>
    <p:extLst>
      <p:ext uri="{BB962C8B-B14F-4D97-AF65-F5344CB8AC3E}">
        <p14:creationId xmlns:p14="http://schemas.microsoft.com/office/powerpoint/2010/main" val="3260113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pPr algn="just"/>
            <a:r>
              <a:rPr lang="ru-RU" sz="2000" b="1" dirty="0"/>
              <a:t>Аномалии</a:t>
            </a:r>
          </a:p>
          <a:p>
            <a:pPr algn="just"/>
            <a:r>
              <a:rPr lang="ru-RU" sz="2000" dirty="0"/>
              <a:t>•	</a:t>
            </a:r>
            <a:r>
              <a:rPr lang="ru-RU" sz="2000" b="1" dirty="0"/>
              <a:t>Неповторяющееся чтение </a:t>
            </a:r>
            <a:r>
              <a:rPr lang="ru-RU" sz="2000" dirty="0"/>
              <a:t>(</a:t>
            </a:r>
            <a:r>
              <a:rPr lang="ru-RU" sz="2000" dirty="0" err="1"/>
              <a:t>non-repeatable</a:t>
            </a:r>
            <a:r>
              <a:rPr lang="ru-RU" sz="2000" dirty="0"/>
              <a:t> </a:t>
            </a:r>
            <a:r>
              <a:rPr lang="ru-RU" sz="2000" dirty="0" err="1"/>
              <a:t>read</a:t>
            </a:r>
            <a:r>
              <a:rPr lang="ru-RU" sz="2000" dirty="0"/>
              <a:t>) — после того как транзакция T1 прочитала строку, транзакция T2 изменила или удалила эту строку и зафиксировала изменения (COMMIT). При повторном чтении этой же строки транзакция T1 видит, что строка изменена или удалена.</a:t>
            </a:r>
          </a:p>
          <a:p>
            <a:pPr algn="just"/>
            <a:r>
              <a:rPr lang="ru-RU" sz="2000" dirty="0"/>
              <a:t>•	</a:t>
            </a:r>
            <a:r>
              <a:rPr lang="ru-RU" sz="2000" b="1" dirty="0"/>
              <a:t>Фантомное чтение </a:t>
            </a:r>
            <a:r>
              <a:rPr lang="ru-RU" sz="2000" dirty="0"/>
              <a:t>(</a:t>
            </a:r>
            <a:r>
              <a:rPr lang="ru-RU" sz="2000" dirty="0" err="1"/>
              <a:t>phantom</a:t>
            </a:r>
            <a:r>
              <a:rPr lang="ru-RU" sz="2000" dirty="0"/>
              <a:t> </a:t>
            </a:r>
            <a:r>
              <a:rPr lang="ru-RU" sz="2000" dirty="0" err="1"/>
              <a:t>read</a:t>
            </a:r>
            <a:r>
              <a:rPr lang="ru-RU" sz="2000" dirty="0"/>
              <a:t>) — транзакция T1 прочитала набор строк по некоторому условию, затем транзакция T2 добавила строки, также удовлетворяющие этому условию. Если транзакция T1 повторит запрос, она получит другую выборку строк.</a:t>
            </a:r>
          </a:p>
          <a:p>
            <a:pPr algn="just"/>
            <a:r>
              <a:rPr lang="ru-RU" sz="2000" dirty="0"/>
              <a:t>В</a:t>
            </a:r>
            <a:r>
              <a:rPr lang="ru-RU" sz="2000" b="1" dirty="0"/>
              <a:t>ажно: </a:t>
            </a:r>
            <a:r>
              <a:rPr lang="ru-RU" sz="2000" dirty="0"/>
              <a:t>режим </a:t>
            </a:r>
            <a:r>
              <a:rPr lang="ru-RU" sz="2000" dirty="0" err="1"/>
              <a:t>Repeatable</a:t>
            </a:r>
            <a:r>
              <a:rPr lang="ru-RU" sz="2000" dirty="0"/>
              <a:t> </a:t>
            </a:r>
            <a:r>
              <a:rPr lang="ru-RU" sz="2000" dirty="0" err="1"/>
              <a:t>Read</a:t>
            </a:r>
            <a:r>
              <a:rPr lang="ru-RU" sz="2000" dirty="0"/>
              <a:t> обеспечивает строгую гарантию, что каждая транзакция видит полностью стабильное представление базы данных, но это представление не обязательно всегда будет соответствовать некоторому последовательному выполнению параллельных транзакций одного и того же уровня. </a:t>
            </a:r>
            <a:endParaRPr lang="ru-RU" sz="2000" dirty="0" smtClean="0"/>
          </a:p>
          <a:p>
            <a:pPr algn="just"/>
            <a:r>
              <a:rPr lang="ru-RU" sz="2000" dirty="0"/>
              <a:t>Команды </a:t>
            </a:r>
            <a:r>
              <a:rPr lang="ru-RU" sz="2000" b="1" dirty="0"/>
              <a:t>UPDATE</a:t>
            </a:r>
            <a:r>
              <a:rPr lang="ru-RU" sz="2000" b="1" dirty="0" smtClean="0"/>
              <a:t>, </a:t>
            </a:r>
            <a:r>
              <a:rPr lang="ru-RU" sz="2000" b="1" dirty="0"/>
              <a:t>DELETE, MERGE, SELECT FOR UPDATE и SELECT FOR SHARE </a:t>
            </a:r>
            <a:r>
              <a:rPr lang="ru-RU" sz="2000" dirty="0"/>
              <a:t>ведут себя подобно SELECT при поиске целевых строк: они найдут только те целевые строки, которые были зафиксированы на момент начала транзакции</a:t>
            </a:r>
            <a:r>
              <a:rPr lang="ru-RU" sz="2000" dirty="0" smtClean="0"/>
              <a:t>.</a:t>
            </a:r>
          </a:p>
          <a:p>
            <a:pPr algn="just"/>
            <a:r>
              <a:rPr lang="ru-RU" sz="2000" dirty="0"/>
              <a:t>Режим </a:t>
            </a:r>
            <a:r>
              <a:rPr lang="ru-RU" sz="2000" b="1" dirty="0" err="1"/>
              <a:t>Repeatable</a:t>
            </a:r>
            <a:r>
              <a:rPr lang="ru-RU" sz="2000" b="1" dirty="0"/>
              <a:t> </a:t>
            </a:r>
            <a:r>
              <a:rPr lang="ru-RU" sz="2000" b="1" dirty="0" err="1"/>
              <a:t>Read</a:t>
            </a:r>
            <a:r>
              <a:rPr lang="ru-RU" sz="2000" b="1" dirty="0"/>
              <a:t> </a:t>
            </a:r>
            <a:r>
              <a:rPr lang="ru-RU" sz="2000" dirty="0"/>
              <a:t>строго гарантирует, что каждая транзакция видит полностью стабильное представление базы данных. </a:t>
            </a:r>
            <a:endParaRPr lang="ru-RU" sz="2000" dirty="0" smtClean="0"/>
          </a:p>
          <a:p>
            <a:pPr algn="just"/>
            <a:r>
              <a:rPr lang="ru-RU" sz="2000" dirty="0"/>
              <a:t>В некоторых СУБД могут существовать даже два отдельных уровня </a:t>
            </a:r>
            <a:r>
              <a:rPr lang="ru-RU" sz="2000" b="1" dirty="0" err="1"/>
              <a:t>Repeatable</a:t>
            </a:r>
            <a:r>
              <a:rPr lang="ru-RU" sz="2000" b="1" dirty="0"/>
              <a:t> </a:t>
            </a:r>
            <a:r>
              <a:rPr lang="ru-RU" sz="2000" b="1" dirty="0" err="1"/>
              <a:t>Read</a:t>
            </a:r>
            <a:r>
              <a:rPr lang="ru-RU" sz="2000" b="1" dirty="0"/>
              <a:t> </a:t>
            </a:r>
            <a:r>
              <a:rPr lang="ru-RU" sz="2000" dirty="0"/>
              <a:t>и </a:t>
            </a:r>
            <a:r>
              <a:rPr lang="ru-RU" sz="2000" b="1" dirty="0" err="1"/>
              <a:t>Snapshot</a:t>
            </a:r>
            <a:r>
              <a:rPr lang="ru-RU" sz="2000" b="1" dirty="0"/>
              <a:t> </a:t>
            </a:r>
            <a:r>
              <a:rPr lang="ru-RU" sz="2000" b="1" dirty="0" err="1"/>
              <a:t>Isolation</a:t>
            </a:r>
            <a:r>
              <a:rPr lang="ru-RU" sz="2000" b="1" dirty="0"/>
              <a:t> </a:t>
            </a:r>
            <a:r>
              <a:rPr lang="ru-RU" sz="2000" dirty="0"/>
              <a:t>с различным поведением. Допускаемые особые условия, представляющие отличия двух этих </a:t>
            </a:r>
            <a:r>
              <a:rPr lang="ru-RU" sz="2000" dirty="0" smtClean="0"/>
              <a:t>подходов</a:t>
            </a:r>
          </a:p>
          <a:p>
            <a:pPr algn="just"/>
            <a:endParaRPr lang="ru-RU" sz="2000" dirty="0"/>
          </a:p>
        </p:txBody>
      </p:sp>
    </p:spTree>
    <p:extLst>
      <p:ext uri="{BB962C8B-B14F-4D97-AF65-F5344CB8AC3E}">
        <p14:creationId xmlns:p14="http://schemas.microsoft.com/office/powerpoint/2010/main" val="3712789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016758"/>
          </a:xfrm>
          <a:prstGeom prst="rect">
            <a:avLst/>
          </a:prstGeom>
        </p:spPr>
        <p:txBody>
          <a:bodyPr wrap="square">
            <a:spAutoFit/>
          </a:bodyPr>
          <a:lstStyle/>
          <a:p>
            <a:pPr algn="just"/>
            <a:r>
              <a:rPr lang="ru-RU" sz="2000" b="1" dirty="0"/>
              <a:t>Достоинства</a:t>
            </a:r>
          </a:p>
          <a:p>
            <a:pPr algn="just"/>
            <a:r>
              <a:rPr lang="ru-RU" sz="2000" dirty="0" smtClean="0"/>
              <a:t>• Избегает </a:t>
            </a:r>
            <a:r>
              <a:rPr lang="ru-RU" sz="2000" dirty="0"/>
              <a:t>грязных и неповторяющихся чтений. </a:t>
            </a:r>
            <a:endParaRPr lang="ru-RU" sz="2000" dirty="0" smtClean="0"/>
          </a:p>
          <a:p>
            <a:pPr algn="just"/>
            <a:r>
              <a:rPr lang="ru-RU" sz="2000" dirty="0" smtClean="0"/>
              <a:t>• Гарантирует</a:t>
            </a:r>
            <a:r>
              <a:rPr lang="ru-RU" sz="2000" dirty="0"/>
              <a:t>, что каждая транзакция видит полностью стабильное представление базы данных. </a:t>
            </a:r>
            <a:endParaRPr lang="ru-RU" sz="2000" dirty="0" smtClean="0"/>
          </a:p>
          <a:p>
            <a:pPr algn="just"/>
            <a:r>
              <a:rPr lang="ru-RU" sz="2000" dirty="0" smtClean="0"/>
              <a:t>• Подходит </a:t>
            </a:r>
            <a:r>
              <a:rPr lang="ru-RU" sz="2000" dirty="0"/>
              <a:t>для приложений, где важна </a:t>
            </a:r>
            <a:r>
              <a:rPr lang="ru-RU" sz="2000" dirty="0" err="1"/>
              <a:t>консистентность</a:t>
            </a:r>
            <a:r>
              <a:rPr lang="ru-RU" sz="2000" dirty="0"/>
              <a:t> данных при повторных чтениях в рамках одной </a:t>
            </a:r>
            <a:r>
              <a:rPr lang="ru-RU" sz="2000" dirty="0" smtClean="0"/>
              <a:t>транзакции</a:t>
            </a:r>
          </a:p>
          <a:p>
            <a:pPr algn="just"/>
            <a:r>
              <a:rPr lang="ru-RU" sz="2000" b="1" dirty="0"/>
              <a:t>Недостатки</a:t>
            </a:r>
          </a:p>
          <a:p>
            <a:pPr algn="just"/>
            <a:r>
              <a:rPr lang="ru-RU" sz="2000" dirty="0"/>
              <a:t>•	Возможны фантомные чтения — когда другие транзакции добавляют новые строки, удовлетворяющие условиям запроса. </a:t>
            </a:r>
            <a:endParaRPr lang="ru-RU" sz="2000" dirty="0" smtClean="0"/>
          </a:p>
          <a:p>
            <a:pPr algn="just"/>
            <a:r>
              <a:rPr lang="ru-RU" sz="2000" dirty="0" smtClean="0"/>
              <a:t>•</a:t>
            </a:r>
            <a:r>
              <a:rPr lang="ru-RU" sz="2000" dirty="0"/>
              <a:t>	Представление данных не всегда соответствует последовательному выполнению транзакций одного и того же уровня. </a:t>
            </a:r>
            <a:endParaRPr lang="ru-RU" sz="2000" dirty="0" smtClean="0"/>
          </a:p>
          <a:p>
            <a:pPr algn="just"/>
            <a:r>
              <a:rPr lang="ru-RU" sz="2000" b="1" dirty="0"/>
              <a:t>Важно</a:t>
            </a:r>
            <a:r>
              <a:rPr lang="ru-RU" sz="2000" dirty="0"/>
              <a:t>: потребность в повторении транзакции может возникнуть, только если эта транзакция изменяет данные; в транзакциях, которые только читают данные, конфликтов </a:t>
            </a:r>
            <a:r>
              <a:rPr lang="ru-RU" sz="2000" dirty="0" err="1"/>
              <a:t>сериализации</a:t>
            </a:r>
            <a:r>
              <a:rPr lang="ru-RU" sz="2000" dirty="0"/>
              <a:t> не бывает. </a:t>
            </a:r>
            <a:endParaRPr lang="ru-RU" sz="2000" dirty="0" smtClean="0"/>
          </a:p>
          <a:p>
            <a:pPr algn="just"/>
            <a:r>
              <a:rPr lang="ru-RU" sz="2000" b="1" dirty="0" smtClean="0"/>
              <a:t>Рекомендуется</a:t>
            </a:r>
            <a:r>
              <a:rPr lang="ru-RU" sz="2000" dirty="0"/>
              <a:t>: выбор уровня изоляции зависит от конкретных требований приложения к </a:t>
            </a:r>
            <a:r>
              <a:rPr lang="ru-RU" sz="2000" dirty="0" err="1"/>
              <a:t>консистентности</a:t>
            </a:r>
            <a:r>
              <a:rPr lang="ru-RU" sz="2000" dirty="0"/>
              <a:t> данных и производительности. Важно понимать особенности каждого уровня и тщательно анализировать, как он будет взаимодействовать с данными и запросами. </a:t>
            </a:r>
          </a:p>
          <a:p>
            <a:pPr algn="just"/>
            <a:endParaRPr lang="ru-RU" sz="2000" dirty="0"/>
          </a:p>
        </p:txBody>
      </p:sp>
    </p:spTree>
    <p:extLst>
      <p:ext uri="{BB962C8B-B14F-4D97-AF65-F5344CB8AC3E}">
        <p14:creationId xmlns:p14="http://schemas.microsoft.com/office/powerpoint/2010/main" val="3972942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33</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62011" y="444459"/>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1576551"/>
            <a:ext cx="10176734" cy="1538883"/>
          </a:xfrm>
          <a:prstGeom prst="rect">
            <a:avLst/>
          </a:prstGeom>
          <a:noFill/>
        </p:spPr>
        <p:txBody>
          <a:bodyPr wrap="square" rtlCol="0">
            <a:spAutoFit/>
          </a:bodyPr>
          <a:lstStyle/>
          <a:p>
            <a:pPr algn="ctr"/>
            <a:r>
              <a:rPr lang="ru-RU" sz="4000" b="1" dirty="0">
                <a:solidFill>
                  <a:srgbClr val="FF0000"/>
                </a:solidFill>
              </a:rPr>
              <a:t>Уровень изоляции </a:t>
            </a:r>
            <a:r>
              <a:rPr lang="en-US" sz="4000" b="1" dirty="0" smtClean="0">
                <a:solidFill>
                  <a:srgbClr val="FF0000"/>
                </a:solidFill>
              </a:rPr>
              <a:t>Serializable</a:t>
            </a:r>
            <a:r>
              <a:rPr lang="ru-RU" sz="4000" b="1" dirty="0" smtClean="0">
                <a:solidFill>
                  <a:srgbClr val="FF0000"/>
                </a:solidFill>
              </a:rPr>
              <a:t> </a:t>
            </a:r>
            <a:endParaRPr lang="ru-RU" sz="4000" b="1" dirty="0">
              <a:solidFill>
                <a:srgbClr val="FF0000"/>
              </a:solidFill>
            </a:endParaRPr>
          </a:p>
          <a:p>
            <a:pPr algn="ctr"/>
            <a:r>
              <a:rPr lang="ru-RU" sz="5400" b="1" dirty="0" smtClean="0"/>
              <a:t>Вопрос 5</a:t>
            </a:r>
            <a:endParaRPr lang="ru-RU" sz="5400" dirty="0"/>
          </a:p>
        </p:txBody>
      </p:sp>
    </p:spTree>
    <p:extLst>
      <p:ext uri="{BB962C8B-B14F-4D97-AF65-F5344CB8AC3E}">
        <p14:creationId xmlns:p14="http://schemas.microsoft.com/office/powerpoint/2010/main" val="38181142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5417"/>
            <a:ext cx="12192000" cy="6863417"/>
          </a:xfrm>
          <a:prstGeom prst="rect">
            <a:avLst/>
          </a:prstGeom>
        </p:spPr>
        <p:txBody>
          <a:bodyPr wrap="square">
            <a:spAutoFit/>
          </a:bodyPr>
          <a:lstStyle/>
          <a:p>
            <a:pPr algn="just"/>
            <a:r>
              <a:rPr lang="ru-RU" sz="2000" b="1" dirty="0" err="1"/>
              <a:t>Serializable</a:t>
            </a:r>
            <a:r>
              <a:rPr lang="ru-RU" sz="2000" dirty="0"/>
              <a:t> — уровень изоляции транзакций в </a:t>
            </a:r>
            <a:r>
              <a:rPr lang="ru-RU" sz="2000" dirty="0" err="1"/>
              <a:t>PostgreSQL</a:t>
            </a:r>
            <a:r>
              <a:rPr lang="ru-RU" sz="2000" dirty="0"/>
              <a:t>, обеспечивающий строгую </a:t>
            </a:r>
            <a:r>
              <a:rPr lang="ru-RU" sz="2000" dirty="0" smtClean="0"/>
              <a:t>изоляцию</a:t>
            </a:r>
          </a:p>
          <a:p>
            <a:pPr algn="just"/>
            <a:r>
              <a:rPr lang="ru-RU" sz="2000" dirty="0"/>
              <a:t> </a:t>
            </a:r>
            <a:r>
              <a:rPr lang="ru-RU" sz="2000" b="1" dirty="0"/>
              <a:t>Особенности:</a:t>
            </a:r>
          </a:p>
          <a:p>
            <a:pPr algn="just"/>
            <a:r>
              <a:rPr lang="ru-RU" sz="2000" dirty="0"/>
              <a:t>•	Избегает «грязных», неповторяющихся и фантомных чтений.</a:t>
            </a:r>
          </a:p>
          <a:p>
            <a:pPr algn="just"/>
            <a:r>
              <a:rPr lang="ru-RU" sz="2000" dirty="0"/>
              <a:t>•	Гарантирует максимальную </a:t>
            </a:r>
            <a:r>
              <a:rPr lang="ru-RU" sz="2000" dirty="0" err="1"/>
              <a:t>консистентность</a:t>
            </a:r>
            <a:r>
              <a:rPr lang="ru-RU" sz="2000" dirty="0"/>
              <a:t> данных.</a:t>
            </a:r>
          </a:p>
          <a:p>
            <a:pPr algn="just"/>
            <a:r>
              <a:rPr lang="ru-RU" sz="2000" dirty="0"/>
              <a:t>•	Подходит для критически важных </a:t>
            </a:r>
            <a:r>
              <a:rPr lang="ru-RU" sz="2000" dirty="0" smtClean="0"/>
              <a:t>приложений</a:t>
            </a:r>
            <a:endParaRPr lang="en-US" sz="2000" dirty="0" smtClean="0"/>
          </a:p>
          <a:p>
            <a:pPr algn="just"/>
            <a:r>
              <a:rPr lang="ru-RU" sz="2000" dirty="0" smtClean="0"/>
              <a:t> </a:t>
            </a:r>
            <a:r>
              <a:rPr lang="ru-RU" sz="2000" b="1" dirty="0" smtClean="0"/>
              <a:t>Недостатки</a:t>
            </a:r>
            <a:r>
              <a:rPr lang="ru-RU" sz="2000" b="1" dirty="0"/>
              <a:t>: </a:t>
            </a:r>
            <a:r>
              <a:rPr lang="ru-RU" sz="2000" dirty="0"/>
              <a:t>самый медленный уровень изоляции, высокий риск блокировок и взаимоблокировок. </a:t>
            </a:r>
          </a:p>
          <a:p>
            <a:pPr algn="just"/>
            <a:r>
              <a:rPr lang="ru-RU" sz="2000" b="1" dirty="0"/>
              <a:t>Принцип работы</a:t>
            </a:r>
          </a:p>
          <a:p>
            <a:pPr algn="just"/>
            <a:r>
              <a:rPr lang="ru-RU" sz="2000" dirty="0"/>
              <a:t>На уровне </a:t>
            </a:r>
            <a:r>
              <a:rPr lang="ru-RU" sz="2000" dirty="0" err="1"/>
              <a:t>Serializable</a:t>
            </a:r>
            <a:r>
              <a:rPr lang="ru-RU" sz="2000" dirty="0"/>
              <a:t> моделируется последовательное выполнение всех зафиксированных транзакций. </a:t>
            </a:r>
            <a:r>
              <a:rPr lang="ru-RU" sz="2000" dirty="0" err="1"/>
              <a:t>PostgreSQL</a:t>
            </a:r>
            <a:r>
              <a:rPr lang="ru-RU" sz="2000" dirty="0"/>
              <a:t> достигает этого без тотальной блокировки — с помощью </a:t>
            </a:r>
            <a:r>
              <a:rPr lang="ru-RU" sz="2000" dirty="0" err="1"/>
              <a:t>Serializable</a:t>
            </a:r>
            <a:r>
              <a:rPr lang="ru-RU" sz="2000" dirty="0"/>
              <a:t> </a:t>
            </a:r>
            <a:r>
              <a:rPr lang="ru-RU" sz="2000" dirty="0" err="1"/>
              <a:t>Snapshot</a:t>
            </a:r>
            <a:r>
              <a:rPr lang="ru-RU" sz="2000" dirty="0"/>
              <a:t> </a:t>
            </a:r>
            <a:r>
              <a:rPr lang="ru-RU" sz="2000" dirty="0" err="1"/>
              <a:t>Isolation</a:t>
            </a:r>
            <a:r>
              <a:rPr lang="ru-RU" sz="2000" dirty="0"/>
              <a:t> (SSI).  </a:t>
            </a:r>
          </a:p>
          <a:p>
            <a:pPr algn="just"/>
            <a:r>
              <a:rPr lang="ru-RU" sz="2000" b="1" dirty="0"/>
              <a:t>Особенности:</a:t>
            </a:r>
          </a:p>
          <a:p>
            <a:pPr algn="just"/>
            <a:r>
              <a:rPr lang="ru-RU" sz="2000" dirty="0"/>
              <a:t>•	Отслеживает потенциальные конфликтующие операции через «призрачные» блокировки (</a:t>
            </a:r>
            <a:r>
              <a:rPr lang="ru-RU" sz="2000" dirty="0" err="1"/>
              <a:t>predicate</a:t>
            </a:r>
            <a:r>
              <a:rPr lang="ru-RU" sz="2000" dirty="0"/>
              <a:t> </a:t>
            </a:r>
            <a:r>
              <a:rPr lang="ru-RU" sz="2000" dirty="0" err="1"/>
              <a:t>locks</a:t>
            </a:r>
            <a:r>
              <a:rPr lang="ru-RU" sz="2000" dirty="0"/>
              <a:t>).</a:t>
            </a:r>
          </a:p>
          <a:p>
            <a:pPr algn="just"/>
            <a:r>
              <a:rPr lang="ru-RU" sz="2000" dirty="0"/>
              <a:t>•	При обнаружении опасной ситуации откатывает одну из транзакций с ошибкой </a:t>
            </a:r>
          </a:p>
          <a:p>
            <a:pPr algn="just"/>
            <a:r>
              <a:rPr lang="ru-RU" sz="2000" dirty="0" err="1"/>
              <a:t>could</a:t>
            </a:r>
            <a:r>
              <a:rPr lang="ru-RU" sz="2000" dirty="0"/>
              <a:t> </a:t>
            </a:r>
            <a:r>
              <a:rPr lang="ru-RU" sz="2000" dirty="0" err="1"/>
              <a:t>not</a:t>
            </a:r>
            <a:r>
              <a:rPr lang="ru-RU" sz="2000" dirty="0"/>
              <a:t> </a:t>
            </a:r>
            <a:r>
              <a:rPr lang="ru-RU" sz="2000" dirty="0" err="1"/>
              <a:t>serialize</a:t>
            </a:r>
            <a:r>
              <a:rPr lang="ru-RU" sz="2000" dirty="0"/>
              <a:t> </a:t>
            </a:r>
            <a:r>
              <a:rPr lang="ru-RU" sz="2000" dirty="0" err="1"/>
              <a:t>access</a:t>
            </a:r>
            <a:r>
              <a:rPr lang="ru-RU" sz="2000" dirty="0"/>
              <a:t> </a:t>
            </a:r>
            <a:r>
              <a:rPr lang="ru-RU" sz="2000" dirty="0" err="1"/>
              <a:t>due</a:t>
            </a:r>
            <a:r>
              <a:rPr lang="ru-RU" sz="2000" dirty="0"/>
              <a:t> </a:t>
            </a:r>
            <a:r>
              <a:rPr lang="ru-RU" sz="2000" dirty="0" err="1"/>
              <a:t>to</a:t>
            </a:r>
            <a:r>
              <a:rPr lang="ru-RU" sz="2000" dirty="0"/>
              <a:t> </a:t>
            </a:r>
            <a:r>
              <a:rPr lang="ru-RU" sz="2000" dirty="0" err="1"/>
              <a:t>read</a:t>
            </a:r>
            <a:r>
              <a:rPr lang="ru-RU" sz="2000" dirty="0"/>
              <a:t>/</a:t>
            </a:r>
            <a:r>
              <a:rPr lang="ru-RU" sz="2000" dirty="0" err="1"/>
              <a:t>write</a:t>
            </a:r>
            <a:r>
              <a:rPr lang="ru-RU" sz="2000" dirty="0"/>
              <a:t> </a:t>
            </a:r>
            <a:r>
              <a:rPr lang="ru-RU" sz="2000" dirty="0" err="1"/>
              <a:t>dependencies</a:t>
            </a:r>
            <a:endParaRPr lang="ru-RU" sz="2000" dirty="0"/>
          </a:p>
          <a:p>
            <a:pPr algn="just"/>
            <a:r>
              <a:rPr lang="ru-RU" sz="2000" b="1" dirty="0"/>
              <a:t>Аномалии</a:t>
            </a:r>
          </a:p>
          <a:p>
            <a:pPr algn="just"/>
            <a:r>
              <a:rPr lang="ru-RU" sz="2000" dirty="0" smtClean="0"/>
              <a:t>•</a:t>
            </a:r>
            <a:r>
              <a:rPr lang="ru-RU" sz="2000" dirty="0"/>
              <a:t>	«Грязное» чтение </a:t>
            </a:r>
            <a:endParaRPr lang="en-US" sz="2000" dirty="0" smtClean="0"/>
          </a:p>
          <a:p>
            <a:pPr algn="just"/>
            <a:r>
              <a:rPr lang="ru-RU" sz="2000" dirty="0" smtClean="0"/>
              <a:t>•</a:t>
            </a:r>
            <a:r>
              <a:rPr lang="ru-RU" sz="2000" dirty="0"/>
              <a:t>	Неповторяющееся чтение </a:t>
            </a:r>
            <a:endParaRPr lang="en-US" sz="2000" dirty="0" smtClean="0"/>
          </a:p>
          <a:p>
            <a:pPr algn="just"/>
            <a:r>
              <a:rPr lang="ru-RU" sz="2000" dirty="0" smtClean="0"/>
              <a:t>•</a:t>
            </a:r>
            <a:r>
              <a:rPr lang="ru-RU" sz="2000" dirty="0"/>
              <a:t>	Фантомное чтение </a:t>
            </a:r>
            <a:endParaRPr lang="en-US" sz="2000" dirty="0" smtClean="0"/>
          </a:p>
          <a:p>
            <a:pPr algn="just"/>
            <a:r>
              <a:rPr lang="ru-RU" sz="2000" b="1" dirty="0"/>
              <a:t>Настройка</a:t>
            </a:r>
          </a:p>
          <a:p>
            <a:pPr algn="just"/>
            <a:r>
              <a:rPr lang="ru-RU" sz="2000" dirty="0"/>
              <a:t>Уровень изоляции </a:t>
            </a:r>
            <a:r>
              <a:rPr lang="en-US" sz="2000" dirty="0"/>
              <a:t>Serializable </a:t>
            </a:r>
            <a:r>
              <a:rPr lang="ru-RU" sz="2000" dirty="0"/>
              <a:t>можно настроить для текущей транзакции с помощью команды </a:t>
            </a:r>
          </a:p>
          <a:p>
            <a:pPr algn="just"/>
            <a:r>
              <a:rPr lang="en-US" sz="2000" dirty="0"/>
              <a:t>SET TRANSACTION ISOLATION LEVEL SERIALIZABLE</a:t>
            </a:r>
          </a:p>
          <a:p>
            <a:pPr algn="just"/>
            <a:r>
              <a:rPr lang="ru-RU" sz="2000" dirty="0" smtClean="0"/>
              <a:t>установить </a:t>
            </a:r>
            <a:r>
              <a:rPr lang="ru-RU" sz="2000" dirty="0"/>
              <a:t>уровень изоляции в командах </a:t>
            </a:r>
            <a:r>
              <a:rPr lang="en-US" sz="2000" dirty="0" smtClean="0"/>
              <a:t> BEGIN  </a:t>
            </a:r>
            <a:r>
              <a:rPr lang="ru-RU" sz="2000" dirty="0"/>
              <a:t>и </a:t>
            </a:r>
            <a:r>
              <a:rPr lang="en-US" sz="2000" dirty="0" smtClean="0"/>
              <a:t> START TRANSACTION</a:t>
            </a:r>
            <a:endParaRPr lang="ru-RU" sz="2000" dirty="0"/>
          </a:p>
        </p:txBody>
      </p:sp>
    </p:spTree>
    <p:extLst>
      <p:ext uri="{BB962C8B-B14F-4D97-AF65-F5344CB8AC3E}">
        <p14:creationId xmlns:p14="http://schemas.microsoft.com/office/powerpoint/2010/main" val="3557361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632311"/>
          </a:xfrm>
          <a:prstGeom prst="rect">
            <a:avLst/>
          </a:prstGeom>
        </p:spPr>
        <p:txBody>
          <a:bodyPr wrap="square">
            <a:spAutoFit/>
          </a:bodyPr>
          <a:lstStyle/>
          <a:p>
            <a:pPr algn="just"/>
            <a:r>
              <a:rPr lang="ru-RU" sz="2000" dirty="0"/>
              <a:t>Например, рассмотрим таблицу </a:t>
            </a:r>
            <a:r>
              <a:rPr lang="ru-RU" sz="2000" dirty="0" err="1"/>
              <a:t>mytab</a:t>
            </a:r>
            <a:r>
              <a:rPr lang="ru-RU" sz="2000" dirty="0"/>
              <a:t>, изначально содержащую:</a:t>
            </a:r>
          </a:p>
          <a:p>
            <a:pPr algn="just"/>
            <a:r>
              <a:rPr lang="ru-RU" sz="2000" dirty="0"/>
              <a:t> </a:t>
            </a:r>
            <a:r>
              <a:rPr lang="ru-RU" sz="2000" b="1" dirty="0" err="1"/>
              <a:t>class</a:t>
            </a:r>
            <a:r>
              <a:rPr lang="ru-RU" sz="2000" b="1" dirty="0"/>
              <a:t> | </a:t>
            </a:r>
            <a:r>
              <a:rPr lang="ru-RU" sz="2000" b="1" dirty="0" err="1"/>
              <a:t>value</a:t>
            </a:r>
            <a:endParaRPr lang="ru-RU" sz="2000" b="1" dirty="0"/>
          </a:p>
          <a:p>
            <a:pPr algn="just"/>
            <a:r>
              <a:rPr lang="ru-RU" sz="2000" b="1" dirty="0"/>
              <a:t>-------+-------</a:t>
            </a:r>
          </a:p>
          <a:p>
            <a:pPr algn="just"/>
            <a:r>
              <a:rPr lang="ru-RU" sz="2000" b="1" dirty="0"/>
              <a:t>     1 |    10</a:t>
            </a:r>
          </a:p>
          <a:p>
            <a:pPr algn="just"/>
            <a:r>
              <a:rPr lang="ru-RU" sz="2000" b="1" dirty="0"/>
              <a:t>     1 |    20</a:t>
            </a:r>
          </a:p>
          <a:p>
            <a:pPr algn="just"/>
            <a:r>
              <a:rPr lang="ru-RU" sz="2000" b="1" dirty="0"/>
              <a:t>     2 |   100</a:t>
            </a:r>
          </a:p>
          <a:p>
            <a:pPr algn="just"/>
            <a:r>
              <a:rPr lang="ru-RU" sz="2000" b="1" dirty="0"/>
              <a:t>     2 |   200</a:t>
            </a:r>
          </a:p>
          <a:p>
            <a:pPr algn="just"/>
            <a:r>
              <a:rPr lang="ru-RU" sz="2000" dirty="0"/>
              <a:t>Предположим, что </a:t>
            </a:r>
            <a:r>
              <a:rPr lang="ru-RU" sz="2000" dirty="0" err="1"/>
              <a:t>сериализуемая</a:t>
            </a:r>
            <a:r>
              <a:rPr lang="ru-RU" sz="2000" dirty="0"/>
              <a:t> транзакция A вычисляет:</a:t>
            </a:r>
          </a:p>
          <a:p>
            <a:pPr algn="just"/>
            <a:r>
              <a:rPr lang="ru-RU" sz="2000" b="1" dirty="0"/>
              <a:t>SELECT SUM(</a:t>
            </a:r>
            <a:r>
              <a:rPr lang="ru-RU" sz="2000" b="1" dirty="0" err="1"/>
              <a:t>value</a:t>
            </a:r>
            <a:r>
              <a:rPr lang="ru-RU" sz="2000" b="1" dirty="0"/>
              <a:t>) FROM </a:t>
            </a:r>
            <a:r>
              <a:rPr lang="ru-RU" sz="2000" b="1" dirty="0" err="1"/>
              <a:t>mytab</a:t>
            </a:r>
            <a:r>
              <a:rPr lang="ru-RU" sz="2000" b="1" dirty="0"/>
              <a:t> WHERE </a:t>
            </a:r>
            <a:r>
              <a:rPr lang="ru-RU" sz="2000" b="1" dirty="0" err="1"/>
              <a:t>class</a:t>
            </a:r>
            <a:r>
              <a:rPr lang="ru-RU" sz="2000" b="1" dirty="0"/>
              <a:t> = 1;</a:t>
            </a:r>
          </a:p>
          <a:p>
            <a:pPr algn="just"/>
            <a:r>
              <a:rPr lang="ru-RU" sz="2000" dirty="0"/>
              <a:t>а затем вставляет результат (30) в поле </a:t>
            </a:r>
            <a:r>
              <a:rPr lang="ru-RU" sz="2000" dirty="0" err="1"/>
              <a:t>value</a:t>
            </a:r>
            <a:r>
              <a:rPr lang="ru-RU" sz="2000" dirty="0"/>
              <a:t> в новую строку со значением </a:t>
            </a:r>
            <a:r>
              <a:rPr lang="ru-RU" sz="2000" dirty="0" err="1"/>
              <a:t>class</a:t>
            </a:r>
            <a:r>
              <a:rPr lang="ru-RU" sz="2000" dirty="0"/>
              <a:t> = 2. В это же время </a:t>
            </a:r>
            <a:r>
              <a:rPr lang="ru-RU" sz="2000" dirty="0" err="1"/>
              <a:t>сериализуемая</a:t>
            </a:r>
            <a:r>
              <a:rPr lang="ru-RU" sz="2000" dirty="0"/>
              <a:t> транзакция B вычисляет:</a:t>
            </a:r>
          </a:p>
          <a:p>
            <a:pPr algn="just"/>
            <a:r>
              <a:rPr lang="ru-RU" sz="2000" b="1" dirty="0"/>
              <a:t>SELECT SUM(</a:t>
            </a:r>
            <a:r>
              <a:rPr lang="ru-RU" sz="2000" b="1" dirty="0" err="1"/>
              <a:t>value</a:t>
            </a:r>
            <a:r>
              <a:rPr lang="ru-RU" sz="2000" b="1" dirty="0"/>
              <a:t>) FROM </a:t>
            </a:r>
            <a:r>
              <a:rPr lang="ru-RU" sz="2000" b="1" dirty="0" err="1"/>
              <a:t>mytab</a:t>
            </a:r>
            <a:r>
              <a:rPr lang="ru-RU" sz="2000" b="1" dirty="0"/>
              <a:t> WHERE </a:t>
            </a:r>
            <a:r>
              <a:rPr lang="ru-RU" sz="2000" b="1" dirty="0" err="1"/>
              <a:t>class</a:t>
            </a:r>
            <a:r>
              <a:rPr lang="ru-RU" sz="2000" b="1" dirty="0"/>
              <a:t> = 2;</a:t>
            </a:r>
          </a:p>
          <a:p>
            <a:pPr algn="just"/>
            <a:r>
              <a:rPr lang="ru-RU" sz="2000" dirty="0"/>
              <a:t>получает результат 300 и вставляет его в новую строку со значением </a:t>
            </a:r>
            <a:r>
              <a:rPr lang="ru-RU" sz="2000" dirty="0" err="1"/>
              <a:t>class</a:t>
            </a:r>
            <a:r>
              <a:rPr lang="ru-RU" sz="2000" dirty="0"/>
              <a:t> = 1. Затем обе транзакции пытаются зафиксироваться. Если бы одна из этих транзакций работала в режиме </a:t>
            </a:r>
            <a:r>
              <a:rPr lang="ru-RU" sz="2000" dirty="0" err="1"/>
              <a:t>Repeatable</a:t>
            </a:r>
            <a:r>
              <a:rPr lang="ru-RU" sz="2000" dirty="0"/>
              <a:t> </a:t>
            </a:r>
            <a:r>
              <a:rPr lang="ru-RU" sz="2000" dirty="0" err="1"/>
              <a:t>Read</a:t>
            </a:r>
            <a:r>
              <a:rPr lang="ru-RU" sz="2000" dirty="0"/>
              <a:t>, зафиксироваться могли бы обе; но так как полученный результат не соответствовал бы последовательному порядку, в режиме </a:t>
            </a:r>
            <a:r>
              <a:rPr lang="ru-RU" sz="2000" dirty="0" err="1"/>
              <a:t>Serializable</a:t>
            </a:r>
            <a:r>
              <a:rPr lang="ru-RU" sz="2000" dirty="0"/>
              <a:t> будет зафиксирована только одна транзакция, а вторая закончится откатом с сообщением</a:t>
            </a:r>
            <a:r>
              <a:rPr lang="ru-RU" sz="2000" dirty="0" smtClean="0"/>
              <a:t>:</a:t>
            </a:r>
            <a:endParaRPr lang="en-US" sz="2000" dirty="0" smtClean="0"/>
          </a:p>
          <a:p>
            <a:pPr algn="just"/>
            <a:r>
              <a:rPr lang="ru-RU" sz="2000" dirty="0"/>
              <a:t>О</a:t>
            </a:r>
            <a:r>
              <a:rPr lang="ru-RU" sz="2000" b="1" dirty="0"/>
              <a:t>ШИБКА</a:t>
            </a:r>
            <a:r>
              <a:rPr lang="ru-RU" sz="2000" dirty="0"/>
              <a:t>: не удалось </a:t>
            </a:r>
            <a:r>
              <a:rPr lang="ru-RU" sz="2000" dirty="0" err="1"/>
              <a:t>сериализовать</a:t>
            </a:r>
            <a:r>
              <a:rPr lang="ru-RU" sz="2000" dirty="0"/>
              <a:t> доступ из-за зависимостей чтения/записи между </a:t>
            </a:r>
            <a:r>
              <a:rPr lang="ru-RU" sz="2000" dirty="0" smtClean="0"/>
              <a:t>транзакциями</a:t>
            </a:r>
            <a:endParaRPr lang="en-US" sz="2000" dirty="0" smtClean="0"/>
          </a:p>
          <a:p>
            <a:pPr algn="just"/>
            <a:endParaRPr lang="ru-RU" sz="2000" dirty="0"/>
          </a:p>
        </p:txBody>
      </p:sp>
    </p:spTree>
    <p:extLst>
      <p:ext uri="{BB962C8B-B14F-4D97-AF65-F5344CB8AC3E}">
        <p14:creationId xmlns:p14="http://schemas.microsoft.com/office/powerpoint/2010/main" val="1258767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63417"/>
          </a:xfrm>
          <a:prstGeom prst="rect">
            <a:avLst/>
          </a:prstGeom>
        </p:spPr>
        <p:txBody>
          <a:bodyPr wrap="square">
            <a:spAutoFit/>
          </a:bodyPr>
          <a:lstStyle/>
          <a:p>
            <a:pPr algn="just"/>
            <a:r>
              <a:rPr lang="ru-RU" sz="2000" dirty="0"/>
              <a:t>Применяя </a:t>
            </a:r>
            <a:r>
              <a:rPr lang="ru-RU" sz="2000" dirty="0" err="1"/>
              <a:t>сериализуемые</a:t>
            </a:r>
            <a:r>
              <a:rPr lang="ru-RU" sz="2000" dirty="0"/>
              <a:t> транзакции для управления конкурентным доступом, примите к сведению следующие рекомендации:</a:t>
            </a:r>
          </a:p>
          <a:p>
            <a:pPr algn="just"/>
            <a:r>
              <a:rPr lang="ru-RU" sz="2000" dirty="0"/>
              <a:t>•	Объявляйте транзакции как READ ONLY, если это отражает их суть.</a:t>
            </a:r>
          </a:p>
          <a:p>
            <a:pPr algn="just"/>
            <a:r>
              <a:rPr lang="ru-RU" sz="2000" dirty="0"/>
              <a:t>•	Управляйте числом активных </a:t>
            </a:r>
            <a:r>
              <a:rPr lang="ru-RU" sz="2000" dirty="0" smtClean="0"/>
              <a:t>подключений</a:t>
            </a:r>
            <a:endParaRPr lang="en-US" sz="2000" dirty="0" smtClean="0"/>
          </a:p>
          <a:p>
            <a:pPr algn="just"/>
            <a:r>
              <a:rPr lang="ru-RU" sz="2000" dirty="0" smtClean="0"/>
              <a:t>•</a:t>
            </a:r>
            <a:r>
              <a:rPr lang="ru-RU" sz="2000" dirty="0"/>
              <a:t>	Заключайте в одну транзакцию не больше </a:t>
            </a:r>
            <a:r>
              <a:rPr lang="ru-RU" sz="2000" dirty="0" smtClean="0"/>
              <a:t>команд</a:t>
            </a:r>
            <a:r>
              <a:rPr lang="en-US" sz="2000" dirty="0" smtClean="0"/>
              <a:t> (</a:t>
            </a:r>
            <a:r>
              <a:rPr lang="ru-RU" sz="2000" dirty="0" err="1" smtClean="0"/>
              <a:t>idle_in_transaction_session_timeout</a:t>
            </a:r>
            <a:r>
              <a:rPr lang="en-US" sz="2000" dirty="0" smtClean="0"/>
              <a:t>)</a:t>
            </a:r>
            <a:r>
              <a:rPr lang="ru-RU" sz="2000" dirty="0" smtClean="0"/>
              <a:t>.</a:t>
            </a:r>
            <a:endParaRPr lang="ru-RU" sz="2000" dirty="0"/>
          </a:p>
          <a:p>
            <a:pPr algn="just"/>
            <a:r>
              <a:rPr lang="ru-RU" sz="2000" dirty="0"/>
              <a:t>•	Исключите явные блокировки, SELECT FOR UPDATE и SELECT FOR </a:t>
            </a:r>
            <a:r>
              <a:rPr lang="ru-RU" sz="2000" dirty="0" smtClean="0"/>
              <a:t>SHARE</a:t>
            </a:r>
            <a:endParaRPr lang="ru-RU" sz="2000" dirty="0"/>
          </a:p>
          <a:p>
            <a:pPr algn="just"/>
            <a:r>
              <a:rPr lang="ru-RU" sz="2000" dirty="0"/>
              <a:t>•	Когда система вынуждена объединять предикатные блокировки уровня страницы в одну предикатную блокировку уровня таблицы из-за нехватки памяти, может возрасти частота сбоев </a:t>
            </a:r>
            <a:r>
              <a:rPr lang="ru-RU" sz="2000" dirty="0" err="1"/>
              <a:t>сериализации</a:t>
            </a:r>
            <a:r>
              <a:rPr lang="ru-RU" sz="2000" dirty="0"/>
              <a:t>. Избежать этого можно, увеличив параметр </a:t>
            </a:r>
            <a:r>
              <a:rPr lang="ru-RU" sz="2000" dirty="0" err="1"/>
              <a:t>max_pred_locks_per_transaction</a:t>
            </a:r>
            <a:r>
              <a:rPr lang="ru-RU" sz="2000" dirty="0"/>
              <a:t>, </a:t>
            </a:r>
            <a:r>
              <a:rPr lang="ru-RU" sz="2000" dirty="0" err="1"/>
              <a:t>max_pred_locks_per_relation</a:t>
            </a:r>
            <a:r>
              <a:rPr lang="ru-RU" sz="2000" dirty="0"/>
              <a:t> и/или </a:t>
            </a:r>
            <a:r>
              <a:rPr lang="ru-RU" sz="2000" dirty="0" err="1"/>
              <a:t>max_pred_locks_per_page</a:t>
            </a:r>
            <a:r>
              <a:rPr lang="ru-RU" sz="2000" dirty="0"/>
              <a:t>.</a:t>
            </a:r>
          </a:p>
          <a:p>
            <a:pPr algn="just"/>
            <a:r>
              <a:rPr lang="ru-RU" sz="2000" dirty="0"/>
              <a:t>•	Последовательное сканирование всегда влечёт за собой предикатную блокировку на уровне таблицы. </a:t>
            </a:r>
            <a:endParaRPr lang="en-US" sz="2000" dirty="0" smtClean="0"/>
          </a:p>
          <a:p>
            <a:r>
              <a:rPr lang="ru-RU" sz="2000" b="1" dirty="0" smtClean="0"/>
              <a:t>Достоинства</a:t>
            </a:r>
            <a:endParaRPr lang="ru-RU" sz="2000" b="1" dirty="0"/>
          </a:p>
          <a:p>
            <a:r>
              <a:rPr lang="ru-RU" sz="2000" dirty="0"/>
              <a:t>•	Предотвращает все известные аномалии параллельного доступа. </a:t>
            </a:r>
            <a:endParaRPr lang="en-US" sz="2000" dirty="0" smtClean="0"/>
          </a:p>
          <a:p>
            <a:r>
              <a:rPr lang="ru-RU" sz="2000" dirty="0" smtClean="0"/>
              <a:t>•</a:t>
            </a:r>
            <a:r>
              <a:rPr lang="ru-RU" sz="2000" dirty="0"/>
              <a:t>	Упрощает </a:t>
            </a:r>
            <a:r>
              <a:rPr lang="ru-RU" sz="2000" dirty="0" smtClean="0"/>
              <a:t>разработку</a:t>
            </a:r>
            <a:endParaRPr lang="en-US" sz="2000" dirty="0" smtClean="0"/>
          </a:p>
          <a:p>
            <a:r>
              <a:rPr lang="ru-RU" sz="2000" dirty="0" smtClean="0"/>
              <a:t>•</a:t>
            </a:r>
            <a:r>
              <a:rPr lang="ru-RU" sz="2000" dirty="0"/>
              <a:t>	Подходит для критически важных </a:t>
            </a:r>
            <a:r>
              <a:rPr lang="ru-RU" sz="2000" dirty="0" smtClean="0"/>
              <a:t>приложений</a:t>
            </a:r>
            <a:endParaRPr lang="en-US" sz="2000" dirty="0" smtClean="0"/>
          </a:p>
          <a:p>
            <a:r>
              <a:rPr lang="ru-RU" sz="2000" b="1" dirty="0" smtClean="0"/>
              <a:t>Недостатки</a:t>
            </a:r>
            <a:endParaRPr lang="ru-RU" sz="2000" b="1" dirty="0"/>
          </a:p>
          <a:p>
            <a:r>
              <a:rPr lang="ru-RU" sz="2000" dirty="0"/>
              <a:t>•	Приложения должны быть готовы к повторным попыткам транзакций из-за сбоев </a:t>
            </a:r>
            <a:r>
              <a:rPr lang="ru-RU" sz="2000" dirty="0" err="1"/>
              <a:t>сериализации</a:t>
            </a:r>
            <a:r>
              <a:rPr lang="ru-RU" sz="2000" dirty="0"/>
              <a:t>. </a:t>
            </a:r>
          </a:p>
          <a:p>
            <a:r>
              <a:rPr lang="ru-RU" sz="2000" dirty="0"/>
              <a:t>•	Уровень изоляции не всегда предотвращает ошибки, которые не возникли бы при действительно последовательном выполнении. </a:t>
            </a:r>
            <a:endParaRPr lang="en-US" sz="2000" dirty="0" smtClean="0"/>
          </a:p>
          <a:p>
            <a:r>
              <a:rPr lang="ru-RU" sz="2000" dirty="0" smtClean="0"/>
              <a:t>•</a:t>
            </a:r>
            <a:r>
              <a:rPr lang="ru-RU" sz="2000" dirty="0"/>
              <a:t>	Самый медленный уровень изоляции. </a:t>
            </a:r>
          </a:p>
          <a:p>
            <a:r>
              <a:rPr lang="ru-RU" sz="2000" dirty="0"/>
              <a:t>•	Высокий риск блокировок и взаимоблокировок </a:t>
            </a:r>
          </a:p>
        </p:txBody>
      </p:sp>
    </p:spTree>
    <p:extLst>
      <p:ext uri="{BB962C8B-B14F-4D97-AF65-F5344CB8AC3E}">
        <p14:creationId xmlns:p14="http://schemas.microsoft.com/office/powerpoint/2010/main" val="2676021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1597211" y="301441"/>
            <a:ext cx="2828789" cy="877900"/>
          </a:xfrm>
          <a:prstGeom prst="rect">
            <a:avLst/>
          </a:prstGeom>
        </p:spPr>
      </p:pic>
      <p:pic>
        <p:nvPicPr>
          <p:cNvPr id="3" name="Рисунок 2"/>
          <p:cNvPicPr>
            <a:picLocks noChangeAspect="1"/>
          </p:cNvPicPr>
          <p:nvPr/>
        </p:nvPicPr>
        <p:blipFill>
          <a:blip r:embed="rId3"/>
          <a:stretch>
            <a:fillRect/>
          </a:stretch>
        </p:blipFill>
        <p:spPr>
          <a:xfrm>
            <a:off x="740047" y="338020"/>
            <a:ext cx="585267" cy="841321"/>
          </a:xfrm>
          <a:prstGeom prst="rect">
            <a:avLst/>
          </a:prstGeom>
        </p:spPr>
      </p:pic>
      <p:sp>
        <p:nvSpPr>
          <p:cNvPr id="4" name="Прямоугольник 3"/>
          <p:cNvSpPr/>
          <p:nvPr/>
        </p:nvSpPr>
        <p:spPr>
          <a:xfrm>
            <a:off x="3048000" y="3105835"/>
            <a:ext cx="6096000" cy="1323439"/>
          </a:xfrm>
          <a:prstGeom prst="rect">
            <a:avLst/>
          </a:prstGeom>
        </p:spPr>
        <p:txBody>
          <a:bodyPr>
            <a:spAutoFit/>
          </a:bodyPr>
          <a:lstStyle/>
          <a:p>
            <a:pPr algn="ctr"/>
            <a:r>
              <a:rPr lang="ru-RU" sz="4000" b="1" dirty="0" smtClean="0">
                <a:solidFill>
                  <a:srgbClr val="FF0000"/>
                </a:solidFill>
              </a:rPr>
              <a:t>БЛОКИРОВКИ</a:t>
            </a:r>
          </a:p>
          <a:p>
            <a:pPr algn="ctr"/>
            <a:r>
              <a:rPr lang="ru-RU" sz="4000" b="1" dirty="0" smtClean="0"/>
              <a:t>Вопрос 6</a:t>
            </a:r>
            <a:endParaRPr lang="ru-RU" sz="4000" b="1" dirty="0"/>
          </a:p>
        </p:txBody>
      </p:sp>
    </p:spTree>
    <p:extLst>
      <p:ext uri="{BB962C8B-B14F-4D97-AF65-F5344CB8AC3E}">
        <p14:creationId xmlns:p14="http://schemas.microsoft.com/office/powerpoint/2010/main" val="1795966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863417"/>
          </a:xfrm>
          <a:prstGeom prst="rect">
            <a:avLst/>
          </a:prstGeom>
        </p:spPr>
        <p:txBody>
          <a:bodyPr wrap="square">
            <a:spAutoFit/>
          </a:bodyPr>
          <a:lstStyle/>
          <a:p>
            <a:pPr algn="just"/>
            <a:r>
              <a:rPr lang="ru-RU" sz="2000" b="1" dirty="0"/>
              <a:t>Блокировки в </a:t>
            </a:r>
            <a:r>
              <a:rPr lang="ru-RU" sz="2000" b="1" dirty="0" err="1"/>
              <a:t>PostgreSQL</a:t>
            </a:r>
            <a:r>
              <a:rPr lang="ru-RU" sz="2000" b="1" dirty="0"/>
              <a:t> </a:t>
            </a:r>
            <a:r>
              <a:rPr lang="ru-RU" sz="2000" dirty="0"/>
              <a:t>— это механизмы управления доступом к объектам базы данных (таблицам, строкам, файлам</a:t>
            </a:r>
            <a:r>
              <a:rPr lang="ru-RU" sz="2000" dirty="0" smtClean="0"/>
              <a:t>).</a:t>
            </a:r>
            <a:endParaRPr lang="en-US" sz="2000" dirty="0" smtClean="0"/>
          </a:p>
          <a:p>
            <a:pPr algn="just"/>
            <a:r>
              <a:rPr lang="ru-RU" sz="2000" b="1" dirty="0"/>
              <a:t>Блокировка</a:t>
            </a:r>
            <a:r>
              <a:rPr lang="ru-RU" sz="2000" dirty="0"/>
              <a:t> — это участок разделяемой памяти, в котором хранится информация о том, свободна ли блокировка или захвачена. Чтобы процесс мог обратиться к ресурсу, он обязан захватить блокировку, ассоциированную с этим </a:t>
            </a:r>
            <a:r>
              <a:rPr lang="ru-RU" sz="2000" dirty="0" smtClean="0"/>
              <a:t>ресурсом</a:t>
            </a:r>
            <a:endParaRPr lang="en-US" sz="2000" dirty="0" smtClean="0"/>
          </a:p>
          <a:p>
            <a:pPr algn="just"/>
            <a:r>
              <a:rPr lang="ru-RU" sz="2000" b="1" dirty="0"/>
              <a:t>Виды</a:t>
            </a:r>
          </a:p>
          <a:p>
            <a:pPr algn="just"/>
            <a:r>
              <a:rPr lang="ru-RU" sz="2000" dirty="0" smtClean="0"/>
              <a:t>•</a:t>
            </a:r>
            <a:r>
              <a:rPr lang="ru-RU" sz="2000" dirty="0"/>
              <a:t>	Автоматическое получение блокировок </a:t>
            </a:r>
            <a:endParaRPr lang="en-US" sz="2000" dirty="0" smtClean="0"/>
          </a:p>
          <a:p>
            <a:pPr algn="just"/>
            <a:r>
              <a:rPr lang="ru-RU" sz="2000" dirty="0" smtClean="0"/>
              <a:t>•</a:t>
            </a:r>
            <a:r>
              <a:rPr lang="ru-RU" sz="2000" dirty="0"/>
              <a:t>	Явное получение блокировок </a:t>
            </a:r>
            <a:r>
              <a:rPr lang="en-US" sz="2000" dirty="0" smtClean="0"/>
              <a:t>(</a:t>
            </a:r>
            <a:r>
              <a:rPr lang="ru-RU" sz="2000" dirty="0" smtClean="0"/>
              <a:t>LOCK</a:t>
            </a:r>
            <a:r>
              <a:rPr lang="en-US" sz="2000" dirty="0" smtClean="0"/>
              <a:t>)/</a:t>
            </a:r>
            <a:r>
              <a:rPr lang="ru-RU" sz="2000" dirty="0" smtClean="0"/>
              <a:t>Если </a:t>
            </a:r>
            <a:r>
              <a:rPr lang="ru-RU" sz="2000" dirty="0"/>
              <a:t>режим блокировки </a:t>
            </a:r>
            <a:r>
              <a:rPr lang="ru-RU" sz="2000" dirty="0" smtClean="0"/>
              <a:t>не </a:t>
            </a:r>
            <a:r>
              <a:rPr lang="ru-RU" sz="2000" dirty="0"/>
              <a:t>указан, используется ACCESS EXCLUSIVE — наиболее ограничительный режим.  </a:t>
            </a:r>
          </a:p>
          <a:p>
            <a:pPr algn="just"/>
            <a:r>
              <a:rPr lang="ru-RU" sz="2000" dirty="0"/>
              <a:t>•	Упорядочивание блокировок — блокировки в транзакции следует упорядочивать так, чтобы первой для какого-либо объекта запрашивалась наиболее ограничивающая из тех, которые для него потребуются.  </a:t>
            </a:r>
          </a:p>
          <a:p>
            <a:pPr algn="just"/>
            <a:r>
              <a:rPr lang="ru-RU" sz="2000" dirty="0"/>
              <a:t>•	Опция NOWAIT — если указано NOWAIT, LOCK не ожидает получения желаемой блокировки. </a:t>
            </a:r>
            <a:endParaRPr lang="en-US" sz="2000" dirty="0" smtClean="0"/>
          </a:p>
          <a:p>
            <a:pPr algn="just"/>
            <a:r>
              <a:rPr lang="ru-RU" sz="2000" b="1" dirty="0"/>
              <a:t>Управление</a:t>
            </a:r>
          </a:p>
          <a:p>
            <a:pPr algn="just"/>
            <a:r>
              <a:rPr lang="ru-RU" sz="2000" dirty="0" smtClean="0"/>
              <a:t>•</a:t>
            </a:r>
            <a:r>
              <a:rPr lang="ru-RU" sz="2000" dirty="0"/>
              <a:t>	</a:t>
            </a:r>
            <a:r>
              <a:rPr lang="ru-RU" sz="2000" b="1" dirty="0" err="1"/>
              <a:t>pg_locks</a:t>
            </a:r>
            <a:r>
              <a:rPr lang="ru-RU" sz="2000" dirty="0"/>
              <a:t> — список активных блокировок.</a:t>
            </a:r>
          </a:p>
          <a:p>
            <a:pPr algn="just"/>
            <a:r>
              <a:rPr lang="ru-RU" sz="2000" dirty="0"/>
              <a:t>•	</a:t>
            </a:r>
            <a:r>
              <a:rPr lang="ru-RU" sz="2000" b="1" dirty="0" err="1"/>
              <a:t>pg_stat_activity</a:t>
            </a:r>
            <a:r>
              <a:rPr lang="ru-RU" sz="2000" dirty="0"/>
              <a:t> — информация о выполняемых запросах.</a:t>
            </a:r>
          </a:p>
          <a:p>
            <a:pPr algn="ctr"/>
            <a:r>
              <a:rPr lang="ru-RU" sz="2000" b="1" dirty="0"/>
              <a:t>Мониторинг</a:t>
            </a:r>
          </a:p>
          <a:p>
            <a:pPr algn="just"/>
            <a:r>
              <a:rPr lang="ru-RU" sz="2000" dirty="0" smtClean="0"/>
              <a:t>Проблема, </a:t>
            </a:r>
            <a:r>
              <a:rPr lang="ru-RU" sz="2000" dirty="0"/>
              <a:t>связанных с блокировками в </a:t>
            </a:r>
            <a:r>
              <a:rPr lang="ru-RU" sz="2000" dirty="0" err="1"/>
              <a:t>PostgreSQL</a:t>
            </a:r>
            <a:r>
              <a:rPr lang="ru-RU" sz="2000" dirty="0"/>
              <a:t>, — взаимоблокировки (</a:t>
            </a:r>
            <a:r>
              <a:rPr lang="ru-RU" sz="2000" dirty="0" err="1"/>
              <a:t>deadlocks</a:t>
            </a:r>
            <a:r>
              <a:rPr lang="ru-RU" sz="2000" dirty="0"/>
              <a:t>). </a:t>
            </a:r>
            <a:endParaRPr lang="ru-RU" sz="2000" dirty="0" smtClean="0"/>
          </a:p>
          <a:p>
            <a:pPr algn="just"/>
            <a:endParaRPr lang="en-US" sz="2000" dirty="0" smtClean="0"/>
          </a:p>
          <a:p>
            <a:pPr algn="just"/>
            <a:r>
              <a:rPr lang="ru-RU" sz="2000" dirty="0"/>
              <a:t>Чтобы избежать взаимоблокировок, рекомендуется:</a:t>
            </a:r>
          </a:p>
          <a:p>
            <a:pPr algn="just"/>
            <a:r>
              <a:rPr lang="ru-RU" sz="2000" dirty="0"/>
              <a:t>•	устанавливать блокировки в одинаковом порядке;</a:t>
            </a:r>
          </a:p>
          <a:p>
            <a:pPr algn="just"/>
            <a:r>
              <a:rPr lang="ru-RU" sz="2000" dirty="0"/>
              <a:t>•	использовать короткие транзакции;</a:t>
            </a:r>
          </a:p>
          <a:p>
            <a:pPr algn="just"/>
            <a:r>
              <a:rPr lang="ru-RU" sz="2000" dirty="0"/>
              <a:t>•	применять NOWAIT для немедленной проверки доступности </a:t>
            </a:r>
            <a:r>
              <a:rPr lang="ru-RU" sz="2000" dirty="0" smtClean="0"/>
              <a:t>блокировки</a:t>
            </a:r>
            <a:endParaRPr lang="ru-RU" sz="2000" dirty="0"/>
          </a:p>
        </p:txBody>
      </p:sp>
    </p:spTree>
    <p:extLst>
      <p:ext uri="{BB962C8B-B14F-4D97-AF65-F5344CB8AC3E}">
        <p14:creationId xmlns:p14="http://schemas.microsoft.com/office/powerpoint/2010/main" val="2837249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324535"/>
          </a:xfrm>
          <a:prstGeom prst="rect">
            <a:avLst/>
          </a:prstGeom>
        </p:spPr>
        <p:txBody>
          <a:bodyPr wrap="square">
            <a:spAutoFit/>
          </a:bodyPr>
          <a:lstStyle/>
          <a:p>
            <a:r>
              <a:rPr lang="ru-RU" sz="2000" b="1" dirty="0"/>
              <a:t>Достоинства</a:t>
            </a:r>
          </a:p>
          <a:p>
            <a:r>
              <a:rPr lang="ru-RU" sz="2000" dirty="0"/>
              <a:t>•	Предотвращение конфликтов. </a:t>
            </a:r>
            <a:endParaRPr lang="ru-RU" sz="2000" dirty="0" smtClean="0"/>
          </a:p>
          <a:p>
            <a:r>
              <a:rPr lang="ru-RU" sz="2000" dirty="0" smtClean="0"/>
              <a:t>•</a:t>
            </a:r>
            <a:r>
              <a:rPr lang="ru-RU" sz="2000" dirty="0"/>
              <a:t>	Контроль доступа к объектам. </a:t>
            </a:r>
            <a:r>
              <a:rPr lang="ru-RU" sz="2000" dirty="0" smtClean="0"/>
              <a:t>Например</a:t>
            </a:r>
            <a:r>
              <a:rPr lang="ru-RU" sz="2000" dirty="0"/>
              <a:t>:</a:t>
            </a:r>
          </a:p>
          <a:p>
            <a:r>
              <a:rPr lang="ru-RU" sz="2000" dirty="0"/>
              <a:t>o	</a:t>
            </a:r>
            <a:r>
              <a:rPr lang="ru-RU" sz="2000" dirty="0" err="1"/>
              <a:t>Access</a:t>
            </a:r>
            <a:r>
              <a:rPr lang="ru-RU" sz="2000" dirty="0"/>
              <a:t> </a:t>
            </a:r>
            <a:r>
              <a:rPr lang="ru-RU" sz="2000" dirty="0" err="1"/>
              <a:t>Exclusive</a:t>
            </a:r>
            <a:r>
              <a:rPr lang="ru-RU" sz="2000" dirty="0"/>
              <a:t> (AEX) — предотвращает доступ или изменение заблокированного объекта другими транзакциями. </a:t>
            </a:r>
            <a:endParaRPr lang="ru-RU" sz="2000" dirty="0" smtClean="0"/>
          </a:p>
          <a:p>
            <a:r>
              <a:rPr lang="ru-RU" sz="2000" dirty="0" smtClean="0"/>
              <a:t>o</a:t>
            </a:r>
            <a:r>
              <a:rPr lang="ru-RU" sz="2000" dirty="0"/>
              <a:t>	</a:t>
            </a:r>
            <a:r>
              <a:rPr lang="ru-RU" sz="2000" dirty="0" err="1"/>
              <a:t>Exclusive</a:t>
            </a:r>
            <a:r>
              <a:rPr lang="ru-RU" sz="2000" dirty="0"/>
              <a:t> (EX) — предотвращает изменение заблокированного объекта другими транзакциями, но позволяет им читать его. </a:t>
            </a:r>
          </a:p>
          <a:p>
            <a:r>
              <a:rPr lang="ru-RU" sz="2000" dirty="0"/>
              <a:t>o	</a:t>
            </a:r>
            <a:r>
              <a:rPr lang="ru-RU" sz="2000" dirty="0" err="1"/>
              <a:t>Share</a:t>
            </a:r>
            <a:r>
              <a:rPr lang="ru-RU" sz="2000" dirty="0"/>
              <a:t> (SH) — позволяет нескольким транзакциям читать один и тот же объект одновременно, но предотвращает </a:t>
            </a:r>
            <a:r>
              <a:rPr lang="ru-RU" sz="2000" dirty="0" smtClean="0"/>
              <a:t>изменения</a:t>
            </a:r>
          </a:p>
          <a:p>
            <a:r>
              <a:rPr lang="ru-RU" sz="2000" dirty="0"/>
              <a:t>•	Автоматическое получение блокировок. </a:t>
            </a:r>
            <a:endParaRPr lang="ru-RU" sz="2000" dirty="0" smtClean="0"/>
          </a:p>
          <a:p>
            <a:r>
              <a:rPr lang="ru-RU" sz="2000" dirty="0" smtClean="0"/>
              <a:t>•</a:t>
            </a:r>
            <a:r>
              <a:rPr lang="ru-RU" sz="2000" dirty="0"/>
              <a:t>	Возможность использовать рекомендательные блокировки. </a:t>
            </a:r>
            <a:endParaRPr lang="ru-RU" sz="2000" dirty="0" smtClean="0"/>
          </a:p>
          <a:p>
            <a:r>
              <a:rPr lang="ru-RU" sz="2000" b="1" dirty="0" smtClean="0"/>
              <a:t>Недостатки</a:t>
            </a:r>
            <a:endParaRPr lang="ru-RU" sz="2000" b="1" dirty="0"/>
          </a:p>
          <a:p>
            <a:r>
              <a:rPr lang="ru-RU" sz="2000" dirty="0"/>
              <a:t>•	Риск взаимоблокировок. </a:t>
            </a:r>
            <a:endParaRPr lang="ru-RU" sz="2000" dirty="0" smtClean="0"/>
          </a:p>
          <a:p>
            <a:r>
              <a:rPr lang="ru-RU" sz="2000" dirty="0" smtClean="0"/>
              <a:t>•</a:t>
            </a:r>
            <a:r>
              <a:rPr lang="ru-RU" sz="2000" dirty="0"/>
              <a:t>	Возможность записи на диск. </a:t>
            </a:r>
            <a:endParaRPr lang="ru-RU" sz="2000" dirty="0" smtClean="0"/>
          </a:p>
          <a:p>
            <a:r>
              <a:rPr lang="ru-RU" sz="2000" dirty="0" smtClean="0"/>
              <a:t>•</a:t>
            </a:r>
            <a:r>
              <a:rPr lang="ru-RU" sz="2000" dirty="0"/>
              <a:t>	Увеличение числа блокировок. </a:t>
            </a:r>
            <a:endParaRPr lang="ru-RU" sz="2000" dirty="0" smtClean="0"/>
          </a:p>
          <a:p>
            <a:r>
              <a:rPr lang="ru-RU" sz="2000" dirty="0" smtClean="0"/>
              <a:t>•</a:t>
            </a:r>
            <a:r>
              <a:rPr lang="ru-RU" sz="2000" dirty="0"/>
              <a:t>	Проблемы с мониторингом блокировок. </a:t>
            </a:r>
          </a:p>
          <a:p>
            <a:endParaRPr lang="ru-RU" sz="2000" dirty="0"/>
          </a:p>
        </p:txBody>
      </p:sp>
    </p:spTree>
    <p:extLst>
      <p:ext uri="{BB962C8B-B14F-4D97-AF65-F5344CB8AC3E}">
        <p14:creationId xmlns:p14="http://schemas.microsoft.com/office/powerpoint/2010/main" val="1822357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940088"/>
          </a:xfrm>
          <a:prstGeom prst="rect">
            <a:avLst/>
          </a:prstGeom>
        </p:spPr>
        <p:txBody>
          <a:bodyPr wrap="square">
            <a:spAutoFit/>
          </a:bodyPr>
          <a:lstStyle/>
          <a:p>
            <a:pPr algn="ctr"/>
            <a:r>
              <a:rPr lang="ru-RU" sz="2000" b="1" dirty="0"/>
              <a:t>Виды</a:t>
            </a:r>
          </a:p>
          <a:p>
            <a:pPr algn="just"/>
            <a:r>
              <a:rPr lang="ru-RU" sz="2000" dirty="0" smtClean="0"/>
              <a:t>Некоторые виды блокировок </a:t>
            </a:r>
            <a:r>
              <a:rPr lang="ru-RU" sz="2000" dirty="0"/>
              <a:t>в </a:t>
            </a:r>
            <a:r>
              <a:rPr lang="ru-RU" sz="2000" dirty="0" err="1"/>
              <a:t>PostgreSQL</a:t>
            </a:r>
            <a:r>
              <a:rPr lang="ru-RU" sz="2000" dirty="0"/>
              <a:t>:</a:t>
            </a:r>
          </a:p>
          <a:p>
            <a:pPr algn="just"/>
            <a:r>
              <a:rPr lang="ru-RU" sz="2000" b="1" dirty="0"/>
              <a:t>•	Блокировки на уровне таблицы.</a:t>
            </a:r>
          </a:p>
          <a:p>
            <a:pPr algn="just"/>
            <a:r>
              <a:rPr lang="ru-RU" sz="2000" b="1" dirty="0"/>
              <a:t>•	Блокировки на уровне строки.</a:t>
            </a:r>
          </a:p>
          <a:p>
            <a:pPr algn="just"/>
            <a:r>
              <a:rPr lang="ru-RU" sz="2000" b="1" dirty="0"/>
              <a:t>•	Блокировки на уровне страницы </a:t>
            </a:r>
            <a:endParaRPr lang="ru-RU" sz="2000" b="1" dirty="0" smtClean="0"/>
          </a:p>
          <a:p>
            <a:pPr lvl="0" algn="just"/>
            <a:r>
              <a:rPr lang="ru-RU" sz="2000" b="1" dirty="0"/>
              <a:t>Блокировки на уровне таблицы</a:t>
            </a:r>
            <a:r>
              <a:rPr lang="ru-RU" sz="2000" dirty="0"/>
              <a:t>.</a:t>
            </a:r>
          </a:p>
          <a:p>
            <a:pPr algn="just"/>
            <a:r>
              <a:rPr lang="ru-RU" sz="2000" b="1" dirty="0"/>
              <a:t>В </a:t>
            </a:r>
            <a:r>
              <a:rPr lang="ru-RU" sz="2000" b="1" dirty="0" err="1"/>
              <a:t>PostgreSQL</a:t>
            </a:r>
            <a:r>
              <a:rPr lang="ru-RU" sz="2000" b="1" dirty="0"/>
              <a:t> блокировки на уровне таблицы</a:t>
            </a:r>
            <a:r>
              <a:rPr lang="ru-RU" sz="2000" dirty="0"/>
              <a:t> — это механизмы управления параллельным доступом к данным в таблицах, которые предотвращают конфликты между транзакциями. Они могут быть явными или неявными: </a:t>
            </a:r>
          </a:p>
          <a:p>
            <a:pPr lvl="0" algn="just"/>
            <a:r>
              <a:rPr lang="ru-RU" sz="2000" b="1" dirty="0"/>
              <a:t>Неявные</a:t>
            </a:r>
            <a:r>
              <a:rPr lang="ru-RU" sz="2000" dirty="0"/>
              <a:t> — накладываются стандартными командами SQL и снимаются по </a:t>
            </a:r>
            <a:r>
              <a:rPr lang="ru-RU" sz="2000" dirty="0" smtClean="0"/>
              <a:t>умолчанию</a:t>
            </a:r>
            <a:endParaRPr lang="ru-RU" sz="2000" dirty="0"/>
          </a:p>
          <a:p>
            <a:pPr lvl="0" algn="just"/>
            <a:r>
              <a:rPr lang="ru-RU" sz="2000" b="1" dirty="0"/>
              <a:t>Явные</a:t>
            </a:r>
            <a:r>
              <a:rPr lang="ru-RU" sz="2000" dirty="0"/>
              <a:t> — накладываются по требованию пользователя конкретными запросами.</a:t>
            </a:r>
          </a:p>
          <a:p>
            <a:pPr algn="ctr"/>
            <a:r>
              <a:rPr lang="ru-RU" sz="2000" b="1" dirty="0"/>
              <a:t>Виды</a:t>
            </a:r>
            <a:endParaRPr lang="ru-RU" sz="2000" dirty="0"/>
          </a:p>
          <a:p>
            <a:pPr algn="just"/>
            <a:r>
              <a:rPr lang="ru-RU" sz="2000" dirty="0"/>
              <a:t>Некоторые виды блокировок на уровне таблицы в </a:t>
            </a:r>
            <a:r>
              <a:rPr lang="ru-RU" sz="2000" dirty="0" err="1"/>
              <a:t>PostgreSQL</a:t>
            </a:r>
            <a:r>
              <a:rPr lang="ru-RU" sz="2000" dirty="0"/>
              <a:t>:</a:t>
            </a:r>
          </a:p>
          <a:p>
            <a:pPr lvl="0" algn="just"/>
            <a:r>
              <a:rPr lang="ru-RU" sz="2000" b="1" dirty="0"/>
              <a:t>ACCESS SHARE</a:t>
            </a:r>
            <a:r>
              <a:rPr lang="ru-RU" sz="2000" dirty="0"/>
              <a:t> — накладываются запросами, которые только читают данные из таблицы, но не модифицируют её (обычно это запрос SELECT).</a:t>
            </a:r>
          </a:p>
          <a:p>
            <a:pPr lvl="0" algn="just"/>
            <a:r>
              <a:rPr lang="en-US" sz="2000" b="1" dirty="0"/>
              <a:t>ROW SHARE</a:t>
            </a:r>
            <a:r>
              <a:rPr lang="en-US" sz="2000" dirty="0"/>
              <a:t> — </a:t>
            </a:r>
            <a:r>
              <a:rPr lang="ru-RU" sz="2000" dirty="0"/>
              <a:t>накладываются запросами</a:t>
            </a:r>
            <a:r>
              <a:rPr lang="en-US" sz="2000" dirty="0"/>
              <a:t> SELECT FOR UPDATE </a:t>
            </a:r>
            <a:r>
              <a:rPr lang="ru-RU" sz="2000" dirty="0"/>
              <a:t>и</a:t>
            </a:r>
            <a:r>
              <a:rPr lang="en-US" sz="2000" dirty="0"/>
              <a:t> SELECT FOR SHARE.</a:t>
            </a:r>
            <a:endParaRPr lang="ru-RU" sz="2000" dirty="0"/>
          </a:p>
          <a:p>
            <a:pPr lvl="0" algn="just"/>
            <a:r>
              <a:rPr lang="ru-RU" sz="2000" b="1" dirty="0"/>
              <a:t>ROW EXCLUSIVE</a:t>
            </a:r>
            <a:r>
              <a:rPr lang="ru-RU" sz="2000" dirty="0"/>
              <a:t> — накладываются запросами, которые модифицируют данные в таблице (обычно это запросы UPDATE, DELETE и INSERT).</a:t>
            </a:r>
          </a:p>
          <a:p>
            <a:endParaRPr lang="ru-RU" sz="2000" dirty="0"/>
          </a:p>
        </p:txBody>
      </p:sp>
    </p:spTree>
    <p:extLst>
      <p:ext uri="{BB962C8B-B14F-4D97-AF65-F5344CB8AC3E}">
        <p14:creationId xmlns:p14="http://schemas.microsoft.com/office/powerpoint/2010/main" val="1263413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1"/>
            <a:ext cx="12192000" cy="5940088"/>
          </a:xfrm>
          <a:prstGeom prst="rect">
            <a:avLst/>
          </a:prstGeom>
        </p:spPr>
        <p:txBody>
          <a:bodyPr wrap="square">
            <a:spAutoFit/>
          </a:bodyPr>
          <a:lstStyle/>
          <a:p>
            <a:pPr algn="just"/>
            <a:r>
              <a:rPr lang="ru-RU" sz="2000" b="1" dirty="0"/>
              <a:t>Правила</a:t>
            </a:r>
          </a:p>
          <a:p>
            <a:pPr algn="just"/>
            <a:r>
              <a:rPr lang="ru-RU" sz="2000" dirty="0"/>
              <a:t>•	Две транзакции не могут удерживать блокировки конфликтующих режимов на одной таблице одновременно. </a:t>
            </a:r>
          </a:p>
          <a:p>
            <a:pPr algn="just"/>
            <a:r>
              <a:rPr lang="ru-RU" sz="2000" dirty="0"/>
              <a:t>•	Полученная транзакцией блокировка обычно сохраняется до конца транзакции. Но если блокировка получена после установки точки сохранения, она освобождается немедленно в случае отката к этой точке. </a:t>
            </a:r>
          </a:p>
          <a:p>
            <a:pPr algn="just"/>
            <a:r>
              <a:rPr lang="ru-RU" sz="2000" dirty="0"/>
              <a:t>•	Если транзакция пытается получить доступ к объекту, который уже заблокирован другой транзакцией, она либо ждёт, пока блокировка будет освобождена (если режим блокировки совместим), либо прерывается с ошибкой (если режим блокировки несовместим). </a:t>
            </a:r>
          </a:p>
          <a:p>
            <a:pPr algn="just"/>
            <a:r>
              <a:rPr lang="ru-RU" sz="2000" dirty="0"/>
              <a:t>•	Взаимоблокировки (</a:t>
            </a:r>
            <a:r>
              <a:rPr lang="ru-RU" sz="2000" dirty="0" err="1"/>
              <a:t>deadlocks</a:t>
            </a:r>
            <a:r>
              <a:rPr lang="ru-RU" sz="2000" dirty="0"/>
              <a:t>) возникают, когда две или более транзакции ждут друг друга, чтобы освободить блокировку, что приводит к неопределённому </a:t>
            </a:r>
            <a:r>
              <a:rPr lang="ru-RU" sz="2000" dirty="0" smtClean="0"/>
              <a:t>ожиданию</a:t>
            </a:r>
          </a:p>
          <a:p>
            <a:pPr algn="just"/>
            <a:r>
              <a:rPr lang="ru-RU" sz="2000" b="1" dirty="0"/>
              <a:t>Управление</a:t>
            </a:r>
          </a:p>
          <a:p>
            <a:pPr algn="just"/>
            <a:r>
              <a:rPr lang="ru-RU" sz="2000" dirty="0"/>
              <a:t>•	Явные блокировки устанавливаются с помощью команды LOCK. Если режим блокировки в команде не указан, используется ACCESS EXCLUSIVE — наиболее ограничительный режим. </a:t>
            </a:r>
          </a:p>
          <a:p>
            <a:pPr algn="just"/>
            <a:r>
              <a:rPr lang="ru-RU" sz="2000" dirty="0"/>
              <a:t>•	Опция NOWAIT в команде LOCK позволяет изменить поведение: если указано NOWAIT, LOCK не ожидает получения желаемой блокировки. </a:t>
            </a:r>
            <a:endParaRPr lang="ru-RU" sz="2000" dirty="0" smtClean="0"/>
          </a:p>
          <a:p>
            <a:pPr algn="just"/>
            <a:r>
              <a:rPr lang="ru-RU" sz="2000" dirty="0" smtClean="0"/>
              <a:t>•</a:t>
            </a:r>
            <a:r>
              <a:rPr lang="ru-RU" sz="2000" dirty="0"/>
              <a:t>	Для предотвращения взаимоблокировок рекомендуется упорядочивать блокировки в транзакции так, чтобы первой для какого-либо объекта запрашивалась наиболее ограничивающая из тех, которые для него потребуются</a:t>
            </a:r>
          </a:p>
          <a:p>
            <a:pPr algn="just"/>
            <a:endParaRPr lang="ru-RU" sz="2000" dirty="0"/>
          </a:p>
        </p:txBody>
      </p:sp>
    </p:spTree>
    <p:extLst>
      <p:ext uri="{BB962C8B-B14F-4D97-AF65-F5344CB8AC3E}">
        <p14:creationId xmlns:p14="http://schemas.microsoft.com/office/powerpoint/2010/main" val="3955691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5078313"/>
          </a:xfrm>
          <a:prstGeom prst="rect">
            <a:avLst/>
          </a:prstGeom>
        </p:spPr>
        <p:txBody>
          <a:bodyPr wrap="square">
            <a:spAutoFit/>
          </a:bodyPr>
          <a:lstStyle/>
          <a:p>
            <a:r>
              <a:rPr lang="ru-RU" b="1" dirty="0"/>
              <a:t>Достоинства</a:t>
            </a:r>
          </a:p>
          <a:p>
            <a:r>
              <a:rPr lang="ru-RU" dirty="0"/>
              <a:t>•	Контроль доступа к данным. </a:t>
            </a:r>
            <a:r>
              <a:rPr lang="ru-RU" dirty="0" smtClean="0"/>
              <a:t>Например</a:t>
            </a:r>
            <a:r>
              <a:rPr lang="ru-RU" dirty="0"/>
              <a:t>:</a:t>
            </a:r>
          </a:p>
          <a:p>
            <a:r>
              <a:rPr lang="ru-RU" dirty="0"/>
              <a:t>o	ACCESS EXCLUSIVE — запрещается любое использование заблокированной таблицы. </a:t>
            </a:r>
          </a:p>
          <a:p>
            <a:r>
              <a:rPr lang="ru-RU" dirty="0"/>
              <a:t>o	ACCESS SHARE — блокировка получает команда SELECT для </a:t>
            </a:r>
            <a:r>
              <a:rPr lang="ru-RU" dirty="0" smtClean="0"/>
              <a:t>таблиц, </a:t>
            </a:r>
          </a:p>
          <a:p>
            <a:r>
              <a:rPr lang="ru-RU" dirty="0" smtClean="0"/>
              <a:t>o	ROW SHARE — блокировка устанавливается для всех таблиц, FOR UPDATE, FOR NO KEY UPDATE, FOR SHARE или FOR KEY SHARE.  </a:t>
            </a:r>
          </a:p>
          <a:p>
            <a:r>
              <a:rPr lang="ru-RU" dirty="0" smtClean="0"/>
              <a:t>•</a:t>
            </a:r>
            <a:r>
              <a:rPr lang="ru-RU" dirty="0"/>
              <a:t>	Автоматическое получение блокировок. </a:t>
            </a:r>
            <a:endParaRPr lang="ru-RU" dirty="0" smtClean="0"/>
          </a:p>
          <a:p>
            <a:r>
              <a:rPr lang="ru-RU" dirty="0" smtClean="0"/>
              <a:t>•</a:t>
            </a:r>
            <a:r>
              <a:rPr lang="ru-RU" dirty="0"/>
              <a:t>	Возможность контролировать время освобождения блокировки. </a:t>
            </a:r>
            <a:endParaRPr lang="ru-RU" dirty="0" smtClean="0"/>
          </a:p>
          <a:p>
            <a:r>
              <a:rPr lang="ru-RU" b="1" dirty="0" smtClean="0"/>
              <a:t>Недостатки</a:t>
            </a:r>
            <a:endParaRPr lang="ru-RU" b="1" dirty="0"/>
          </a:p>
          <a:p>
            <a:r>
              <a:rPr lang="ru-RU" dirty="0"/>
              <a:t>•	Риск взаимоблокировок. </a:t>
            </a:r>
            <a:endParaRPr lang="ru-RU" dirty="0" smtClean="0"/>
          </a:p>
          <a:p>
            <a:r>
              <a:rPr lang="ru-RU" dirty="0" smtClean="0"/>
              <a:t>•</a:t>
            </a:r>
            <a:r>
              <a:rPr lang="ru-RU" dirty="0"/>
              <a:t>	Отложение запросов. Если используется блокировка уровня ACCESS EXCLUSIVE, последующие запросы к таблице не выполняются сразу, а откладываются в очередь, пока наиболее долгий из запущенных запросов не окончит выполнение. </a:t>
            </a:r>
            <a:endParaRPr lang="ru-RU" dirty="0" smtClean="0"/>
          </a:p>
          <a:p>
            <a:r>
              <a:rPr lang="ru-RU" dirty="0" smtClean="0"/>
              <a:t>•</a:t>
            </a:r>
            <a:r>
              <a:rPr lang="ru-RU" dirty="0"/>
              <a:t>	Несовместимость режимов блокировки. Например, режим </a:t>
            </a:r>
            <a:r>
              <a:rPr lang="ru-RU" dirty="0" err="1"/>
              <a:t>Share</a:t>
            </a:r>
            <a:r>
              <a:rPr lang="ru-RU" dirty="0"/>
              <a:t> не совместим с изменением данных в таблице — например, команда CREATE INDEX заблокирует команды INSERT, UPDATE и DELETE (и наоборот). Поэтому существует команда CREATE INDEX CONCURRENTLY, использующая режим </a:t>
            </a:r>
            <a:r>
              <a:rPr lang="ru-RU" dirty="0" err="1"/>
              <a:t>Share</a:t>
            </a:r>
            <a:r>
              <a:rPr lang="ru-RU" dirty="0"/>
              <a:t> </a:t>
            </a:r>
            <a:r>
              <a:rPr lang="ru-RU" dirty="0" err="1"/>
              <a:t>Update</a:t>
            </a:r>
            <a:r>
              <a:rPr lang="ru-RU" dirty="0"/>
              <a:t> </a:t>
            </a:r>
            <a:r>
              <a:rPr lang="ru-RU" dirty="0" err="1"/>
              <a:t>Exclusive</a:t>
            </a:r>
            <a:r>
              <a:rPr lang="ru-RU" dirty="0"/>
              <a:t>, который совместим с такими изменениями (за счёт этого команда выполняется дольше).  </a:t>
            </a:r>
          </a:p>
          <a:p>
            <a:r>
              <a:rPr lang="ru-RU" dirty="0"/>
              <a:t>•	Увеличение числа блокировок.</a:t>
            </a:r>
          </a:p>
        </p:txBody>
      </p:sp>
    </p:spTree>
    <p:extLst>
      <p:ext uri="{BB962C8B-B14F-4D97-AF65-F5344CB8AC3E}">
        <p14:creationId xmlns:p14="http://schemas.microsoft.com/office/powerpoint/2010/main" val="934059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524863"/>
          </a:xfrm>
          <a:prstGeom prst="rect">
            <a:avLst/>
          </a:prstGeom>
        </p:spPr>
        <p:txBody>
          <a:bodyPr wrap="square">
            <a:spAutoFit/>
          </a:bodyPr>
          <a:lstStyle/>
          <a:p>
            <a:pPr algn="ctr"/>
            <a:r>
              <a:rPr lang="ru-RU" dirty="0"/>
              <a:t>	</a:t>
            </a:r>
            <a:r>
              <a:rPr lang="ru-RU" sz="2000" b="1" dirty="0"/>
              <a:t>Блокировки на уровне </a:t>
            </a:r>
            <a:r>
              <a:rPr lang="ru-RU" sz="2000" b="1" dirty="0" smtClean="0"/>
              <a:t>строки</a:t>
            </a:r>
          </a:p>
          <a:p>
            <a:pPr algn="just"/>
            <a:r>
              <a:rPr lang="ru-RU" sz="2000" b="1" dirty="0" err="1" smtClean="0"/>
              <a:t>PostgreSQL</a:t>
            </a:r>
            <a:r>
              <a:rPr lang="ru-RU" sz="2000" b="1" dirty="0" smtClean="0"/>
              <a:t> </a:t>
            </a:r>
            <a:r>
              <a:rPr lang="ru-RU" sz="2000" b="1" dirty="0"/>
              <a:t>существуют блокировки на уровне строки </a:t>
            </a:r>
            <a:r>
              <a:rPr lang="ru-RU" sz="2000" dirty="0"/>
              <a:t>— они блокируют определённую строку, а не всю </a:t>
            </a:r>
            <a:r>
              <a:rPr lang="ru-RU" sz="2000" dirty="0" smtClean="0"/>
              <a:t>таблицу. </a:t>
            </a:r>
            <a:r>
              <a:rPr lang="ru-RU" dirty="0"/>
              <a:t>Блокировки на уровне строк </a:t>
            </a:r>
            <a:r>
              <a:rPr lang="ru-RU" b="1" dirty="0"/>
              <a:t>не влияют на выборку данных</a:t>
            </a:r>
            <a:r>
              <a:rPr lang="ru-RU" dirty="0"/>
              <a:t> — они блокируют только записывающих и блокирующих ту же </a:t>
            </a:r>
            <a:r>
              <a:rPr lang="ru-RU" dirty="0" smtClean="0"/>
              <a:t>строку</a:t>
            </a:r>
          </a:p>
          <a:p>
            <a:pPr algn="just"/>
            <a:r>
              <a:rPr lang="ru-RU" sz="2000" b="1" dirty="0"/>
              <a:t>Виды</a:t>
            </a:r>
          </a:p>
          <a:p>
            <a:pPr algn="just"/>
            <a:r>
              <a:rPr lang="ru-RU" sz="2000" dirty="0" smtClean="0"/>
              <a:t>•</a:t>
            </a:r>
            <a:r>
              <a:rPr lang="ru-RU" sz="2000" dirty="0"/>
              <a:t>	FOR UPDATE. Строки, полученные оператором SELECT, блокируются как для изменения. Это предотвращает их блокировку, изменение или удаление другими транзакциями до завершения текущей. Другие транзакции, пытающиеся выполнить UPDATE, DELETE, SELECT FOR UPDATE, SELECT FOR NO KEY UPDATE, SELECT FOR SHARE или SELECT FOR KEY SHARE с этими строками, будут заблокированы до завершения текущей транзакции.</a:t>
            </a:r>
          </a:p>
          <a:p>
            <a:pPr algn="just"/>
            <a:r>
              <a:rPr lang="ru-RU" sz="2000" dirty="0"/>
              <a:t>•	FOR NO KEY UPDATE. Работает аналогично FOR UPDATE, но эта блокировка более слабая: не блокирует команды SELECT FOR KEY SHARE, которые пытаются получить блокировку для тех же строк.</a:t>
            </a:r>
          </a:p>
          <a:p>
            <a:pPr algn="just"/>
            <a:r>
              <a:rPr lang="ru-RU" sz="2000" dirty="0"/>
              <a:t>•	FOR KEY SHARE. Действует подобно FOR SHARE, но устанавливает более слабую блокировку: блокируется SELECT FOR UPDATE, но не SELECT FOR NO KEY </a:t>
            </a:r>
            <a:r>
              <a:rPr lang="ru-RU" sz="2000" dirty="0" smtClean="0"/>
              <a:t>UPDATE</a:t>
            </a:r>
          </a:p>
          <a:p>
            <a:pPr algn="just"/>
            <a:r>
              <a:rPr lang="ru-RU" sz="2000" b="1" dirty="0"/>
              <a:t>Механизм</a:t>
            </a:r>
          </a:p>
          <a:p>
            <a:pPr algn="just"/>
            <a:r>
              <a:rPr lang="ru-RU" sz="2000" dirty="0"/>
              <a:t>Информация о том, что строка заблокирована, хранится только и исключительно в версии строки внутри страницы данных (а не в оперативной памяти). </a:t>
            </a:r>
            <a:endParaRPr lang="en-US" sz="2000" dirty="0" smtClean="0"/>
          </a:p>
          <a:p>
            <a:pPr algn="just"/>
            <a:r>
              <a:rPr lang="ru-RU" sz="2000" b="1" dirty="0"/>
              <a:t>Настройка</a:t>
            </a:r>
          </a:p>
          <a:p>
            <a:pPr algn="just"/>
            <a:r>
              <a:rPr lang="ru-RU" sz="2000" dirty="0"/>
              <a:t>Блокировки на уровне строки могут быть явными или неявными. </a:t>
            </a:r>
            <a:r>
              <a:rPr lang="ru-RU" sz="2000" b="1" dirty="0" smtClean="0"/>
              <a:t>Неявные</a:t>
            </a:r>
            <a:r>
              <a:rPr lang="ru-RU" sz="2000" dirty="0" smtClean="0"/>
              <a:t> </a:t>
            </a:r>
            <a:r>
              <a:rPr lang="ru-RU" sz="2000" dirty="0"/>
              <a:t>блокировки накладываются стандартными командами SQL и снимаются по умолчанию, когда транзакция фиксируется или откатывается. </a:t>
            </a:r>
            <a:r>
              <a:rPr lang="ru-RU" sz="2000" b="1" dirty="0"/>
              <a:t>Явные</a:t>
            </a:r>
            <a:r>
              <a:rPr lang="ru-RU" sz="2000" dirty="0"/>
              <a:t> блокировки накладываются по требованию пользователя конкретными запросами. </a:t>
            </a:r>
          </a:p>
        </p:txBody>
      </p:sp>
    </p:spTree>
    <p:extLst>
      <p:ext uri="{BB962C8B-B14F-4D97-AF65-F5344CB8AC3E}">
        <p14:creationId xmlns:p14="http://schemas.microsoft.com/office/powerpoint/2010/main" val="7175610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247864"/>
          </a:xfrm>
          <a:prstGeom prst="rect">
            <a:avLst/>
          </a:prstGeom>
        </p:spPr>
        <p:txBody>
          <a:bodyPr wrap="square">
            <a:spAutoFit/>
          </a:bodyPr>
          <a:lstStyle/>
          <a:p>
            <a:r>
              <a:rPr lang="ru-RU" sz="2000" b="1" dirty="0"/>
              <a:t>Ошибки</a:t>
            </a:r>
          </a:p>
          <a:p>
            <a:pPr algn="just"/>
            <a:r>
              <a:rPr lang="ru-RU" sz="2000" dirty="0"/>
              <a:t>В рамках транзакции с уровнем изоляции REPEATABLE READ или SERIALIZABLE выдается ошибка, если строка, которую требуется заблокировать, была изменена с момента начала транзакции. </a:t>
            </a:r>
            <a:endParaRPr lang="en-US" sz="2000" dirty="0" smtClean="0"/>
          </a:p>
          <a:p>
            <a:pPr algn="just"/>
            <a:r>
              <a:rPr lang="ru-RU" sz="2000" b="1" dirty="0"/>
              <a:t>Достоинства</a:t>
            </a:r>
          </a:p>
          <a:p>
            <a:pPr algn="just"/>
            <a:r>
              <a:rPr lang="ru-RU" sz="2000" dirty="0" smtClean="0"/>
              <a:t>•</a:t>
            </a:r>
            <a:r>
              <a:rPr lang="en-US" sz="2000" dirty="0" smtClean="0"/>
              <a:t> </a:t>
            </a:r>
            <a:r>
              <a:rPr lang="ru-RU" sz="2000" dirty="0" smtClean="0"/>
              <a:t>Возможность </a:t>
            </a:r>
            <a:r>
              <a:rPr lang="ru-RU" sz="2000" dirty="0"/>
              <a:t>разным транзакциям одновременно изменять разные строки в одной таблице без конфликтов. </a:t>
            </a:r>
            <a:endParaRPr lang="en-US" sz="2000" dirty="0" smtClean="0"/>
          </a:p>
          <a:p>
            <a:pPr algn="just"/>
            <a:r>
              <a:rPr lang="ru-RU" sz="2000" dirty="0" smtClean="0"/>
              <a:t>•</a:t>
            </a:r>
            <a:r>
              <a:rPr lang="en-US" sz="2000" dirty="0" smtClean="0"/>
              <a:t> </a:t>
            </a:r>
            <a:r>
              <a:rPr lang="ru-RU" sz="2000" dirty="0" smtClean="0"/>
              <a:t>Блокировки </a:t>
            </a:r>
            <a:r>
              <a:rPr lang="ru-RU" sz="2000" dirty="0"/>
              <a:t>на уровне строк не влияют на выборку — они блокируют только запись (модификацию) в определённые строки. </a:t>
            </a:r>
            <a:endParaRPr lang="en-US" sz="2000" dirty="0" smtClean="0"/>
          </a:p>
          <a:p>
            <a:pPr algn="just"/>
            <a:r>
              <a:rPr lang="ru-RU" sz="2000" dirty="0" smtClean="0"/>
              <a:t>•</a:t>
            </a:r>
            <a:r>
              <a:rPr lang="en-US" sz="2000" dirty="0" smtClean="0"/>
              <a:t> </a:t>
            </a:r>
            <a:r>
              <a:rPr lang="ru-RU" sz="2000" dirty="0" err="1" smtClean="0"/>
              <a:t>PostgreSQL</a:t>
            </a:r>
            <a:r>
              <a:rPr lang="ru-RU" sz="2000" dirty="0" smtClean="0"/>
              <a:t> </a:t>
            </a:r>
            <a:r>
              <a:rPr lang="ru-RU" sz="2000" dirty="0"/>
              <a:t>не хранит информацию об изменённых строках в памяти, поэтому нет ограничений на количество строк, которые можно заблокировать.  </a:t>
            </a:r>
          </a:p>
          <a:p>
            <a:pPr algn="just"/>
            <a:r>
              <a:rPr lang="ru-RU" sz="2000" dirty="0" smtClean="0"/>
              <a:t>•</a:t>
            </a:r>
            <a:r>
              <a:rPr lang="en-US" sz="2000" dirty="0" smtClean="0"/>
              <a:t> </a:t>
            </a:r>
            <a:r>
              <a:rPr lang="ru-RU" sz="2000" dirty="0" smtClean="0"/>
              <a:t>Блокировки </a:t>
            </a:r>
            <a:r>
              <a:rPr lang="ru-RU" sz="2000" dirty="0"/>
              <a:t>на уровне строк снимаются при завершении транзакции или во время отката к точке сохранения.  </a:t>
            </a:r>
          </a:p>
          <a:p>
            <a:pPr algn="just"/>
            <a:r>
              <a:rPr lang="ru-RU" sz="2000" b="1" dirty="0"/>
              <a:t>Недостатки</a:t>
            </a:r>
          </a:p>
          <a:p>
            <a:pPr algn="just"/>
            <a:r>
              <a:rPr lang="ru-RU" sz="2000" dirty="0"/>
              <a:t>•	Риск взаимоблокировок. Если две транзакции блокируют разные строки, но затем каждая пытается получить блокировку на строку, уже занятую другой транзакцией, возникнет </a:t>
            </a:r>
            <a:r>
              <a:rPr lang="ru-RU" sz="2000" dirty="0" err="1"/>
              <a:t>deadlock</a:t>
            </a:r>
            <a:r>
              <a:rPr lang="ru-RU" sz="2000" dirty="0"/>
              <a:t>. </a:t>
            </a:r>
            <a:r>
              <a:rPr lang="ru-RU" sz="2000" dirty="0" err="1"/>
              <a:t>PostgreSQL</a:t>
            </a:r>
            <a:r>
              <a:rPr lang="ru-RU" sz="2000" dirty="0"/>
              <a:t> автоматически детектирует подобные ситуации и прерывает одну из транзакций (выдает ошибку о </a:t>
            </a:r>
            <a:r>
              <a:rPr lang="ru-RU" sz="2000" dirty="0" err="1"/>
              <a:t>deadlock</a:t>
            </a:r>
            <a:r>
              <a:rPr lang="ru-RU" sz="2000" dirty="0"/>
              <a:t>), чтобы разблокировать систему. </a:t>
            </a:r>
          </a:p>
          <a:p>
            <a:pPr algn="just"/>
            <a:r>
              <a:rPr lang="ru-RU" sz="2000" dirty="0"/>
              <a:t>•	Блокировка строки может привести к записи на диск. Например, если SELECT FOR UPDATE изменяет выбранные строки, чтобы пометить их как заблокированные, при этом происходит запись на диск.  </a:t>
            </a:r>
          </a:p>
          <a:p>
            <a:pPr algn="just"/>
            <a:r>
              <a:rPr lang="ru-RU" sz="2000" dirty="0"/>
              <a:t>•	Одна транзакция может владеть несколькими конфликтующими блокировками одной </a:t>
            </a:r>
            <a:r>
              <a:rPr lang="ru-RU" sz="2000" dirty="0" smtClean="0"/>
              <a:t>строки</a:t>
            </a:r>
            <a:r>
              <a:rPr lang="en-US" sz="2000" dirty="0" smtClean="0"/>
              <a:t>/</a:t>
            </a:r>
            <a:r>
              <a:rPr lang="ru-RU" sz="2000" dirty="0" smtClean="0"/>
              <a:t> </a:t>
            </a:r>
            <a:endParaRPr lang="ru-RU" sz="2000" dirty="0"/>
          </a:p>
        </p:txBody>
      </p:sp>
    </p:spTree>
    <p:extLst>
      <p:ext uri="{BB962C8B-B14F-4D97-AF65-F5344CB8AC3E}">
        <p14:creationId xmlns:p14="http://schemas.microsoft.com/office/powerpoint/2010/main" val="220964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0"/>
            <a:ext cx="12192000" cy="6555641"/>
          </a:xfrm>
          <a:prstGeom prst="rect">
            <a:avLst/>
          </a:prstGeom>
        </p:spPr>
        <p:txBody>
          <a:bodyPr wrap="square">
            <a:spAutoFit/>
          </a:bodyPr>
          <a:lstStyle/>
          <a:p>
            <a:pPr algn="just"/>
            <a:r>
              <a:rPr lang="ru-RU" dirty="0" smtClean="0"/>
              <a:t>.</a:t>
            </a:r>
            <a:r>
              <a:rPr lang="ru-RU" sz="2000" b="1" dirty="0" smtClean="0"/>
              <a:t> </a:t>
            </a:r>
            <a:r>
              <a:rPr lang="ru-RU" sz="2000" b="1" dirty="0"/>
              <a:t>Блокировки на уровне страницы </a:t>
            </a:r>
            <a:r>
              <a:rPr lang="ru-RU" sz="2000" dirty="0"/>
              <a:t>— используются для управления доступом для чтения/записи к страницам таблиц в общем пуле </a:t>
            </a:r>
            <a:r>
              <a:rPr lang="ru-RU" sz="2000" dirty="0" smtClean="0"/>
              <a:t>буферо</a:t>
            </a:r>
            <a:r>
              <a:rPr lang="ru-RU" dirty="0" smtClean="0"/>
              <a:t>в</a:t>
            </a:r>
            <a:endParaRPr lang="en-US" dirty="0" smtClean="0"/>
          </a:p>
          <a:p>
            <a:pPr algn="just"/>
            <a:r>
              <a:rPr lang="ru-RU" sz="2000" dirty="0"/>
              <a:t>Блокировки на уровне страницы (</a:t>
            </a:r>
            <a:r>
              <a:rPr lang="ru-RU" sz="2000" b="1" dirty="0" err="1"/>
              <a:t>Page</a:t>
            </a:r>
            <a:r>
              <a:rPr lang="ru-RU" sz="2000" b="1" dirty="0"/>
              <a:t> </a:t>
            </a:r>
            <a:r>
              <a:rPr lang="ru-RU" sz="2000" b="1" dirty="0" err="1"/>
              <a:t>Level</a:t>
            </a:r>
            <a:r>
              <a:rPr lang="ru-RU" sz="2000" b="1" dirty="0"/>
              <a:t> </a:t>
            </a:r>
            <a:r>
              <a:rPr lang="ru-RU" sz="2000" b="1" dirty="0" err="1"/>
              <a:t>Locks</a:t>
            </a:r>
            <a:r>
              <a:rPr lang="ru-RU" sz="2000" b="1" dirty="0"/>
              <a:t>) в </a:t>
            </a:r>
            <a:r>
              <a:rPr lang="ru-RU" sz="2000" b="1" dirty="0" err="1"/>
              <a:t>PostgreSQL</a:t>
            </a:r>
            <a:r>
              <a:rPr lang="ru-RU" sz="2000" b="1" dirty="0"/>
              <a:t> </a:t>
            </a:r>
            <a:r>
              <a:rPr lang="ru-RU" sz="2000" dirty="0"/>
              <a:t>— это блокировки, которые используются для управления доступом для чтения/записи к страницам таблиц в общем пуле буферов. В отличие от блокировок строк (FOR UPDATE), просто написать команду, чтобы заблокировать конкретную страницу, нельзя. </a:t>
            </a:r>
            <a:endParaRPr lang="en-US" sz="2000" dirty="0" smtClean="0"/>
          </a:p>
          <a:p>
            <a:pPr algn="just"/>
            <a:r>
              <a:rPr lang="ru-RU" sz="2000" b="1" dirty="0"/>
              <a:t>Виды</a:t>
            </a:r>
          </a:p>
          <a:p>
            <a:pPr algn="just"/>
            <a:r>
              <a:rPr lang="ru-RU" sz="2000" dirty="0"/>
              <a:t>Блокировки на уровне страницы могут быть: </a:t>
            </a:r>
            <a:endParaRPr lang="en-US" sz="2000" dirty="0" smtClean="0"/>
          </a:p>
          <a:p>
            <a:pPr marL="342900" indent="-342900" algn="just">
              <a:buFont typeface="Arial" panose="020B0604020202020204" pitchFamily="34" charset="0"/>
              <a:buChar char="•"/>
            </a:pPr>
            <a:r>
              <a:rPr lang="ru-RU" sz="2000" dirty="0" smtClean="0"/>
              <a:t>Исключительными </a:t>
            </a:r>
            <a:r>
              <a:rPr lang="ru-RU" sz="2000" dirty="0"/>
              <a:t>(</a:t>
            </a:r>
            <a:r>
              <a:rPr lang="ru-RU" sz="2000" dirty="0" err="1"/>
              <a:t>exclusive</a:t>
            </a:r>
            <a:r>
              <a:rPr lang="ru-RU" sz="2000" dirty="0"/>
              <a:t>) — одновременно могут удерживаться только одной транзакцией</a:t>
            </a:r>
            <a:r>
              <a:rPr lang="ru-RU" sz="2000" dirty="0" smtClean="0"/>
              <a:t>.</a:t>
            </a:r>
            <a:endParaRPr lang="en-US" sz="2000" dirty="0" smtClean="0"/>
          </a:p>
          <a:p>
            <a:pPr marL="342900" indent="-342900" algn="just">
              <a:buFont typeface="Arial" panose="020B0604020202020204" pitchFamily="34" charset="0"/>
              <a:buChar char="•"/>
            </a:pPr>
            <a:r>
              <a:rPr lang="ru-RU" sz="2000" dirty="0" smtClean="0"/>
              <a:t>Разделяемыми </a:t>
            </a:r>
            <a:r>
              <a:rPr lang="ru-RU" sz="2000" dirty="0"/>
              <a:t>(</a:t>
            </a:r>
            <a:r>
              <a:rPr lang="ru-RU" sz="2000" dirty="0" err="1"/>
              <a:t>shared</a:t>
            </a:r>
            <a:r>
              <a:rPr lang="ru-RU" sz="2000" dirty="0"/>
              <a:t>) — могут удерживаться несколькими транзакциями.</a:t>
            </a:r>
          </a:p>
          <a:p>
            <a:pPr algn="just"/>
            <a:r>
              <a:rPr lang="ru-RU" sz="2000" b="1" dirty="0"/>
              <a:t>Механизм</a:t>
            </a:r>
          </a:p>
          <a:p>
            <a:pPr algn="just"/>
            <a:r>
              <a:rPr lang="ru-RU" sz="2000" dirty="0"/>
              <a:t>Блокировки на уровне страницы снимаются немедленно после выборки или обновления строки. Это позволяет системе контролировать доступ к данным, когда они читаются с диска или записываются. </a:t>
            </a:r>
          </a:p>
          <a:p>
            <a:pPr algn="just"/>
            <a:r>
              <a:rPr lang="ru-RU" sz="2000" b="1" dirty="0"/>
              <a:t>Некоторые особенности работы:</a:t>
            </a:r>
          </a:p>
          <a:p>
            <a:pPr algn="just"/>
            <a:r>
              <a:rPr lang="ru-RU" sz="2000" dirty="0"/>
              <a:t>•	Ожидание расширения (</a:t>
            </a:r>
            <a:r>
              <a:rPr lang="ru-RU" sz="2000" b="1" dirty="0" err="1"/>
              <a:t>Extension</a:t>
            </a:r>
            <a:r>
              <a:rPr lang="ru-RU" sz="2000" b="1" dirty="0"/>
              <a:t> </a:t>
            </a:r>
            <a:r>
              <a:rPr lang="ru-RU" sz="2000" b="1" dirty="0" err="1"/>
              <a:t>Wait</a:t>
            </a:r>
            <a:r>
              <a:rPr lang="ru-RU" sz="2000" dirty="0"/>
              <a:t>) — когда много процессов одновременно пытаются вставить данные, они могут спорить за право создать новую страницу в файле таблицы. Это проявляется как ожидание типа </a:t>
            </a:r>
            <a:r>
              <a:rPr lang="ru-RU" sz="2000" dirty="0" err="1"/>
              <a:t>LWLock</a:t>
            </a:r>
            <a:r>
              <a:rPr lang="ru-RU" sz="2000" dirty="0"/>
              <a:t>: </a:t>
            </a:r>
            <a:r>
              <a:rPr lang="ru-RU" sz="2000" dirty="0" err="1"/>
              <a:t>Extensions</a:t>
            </a:r>
            <a:r>
              <a:rPr lang="ru-RU" sz="2000" dirty="0"/>
              <a:t>.</a:t>
            </a:r>
          </a:p>
          <a:p>
            <a:pPr algn="just"/>
            <a:r>
              <a:rPr lang="ru-RU" sz="2000" dirty="0"/>
              <a:t>•	</a:t>
            </a:r>
            <a:r>
              <a:rPr lang="ru-RU" sz="2000" b="1" dirty="0" err="1"/>
              <a:t>Bloat</a:t>
            </a:r>
            <a:r>
              <a:rPr lang="ru-RU" sz="2000" b="1" dirty="0"/>
              <a:t> (раздувание) </a:t>
            </a:r>
            <a:r>
              <a:rPr lang="ru-RU" sz="2000" dirty="0"/>
              <a:t>— если страница заблокирована долгим процессом, очистка (VACUUM) может пропустить её, что ведёт к накоплению «мёртвых» строк.</a:t>
            </a:r>
          </a:p>
          <a:p>
            <a:pPr algn="just"/>
            <a:r>
              <a:rPr lang="ru-RU" sz="2000" dirty="0"/>
              <a:t>•	Конкуренция за индексы — часто блокировки страниц заметны в B-дереве индексов, когда много транзакций пытаются обновить значения в одном и том же диапазоне.</a:t>
            </a:r>
          </a:p>
          <a:p>
            <a:pPr algn="just"/>
            <a:endParaRPr lang="ru-RU" sz="2000" dirty="0"/>
          </a:p>
        </p:txBody>
      </p:sp>
    </p:spTree>
    <p:extLst>
      <p:ext uri="{BB962C8B-B14F-4D97-AF65-F5344CB8AC3E}">
        <p14:creationId xmlns:p14="http://schemas.microsoft.com/office/powerpoint/2010/main" val="640134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Прямоугольник 1"/>
          <p:cNvSpPr/>
          <p:nvPr/>
        </p:nvSpPr>
        <p:spPr>
          <a:xfrm>
            <a:off x="0" y="1"/>
            <a:ext cx="12192000" cy="6863417"/>
          </a:xfrm>
          <a:prstGeom prst="rect">
            <a:avLst/>
          </a:prstGeom>
        </p:spPr>
        <p:txBody>
          <a:bodyPr wrap="square">
            <a:spAutoFit/>
          </a:bodyPr>
          <a:lstStyle/>
          <a:p>
            <a:pPr algn="ctr"/>
            <a:r>
              <a:rPr lang="ru-RU" sz="2000" b="1" dirty="0"/>
              <a:t>Ошибки</a:t>
            </a:r>
          </a:p>
          <a:p>
            <a:pPr algn="just"/>
            <a:r>
              <a:rPr lang="ru-RU" sz="2000" dirty="0" smtClean="0"/>
              <a:t>•</a:t>
            </a:r>
            <a:r>
              <a:rPr lang="ru-RU" sz="2000" dirty="0"/>
              <a:t>	</a:t>
            </a:r>
            <a:r>
              <a:rPr lang="ru-RU" sz="2000" dirty="0" err="1"/>
              <a:t>BufferContent</a:t>
            </a:r>
            <a:r>
              <a:rPr lang="ru-RU" sz="2000" dirty="0"/>
              <a:t> — часто указывает на то, что несколько процессов борются за доступ к одной и той же странице в памяти.</a:t>
            </a:r>
          </a:p>
          <a:p>
            <a:pPr algn="just"/>
            <a:r>
              <a:rPr lang="ru-RU" sz="2000" dirty="0"/>
              <a:t>•	</a:t>
            </a:r>
            <a:r>
              <a:rPr lang="ru-RU" sz="2000" dirty="0" err="1"/>
              <a:t>Lock_not_available</a:t>
            </a:r>
            <a:r>
              <a:rPr lang="ru-RU" sz="2000" dirty="0"/>
              <a:t> — если блокировку не удалось получить за указанное время, оператор завершается с этой ошибкой</a:t>
            </a:r>
            <a:r>
              <a:rPr lang="ru-RU" sz="2000" dirty="0" smtClean="0"/>
              <a:t>.</a:t>
            </a:r>
            <a:endParaRPr lang="en-US" sz="2000" dirty="0" smtClean="0"/>
          </a:p>
          <a:p>
            <a:pPr algn="just"/>
            <a:r>
              <a:rPr lang="ru-RU" sz="2000" b="1" dirty="0"/>
              <a:t>Достоинства</a:t>
            </a:r>
          </a:p>
          <a:p>
            <a:pPr algn="just"/>
            <a:r>
              <a:rPr lang="ru-RU" sz="2000" dirty="0"/>
              <a:t>•	Управление доступом к </a:t>
            </a:r>
            <a:r>
              <a:rPr lang="ru-RU" sz="2000" dirty="0" smtClean="0"/>
              <a:t>данным</a:t>
            </a:r>
            <a:endParaRPr lang="en-US" sz="2000" dirty="0" smtClean="0"/>
          </a:p>
          <a:p>
            <a:pPr algn="just"/>
            <a:r>
              <a:rPr lang="ru-RU" sz="2000" dirty="0" smtClean="0"/>
              <a:t>•</a:t>
            </a:r>
            <a:r>
              <a:rPr lang="ru-RU" sz="2000" dirty="0"/>
              <a:t>	Возможность объединять несколько мелкозернистых </a:t>
            </a:r>
            <a:endParaRPr lang="en-US" sz="2000" dirty="0" smtClean="0"/>
          </a:p>
          <a:p>
            <a:pPr algn="just"/>
            <a:r>
              <a:rPr lang="ru-RU" sz="2000" dirty="0" smtClean="0"/>
              <a:t>•</a:t>
            </a:r>
            <a:r>
              <a:rPr lang="ru-RU" sz="2000" dirty="0"/>
              <a:t>	Автоматическое выявление ситуаций взаимных блокировок. </a:t>
            </a:r>
          </a:p>
          <a:p>
            <a:pPr algn="just"/>
            <a:r>
              <a:rPr lang="ru-RU" sz="2000" b="1" dirty="0"/>
              <a:t>Недостатки</a:t>
            </a:r>
          </a:p>
          <a:p>
            <a:pPr algn="just"/>
            <a:r>
              <a:rPr lang="ru-RU" sz="2000" dirty="0"/>
              <a:t>•	Ограничение на количество блокировок. </a:t>
            </a:r>
            <a:endParaRPr lang="en-US" sz="2000" dirty="0" smtClean="0"/>
          </a:p>
          <a:p>
            <a:pPr algn="just"/>
            <a:r>
              <a:rPr lang="ru-RU" sz="2000" dirty="0" smtClean="0"/>
              <a:t>•</a:t>
            </a:r>
            <a:r>
              <a:rPr lang="ru-RU" sz="2000" dirty="0"/>
              <a:t>	Повышение уровня блокировок (эскалация). </a:t>
            </a:r>
            <a:endParaRPr lang="en-US" sz="2000" dirty="0" smtClean="0"/>
          </a:p>
          <a:p>
            <a:pPr algn="just"/>
            <a:r>
              <a:rPr lang="ru-RU" sz="2000" dirty="0" smtClean="0"/>
              <a:t>•</a:t>
            </a:r>
            <a:r>
              <a:rPr lang="ru-RU" sz="2000" dirty="0"/>
              <a:t>	Сложность предсказать, какая транзакция будет прервана при обнаружении взаимоблокировки. </a:t>
            </a:r>
            <a:endParaRPr lang="en-US" sz="2000" dirty="0" smtClean="0"/>
          </a:p>
          <a:p>
            <a:pPr algn="just"/>
            <a:r>
              <a:rPr lang="ru-RU" sz="2000" b="1" dirty="0"/>
              <a:t>Также блокировки могут быть:</a:t>
            </a:r>
          </a:p>
          <a:p>
            <a:pPr algn="just"/>
            <a:r>
              <a:rPr lang="ru-RU" sz="2000" dirty="0"/>
              <a:t>•	Исключительными (</a:t>
            </a:r>
            <a:r>
              <a:rPr lang="ru-RU" sz="2000" dirty="0" err="1"/>
              <a:t>exclusive</a:t>
            </a:r>
            <a:r>
              <a:rPr lang="ru-RU" sz="2000" dirty="0"/>
              <a:t>) — одновременно могут удерживаться только одной транзакцией.</a:t>
            </a:r>
          </a:p>
          <a:p>
            <a:pPr algn="just"/>
            <a:r>
              <a:rPr lang="ru-RU" sz="2000" dirty="0" err="1"/>
              <a:t>PostgreSQL</a:t>
            </a:r>
            <a:r>
              <a:rPr lang="ru-RU" sz="2000" dirty="0"/>
              <a:t> есть режимы блокировок, которые являются исключительными (</a:t>
            </a:r>
            <a:r>
              <a:rPr lang="ru-RU" sz="2000" dirty="0" err="1"/>
              <a:t>exclusive</a:t>
            </a:r>
            <a:r>
              <a:rPr lang="ru-RU" sz="2000" dirty="0"/>
              <a:t>). Например: </a:t>
            </a:r>
          </a:p>
          <a:p>
            <a:pPr algn="just"/>
            <a:r>
              <a:rPr lang="ru-RU" sz="2000" dirty="0"/>
              <a:t>•	ACCESS EXCLUSIVE (</a:t>
            </a:r>
            <a:r>
              <a:rPr lang="ru-RU" sz="2000" dirty="0" err="1"/>
              <a:t>AccessExclusiveLock</a:t>
            </a:r>
            <a:r>
              <a:rPr lang="ru-RU" sz="2000" dirty="0"/>
              <a:t>) — гарантирует, что только транзакция, получившая эту блокировку, сможет получить доступ к таблице.</a:t>
            </a:r>
          </a:p>
          <a:p>
            <a:pPr algn="just"/>
            <a:r>
              <a:rPr lang="ru-RU" sz="2000" dirty="0"/>
              <a:t>•	EXCLUSIVE (</a:t>
            </a:r>
            <a:r>
              <a:rPr lang="ru-RU" sz="2000" dirty="0" err="1"/>
              <a:t>ExclusiveLock</a:t>
            </a:r>
            <a:r>
              <a:rPr lang="ru-RU" sz="2000" dirty="0"/>
              <a:t>) — допускает только одновременные блокировки ACCESS SHARE, то есть только операции чтения из таблицы могут выполняться параллельно с транзакцией, удерживающей этот режим блокировки.</a:t>
            </a:r>
          </a:p>
          <a:p>
            <a:pPr algn="just"/>
            <a:endParaRPr lang="ru-RU" sz="2000" dirty="0"/>
          </a:p>
        </p:txBody>
      </p:sp>
    </p:spTree>
    <p:extLst>
      <p:ext uri="{BB962C8B-B14F-4D97-AF65-F5344CB8AC3E}">
        <p14:creationId xmlns:p14="http://schemas.microsoft.com/office/powerpoint/2010/main" val="24859666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body" idx="1"/>
          </p:nvPr>
        </p:nvSpPr>
        <p:spPr>
          <a:xfrm>
            <a:off x="2208214" y="1700213"/>
            <a:ext cx="1811337" cy="533400"/>
          </a:xfrm>
        </p:spPr>
        <p:txBody>
          <a:bodyPr/>
          <a:lstStyle/>
          <a:p>
            <a:pPr>
              <a:buFontTx/>
              <a:buNone/>
            </a:pPr>
            <a:r>
              <a:rPr lang="ru-RU">
                <a:solidFill>
                  <a:srgbClr val="C0C0C0"/>
                </a:solidFill>
              </a:rPr>
              <a:t>Спасибо</a:t>
            </a:r>
          </a:p>
        </p:txBody>
      </p:sp>
      <p:sp>
        <p:nvSpPr>
          <p:cNvPr id="36866" name="Rectangle 3"/>
          <p:cNvSpPr>
            <a:spLocks noChangeArrowheads="1"/>
          </p:cNvSpPr>
          <p:nvPr/>
        </p:nvSpPr>
        <p:spPr bwMode="auto">
          <a:xfrm rot="-1966961">
            <a:off x="4249739" y="1474788"/>
            <a:ext cx="237648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67" name="Rectangle 4"/>
          <p:cNvSpPr>
            <a:spLocks noChangeArrowheads="1"/>
          </p:cNvSpPr>
          <p:nvPr/>
        </p:nvSpPr>
        <p:spPr bwMode="auto">
          <a:xfrm rot="1339931">
            <a:off x="3287714" y="3429000"/>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8" name="Rectangle 5"/>
          <p:cNvSpPr>
            <a:spLocks noChangeArrowheads="1"/>
          </p:cNvSpPr>
          <p:nvPr/>
        </p:nvSpPr>
        <p:spPr bwMode="auto">
          <a:xfrm rot="932178">
            <a:off x="5016500" y="2347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9" name="Rectangle 6"/>
          <p:cNvSpPr>
            <a:spLocks noChangeArrowheads="1"/>
          </p:cNvSpPr>
          <p:nvPr/>
        </p:nvSpPr>
        <p:spPr bwMode="auto">
          <a:xfrm>
            <a:off x="6024564" y="30686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0" name="Rectangle 7"/>
          <p:cNvSpPr>
            <a:spLocks noChangeArrowheads="1"/>
          </p:cNvSpPr>
          <p:nvPr/>
        </p:nvSpPr>
        <p:spPr bwMode="auto">
          <a:xfrm rot="-634205">
            <a:off x="2063751" y="2060575"/>
            <a:ext cx="28797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71" name="Rectangle 8"/>
          <p:cNvSpPr>
            <a:spLocks noChangeArrowheads="1"/>
          </p:cNvSpPr>
          <p:nvPr/>
        </p:nvSpPr>
        <p:spPr bwMode="auto">
          <a:xfrm>
            <a:off x="6743700" y="14843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2" name="Rectangle 9"/>
          <p:cNvSpPr>
            <a:spLocks noChangeArrowheads="1"/>
          </p:cNvSpPr>
          <p:nvPr/>
        </p:nvSpPr>
        <p:spPr bwMode="auto">
          <a:xfrm rot="-2708425">
            <a:off x="1353344" y="1331119"/>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3" name="Rectangle 10"/>
          <p:cNvSpPr>
            <a:spLocks noChangeArrowheads="1"/>
          </p:cNvSpPr>
          <p:nvPr/>
        </p:nvSpPr>
        <p:spPr bwMode="auto">
          <a:xfrm rot="-1124404">
            <a:off x="7175500" y="44370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4" name="Rectangle 11"/>
          <p:cNvSpPr>
            <a:spLocks noChangeArrowheads="1"/>
          </p:cNvSpPr>
          <p:nvPr/>
        </p:nvSpPr>
        <p:spPr bwMode="auto">
          <a:xfrm>
            <a:off x="2486025" y="34655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75" name="Rectangle 12"/>
          <p:cNvSpPr>
            <a:spLocks noChangeArrowheads="1"/>
          </p:cNvSpPr>
          <p:nvPr/>
        </p:nvSpPr>
        <p:spPr bwMode="auto">
          <a:xfrm rot="-1966961">
            <a:off x="3000375" y="6207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6" name="Rectangle 13"/>
          <p:cNvSpPr>
            <a:spLocks noChangeArrowheads="1"/>
          </p:cNvSpPr>
          <p:nvPr/>
        </p:nvSpPr>
        <p:spPr bwMode="auto">
          <a:xfrm rot="1339931">
            <a:off x="3071814"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7" name="Rectangle 14"/>
          <p:cNvSpPr>
            <a:spLocks noChangeArrowheads="1"/>
          </p:cNvSpPr>
          <p:nvPr/>
        </p:nvSpPr>
        <p:spPr bwMode="auto">
          <a:xfrm rot="932178">
            <a:off x="5521325" y="4357688"/>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8" name="Rectangle 15"/>
          <p:cNvSpPr>
            <a:spLocks noChangeArrowheads="1"/>
          </p:cNvSpPr>
          <p:nvPr/>
        </p:nvSpPr>
        <p:spPr bwMode="auto">
          <a:xfrm>
            <a:off x="6529389"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9" name="Rectangle 16"/>
          <p:cNvSpPr>
            <a:spLocks noChangeArrowheads="1"/>
          </p:cNvSpPr>
          <p:nvPr/>
        </p:nvSpPr>
        <p:spPr bwMode="auto">
          <a:xfrm rot="-634205">
            <a:off x="3144839" y="414178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0" name="Rectangle 17"/>
          <p:cNvSpPr>
            <a:spLocks noChangeArrowheads="1"/>
          </p:cNvSpPr>
          <p:nvPr/>
        </p:nvSpPr>
        <p:spPr bwMode="auto">
          <a:xfrm rot="932178">
            <a:off x="7608889" y="35718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1" name="Rectangle 18"/>
          <p:cNvSpPr>
            <a:spLocks noChangeArrowheads="1"/>
          </p:cNvSpPr>
          <p:nvPr/>
        </p:nvSpPr>
        <p:spPr bwMode="auto">
          <a:xfrm rot="-2708425">
            <a:off x="4945857" y="4933157"/>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2" name="Rectangle 19"/>
          <p:cNvSpPr>
            <a:spLocks noChangeArrowheads="1"/>
          </p:cNvSpPr>
          <p:nvPr/>
        </p:nvSpPr>
        <p:spPr bwMode="auto">
          <a:xfrm rot="-2055057">
            <a:off x="8616950" y="55895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3" name="Rectangle 20"/>
          <p:cNvSpPr>
            <a:spLocks noChangeArrowheads="1"/>
          </p:cNvSpPr>
          <p:nvPr/>
        </p:nvSpPr>
        <p:spPr bwMode="auto">
          <a:xfrm rot="-1966961">
            <a:off x="8856664" y="21320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84" name="Rectangle 21"/>
          <p:cNvSpPr>
            <a:spLocks noChangeArrowheads="1"/>
          </p:cNvSpPr>
          <p:nvPr/>
        </p:nvSpPr>
        <p:spPr bwMode="auto">
          <a:xfrm rot="932178">
            <a:off x="7535864" y="22764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5" name="Rectangle 22"/>
          <p:cNvSpPr>
            <a:spLocks noChangeArrowheads="1"/>
          </p:cNvSpPr>
          <p:nvPr/>
        </p:nvSpPr>
        <p:spPr bwMode="auto">
          <a:xfrm>
            <a:off x="8543925" y="299720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6" name="Rectangle 23"/>
          <p:cNvSpPr>
            <a:spLocks noChangeArrowheads="1"/>
          </p:cNvSpPr>
          <p:nvPr/>
        </p:nvSpPr>
        <p:spPr bwMode="auto">
          <a:xfrm rot="550398">
            <a:off x="5664200" y="19161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thanks</a:t>
            </a:r>
          </a:p>
        </p:txBody>
      </p:sp>
      <p:sp>
        <p:nvSpPr>
          <p:cNvPr id="36887" name="Rectangle 24"/>
          <p:cNvSpPr>
            <a:spLocks noChangeArrowheads="1"/>
          </p:cNvSpPr>
          <p:nvPr/>
        </p:nvSpPr>
        <p:spPr bwMode="auto">
          <a:xfrm>
            <a:off x="5005389" y="3394075"/>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88" name="Rectangle 25"/>
          <p:cNvSpPr>
            <a:spLocks noChangeArrowheads="1"/>
          </p:cNvSpPr>
          <p:nvPr/>
        </p:nvSpPr>
        <p:spPr bwMode="auto">
          <a:xfrm rot="1339931">
            <a:off x="4151314" y="47244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89" name="Rectangle 26"/>
          <p:cNvSpPr>
            <a:spLocks noChangeArrowheads="1"/>
          </p:cNvSpPr>
          <p:nvPr/>
        </p:nvSpPr>
        <p:spPr bwMode="auto">
          <a:xfrm rot="-1966961">
            <a:off x="3333750" y="23495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0" name="Rectangle 27"/>
          <p:cNvSpPr>
            <a:spLocks noChangeArrowheads="1"/>
          </p:cNvSpPr>
          <p:nvPr/>
        </p:nvSpPr>
        <p:spPr bwMode="auto">
          <a:xfrm rot="932178">
            <a:off x="6240464" y="37163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1" name="Rectangle 28"/>
          <p:cNvSpPr>
            <a:spLocks noChangeArrowheads="1"/>
          </p:cNvSpPr>
          <p:nvPr/>
        </p:nvSpPr>
        <p:spPr bwMode="auto">
          <a:xfrm>
            <a:off x="6888164" y="25638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2" name="Rectangle 29"/>
          <p:cNvSpPr>
            <a:spLocks noChangeArrowheads="1"/>
          </p:cNvSpPr>
          <p:nvPr/>
        </p:nvSpPr>
        <p:spPr bwMode="auto">
          <a:xfrm rot="-634205">
            <a:off x="1524000" y="27082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3" name="Rectangle 30"/>
          <p:cNvSpPr>
            <a:spLocks noChangeArrowheads="1"/>
          </p:cNvSpPr>
          <p:nvPr/>
        </p:nvSpPr>
        <p:spPr bwMode="auto">
          <a:xfrm>
            <a:off x="1524000" y="40767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4" name="Rectangle 31"/>
          <p:cNvSpPr>
            <a:spLocks noChangeArrowheads="1"/>
          </p:cNvSpPr>
          <p:nvPr/>
        </p:nvSpPr>
        <p:spPr bwMode="auto">
          <a:xfrm rot="1339931">
            <a:off x="1524000" y="59483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5" name="Rectangle 32"/>
          <p:cNvSpPr>
            <a:spLocks noChangeArrowheads="1"/>
          </p:cNvSpPr>
          <p:nvPr/>
        </p:nvSpPr>
        <p:spPr bwMode="auto">
          <a:xfrm>
            <a:off x="2351089" y="5516563"/>
            <a:ext cx="1811337" cy="533400"/>
          </a:xfrm>
          <a:prstGeom prst="rect">
            <a:avLst/>
          </a:prstGeom>
          <a:noFill/>
          <a:ln w="9525">
            <a:noFill/>
            <a:miter lim="800000"/>
            <a:headEnd/>
            <a:tailEnd/>
          </a:ln>
        </p:spPr>
        <p:txBody>
          <a:bodyPr/>
          <a:lstStyle/>
          <a:p>
            <a:pPr marL="342900" indent="-342900" eaLnBrk="0" hangingPunct="0">
              <a:spcBef>
                <a:spcPct val="20000"/>
              </a:spcBef>
            </a:pPr>
            <a:r>
              <a:rPr lang="en-US" sz="3200">
                <a:solidFill>
                  <a:srgbClr val="C0C0C0"/>
                </a:solidFill>
              </a:rPr>
              <a:t>thanks</a:t>
            </a:r>
            <a:endParaRPr lang="ru-RU" sz="3200">
              <a:solidFill>
                <a:srgbClr val="C0C0C0"/>
              </a:solidFill>
            </a:endParaRPr>
          </a:p>
        </p:txBody>
      </p:sp>
      <p:sp>
        <p:nvSpPr>
          <p:cNvPr id="36896" name="Rectangle 33"/>
          <p:cNvSpPr>
            <a:spLocks noChangeArrowheads="1"/>
          </p:cNvSpPr>
          <p:nvPr/>
        </p:nvSpPr>
        <p:spPr bwMode="auto">
          <a:xfrm>
            <a:off x="6743700" y="60213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7" name="Rectangle 34"/>
          <p:cNvSpPr>
            <a:spLocks noChangeArrowheads="1"/>
          </p:cNvSpPr>
          <p:nvPr/>
        </p:nvSpPr>
        <p:spPr bwMode="auto">
          <a:xfrm rot="932178">
            <a:off x="7896225" y="51562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8" name="Rectangle 35"/>
          <p:cNvSpPr>
            <a:spLocks noChangeArrowheads="1"/>
          </p:cNvSpPr>
          <p:nvPr/>
        </p:nvSpPr>
        <p:spPr bwMode="auto">
          <a:xfrm rot="-634205">
            <a:off x="4943476" y="5589588"/>
            <a:ext cx="24479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9" name="Rectangle 36"/>
          <p:cNvSpPr>
            <a:spLocks noChangeArrowheads="1"/>
          </p:cNvSpPr>
          <p:nvPr/>
        </p:nvSpPr>
        <p:spPr bwMode="auto">
          <a:xfrm rot="-1966961">
            <a:off x="3478214" y="5805488"/>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0" name="Rectangle 37"/>
          <p:cNvSpPr>
            <a:spLocks noGrp="1" noChangeArrowheads="1"/>
          </p:cNvSpPr>
          <p:nvPr>
            <p:ph type="title"/>
          </p:nvPr>
        </p:nvSpPr>
        <p:spPr>
          <a:xfrm>
            <a:off x="2063750" y="2492376"/>
            <a:ext cx="8229600" cy="1439863"/>
          </a:xfrm>
        </p:spPr>
        <p:txBody>
          <a:bodyPr/>
          <a:lstStyle/>
          <a:p>
            <a:r>
              <a:rPr lang="ru-RU" sz="4800" b="1">
                <a:solidFill>
                  <a:srgbClr val="000099"/>
                </a:solidFill>
              </a:rPr>
              <a:t>Спасибо за внимание!</a:t>
            </a:r>
          </a:p>
        </p:txBody>
      </p:sp>
      <p:sp>
        <p:nvSpPr>
          <p:cNvPr id="36901" name="Rectangle 38"/>
          <p:cNvSpPr>
            <a:spLocks noChangeArrowheads="1"/>
          </p:cNvSpPr>
          <p:nvPr/>
        </p:nvSpPr>
        <p:spPr bwMode="auto">
          <a:xfrm>
            <a:off x="184785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2" name="Rectangle 39"/>
          <p:cNvSpPr>
            <a:spLocks noChangeArrowheads="1"/>
          </p:cNvSpPr>
          <p:nvPr/>
        </p:nvSpPr>
        <p:spPr bwMode="auto">
          <a:xfrm rot="-1966961">
            <a:off x="674370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3" name="Rectangle 40"/>
          <p:cNvSpPr>
            <a:spLocks noChangeArrowheads="1"/>
          </p:cNvSpPr>
          <p:nvPr/>
        </p:nvSpPr>
        <p:spPr bwMode="auto">
          <a:xfrm rot="932178">
            <a:off x="8543925"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4" name="Rectangle 41"/>
          <p:cNvSpPr>
            <a:spLocks noChangeArrowheads="1"/>
          </p:cNvSpPr>
          <p:nvPr/>
        </p:nvSpPr>
        <p:spPr bwMode="auto">
          <a:xfrm rot="-634205">
            <a:off x="5303839" y="8366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5" name="Rectangle 42"/>
          <p:cNvSpPr>
            <a:spLocks noChangeArrowheads="1"/>
          </p:cNvSpPr>
          <p:nvPr/>
        </p:nvSpPr>
        <p:spPr bwMode="auto">
          <a:xfrm rot="-1966961">
            <a:off x="3719514" y="112395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906" name="Rectangle 43"/>
          <p:cNvSpPr>
            <a:spLocks noChangeArrowheads="1"/>
          </p:cNvSpPr>
          <p:nvPr/>
        </p:nvSpPr>
        <p:spPr bwMode="auto">
          <a:xfrm rot="1073047">
            <a:off x="7535864" y="10525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7" name="Rectangle 44"/>
          <p:cNvSpPr>
            <a:spLocks noChangeArrowheads="1"/>
          </p:cNvSpPr>
          <p:nvPr/>
        </p:nvSpPr>
        <p:spPr bwMode="auto">
          <a:xfrm rot="-1124404">
            <a:off x="8856664" y="42926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908" name="Rectangle 45"/>
          <p:cNvSpPr>
            <a:spLocks noChangeArrowheads="1"/>
          </p:cNvSpPr>
          <p:nvPr/>
        </p:nvSpPr>
        <p:spPr bwMode="auto">
          <a:xfrm rot="-1966961">
            <a:off x="8129589" y="1374775"/>
            <a:ext cx="24844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909" name="Rectangle 46"/>
          <p:cNvSpPr>
            <a:spLocks noChangeArrowheads="1"/>
          </p:cNvSpPr>
          <p:nvPr/>
        </p:nvSpPr>
        <p:spPr bwMode="auto">
          <a:xfrm rot="-634205">
            <a:off x="4800600" y="188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10" name="Rectangle 47"/>
          <p:cNvSpPr>
            <a:spLocks noChangeArrowheads="1"/>
          </p:cNvSpPr>
          <p:nvPr/>
        </p:nvSpPr>
        <p:spPr bwMode="auto">
          <a:xfrm rot="932178">
            <a:off x="8975725" y="35718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Tree>
    <p:extLst>
      <p:ext uri="{BB962C8B-B14F-4D97-AF65-F5344CB8AC3E}">
        <p14:creationId xmlns:p14="http://schemas.microsoft.com/office/powerpoint/2010/main" val="337812762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2492</TotalTime>
  <Words>2331</Words>
  <Application>Microsoft Office PowerPoint</Application>
  <PresentationFormat>Широкоэкранный</PresentationFormat>
  <Paragraphs>604</Paragraphs>
  <Slides>47</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47</vt:i4>
      </vt:variant>
    </vt:vector>
  </HeadingPairs>
  <TitlesOfParts>
    <vt:vector size="54" baseType="lpstr">
      <vt:lpstr>Arial</vt:lpstr>
      <vt:lpstr>Calibri</vt:lpstr>
      <vt:lpstr>Calibri Light</vt:lpstr>
      <vt:lpstr>Tahoma</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Информационно-вычислительные и ситуационные центры в государственном и региональном управлении.</dc:title>
  <dc:creator>Андрей Руфеев</dc:creator>
  <cp:lastModifiedBy>cluser</cp:lastModifiedBy>
  <cp:revision>207</cp:revision>
  <dcterms:created xsi:type="dcterms:W3CDTF">2021-10-24T19:59:40Z</dcterms:created>
  <dcterms:modified xsi:type="dcterms:W3CDTF">2026-03-28T09:34:33Z</dcterms:modified>
</cp:coreProperties>
</file>