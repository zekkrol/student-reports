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648" r:id="rId1"/>
  </p:sldMasterIdLst>
  <p:notesMasterIdLst>
    <p:notesMasterId r:id="rId37"/>
  </p:notesMasterIdLst>
  <p:sldIdLst>
    <p:sldId id="319" r:id="rId2"/>
    <p:sldId id="257" r:id="rId3"/>
    <p:sldId id="484" r:id="rId4"/>
    <p:sldId id="577" r:id="rId5"/>
    <p:sldId id="585" r:id="rId6"/>
    <p:sldId id="584" r:id="rId7"/>
    <p:sldId id="575" r:id="rId8"/>
    <p:sldId id="590" r:id="rId9"/>
    <p:sldId id="591" r:id="rId10"/>
    <p:sldId id="480" r:id="rId11"/>
    <p:sldId id="485" r:id="rId12"/>
    <p:sldId id="592" r:id="rId13"/>
    <p:sldId id="586" r:id="rId14"/>
    <p:sldId id="599" r:id="rId15"/>
    <p:sldId id="515" r:id="rId16"/>
    <p:sldId id="517" r:id="rId17"/>
    <p:sldId id="560" r:id="rId18"/>
    <p:sldId id="483" r:id="rId19"/>
    <p:sldId id="594" r:id="rId20"/>
    <p:sldId id="487" r:id="rId21"/>
    <p:sldId id="579" r:id="rId22"/>
    <p:sldId id="595" r:id="rId23"/>
    <p:sldId id="578" r:id="rId24"/>
    <p:sldId id="481" r:id="rId25"/>
    <p:sldId id="490" r:id="rId26"/>
    <p:sldId id="597" r:id="rId27"/>
    <p:sldId id="525" r:id="rId28"/>
    <p:sldId id="596" r:id="rId29"/>
    <p:sldId id="488" r:id="rId30"/>
    <p:sldId id="527" r:id="rId31"/>
    <p:sldId id="598" r:id="rId32"/>
    <p:sldId id="587" r:id="rId33"/>
    <p:sldId id="589" r:id="rId34"/>
    <p:sldId id="529" r:id="rId35"/>
    <p:sldId id="338" r:id="rId3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2" autoAdjust="0"/>
  </p:normalViewPr>
  <p:slideViewPr>
    <p:cSldViewPr snapToGrid="0">
      <p:cViewPr>
        <p:scale>
          <a:sx n="60" d="100"/>
          <a:sy n="60" d="100"/>
        </p:scale>
        <p:origin x="414" y="8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18" y="223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1E16D-40AE-4F7B-89DA-08FA8576FE62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7B180-2896-4825-A371-C953116C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748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34819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ru-RU" altLang="ru-RU" smtClean="0">
              <a:latin typeface="Arial" pitchFamily="34" charset="0"/>
            </a:endParaRPr>
          </a:p>
        </p:txBody>
      </p:sp>
      <p:sp>
        <p:nvSpPr>
          <p:cNvPr id="34820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3995C959-3E6F-4A2D-BBCE-A1FF53A98587}" type="slidenum">
              <a:rPr lang="ru-RU" altLang="ru-RU">
                <a:solidFill>
                  <a:prstClr val="black"/>
                </a:solidFill>
              </a:rPr>
              <a:pPr/>
              <a:t>1</a:t>
            </a:fld>
            <a:endParaRPr lang="ru-RU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879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964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928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067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046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800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878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135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137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02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88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5443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54585-7C67-480B-A3E7-2717674931C3}" type="datetimeFigureOut">
              <a:rPr lang="ru-RU" smtClean="0"/>
              <a:t>04.09.2025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720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ChangeArrowheads="1"/>
          </p:cNvSpPr>
          <p:nvPr/>
        </p:nvSpPr>
        <p:spPr bwMode="auto">
          <a:xfrm>
            <a:off x="4956265" y="510698"/>
            <a:ext cx="569118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НИЖЕГОРОДСКИЙ		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ИНСТИТУТ			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УПРАВЛЕНИЯ			</a:t>
            </a:r>
            <a:endParaRPr lang="en-US" altLang="ru-RU" sz="1400" b="1" dirty="0">
              <a:solidFill>
                <a:srgbClr val="A40000"/>
              </a:solidFill>
              <a:latin typeface="+mn-lt"/>
              <a:cs typeface="Tahoma" pitchFamily="34" charset="0"/>
            </a:endParaRP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475" y="854076"/>
            <a:ext cx="2344738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Прямоугольник 7"/>
          <p:cNvSpPr>
            <a:spLocks noChangeArrowheads="1"/>
          </p:cNvSpPr>
          <p:nvPr/>
        </p:nvSpPr>
        <p:spPr bwMode="auto">
          <a:xfrm flipH="1">
            <a:off x="351631" y="2762182"/>
            <a:ext cx="2843213" cy="1538287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defTabSz="1042988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1042988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2400" b="1" dirty="0" smtClean="0">
                <a:solidFill>
                  <a:schemeClr val="bg1"/>
                </a:solidFill>
              </a:rPr>
              <a:t>ТЕМА № 1</a:t>
            </a:r>
            <a:endParaRPr lang="ru-RU" altLang="ru-RU" sz="2400" b="1" dirty="0">
              <a:solidFill>
                <a:schemeClr val="bg1"/>
              </a:solidFill>
            </a:endParaRPr>
          </a:p>
        </p:txBody>
      </p:sp>
      <p:sp>
        <p:nvSpPr>
          <p:cNvPr id="5127" name="Text Box 23"/>
          <p:cNvSpPr txBox="1">
            <a:spLocks noChangeArrowheads="1"/>
          </p:cNvSpPr>
          <p:nvPr/>
        </p:nvSpPr>
        <p:spPr bwMode="auto">
          <a:xfrm>
            <a:off x="7535435" y="4944070"/>
            <a:ext cx="443397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600" dirty="0" smtClean="0"/>
              <a:t>кафедра </a:t>
            </a:r>
            <a:r>
              <a:rPr lang="ru-RU" sz="1600" dirty="0"/>
              <a:t>информатики и информационных технологий, </a:t>
            </a:r>
            <a:r>
              <a:rPr lang="ru-RU" sz="1600" dirty="0" err="1"/>
              <a:t>к.т.н</a:t>
            </a:r>
            <a:r>
              <a:rPr lang="ru-RU" sz="1600" dirty="0"/>
              <a:t>, доцент, </a:t>
            </a:r>
            <a:r>
              <a:rPr lang="ru-RU" sz="1600" dirty="0" smtClean="0"/>
              <a:t>Гордеев А.Б.</a:t>
            </a:r>
            <a:endParaRPr lang="ru-RU" altLang="ru-RU" sz="1600" b="1" dirty="0">
              <a:solidFill>
                <a:srgbClr val="000000"/>
              </a:solidFill>
              <a:latin typeface="Arial"/>
              <a:cs typeface="Arial" charset="0"/>
            </a:endParaRPr>
          </a:p>
        </p:txBody>
      </p:sp>
      <p:grpSp>
        <p:nvGrpSpPr>
          <p:cNvPr id="17415" name="Группа 12"/>
          <p:cNvGrpSpPr>
            <a:grpSpLocks/>
          </p:cNvGrpSpPr>
          <p:nvPr/>
        </p:nvGrpSpPr>
        <p:grpSpPr bwMode="auto">
          <a:xfrm>
            <a:off x="4616451" y="1598613"/>
            <a:ext cx="5732463" cy="781050"/>
            <a:chOff x="0" y="0"/>
            <a:chExt cx="6210300" cy="781275"/>
          </a:xfrm>
        </p:grpSpPr>
        <p:pic>
          <p:nvPicPr>
            <p:cNvPr id="17416" name="Рисунок 13" descr="D:\ИПК\Фотографии\на стенд\на сайт\главная\Академия 2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900" y="0"/>
              <a:ext cx="1028700" cy="781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7" name="Рисунок 14" descr="D:\для фотопрезентации ФПК\Презид.программа\фото Открытие Президентской  Прогр\6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5" r="-2" b="1205"/>
            <a:stretch>
              <a:fillRect/>
            </a:stretch>
          </p:blipFill>
          <p:spPr bwMode="auto">
            <a:xfrm>
              <a:off x="0" y="1"/>
              <a:ext cx="1114425" cy="781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8" name="Рисунок 15" descr="D:\Презид.программа 20 мая-05 июня 2013\30.05.13\работа в проектных группах_30.05.13\DSCF8003.JP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2300" y="9750"/>
              <a:ext cx="1038225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9" name="Рисунок 16" descr="D:\для фотопрезентации ФПК\Президентская программа (6) 17 сентября 2012 (З).JP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9525"/>
              <a:ext cx="102870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Рисунок 17" descr="D:\ИПК\Фотографии\для книги Академии\1.2.Здание.jp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" b="1219"/>
            <a:stretch>
              <a:fillRect/>
            </a:stretch>
          </p:blipFill>
          <p:spPr bwMode="auto">
            <a:xfrm>
              <a:off x="4191000" y="9525"/>
              <a:ext cx="97155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1" name="Рисунок 18" descr="D:\ИПК\Фотографии\для книги Академии\5.2.JPG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2550" y="9525"/>
              <a:ext cx="104775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extBox 1"/>
          <p:cNvSpPr txBox="1"/>
          <p:nvPr/>
        </p:nvSpPr>
        <p:spPr>
          <a:xfrm>
            <a:off x="4367213" y="6021288"/>
            <a:ext cx="3718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Нижний Новгород 20</a:t>
            </a:r>
            <a:r>
              <a:rPr lang="en-US" sz="1600" b="1" dirty="0" smtClean="0"/>
              <a:t>2</a:t>
            </a:r>
            <a:r>
              <a:rPr lang="ru-RU" sz="1600" b="1" dirty="0" smtClean="0"/>
              <a:t>5</a:t>
            </a:r>
            <a:endParaRPr lang="ru-RU" sz="16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799138" y="3244334"/>
            <a:ext cx="710297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>
                <a:solidFill>
                  <a:srgbClr val="FF0000"/>
                </a:solidFill>
              </a:rPr>
              <a:t>Введение в базы данных и SQL</a:t>
            </a:r>
          </a:p>
        </p:txBody>
      </p:sp>
    </p:spTree>
    <p:extLst>
      <p:ext uri="{BB962C8B-B14F-4D97-AF65-F5344CB8AC3E}">
        <p14:creationId xmlns:p14="http://schemas.microsoft.com/office/powerpoint/2010/main" val="771745572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2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4000" b="1" dirty="0">
                <a:solidFill>
                  <a:srgbClr val="FF0000"/>
                </a:solidFill>
              </a:rPr>
              <a:t>Что такое базы данных и зачем они </a:t>
            </a:r>
            <a:r>
              <a:rPr lang="ru-RU" sz="4000" b="1" dirty="0" smtClean="0">
                <a:solidFill>
                  <a:srgbClr val="FF0000"/>
                </a:solidFill>
              </a:rPr>
              <a:t>нужны</a:t>
            </a:r>
          </a:p>
          <a:p>
            <a:pPr lvl="1" algn="ctr"/>
            <a:r>
              <a:rPr lang="ru-RU" sz="4000" b="1" dirty="0" smtClean="0"/>
              <a:t>Вопрос 1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80174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r="2076" b="9000"/>
          <a:stretch/>
        </p:blipFill>
        <p:spPr>
          <a:xfrm>
            <a:off x="593557" y="0"/>
            <a:ext cx="4957011" cy="345220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126" y="128338"/>
            <a:ext cx="5072071" cy="3675648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52205"/>
            <a:ext cx="4957011" cy="336089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4957011" y="3994484"/>
            <a:ext cx="723498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База данных - это самодокументированное собрание интегрированных записей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/>
              <a:t>База данных содержит четыре типа данных:</a:t>
            </a:r>
          </a:p>
          <a:p>
            <a:r>
              <a:rPr lang="ru-RU" dirty="0"/>
              <a:t>Файлы данных пользователя, хранящие непосредственно данные;</a:t>
            </a:r>
          </a:p>
          <a:p>
            <a:r>
              <a:rPr lang="ru-RU" dirty="0"/>
              <a:t>Индексы, описывающие связь межу данными;</a:t>
            </a:r>
          </a:p>
          <a:p>
            <a:r>
              <a:rPr lang="ru-RU" dirty="0"/>
              <a:t>Метаданные приложений, описывающие структуру форм входных и выходных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695258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507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807672"/>
              </p:ext>
            </p:extLst>
          </p:nvPr>
        </p:nvGraphicFramePr>
        <p:xfrm>
          <a:off x="0" y="1"/>
          <a:ext cx="6653048" cy="51710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63262">
                  <a:extLst>
                    <a:ext uri="{9D8B030D-6E8A-4147-A177-3AD203B41FA5}">
                      <a16:colId xmlns:a16="http://schemas.microsoft.com/office/drawing/2014/main" val="3961084481"/>
                    </a:ext>
                  </a:extLst>
                </a:gridCol>
                <a:gridCol w="1663262">
                  <a:extLst>
                    <a:ext uri="{9D8B030D-6E8A-4147-A177-3AD203B41FA5}">
                      <a16:colId xmlns:a16="http://schemas.microsoft.com/office/drawing/2014/main" val="1141710991"/>
                    </a:ext>
                  </a:extLst>
                </a:gridCol>
                <a:gridCol w="1663262">
                  <a:extLst>
                    <a:ext uri="{9D8B030D-6E8A-4147-A177-3AD203B41FA5}">
                      <a16:colId xmlns:a16="http://schemas.microsoft.com/office/drawing/2014/main" val="4014020849"/>
                    </a:ext>
                  </a:extLst>
                </a:gridCol>
                <a:gridCol w="1663262">
                  <a:extLst>
                    <a:ext uri="{9D8B030D-6E8A-4147-A177-3AD203B41FA5}">
                      <a16:colId xmlns:a16="http://schemas.microsoft.com/office/drawing/2014/main" val="2877678242"/>
                    </a:ext>
                  </a:extLst>
                </a:gridCol>
              </a:tblGrid>
              <a:tr h="73872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Имя студента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возраст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группа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куратор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3232666906"/>
                  </a:ext>
                </a:extLst>
              </a:tr>
              <a:tr h="73872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Пахомов П. С.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19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МН-09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Иванов А. П.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3146546673"/>
                  </a:ext>
                </a:extLst>
              </a:tr>
              <a:tr h="73872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Сергеев А. А.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19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ПРУМ-09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Сидоров Е. А.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1284577626"/>
                  </a:ext>
                </a:extLst>
              </a:tr>
              <a:tr h="73872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Тищенко Е. М.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19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ПРУМ-09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Сидоров Е. А.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3957100995"/>
                  </a:ext>
                </a:extLst>
              </a:tr>
              <a:tr h="73872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Анищук А. Е.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19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ПРУМ-09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Сидоров Е. А.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193227543"/>
                  </a:ext>
                </a:extLst>
              </a:tr>
              <a:tr h="73872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Дарьялова В. Г.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19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МН-09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Иванов А. П.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2653788658"/>
                  </a:ext>
                </a:extLst>
              </a:tr>
              <a:tr h="73872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Назарчук Е. В.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</a:rPr>
                        <a:t>19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МН-09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</a:rPr>
                        <a:t>Иванов А. П.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521461229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804043" y="5580993"/>
            <a:ext cx="4635062" cy="5675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tx1"/>
                </a:solidFill>
              </a:rPr>
              <a:t>Таблица данных</a:t>
            </a:r>
            <a:endParaRPr lang="ru-RU" sz="2400" dirty="0">
              <a:solidFill>
                <a:schemeClr val="tx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565635"/>
              </p:ext>
            </p:extLst>
          </p:nvPr>
        </p:nvGraphicFramePr>
        <p:xfrm>
          <a:off x="7015655" y="0"/>
          <a:ext cx="4776952" cy="37048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63372">
                  <a:extLst>
                    <a:ext uri="{9D8B030D-6E8A-4147-A177-3AD203B41FA5}">
                      <a16:colId xmlns:a16="http://schemas.microsoft.com/office/drawing/2014/main" val="2153433741"/>
                    </a:ext>
                  </a:extLst>
                </a:gridCol>
                <a:gridCol w="621263">
                  <a:extLst>
                    <a:ext uri="{9D8B030D-6E8A-4147-A177-3AD203B41FA5}">
                      <a16:colId xmlns:a16="http://schemas.microsoft.com/office/drawing/2014/main" val="99251909"/>
                    </a:ext>
                  </a:extLst>
                </a:gridCol>
                <a:gridCol w="1592317">
                  <a:extLst>
                    <a:ext uri="{9D8B030D-6E8A-4147-A177-3AD203B41FA5}">
                      <a16:colId xmlns:a16="http://schemas.microsoft.com/office/drawing/2014/main" val="2811936509"/>
                    </a:ext>
                  </a:extLst>
                </a:gridCol>
              </a:tblGrid>
              <a:tr h="74657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Имя студента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возраст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группа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3444606133"/>
                  </a:ext>
                </a:extLst>
              </a:tr>
              <a:tr h="49305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Пахомов П. С.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19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МН-09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3235118149"/>
                  </a:ext>
                </a:extLst>
              </a:tr>
              <a:tr h="49305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Сергеев А. А.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19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ПРУМ-09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3151999863"/>
                  </a:ext>
                </a:extLst>
              </a:tr>
              <a:tr h="49305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Тищенко Е. М.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</a:rPr>
                        <a:t>19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ПРУМ-09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2316287300"/>
                  </a:ext>
                </a:extLst>
              </a:tr>
              <a:tr h="49305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Анищук А. Е.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19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ПРУМ-09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147163282"/>
                  </a:ext>
                </a:extLst>
              </a:tr>
              <a:tr h="49305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Дарьялова В. Г.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19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МН-09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2618328076"/>
                  </a:ext>
                </a:extLst>
              </a:tr>
              <a:tr h="49305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Назарчук Е. В.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19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</a:rPr>
                        <a:t>МН-09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379545318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7788164" y="3704898"/>
            <a:ext cx="2270235" cy="331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tx1"/>
                </a:solidFill>
              </a:rPr>
              <a:t>Данные </a:t>
            </a:r>
            <a:endParaRPr lang="ru-RU" sz="2400" dirty="0">
              <a:solidFill>
                <a:schemeClr val="tx1"/>
              </a:solidFill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858360"/>
              </p:ext>
            </p:extLst>
          </p:nvPr>
        </p:nvGraphicFramePr>
        <p:xfrm>
          <a:off x="7204840" y="4209393"/>
          <a:ext cx="4587766" cy="15765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93883">
                  <a:extLst>
                    <a:ext uri="{9D8B030D-6E8A-4147-A177-3AD203B41FA5}">
                      <a16:colId xmlns:a16="http://schemas.microsoft.com/office/drawing/2014/main" val="991466732"/>
                    </a:ext>
                  </a:extLst>
                </a:gridCol>
                <a:gridCol w="2293883">
                  <a:extLst>
                    <a:ext uri="{9D8B030D-6E8A-4147-A177-3AD203B41FA5}">
                      <a16:colId xmlns:a16="http://schemas.microsoft.com/office/drawing/2014/main" val="2455266803"/>
                    </a:ext>
                  </a:extLst>
                </a:gridCol>
              </a:tblGrid>
              <a:tr h="52551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</a:rPr>
                        <a:t>группа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куратор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3843044358"/>
                  </a:ext>
                </a:extLst>
              </a:tr>
              <a:tr h="52551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</a:rPr>
                        <a:t>МН-09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</a:rPr>
                        <a:t>Иванов А. П.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3650907796"/>
                  </a:ext>
                </a:extLst>
              </a:tr>
              <a:tr h="52551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ПРУМ-09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</a:rPr>
                        <a:t>Сидоров Е. А.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3031140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7873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4020206" y="0"/>
            <a:ext cx="4871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/>
              <a:t>КЛАССИФИКАЦИЯ БАЗ ДАННЫХ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1654"/>
            <a:ext cx="5770179" cy="561670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rot="10800000" flipV="1">
            <a:off x="835571" y="6218352"/>
            <a:ext cx="40044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Классификация баз данных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716" y="531654"/>
            <a:ext cx="4516822" cy="2436039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5935715" y="2967693"/>
            <a:ext cx="45168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БД с сетевым доступом (Файл-сервер)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978" y="3337025"/>
            <a:ext cx="4130566" cy="239980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6180083" y="5913860"/>
            <a:ext cx="58963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БД с сетевым доступом Клиент - сервер</a:t>
            </a:r>
          </a:p>
        </p:txBody>
      </p:sp>
    </p:spTree>
    <p:extLst>
      <p:ext uri="{BB962C8B-B14F-4D97-AF65-F5344CB8AC3E}">
        <p14:creationId xmlns:p14="http://schemas.microsoft.com/office/powerpoint/2010/main" val="3035731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0329"/>
            <a:ext cx="5914286" cy="312380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/>
              <a:t>Система управления базами данных </a:t>
            </a:r>
            <a:r>
              <a:rPr lang="ru-RU" sz="2400" dirty="0"/>
              <a:t>(СУБД) - это совокупность языковых и программных средств, предназначенных для создания, ведения и совместного использования БД многими пользователями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00329"/>
            <a:ext cx="5914286" cy="3009064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 flipH="1">
            <a:off x="7677806" y="4209393"/>
            <a:ext cx="25540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Состав СУБД</a:t>
            </a:r>
          </a:p>
        </p:txBody>
      </p:sp>
      <p:sp>
        <p:nvSpPr>
          <p:cNvPr id="7" name="Прямоугольник 6"/>
          <p:cNvSpPr/>
          <p:nvPr/>
        </p:nvSpPr>
        <p:spPr>
          <a:xfrm rot="10800000" flipV="1">
            <a:off x="481263" y="4302111"/>
            <a:ext cx="45238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Классификация базы 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2663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49" y="0"/>
            <a:ext cx="10017585" cy="619225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096126" y="6192253"/>
            <a:ext cx="6015790" cy="6657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tx1"/>
                </a:solidFill>
              </a:rPr>
              <a:t>Пользовательская схема</a:t>
            </a:r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774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1999" cy="5807243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4122821" y="6015789"/>
            <a:ext cx="5261811" cy="6577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Основы базы данных</a:t>
            </a:r>
            <a:endParaRPr lang="ru-RU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869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10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4000" b="1" dirty="0">
                <a:solidFill>
                  <a:srgbClr val="FF0000"/>
                </a:solidFill>
              </a:rPr>
              <a:t>Основные понятия реляционной модели</a:t>
            </a:r>
            <a:endParaRPr lang="ru-RU" sz="4000" b="1" dirty="0" smtClean="0">
              <a:solidFill>
                <a:srgbClr val="FF0000"/>
              </a:solidFill>
            </a:endParaRPr>
          </a:p>
          <a:p>
            <a:pPr lvl="1" algn="ctr"/>
            <a:r>
              <a:rPr lang="ru-RU" sz="4000" b="1" dirty="0" smtClean="0"/>
              <a:t>Вопрос 2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485755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1890" y="0"/>
            <a:ext cx="1205011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Базы данных бывают двух видов:</a:t>
            </a:r>
          </a:p>
          <a:p>
            <a:r>
              <a:rPr lang="ru-RU" sz="2400" dirty="0"/>
              <a:t>1.	Реляционные — в виде связанных между собой таблиц.</a:t>
            </a:r>
          </a:p>
          <a:p>
            <a:pPr marL="457200" indent="-457200">
              <a:buAutoNum type="arabicPeriod" startAt="2"/>
            </a:pPr>
            <a:r>
              <a:rPr lang="ru-RU" sz="2400" dirty="0" err="1" smtClean="0"/>
              <a:t>Нереляционные</a:t>
            </a:r>
            <a:r>
              <a:rPr lang="ru-RU" sz="2400" dirty="0" smtClean="0"/>
              <a:t> </a:t>
            </a:r>
            <a:r>
              <a:rPr lang="ru-RU" sz="2400" dirty="0"/>
              <a:t>— в виде ключа и значения</a:t>
            </a:r>
            <a:r>
              <a:rPr lang="ru-RU" sz="2400" dirty="0" smtClean="0"/>
              <a:t>.</a:t>
            </a:r>
          </a:p>
          <a:p>
            <a:r>
              <a:rPr lang="ru-RU" sz="2400" b="1" dirty="0"/>
              <a:t>Основные понятия реляционной модели данных</a:t>
            </a:r>
            <a:r>
              <a:rPr lang="ru-RU" sz="2400" dirty="0"/>
              <a:t> включают понятия «тип данных», «домен», «атрибут» и «отношение».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59" y="1938992"/>
            <a:ext cx="8245365" cy="463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998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302" t="31185" r="2076" b="5293"/>
          <a:stretch/>
        </p:blipFill>
        <p:spPr>
          <a:xfrm>
            <a:off x="0" y="-1"/>
            <a:ext cx="12192000" cy="5469647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229853" y="5807242"/>
            <a:ext cx="7331242" cy="7379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Основные понятия реляционных баз данных</a:t>
            </a:r>
            <a:endParaRPr lang="ru-RU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329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/>
              <a:t>Домен</a:t>
            </a:r>
            <a:r>
              <a:rPr lang="ru-RU" sz="2200" dirty="0"/>
              <a:t> — это множество допустимых значений для атрибута (столбца) таблицы. Оно определяется на основе:  </a:t>
            </a:r>
          </a:p>
          <a:p>
            <a:r>
              <a:rPr lang="ru-RU" sz="2200" dirty="0"/>
              <a:t>•	базового типа данных (например, целые числа, строки, даты);</a:t>
            </a:r>
          </a:p>
          <a:p>
            <a:r>
              <a:rPr lang="ru-RU" sz="2200" dirty="0"/>
              <a:t>•	ограничений (логических выражений), которые задают дополнительные правила для значений</a:t>
            </a:r>
            <a:r>
              <a:rPr lang="ru-RU" sz="2200" dirty="0" smtClean="0"/>
              <a:t>.</a:t>
            </a:r>
          </a:p>
          <a:p>
            <a:r>
              <a:rPr lang="ru-RU" sz="2200" b="1" dirty="0"/>
              <a:t>Атрибут</a:t>
            </a:r>
            <a:r>
              <a:rPr lang="ru-RU" sz="2200" dirty="0"/>
              <a:t> — это свойство или характеристика, которая описывает объект (сущность) или отношение между </a:t>
            </a:r>
            <a:r>
              <a:rPr lang="ru-RU" sz="2200" dirty="0" smtClean="0"/>
              <a:t>объектами.</a:t>
            </a:r>
            <a:r>
              <a:rPr lang="ru-RU" sz="2200" dirty="0"/>
              <a:t>  </a:t>
            </a:r>
          </a:p>
          <a:p>
            <a:r>
              <a:rPr lang="ru-RU" sz="2200" dirty="0"/>
              <a:t>Некоторые характеристики атрибутов:</a:t>
            </a:r>
          </a:p>
          <a:p>
            <a:pPr lvl="0"/>
            <a:r>
              <a:rPr lang="ru-RU" sz="2200" b="1" dirty="0"/>
              <a:t>Имя атрибута</a:t>
            </a:r>
            <a:r>
              <a:rPr lang="ru-RU" sz="2200" dirty="0"/>
              <a:t> — уникальное название, позволяющее идентифицировать атрибут внутри сущности или таблицы.</a:t>
            </a:r>
          </a:p>
          <a:p>
            <a:pPr lvl="0"/>
            <a:r>
              <a:rPr lang="ru-RU" sz="2200" b="1" dirty="0"/>
              <a:t>Тип данных</a:t>
            </a:r>
            <a:r>
              <a:rPr lang="ru-RU" sz="2200" dirty="0"/>
              <a:t> — каждый атрибут хранит значения определённого формата.</a:t>
            </a:r>
          </a:p>
          <a:p>
            <a:pPr lvl="0"/>
            <a:r>
              <a:rPr lang="ru-RU" sz="2200" b="1" dirty="0"/>
              <a:t>Домен (область допустимых значений)</a:t>
            </a:r>
            <a:r>
              <a:rPr lang="ru-RU" sz="2200" dirty="0"/>
              <a:t> — атрибут может иметь ограничения по значениям. Например, атрибут «Возраст» не может быть отрицательным, а «Пол» часто ограничен значениями «М» и «Ж».</a:t>
            </a:r>
          </a:p>
          <a:p>
            <a:r>
              <a:rPr lang="ru-RU" sz="2200" b="1" dirty="0" smtClean="0"/>
              <a:t>Отношение</a:t>
            </a:r>
            <a:r>
              <a:rPr lang="ru-RU" sz="2200" dirty="0" smtClean="0"/>
              <a:t> </a:t>
            </a:r>
            <a:r>
              <a:rPr lang="ru-RU" sz="2200" dirty="0"/>
              <a:t>— это плоская (двумерная) таблица, состоящая из столбцов и строк.  </a:t>
            </a:r>
          </a:p>
          <a:p>
            <a:r>
              <a:rPr lang="ru-RU" sz="2200" dirty="0"/>
              <a:t>Отношение содержит две части:  </a:t>
            </a:r>
          </a:p>
          <a:p>
            <a:pPr lvl="0"/>
            <a:r>
              <a:rPr lang="ru-RU" sz="2200" b="1" dirty="0"/>
              <a:t>Заголовок</a:t>
            </a:r>
            <a:r>
              <a:rPr lang="ru-RU" sz="2200" dirty="0"/>
              <a:t> — содержит фиксированное количество атрибутов.</a:t>
            </a:r>
          </a:p>
          <a:p>
            <a:pPr lvl="0"/>
            <a:r>
              <a:rPr lang="ru-RU" sz="2200" b="1" dirty="0"/>
              <a:t>Тело</a:t>
            </a:r>
            <a:r>
              <a:rPr lang="ru-RU" sz="2200" dirty="0"/>
              <a:t> — содержит множество кортежей — строк.</a:t>
            </a:r>
          </a:p>
          <a:p>
            <a:r>
              <a:rPr lang="ru-RU" sz="2200" dirty="0"/>
              <a:t>Число атрибутов в отношении называют степенью (или арностью) отношения, число кортежей — мощностью отношения</a:t>
            </a:r>
            <a:r>
              <a:rPr lang="ru-RU" sz="22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24785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105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342290" y="0"/>
            <a:ext cx="4143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Основные модели данных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346841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Модель данных </a:t>
            </a:r>
            <a:r>
              <a:rPr lang="ru-RU" sz="2400" dirty="0"/>
              <a:t>(МД) – совокупность правил порождения структур данных в базе данных, операций над ними, а также ограничений целостности, определяющих допустимые связи и значения данных, последовательность их </a:t>
            </a:r>
            <a:r>
              <a:rPr lang="ru-RU" sz="2400" dirty="0" smtClean="0"/>
              <a:t>изменения. </a:t>
            </a:r>
            <a:endParaRPr lang="ru-RU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" y="3368841"/>
            <a:ext cx="46013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Иерархическая модель данных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466535"/>
            <a:ext cx="4601324" cy="190230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380" y="1320850"/>
            <a:ext cx="2916620" cy="3065306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 flipH="1">
            <a:off x="9275378" y="4386156"/>
            <a:ext cx="29166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Представление связей в сетевой модели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909" y="3442884"/>
            <a:ext cx="4237976" cy="317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795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Реляционная модель данных была предложена Э. Коддом и основана на понятии отношения (</a:t>
            </a:r>
            <a:r>
              <a:rPr lang="ru-RU" sz="2400" dirty="0" err="1"/>
              <a:t>relation</a:t>
            </a:r>
            <a:r>
              <a:rPr lang="ru-RU" sz="2400" dirty="0" smtClean="0"/>
              <a:t>).</a:t>
            </a:r>
          </a:p>
          <a:p>
            <a:pPr algn="just"/>
            <a:r>
              <a:rPr lang="ru-RU" sz="2400" dirty="0" smtClean="0"/>
              <a:t> </a:t>
            </a:r>
            <a:r>
              <a:rPr lang="ru-RU" sz="2400" b="1" dirty="0"/>
              <a:t>Реляционная модель данных </a:t>
            </a:r>
            <a:r>
              <a:rPr lang="ru-RU" sz="2400" dirty="0"/>
              <a:t>(РМД) – это модель, в которой данные можно представить в виде отношений, изменяющихся во времени. Традиционно в реляционных системах отношением называют таблицу, кортежем – строку таблицы, а атрибутом – столбец. При этом атрибуты имеют уникальные имена в рамках одного отношения. Достоинство реляционной модели заключается в простоте для понимания, наглядности и удобстве физической </a:t>
            </a:r>
            <a:r>
              <a:rPr lang="ru-RU" sz="2400" dirty="0" smtClean="0"/>
              <a:t>реализации</a:t>
            </a:r>
            <a:endParaRPr lang="ru-RU" sz="24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7746" t="11294" r="6880" b="2326"/>
          <a:stretch/>
        </p:blipFill>
        <p:spPr>
          <a:xfrm>
            <a:off x="4283242" y="2679032"/>
            <a:ext cx="5511394" cy="417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61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638503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Некоторые преимущества использования реляционной модели данных</a:t>
            </a:r>
            <a:r>
              <a:rPr lang="ru-RU" sz="2400" dirty="0"/>
              <a:t>:</a:t>
            </a:r>
          </a:p>
          <a:p>
            <a:r>
              <a:rPr lang="ru-RU" sz="2400" dirty="0" smtClean="0"/>
              <a:t>• Структурированное </a:t>
            </a:r>
            <a:r>
              <a:rPr lang="ru-RU" sz="2400" dirty="0"/>
              <a:t>хранение информации. </a:t>
            </a:r>
          </a:p>
          <a:p>
            <a:r>
              <a:rPr lang="ru-RU" sz="2400" dirty="0" smtClean="0"/>
              <a:t>• Поддержка </a:t>
            </a:r>
            <a:r>
              <a:rPr lang="ru-RU" sz="2400" dirty="0"/>
              <a:t>языка SQL. </a:t>
            </a:r>
          </a:p>
          <a:p>
            <a:r>
              <a:rPr lang="ru-RU" sz="2400" dirty="0" smtClean="0"/>
              <a:t>• Гарантия </a:t>
            </a:r>
            <a:r>
              <a:rPr lang="ru-RU" sz="2400" dirty="0"/>
              <a:t>целостности. </a:t>
            </a:r>
            <a:endParaRPr lang="ru-RU" sz="2400" dirty="0" smtClean="0"/>
          </a:p>
          <a:p>
            <a:r>
              <a:rPr lang="ru-RU" sz="2400" dirty="0" smtClean="0"/>
              <a:t>• Мощные </a:t>
            </a:r>
            <a:r>
              <a:rPr lang="ru-RU" sz="2400" dirty="0"/>
              <a:t>аналитические возможности. </a:t>
            </a:r>
          </a:p>
          <a:p>
            <a:r>
              <a:rPr lang="ru-RU" sz="2400" dirty="0" smtClean="0"/>
              <a:t>• Адаптивность </a:t>
            </a:r>
            <a:r>
              <a:rPr lang="ru-RU" sz="2400" dirty="0"/>
              <a:t>для бизнес-приложений. </a:t>
            </a:r>
          </a:p>
          <a:p>
            <a:r>
              <a:rPr lang="ru-RU" sz="2400" dirty="0" smtClean="0"/>
              <a:t>• Безопасность данных.</a:t>
            </a:r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32786" y="0"/>
            <a:ext cx="605921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Некоторые недостатки реляционной модели данных:</a:t>
            </a:r>
          </a:p>
          <a:p>
            <a:r>
              <a:rPr lang="ru-RU" sz="2400" dirty="0" smtClean="0"/>
              <a:t>• Ограничения </a:t>
            </a:r>
            <a:r>
              <a:rPr lang="ru-RU" sz="2400" dirty="0"/>
              <a:t>масштабирования</a:t>
            </a:r>
            <a:r>
              <a:rPr lang="ru-RU" sz="2400" dirty="0" smtClean="0"/>
              <a:t>..</a:t>
            </a:r>
            <a:endParaRPr lang="ru-RU" sz="2400" dirty="0"/>
          </a:p>
          <a:p>
            <a:r>
              <a:rPr lang="ru-RU" sz="2400" dirty="0" smtClean="0"/>
              <a:t>• Жёсткая структура</a:t>
            </a:r>
          </a:p>
          <a:p>
            <a:r>
              <a:rPr lang="ru-RU" sz="2400" dirty="0" smtClean="0"/>
              <a:t>• Низкая </a:t>
            </a:r>
            <a:r>
              <a:rPr lang="ru-RU" sz="2400" dirty="0"/>
              <a:t>производительность при работе с большим объёмом данных. </a:t>
            </a:r>
            <a:endParaRPr lang="ru-RU" sz="2400" dirty="0" smtClean="0"/>
          </a:p>
          <a:p>
            <a:r>
              <a:rPr lang="ru-RU" sz="2400" dirty="0" smtClean="0"/>
              <a:t>• Сложность </a:t>
            </a:r>
            <a:r>
              <a:rPr lang="ru-RU" sz="2400" dirty="0"/>
              <a:t>проектирования. </a:t>
            </a:r>
            <a:endParaRPr lang="ru-RU" sz="2400" dirty="0" smtClean="0"/>
          </a:p>
          <a:p>
            <a:r>
              <a:rPr lang="ru-RU" sz="2400" dirty="0" smtClean="0"/>
              <a:t>• Высокая </a:t>
            </a:r>
            <a:r>
              <a:rPr lang="ru-RU" sz="2400" dirty="0"/>
              <a:t>стоимость коммерческих решений. Коммерческие СУБД, такие как </a:t>
            </a:r>
            <a:r>
              <a:rPr lang="ru-RU" sz="2400" dirty="0" err="1"/>
              <a:t>Oracle</a:t>
            </a:r>
            <a:r>
              <a:rPr lang="ru-RU" sz="2400" dirty="0"/>
              <a:t>, могут быть дорогими для небольших компаний.</a:t>
            </a:r>
          </a:p>
          <a:p>
            <a:r>
              <a:rPr lang="ru-RU" sz="2400" dirty="0" smtClean="0"/>
              <a:t>• Высокая </a:t>
            </a:r>
            <a:r>
              <a:rPr lang="ru-RU" sz="2400" dirty="0"/>
              <a:t>стоимость </a:t>
            </a:r>
            <a:r>
              <a:rPr lang="ru-RU" sz="2400" dirty="0" smtClean="0"/>
              <a:t>администрирования</a:t>
            </a:r>
            <a:r>
              <a:rPr lang="ru-RU" sz="2400" dirty="0"/>
              <a:t>. </a:t>
            </a:r>
            <a:endParaRPr lang="ru-RU" sz="2400" dirty="0" smtClean="0"/>
          </a:p>
          <a:p>
            <a:r>
              <a:rPr lang="ru-RU" sz="2400" dirty="0" smtClean="0"/>
              <a:t>• Работа </a:t>
            </a:r>
            <a:r>
              <a:rPr lang="ru-RU" sz="2400" dirty="0"/>
              <a:t>только со </a:t>
            </a:r>
            <a:r>
              <a:rPr lang="ru-RU" sz="2400" dirty="0" err="1" smtClean="0"/>
              <a:t>труктурированными</a:t>
            </a:r>
            <a:r>
              <a:rPr lang="ru-RU" sz="2400" dirty="0" smtClean="0"/>
              <a:t> </a:t>
            </a:r>
            <a:r>
              <a:rPr lang="ru-RU" sz="2400" dirty="0"/>
              <a:t>данными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55600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18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4000" b="1" dirty="0">
                <a:solidFill>
                  <a:srgbClr val="FF0000"/>
                </a:solidFill>
              </a:rPr>
              <a:t>Что такое язык </a:t>
            </a:r>
            <a:r>
              <a:rPr lang="en-US" sz="4000" b="1" dirty="0">
                <a:solidFill>
                  <a:srgbClr val="FF0000"/>
                </a:solidFill>
              </a:rPr>
              <a:t>SQL</a:t>
            </a:r>
            <a:endParaRPr lang="ru-RU" sz="4000" b="1" dirty="0" smtClean="0">
              <a:solidFill>
                <a:srgbClr val="FF0000"/>
              </a:solidFill>
            </a:endParaRPr>
          </a:p>
          <a:p>
            <a:pPr lvl="1" algn="ctr"/>
            <a:r>
              <a:rPr lang="ru-RU" sz="4000" b="1" dirty="0" smtClean="0"/>
              <a:t>Вопрос 3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79622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39"/>
            <a:ext cx="12192000" cy="684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448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SQL</a:t>
            </a:r>
            <a:r>
              <a:rPr lang="ru-RU" sz="2400" dirty="0"/>
              <a:t> (</a:t>
            </a:r>
            <a:r>
              <a:rPr lang="ru-RU" sz="2400" dirty="0" err="1"/>
              <a:t>Structured</a:t>
            </a:r>
            <a:r>
              <a:rPr lang="ru-RU" sz="2400" dirty="0"/>
              <a:t> </a:t>
            </a:r>
            <a:r>
              <a:rPr lang="ru-RU" sz="2400" dirty="0" err="1"/>
              <a:t>Query</a:t>
            </a:r>
            <a:r>
              <a:rPr lang="ru-RU" sz="2400" dirty="0"/>
              <a:t> </a:t>
            </a:r>
            <a:r>
              <a:rPr lang="ru-RU" sz="2400" dirty="0" err="1"/>
              <a:t>Language</a:t>
            </a:r>
            <a:r>
              <a:rPr lang="ru-RU" sz="2400" dirty="0"/>
              <a:t>) — язык структурированных запросов. Предназначен для работы с реляционными базами данных (БД) — массивами информации, которые связаны между собой и представлены в виде таблиц.  </a:t>
            </a:r>
          </a:p>
          <a:p>
            <a:r>
              <a:rPr lang="ru-RU" sz="2400" b="1" dirty="0"/>
              <a:t>Особенности:</a:t>
            </a:r>
          </a:p>
          <a:p>
            <a:r>
              <a:rPr lang="ru-RU" sz="2400" dirty="0"/>
              <a:t>•	стандартизирован: одни и те же SQL-запросы работают с БД с разными системами управления;</a:t>
            </a:r>
          </a:p>
          <a:p>
            <a:r>
              <a:rPr lang="ru-RU" sz="2400" dirty="0"/>
              <a:t>•	прост и понятен: запрос информации с его помощью выглядит как команда на английском языке;</a:t>
            </a:r>
          </a:p>
          <a:p>
            <a:r>
              <a:rPr lang="ru-RU" sz="2400" dirty="0"/>
              <a:t>•	декларативен: пользователь запрашивает ожидаемый результат, а не прописывает шаги к его достижению</a:t>
            </a:r>
            <a:r>
              <a:rPr lang="ru-RU" sz="2400" dirty="0" smtClean="0"/>
              <a:t>.</a:t>
            </a:r>
          </a:p>
          <a:p>
            <a:r>
              <a:rPr lang="ru-RU" sz="2400" b="1" dirty="0" smtClean="0"/>
              <a:t>Назначение - </a:t>
            </a:r>
            <a:r>
              <a:rPr lang="ru-RU" sz="2400" dirty="0" smtClean="0"/>
              <a:t>SQL </a:t>
            </a:r>
            <a:r>
              <a:rPr lang="ru-RU" sz="2400" dirty="0"/>
              <a:t>позволяет выполнять различные операции с данными, например:</a:t>
            </a:r>
          </a:p>
          <a:p>
            <a:pPr lvl="0"/>
            <a:r>
              <a:rPr lang="ru-RU" sz="2400" dirty="0"/>
              <a:t>извлекать данные из одной или нескольких таблиц;</a:t>
            </a:r>
          </a:p>
          <a:p>
            <a:pPr lvl="0"/>
            <a:r>
              <a:rPr lang="ru-RU" sz="2400" dirty="0"/>
              <a:t>вставлять, обновлять и удалять данные в базе данных;</a:t>
            </a:r>
          </a:p>
          <a:p>
            <a:pPr lvl="0"/>
            <a:r>
              <a:rPr lang="ru-RU" sz="2400" dirty="0"/>
              <a:t>управлять структурой базы данных: создавать, изменять и удалять таблицы и другие объекты (например, индексы, представления).</a:t>
            </a:r>
          </a:p>
          <a:p>
            <a:r>
              <a:rPr lang="ru-RU" sz="2400" b="1" dirty="0"/>
              <a:t>SQL используют в различных сферах</a:t>
            </a:r>
            <a:r>
              <a:rPr lang="ru-RU" sz="2400" dirty="0"/>
              <a:t>, где нужно работать с данными: от разработки программного обеспечения до анализа данных и бизнес-аналитики.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286221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Структура</a:t>
            </a:r>
          </a:p>
          <a:p>
            <a:r>
              <a:rPr lang="ru-RU" sz="2400" dirty="0"/>
              <a:t>Язык SQL представляет собой совокупность операторов, инструкций и вычисляемых функций. Операторы делятся на несколько групп в соответствии с задачами, которые они решают:  </a:t>
            </a:r>
          </a:p>
          <a:p>
            <a:r>
              <a:rPr lang="ru-RU" sz="2400" dirty="0"/>
              <a:t>•	DDL (</a:t>
            </a:r>
            <a:r>
              <a:rPr lang="ru-RU" sz="2400" dirty="0" err="1"/>
              <a:t>Data</a:t>
            </a:r>
            <a:r>
              <a:rPr lang="ru-RU" sz="2400" dirty="0"/>
              <a:t> </a:t>
            </a:r>
            <a:r>
              <a:rPr lang="ru-RU" sz="2400" dirty="0" err="1"/>
              <a:t>Definition</a:t>
            </a:r>
            <a:r>
              <a:rPr lang="ru-RU" sz="2400" dirty="0"/>
              <a:t> </a:t>
            </a:r>
            <a:r>
              <a:rPr lang="ru-RU" sz="2400" dirty="0" err="1"/>
              <a:t>Language</a:t>
            </a:r>
            <a:r>
              <a:rPr lang="ru-RU" sz="2400" dirty="0"/>
              <a:t>) — операторы определения данных, работают с объектами (целыми таблицами). Например, CREATE — создание объекта, ALTER — изменение объекта, DROP — удаление объекта.</a:t>
            </a:r>
          </a:p>
          <a:p>
            <a:r>
              <a:rPr lang="ru-RU" sz="2400" dirty="0"/>
              <a:t>•	DML (</a:t>
            </a:r>
            <a:r>
              <a:rPr lang="ru-RU" sz="2400" dirty="0" err="1"/>
              <a:t>Data</a:t>
            </a:r>
            <a:r>
              <a:rPr lang="ru-RU" sz="2400" dirty="0"/>
              <a:t> </a:t>
            </a:r>
            <a:r>
              <a:rPr lang="ru-RU" sz="2400" dirty="0" err="1"/>
              <a:t>Manipulation</a:t>
            </a:r>
            <a:r>
              <a:rPr lang="ru-RU" sz="2400" dirty="0"/>
              <a:t> </a:t>
            </a:r>
            <a:r>
              <a:rPr lang="ru-RU" sz="2400" dirty="0" err="1"/>
              <a:t>Language</a:t>
            </a:r>
            <a:r>
              <a:rPr lang="ru-RU" sz="2400" dirty="0"/>
              <a:t>) — операторы манипуляции данными, работают с содержимым таблиц — строками, атрибутами и значениями.</a:t>
            </a:r>
          </a:p>
          <a:p>
            <a:r>
              <a:rPr lang="ru-RU" sz="2400" dirty="0"/>
              <a:t>•	DCL (</a:t>
            </a:r>
            <a:r>
              <a:rPr lang="ru-RU" sz="2400" dirty="0" err="1"/>
              <a:t>Data</a:t>
            </a:r>
            <a:r>
              <a:rPr lang="ru-RU" sz="2400" dirty="0"/>
              <a:t> </a:t>
            </a:r>
            <a:r>
              <a:rPr lang="ru-RU" sz="2400" dirty="0" err="1"/>
              <a:t>Control</a:t>
            </a:r>
            <a:r>
              <a:rPr lang="ru-RU" sz="2400" dirty="0"/>
              <a:t> </a:t>
            </a:r>
            <a:r>
              <a:rPr lang="ru-RU" sz="2400" dirty="0" err="1"/>
              <a:t>Language</a:t>
            </a:r>
            <a:r>
              <a:rPr lang="ru-RU" sz="2400" dirty="0"/>
              <a:t>) — операторы определения доступа к данным, определяют, кто из пользователей может отправлять запросы к базе, менять объекты и значения.</a:t>
            </a:r>
          </a:p>
          <a:p>
            <a:r>
              <a:rPr lang="ru-RU" sz="2400" b="1" dirty="0"/>
              <a:t>Операторы</a:t>
            </a:r>
          </a:p>
          <a:p>
            <a:r>
              <a:rPr lang="ru-RU" sz="2400" dirty="0"/>
              <a:t>Некоторые операторы SQL:</a:t>
            </a:r>
          </a:p>
          <a:p>
            <a:r>
              <a:rPr lang="ru-RU" sz="2400" dirty="0"/>
              <a:t>•	SELECT — выбор данных, удовлетворяющих заданным условиям.</a:t>
            </a:r>
          </a:p>
          <a:p>
            <a:r>
              <a:rPr lang="ru-RU" sz="2400" dirty="0"/>
              <a:t>•	INSERT — добавляет новые данные.</a:t>
            </a:r>
          </a:p>
          <a:p>
            <a:r>
              <a:rPr lang="ru-RU" sz="2400" dirty="0"/>
              <a:t>•	UPDATE — изменяет существующие данные.</a:t>
            </a:r>
          </a:p>
          <a:p>
            <a:r>
              <a:rPr lang="ru-RU" sz="2400" dirty="0"/>
              <a:t>•	DELETE — удаляет данные.</a:t>
            </a:r>
          </a:p>
        </p:txBody>
      </p:sp>
    </p:spTree>
    <p:extLst>
      <p:ext uri="{BB962C8B-B14F-4D97-AF65-F5344CB8AC3E}">
        <p14:creationId xmlns:p14="http://schemas.microsoft.com/office/powerpoint/2010/main" val="2713658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796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Некоторые преимущества использования SQL:</a:t>
            </a:r>
          </a:p>
          <a:p>
            <a:r>
              <a:rPr lang="ru-RU" sz="2400" dirty="0"/>
              <a:t>•	Быстрая обработка запросов. </a:t>
            </a:r>
            <a:endParaRPr lang="ru-RU" sz="2400" dirty="0" smtClean="0"/>
          </a:p>
          <a:p>
            <a:r>
              <a:rPr lang="ru-RU" sz="2400" dirty="0" smtClean="0"/>
              <a:t>•</a:t>
            </a:r>
            <a:r>
              <a:rPr lang="ru-RU" sz="2400" dirty="0"/>
              <a:t>	Отсутствие необходимости предварительного изучения азов программирования. </a:t>
            </a:r>
            <a:endParaRPr lang="ru-RU" sz="2400" dirty="0" smtClean="0"/>
          </a:p>
          <a:p>
            <a:r>
              <a:rPr lang="ru-RU" sz="2400" dirty="0" smtClean="0"/>
              <a:t>•</a:t>
            </a:r>
            <a:r>
              <a:rPr lang="ru-RU" sz="2400" dirty="0"/>
              <a:t>	Простой и понятный синтаксис. </a:t>
            </a:r>
            <a:endParaRPr lang="ru-RU" sz="2400" dirty="0" smtClean="0"/>
          </a:p>
          <a:p>
            <a:r>
              <a:rPr lang="ru-RU" sz="2400" dirty="0" smtClean="0"/>
              <a:t>•</a:t>
            </a:r>
            <a:r>
              <a:rPr lang="ru-RU" sz="2400" dirty="0"/>
              <a:t>	Стандартизация и наличие документации. </a:t>
            </a:r>
          </a:p>
          <a:p>
            <a:r>
              <a:rPr lang="ru-RU" sz="2400" dirty="0"/>
              <a:t>•	Портативность. SQL может использоваться в приложениях для компьютеров, на серверах, в ноутбуках, независимо от установленной платформы и операционной системы.</a:t>
            </a:r>
          </a:p>
          <a:p>
            <a:r>
              <a:rPr lang="ru-RU" sz="2400" dirty="0"/>
              <a:t>•	Интерактивность. </a:t>
            </a:r>
          </a:p>
          <a:p>
            <a:r>
              <a:rPr lang="ru-RU" sz="2400" dirty="0"/>
              <a:t>•	Масштабируемость. </a:t>
            </a:r>
          </a:p>
          <a:p>
            <a:r>
              <a:rPr lang="ru-RU" sz="2400" dirty="0"/>
              <a:t>•	Высокий уровень безопасности. </a:t>
            </a:r>
          </a:p>
          <a:p>
            <a:r>
              <a:rPr lang="ru-RU" sz="2400" dirty="0"/>
              <a:t>•	Целостность данных. </a:t>
            </a:r>
            <a:endParaRPr lang="ru-RU" sz="2400" dirty="0" smtClean="0"/>
          </a:p>
          <a:p>
            <a:r>
              <a:rPr lang="ru-RU" sz="2400" dirty="0" smtClean="0"/>
              <a:t>•</a:t>
            </a:r>
            <a:r>
              <a:rPr lang="ru-RU" sz="2400" dirty="0"/>
              <a:t>	Возможность резервного копирования и восстановления. </a:t>
            </a:r>
            <a:endParaRPr lang="ru-RU" sz="2400" dirty="0" smtClean="0"/>
          </a:p>
          <a:p>
            <a:r>
              <a:rPr lang="ru-RU" sz="2400" dirty="0" smtClean="0"/>
              <a:t>•</a:t>
            </a:r>
            <a:r>
              <a:rPr lang="ru-RU" sz="2400" dirty="0"/>
              <a:t>	Согласованность информации. </a:t>
            </a:r>
          </a:p>
        </p:txBody>
      </p:sp>
    </p:spTree>
    <p:extLst>
      <p:ext uri="{BB962C8B-B14F-4D97-AF65-F5344CB8AC3E}">
        <p14:creationId xmlns:p14="http://schemas.microsoft.com/office/powerpoint/2010/main" val="2889003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24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04041" y="1844565"/>
            <a:ext cx="1017673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solidFill>
                  <a:srgbClr val="FF0000"/>
                </a:solidFill>
              </a:rPr>
              <a:t> </a:t>
            </a:r>
          </a:p>
          <a:p>
            <a:pPr algn="ctr"/>
            <a:r>
              <a:rPr lang="ru-RU" sz="4000" b="1" dirty="0">
                <a:solidFill>
                  <a:srgbClr val="FF0000"/>
                </a:solidFill>
              </a:rPr>
              <a:t>Концептуальный уровень проектирования, Логический уровень проектирования, Физический уровень </a:t>
            </a:r>
            <a:r>
              <a:rPr lang="ru-RU" sz="4000" b="1" dirty="0" smtClean="0">
                <a:solidFill>
                  <a:srgbClr val="FF0000"/>
                </a:solidFill>
              </a:rPr>
              <a:t>проектирования</a:t>
            </a:r>
          </a:p>
          <a:p>
            <a:pPr algn="ctr"/>
            <a:r>
              <a:rPr lang="ru-RU" sz="5400" b="1" dirty="0" smtClean="0"/>
              <a:t>Вопрос 4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3228976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/>
              <a:t>Проектирование базы данных (БД) включает три уровня: концептуальный, логический и физический.</a:t>
            </a:r>
            <a:endParaRPr lang="ru-RU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5474" t="18042" r="5337" b="13604"/>
          <a:stretch/>
        </p:blipFill>
        <p:spPr>
          <a:xfrm>
            <a:off x="0" y="830997"/>
            <a:ext cx="12191999" cy="606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976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Проектирование базы данных (БД) включает три уровня: концептуальный, логический и </a:t>
            </a:r>
            <a:r>
              <a:rPr lang="ru-RU" sz="2400" dirty="0" smtClean="0"/>
              <a:t>физический.</a:t>
            </a:r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830998"/>
            <a:ext cx="12192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/>
              <a:t>Концептуальный уровень</a:t>
            </a:r>
          </a:p>
          <a:p>
            <a:r>
              <a:rPr lang="ru-RU" sz="2200" dirty="0" smtClean="0"/>
              <a:t>Цель — создание абстрактной модели данных, которая описывает общую структуру и логику БД. Задачи:  </a:t>
            </a:r>
          </a:p>
          <a:p>
            <a:r>
              <a:rPr lang="ru-RU" sz="2200" dirty="0" smtClean="0"/>
              <a:t>•	определить сущности (объекты) и их атрибуты;</a:t>
            </a:r>
          </a:p>
          <a:p>
            <a:r>
              <a:rPr lang="ru-RU" sz="2200" dirty="0" smtClean="0"/>
              <a:t>•	определить отношения между объектами (например, «один-к-одному», «один-ко-многим» или «многие-ко-многим»);</a:t>
            </a:r>
          </a:p>
          <a:p>
            <a:r>
              <a:rPr lang="ru-RU" sz="2200" dirty="0" smtClean="0"/>
              <a:t>•	установить ограничения между объектами, которые обеспечивают согласованность и целостность данных.</a:t>
            </a:r>
          </a:p>
          <a:p>
            <a:r>
              <a:rPr lang="ru-RU" sz="2200" dirty="0" smtClean="0"/>
              <a:t> Результат: концептуальная модель данных, которая не зависит от конкретной системы управления базами данных (СУБД).  </a:t>
            </a:r>
            <a:endParaRPr lang="ru-RU" sz="22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-1" r="-669" b="7763"/>
          <a:stretch/>
        </p:blipFill>
        <p:spPr>
          <a:xfrm>
            <a:off x="5307931" y="3958390"/>
            <a:ext cx="4525879" cy="281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36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Логический уровень</a:t>
            </a:r>
          </a:p>
          <a:p>
            <a:r>
              <a:rPr lang="ru-RU" sz="2400" dirty="0"/>
              <a:t>Цель — преобразование концептуальной модели на основе выбранной модели данных в логическую модель, не зависящую от особенностей СУБД. Задачи:  </a:t>
            </a:r>
          </a:p>
          <a:p>
            <a:r>
              <a:rPr lang="ru-RU" sz="2400" dirty="0"/>
              <a:t>•	описать сущности, их атрибуты и взаимосвязи;</a:t>
            </a:r>
          </a:p>
          <a:p>
            <a:r>
              <a:rPr lang="ru-RU" sz="2400" dirty="0"/>
              <a:t>•	определить бизнес-правила и ограничения целостности;</a:t>
            </a:r>
          </a:p>
          <a:p>
            <a:r>
              <a:rPr lang="ru-RU" sz="2400" dirty="0"/>
              <a:t>•	зафиксировать функциональные зависимости между элементами;</a:t>
            </a:r>
          </a:p>
          <a:p>
            <a:r>
              <a:rPr lang="ru-RU" sz="2400" dirty="0"/>
              <a:t>•	документировать логику обработки данных.</a:t>
            </a:r>
          </a:p>
          <a:p>
            <a:r>
              <a:rPr lang="ru-RU" sz="2400" dirty="0"/>
              <a:t> </a:t>
            </a:r>
          </a:p>
          <a:p>
            <a:r>
              <a:rPr lang="ru-RU" sz="2400" dirty="0"/>
              <a:t>Результат: логическая модель данных, которая может быть представлена в виде ER-моделей (</a:t>
            </a:r>
            <a:r>
              <a:rPr lang="ru-RU" sz="2400" dirty="0" err="1"/>
              <a:t>Entity-Relationship</a:t>
            </a:r>
            <a:r>
              <a:rPr lang="ru-RU" sz="2400" dirty="0"/>
              <a:t>) или реляционных схем.  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6326" t="22124" r="21632" b="11709"/>
          <a:stretch/>
        </p:blipFill>
        <p:spPr>
          <a:xfrm>
            <a:off x="3842084" y="3785652"/>
            <a:ext cx="5943600" cy="305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94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" y="0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Физический уровень</a:t>
            </a:r>
          </a:p>
          <a:p>
            <a:r>
              <a:rPr lang="ru-RU" sz="2400" dirty="0"/>
              <a:t>Цель — описание конкретной реализации базы данных, размещаемой во внешней памяти в среде целевой СУБД. Задачи:  </a:t>
            </a:r>
          </a:p>
          <a:p>
            <a:r>
              <a:rPr lang="ru-RU" sz="2400" dirty="0"/>
              <a:t>•	преобразовать отношения, созданные на основе логической модели, в форму, которая может быть реализована в среде СУБД;</a:t>
            </a:r>
          </a:p>
          <a:p>
            <a:r>
              <a:rPr lang="ru-RU" sz="2400" dirty="0"/>
              <a:t>•	определить способы хранения данных (кластеризация, хеширование) и способы доступа к данным (индексирование);</a:t>
            </a:r>
          </a:p>
          <a:p>
            <a:r>
              <a:rPr lang="ru-RU" sz="2400" dirty="0"/>
              <a:t>•	создать соответствующие индексы и кластеры (если нужно).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1620" t="15921" r="14352" b="19342"/>
          <a:stretch/>
        </p:blipFill>
        <p:spPr>
          <a:xfrm>
            <a:off x="2593009" y="3046989"/>
            <a:ext cx="6887875" cy="366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6072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29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4000" b="1" dirty="0">
                <a:solidFill>
                  <a:srgbClr val="FF0000"/>
                </a:solidFill>
              </a:rPr>
              <a:t>Проблемы концептуального уровня </a:t>
            </a:r>
            <a:r>
              <a:rPr lang="ru-RU" sz="4000" b="1" dirty="0" smtClean="0">
                <a:solidFill>
                  <a:srgbClr val="FF0000"/>
                </a:solidFill>
              </a:rPr>
              <a:t>проектирования</a:t>
            </a:r>
            <a:endParaRPr lang="ru-RU" sz="4000" b="1" dirty="0" smtClean="0"/>
          </a:p>
          <a:p>
            <a:pPr lvl="1" algn="ctr"/>
            <a:r>
              <a:rPr lang="ru-RU" sz="4000" b="1" dirty="0" smtClean="0"/>
              <a:t>Вопрос 5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896592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1890" y="141889"/>
            <a:ext cx="1205011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В технике</a:t>
            </a:r>
          </a:p>
          <a:p>
            <a:r>
              <a:rPr lang="ru-RU" sz="2400" dirty="0"/>
              <a:t>•	Динамичность и противоречивость требований к объекту со стороны участников жизненного цикла изделия. </a:t>
            </a:r>
            <a:endParaRPr lang="ru-RU" sz="2400" dirty="0" smtClean="0"/>
          </a:p>
          <a:p>
            <a:r>
              <a:rPr lang="ru-RU" sz="2400" dirty="0" smtClean="0"/>
              <a:t>•</a:t>
            </a:r>
            <a:r>
              <a:rPr lang="ru-RU" sz="2400" dirty="0"/>
              <a:t>	Неполнота и неточность описания технических решений. </a:t>
            </a:r>
            <a:endParaRPr lang="ru-RU" sz="2400" dirty="0" smtClean="0"/>
          </a:p>
          <a:p>
            <a:r>
              <a:rPr lang="ru-RU" sz="2400" dirty="0" smtClean="0"/>
              <a:t>•</a:t>
            </a:r>
            <a:r>
              <a:rPr lang="ru-RU" sz="2400" dirty="0"/>
              <a:t>	Быстрое и плохо предсказуемое </a:t>
            </a:r>
            <a:r>
              <a:rPr lang="ru-RU" sz="2400" dirty="0" smtClean="0"/>
              <a:t>изменение</a:t>
            </a:r>
          </a:p>
          <a:p>
            <a:endParaRPr lang="ru-RU" sz="2400" dirty="0"/>
          </a:p>
          <a:p>
            <a:pPr algn="ctr"/>
            <a:r>
              <a:rPr lang="ru-RU" sz="2400" b="1" dirty="0"/>
              <a:t>В программном обеспечении</a:t>
            </a:r>
          </a:p>
          <a:p>
            <a:r>
              <a:rPr lang="ru-RU" sz="2400" dirty="0"/>
              <a:t>•	Нечёткая и неполная формулировка требований к программному обеспечению (ПО). </a:t>
            </a:r>
            <a:endParaRPr lang="ru-RU" sz="2400" dirty="0" smtClean="0"/>
          </a:p>
          <a:p>
            <a:r>
              <a:rPr lang="ru-RU" sz="2400" dirty="0" smtClean="0"/>
              <a:t>•</a:t>
            </a:r>
            <a:r>
              <a:rPr lang="ru-RU" sz="2400" dirty="0"/>
              <a:t>	Слабая структурированность теоретических и фактических знаний о </a:t>
            </a:r>
            <a:r>
              <a:rPr lang="ru-RU" sz="2400" dirty="0" smtClean="0"/>
              <a:t>проекте</a:t>
            </a:r>
          </a:p>
          <a:p>
            <a:r>
              <a:rPr lang="ru-RU" sz="2400" dirty="0" smtClean="0"/>
              <a:t>•</a:t>
            </a:r>
            <a:r>
              <a:rPr lang="ru-RU" sz="2400" dirty="0"/>
              <a:t>	Проблемы организации деятельности команды разработчиков </a:t>
            </a:r>
            <a:endParaRPr lang="ru-RU" sz="2400" dirty="0" smtClean="0"/>
          </a:p>
          <a:p>
            <a:pPr algn="ctr"/>
            <a:r>
              <a:rPr lang="ru-RU" sz="2400" b="1" dirty="0" smtClean="0"/>
              <a:t>В </a:t>
            </a:r>
            <a:r>
              <a:rPr lang="ru-RU" sz="2400" b="1" dirty="0"/>
              <a:t>архитектуре</a:t>
            </a:r>
          </a:p>
          <a:p>
            <a:r>
              <a:rPr lang="ru-RU" sz="2400" dirty="0"/>
              <a:t>•	Перегруженность идеями </a:t>
            </a:r>
            <a:endParaRPr lang="ru-RU" sz="2400" dirty="0" smtClean="0"/>
          </a:p>
          <a:p>
            <a:r>
              <a:rPr lang="ru-RU" sz="2400" dirty="0" smtClean="0"/>
              <a:t>•</a:t>
            </a:r>
            <a:r>
              <a:rPr lang="ru-RU" sz="2400" dirty="0"/>
              <a:t>	Игнорирование контекста </a:t>
            </a:r>
            <a:endParaRPr lang="ru-RU" sz="2400" dirty="0" smtClean="0"/>
          </a:p>
          <a:p>
            <a:r>
              <a:rPr lang="ru-RU" sz="2400" dirty="0" smtClean="0"/>
              <a:t>•</a:t>
            </a:r>
            <a:r>
              <a:rPr lang="ru-RU" sz="2400" dirty="0"/>
              <a:t>	Недооценка технической </a:t>
            </a:r>
            <a:r>
              <a:rPr lang="ru-RU" sz="2400" dirty="0" smtClean="0"/>
              <a:t>составляющей</a:t>
            </a:r>
          </a:p>
          <a:p>
            <a:r>
              <a:rPr lang="ru-RU" sz="2400" dirty="0" smtClean="0"/>
              <a:t>•</a:t>
            </a:r>
            <a:r>
              <a:rPr lang="ru-RU" sz="2400" dirty="0"/>
              <a:t>	Отсутствие </a:t>
            </a:r>
            <a:r>
              <a:rPr lang="ru-RU" sz="2400" dirty="0" smtClean="0"/>
              <a:t>гибкости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2577472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2354" t="20600"/>
          <a:stretch/>
        </p:blipFill>
        <p:spPr>
          <a:xfrm>
            <a:off x="0" y="0"/>
            <a:ext cx="12192000" cy="5894771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176337" y="6015789"/>
            <a:ext cx="6208295" cy="7218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</a:rPr>
              <a:t>Концептуальное проектирование</a:t>
            </a:r>
            <a:endParaRPr lang="ru-RU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6272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32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4000" b="1" dirty="0">
                <a:solidFill>
                  <a:srgbClr val="FF0000"/>
                </a:solidFill>
              </a:rPr>
              <a:t>Проблемы логического уровня проектирования: выбор ключей, восприятие схем </a:t>
            </a:r>
            <a:r>
              <a:rPr lang="ru-RU" sz="4000" b="1" dirty="0" smtClean="0">
                <a:solidFill>
                  <a:srgbClr val="FF0000"/>
                </a:solidFill>
              </a:rPr>
              <a:t>данных</a:t>
            </a:r>
          </a:p>
          <a:p>
            <a:pPr lvl="1" algn="ctr"/>
            <a:r>
              <a:rPr lang="ru-RU" sz="4000" b="1" dirty="0" smtClean="0"/>
              <a:t>Вопрос 6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4125327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377713"/>
            <a:ext cx="1219199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Выбор ключей</a:t>
            </a:r>
          </a:p>
          <a:p>
            <a:r>
              <a:rPr lang="ru-RU" sz="2400" dirty="0"/>
              <a:t>•	Выбор первичного </a:t>
            </a:r>
            <a:r>
              <a:rPr lang="ru-RU" sz="2400" dirty="0" smtClean="0"/>
              <a:t>ключа</a:t>
            </a:r>
          </a:p>
          <a:p>
            <a:r>
              <a:rPr lang="ru-RU" sz="2400" dirty="0" smtClean="0"/>
              <a:t>•</a:t>
            </a:r>
            <a:r>
              <a:rPr lang="ru-RU" sz="2400" dirty="0"/>
              <a:t>	 Сложности использования естественных ключей. </a:t>
            </a:r>
            <a:endParaRPr lang="ru-RU" sz="2400" dirty="0" smtClean="0"/>
          </a:p>
          <a:p>
            <a:r>
              <a:rPr lang="ru-RU" sz="2400" dirty="0" smtClean="0"/>
              <a:t>•	 Проблема с составными ключами. </a:t>
            </a:r>
          </a:p>
          <a:p>
            <a:r>
              <a:rPr lang="ru-RU" sz="2400" dirty="0" smtClean="0"/>
              <a:t>•	 Игнорирование ссылочной целостности с внешними ключами. </a:t>
            </a:r>
          </a:p>
          <a:p>
            <a:r>
              <a:rPr lang="ru-RU" sz="2400" dirty="0" smtClean="0"/>
              <a:t>•</a:t>
            </a:r>
            <a:r>
              <a:rPr lang="ru-RU" sz="2400" dirty="0"/>
              <a:t>	Сложность визуализации структуры. </a:t>
            </a:r>
            <a:endParaRPr lang="ru-RU" sz="2400" dirty="0" smtClean="0"/>
          </a:p>
          <a:p>
            <a:r>
              <a:rPr lang="ru-RU" sz="2400" dirty="0" smtClean="0"/>
              <a:t>•</a:t>
            </a:r>
            <a:r>
              <a:rPr lang="ru-RU" sz="2400" dirty="0"/>
              <a:t>	Ограниченность реляционной модели данных. </a:t>
            </a:r>
            <a:endParaRPr lang="ru-RU" sz="2400" dirty="0" smtClean="0"/>
          </a:p>
          <a:p>
            <a:r>
              <a:rPr lang="ru-RU" sz="2400" dirty="0" smtClean="0"/>
              <a:t>•</a:t>
            </a:r>
            <a:r>
              <a:rPr lang="ru-RU" sz="2400" dirty="0"/>
              <a:t>	Сложности с моделированием слабоструктурированных предметных </a:t>
            </a:r>
            <a:r>
              <a:rPr lang="ru-RU" sz="2400" dirty="0" smtClean="0"/>
              <a:t>областей. </a:t>
            </a:r>
          </a:p>
          <a:p>
            <a:pPr algn="ctr"/>
            <a:r>
              <a:rPr lang="ru-RU" sz="2400" b="1" dirty="0"/>
              <a:t>Восприятие схем данных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/>
              <a:t>Сложность визуализации структуры. </a:t>
            </a:r>
            <a:endParaRPr lang="ru-RU" sz="2400" dirty="0" smtClean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 smtClean="0"/>
              <a:t>Сложности </a:t>
            </a:r>
            <a:r>
              <a:rPr lang="ru-RU" sz="2400" dirty="0"/>
              <a:t>с моделированием слабоструктурированных предметных областей.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631" y="4362450"/>
            <a:ext cx="457200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1264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Преобразование доменов в подходящие типы данных, поддерживаемые СУБД. </a:t>
            </a:r>
          </a:p>
          <a:p>
            <a:r>
              <a:rPr lang="ru-RU" sz="2400" dirty="0"/>
              <a:t>•	Выбор типа для данных символьного (текстового) типа. </a:t>
            </a:r>
          </a:p>
          <a:p>
            <a:pPr algn="ctr"/>
            <a:r>
              <a:rPr lang="ru-RU" sz="2400" b="1" dirty="0"/>
              <a:t>Масштабируемость</a:t>
            </a:r>
          </a:p>
          <a:p>
            <a:r>
              <a:rPr lang="ru-RU" sz="2400" dirty="0"/>
              <a:t>•	Разработка структуры базы данных, которая может эффективно масштабироваться по мере увеличения трафика, объёма данных и нагрузки на пользователей. </a:t>
            </a:r>
            <a:endParaRPr lang="ru-RU" sz="2400" dirty="0" smtClean="0"/>
          </a:p>
          <a:p>
            <a:r>
              <a:rPr lang="ru-RU" sz="2400" dirty="0" smtClean="0"/>
              <a:t>•</a:t>
            </a:r>
            <a:r>
              <a:rPr lang="ru-RU" sz="2400" dirty="0"/>
              <a:t>	Учёт особенностей СУБД при проектировании </a:t>
            </a:r>
            <a:r>
              <a:rPr lang="ru-RU" sz="2400" dirty="0" smtClean="0"/>
              <a:t>масштабируемости</a:t>
            </a:r>
            <a:endParaRPr lang="ru-RU" sz="2400" b="1" dirty="0"/>
          </a:p>
          <a:p>
            <a:pPr algn="ctr"/>
            <a:r>
              <a:rPr lang="ru-RU" sz="2400" b="1" dirty="0"/>
              <a:t>Гибкость</a:t>
            </a:r>
          </a:p>
          <a:p>
            <a:r>
              <a:rPr lang="ru-RU" sz="2400" dirty="0"/>
              <a:t>•	Разработка базы данных, которая может адаптироваться к новым требованиям без серьёзных переделок. </a:t>
            </a:r>
            <a:endParaRPr lang="ru-RU" sz="2400" dirty="0" smtClean="0"/>
          </a:p>
          <a:p>
            <a:pPr algn="ctr"/>
            <a:r>
              <a:rPr lang="ru-RU" sz="2400" b="1" dirty="0" smtClean="0"/>
              <a:t>Скорость </a:t>
            </a:r>
            <a:r>
              <a:rPr lang="ru-RU" sz="2400" b="1" dirty="0"/>
              <a:t>работы СУБД</a:t>
            </a:r>
          </a:p>
          <a:p>
            <a:r>
              <a:rPr lang="ru-RU" sz="2400" dirty="0"/>
              <a:t>•	Оптимизация запросов и правильное проектирование схемы базы данных, чтобы минимизировать избыточность данных и ускорить выполнение </a:t>
            </a:r>
            <a:r>
              <a:rPr lang="ru-RU" sz="2400" dirty="0" smtClean="0"/>
              <a:t>запросов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/>
              <a:t> </a:t>
            </a:r>
            <a:r>
              <a:rPr lang="ru-RU" sz="2400" dirty="0" err="1" smtClean="0"/>
              <a:t>Денормализация</a:t>
            </a:r>
            <a:r>
              <a:rPr lang="ru-RU" sz="2400" dirty="0" smtClean="0"/>
              <a:t> </a:t>
            </a:r>
          </a:p>
          <a:p>
            <a:r>
              <a:rPr lang="ru-RU" sz="2400" dirty="0" smtClean="0"/>
              <a:t>•</a:t>
            </a:r>
            <a:r>
              <a:rPr lang="ru-RU" sz="2400" dirty="0"/>
              <a:t>	Учёт особенностей СУБД при оптимизации</a:t>
            </a:r>
            <a:r>
              <a:rPr lang="ru-RU" sz="2400" dirty="0" smtClean="0"/>
              <a:t>: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5544656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08214" y="1700213"/>
            <a:ext cx="1811337" cy="533400"/>
          </a:xfrm>
        </p:spPr>
        <p:txBody>
          <a:bodyPr/>
          <a:lstStyle/>
          <a:p>
            <a:pPr>
              <a:buFontTx/>
              <a:buNone/>
            </a:pPr>
            <a:r>
              <a:rPr lang="ru-RU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6" name="Rectangle 3"/>
          <p:cNvSpPr>
            <a:spLocks noChangeArrowheads="1"/>
          </p:cNvSpPr>
          <p:nvPr/>
        </p:nvSpPr>
        <p:spPr bwMode="auto">
          <a:xfrm rot="-1966961">
            <a:off x="4249739" y="1474788"/>
            <a:ext cx="237648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67" name="Rectangle 4"/>
          <p:cNvSpPr>
            <a:spLocks noChangeArrowheads="1"/>
          </p:cNvSpPr>
          <p:nvPr/>
        </p:nvSpPr>
        <p:spPr bwMode="auto">
          <a:xfrm rot="1339931">
            <a:off x="3287714" y="34290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8" name="Rectangle 5"/>
          <p:cNvSpPr>
            <a:spLocks noChangeArrowheads="1"/>
          </p:cNvSpPr>
          <p:nvPr/>
        </p:nvSpPr>
        <p:spPr bwMode="auto">
          <a:xfrm rot="932178">
            <a:off x="5016500" y="23479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9" name="Rectangle 6"/>
          <p:cNvSpPr>
            <a:spLocks noChangeArrowheads="1"/>
          </p:cNvSpPr>
          <p:nvPr/>
        </p:nvSpPr>
        <p:spPr bwMode="auto">
          <a:xfrm>
            <a:off x="6024564" y="306863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0" name="Rectangle 7"/>
          <p:cNvSpPr>
            <a:spLocks noChangeArrowheads="1"/>
          </p:cNvSpPr>
          <p:nvPr/>
        </p:nvSpPr>
        <p:spPr bwMode="auto">
          <a:xfrm rot="-634205">
            <a:off x="2063751" y="2060575"/>
            <a:ext cx="28797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71" name="Rectangle 8"/>
          <p:cNvSpPr>
            <a:spLocks noChangeArrowheads="1"/>
          </p:cNvSpPr>
          <p:nvPr/>
        </p:nvSpPr>
        <p:spPr bwMode="auto">
          <a:xfrm>
            <a:off x="6743700" y="14843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72" name="Rectangle 9"/>
          <p:cNvSpPr>
            <a:spLocks noChangeArrowheads="1"/>
          </p:cNvSpPr>
          <p:nvPr/>
        </p:nvSpPr>
        <p:spPr bwMode="auto">
          <a:xfrm rot="-2708425">
            <a:off x="1353344" y="1331119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3" name="Rectangle 10"/>
          <p:cNvSpPr>
            <a:spLocks noChangeArrowheads="1"/>
          </p:cNvSpPr>
          <p:nvPr/>
        </p:nvSpPr>
        <p:spPr bwMode="auto">
          <a:xfrm rot="-1124404">
            <a:off x="7175500" y="443706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4" name="Rectangle 11"/>
          <p:cNvSpPr>
            <a:spLocks noChangeArrowheads="1"/>
          </p:cNvSpPr>
          <p:nvPr/>
        </p:nvSpPr>
        <p:spPr bwMode="auto">
          <a:xfrm>
            <a:off x="2486025" y="34655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75" name="Rectangle 12"/>
          <p:cNvSpPr>
            <a:spLocks noChangeArrowheads="1"/>
          </p:cNvSpPr>
          <p:nvPr/>
        </p:nvSpPr>
        <p:spPr bwMode="auto">
          <a:xfrm rot="-1966961">
            <a:off x="3000375" y="6207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76" name="Rectangle 13"/>
          <p:cNvSpPr>
            <a:spLocks noChangeArrowheads="1"/>
          </p:cNvSpPr>
          <p:nvPr/>
        </p:nvSpPr>
        <p:spPr bwMode="auto">
          <a:xfrm rot="1339931">
            <a:off x="3071814" y="50784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7" name="Rectangle 14"/>
          <p:cNvSpPr>
            <a:spLocks noChangeArrowheads="1"/>
          </p:cNvSpPr>
          <p:nvPr/>
        </p:nvSpPr>
        <p:spPr bwMode="auto">
          <a:xfrm rot="932178">
            <a:off x="5521325" y="43576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78" name="Rectangle 15"/>
          <p:cNvSpPr>
            <a:spLocks noChangeArrowheads="1"/>
          </p:cNvSpPr>
          <p:nvPr/>
        </p:nvSpPr>
        <p:spPr bwMode="auto">
          <a:xfrm>
            <a:off x="6529389" y="50784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79" name="Rectangle 16"/>
          <p:cNvSpPr>
            <a:spLocks noChangeArrowheads="1"/>
          </p:cNvSpPr>
          <p:nvPr/>
        </p:nvSpPr>
        <p:spPr bwMode="auto">
          <a:xfrm rot="-634205">
            <a:off x="3144839" y="414178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0" name="Rectangle 17"/>
          <p:cNvSpPr>
            <a:spLocks noChangeArrowheads="1"/>
          </p:cNvSpPr>
          <p:nvPr/>
        </p:nvSpPr>
        <p:spPr bwMode="auto">
          <a:xfrm rot="932178">
            <a:off x="7608889" y="35718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1" name="Rectangle 18"/>
          <p:cNvSpPr>
            <a:spLocks noChangeArrowheads="1"/>
          </p:cNvSpPr>
          <p:nvPr/>
        </p:nvSpPr>
        <p:spPr bwMode="auto">
          <a:xfrm rot="-2708425">
            <a:off x="4945857" y="4933157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2" name="Rectangle 19"/>
          <p:cNvSpPr>
            <a:spLocks noChangeArrowheads="1"/>
          </p:cNvSpPr>
          <p:nvPr/>
        </p:nvSpPr>
        <p:spPr bwMode="auto">
          <a:xfrm rot="-2055057">
            <a:off x="8616950" y="55895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3" name="Rectangle 20"/>
          <p:cNvSpPr>
            <a:spLocks noChangeArrowheads="1"/>
          </p:cNvSpPr>
          <p:nvPr/>
        </p:nvSpPr>
        <p:spPr bwMode="auto">
          <a:xfrm rot="-1966961">
            <a:off x="8856664" y="21320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84" name="Rectangle 21"/>
          <p:cNvSpPr>
            <a:spLocks noChangeArrowheads="1"/>
          </p:cNvSpPr>
          <p:nvPr/>
        </p:nvSpPr>
        <p:spPr bwMode="auto">
          <a:xfrm rot="932178">
            <a:off x="7535864" y="22764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5" name="Rectangle 22"/>
          <p:cNvSpPr>
            <a:spLocks noChangeArrowheads="1"/>
          </p:cNvSpPr>
          <p:nvPr/>
        </p:nvSpPr>
        <p:spPr bwMode="auto">
          <a:xfrm>
            <a:off x="8543925" y="29972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6" name="Rectangle 23"/>
          <p:cNvSpPr>
            <a:spLocks noChangeArrowheads="1"/>
          </p:cNvSpPr>
          <p:nvPr/>
        </p:nvSpPr>
        <p:spPr bwMode="auto">
          <a:xfrm rot="550398">
            <a:off x="5664200" y="19161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thanks</a:t>
            </a:r>
          </a:p>
        </p:txBody>
      </p:sp>
      <p:sp>
        <p:nvSpPr>
          <p:cNvPr id="36887" name="Rectangle 24"/>
          <p:cNvSpPr>
            <a:spLocks noChangeArrowheads="1"/>
          </p:cNvSpPr>
          <p:nvPr/>
        </p:nvSpPr>
        <p:spPr bwMode="auto">
          <a:xfrm>
            <a:off x="5005389" y="33940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88" name="Rectangle 25"/>
          <p:cNvSpPr>
            <a:spLocks noChangeArrowheads="1"/>
          </p:cNvSpPr>
          <p:nvPr/>
        </p:nvSpPr>
        <p:spPr bwMode="auto">
          <a:xfrm rot="1339931">
            <a:off x="4151314" y="47244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89" name="Rectangle 26"/>
          <p:cNvSpPr>
            <a:spLocks noChangeArrowheads="1"/>
          </p:cNvSpPr>
          <p:nvPr/>
        </p:nvSpPr>
        <p:spPr bwMode="auto">
          <a:xfrm rot="-1966961">
            <a:off x="3333750" y="23495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90" name="Rectangle 27"/>
          <p:cNvSpPr>
            <a:spLocks noChangeArrowheads="1"/>
          </p:cNvSpPr>
          <p:nvPr/>
        </p:nvSpPr>
        <p:spPr bwMode="auto">
          <a:xfrm rot="932178">
            <a:off x="6240464" y="371633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1" name="Rectangle 28"/>
          <p:cNvSpPr>
            <a:spLocks noChangeArrowheads="1"/>
          </p:cNvSpPr>
          <p:nvPr/>
        </p:nvSpPr>
        <p:spPr bwMode="auto">
          <a:xfrm>
            <a:off x="6888164" y="25638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92" name="Rectangle 29"/>
          <p:cNvSpPr>
            <a:spLocks noChangeArrowheads="1"/>
          </p:cNvSpPr>
          <p:nvPr/>
        </p:nvSpPr>
        <p:spPr bwMode="auto">
          <a:xfrm rot="-634205">
            <a:off x="1524000" y="2708275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93" name="Rectangle 30"/>
          <p:cNvSpPr>
            <a:spLocks noChangeArrowheads="1"/>
          </p:cNvSpPr>
          <p:nvPr/>
        </p:nvSpPr>
        <p:spPr bwMode="auto">
          <a:xfrm>
            <a:off x="1524000" y="40767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94" name="Rectangle 31"/>
          <p:cNvSpPr>
            <a:spLocks noChangeArrowheads="1"/>
          </p:cNvSpPr>
          <p:nvPr/>
        </p:nvSpPr>
        <p:spPr bwMode="auto">
          <a:xfrm rot="1339931">
            <a:off x="1524000" y="594836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5" name="Rectangle 32"/>
          <p:cNvSpPr>
            <a:spLocks noChangeArrowheads="1"/>
          </p:cNvSpPr>
          <p:nvPr/>
        </p:nvSpPr>
        <p:spPr bwMode="auto">
          <a:xfrm>
            <a:off x="2351089" y="551656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sz="3200">
                <a:solidFill>
                  <a:srgbClr val="C0C0C0"/>
                </a:solidFill>
              </a:rPr>
              <a:t>thanks</a:t>
            </a:r>
            <a:endParaRPr lang="ru-RU" sz="3200">
              <a:solidFill>
                <a:srgbClr val="C0C0C0"/>
              </a:solidFill>
            </a:endParaRPr>
          </a:p>
        </p:txBody>
      </p:sp>
      <p:sp>
        <p:nvSpPr>
          <p:cNvPr id="36896" name="Rectangle 33"/>
          <p:cNvSpPr>
            <a:spLocks noChangeArrowheads="1"/>
          </p:cNvSpPr>
          <p:nvPr/>
        </p:nvSpPr>
        <p:spPr bwMode="auto">
          <a:xfrm>
            <a:off x="6743700" y="60213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7" name="Rectangle 34"/>
          <p:cNvSpPr>
            <a:spLocks noChangeArrowheads="1"/>
          </p:cNvSpPr>
          <p:nvPr/>
        </p:nvSpPr>
        <p:spPr bwMode="auto">
          <a:xfrm rot="932178">
            <a:off x="7896225" y="51562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98" name="Rectangle 35"/>
          <p:cNvSpPr>
            <a:spLocks noChangeArrowheads="1"/>
          </p:cNvSpPr>
          <p:nvPr/>
        </p:nvSpPr>
        <p:spPr bwMode="auto">
          <a:xfrm rot="-634205">
            <a:off x="4943476" y="5589588"/>
            <a:ext cx="24479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99" name="Rectangle 36"/>
          <p:cNvSpPr>
            <a:spLocks noChangeArrowheads="1"/>
          </p:cNvSpPr>
          <p:nvPr/>
        </p:nvSpPr>
        <p:spPr bwMode="auto">
          <a:xfrm rot="-1966961">
            <a:off x="3478214" y="580548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900" name="Rectangle 37"/>
          <p:cNvSpPr>
            <a:spLocks noGrp="1" noChangeArrowheads="1"/>
          </p:cNvSpPr>
          <p:nvPr>
            <p:ph type="title"/>
          </p:nvPr>
        </p:nvSpPr>
        <p:spPr>
          <a:xfrm>
            <a:off x="2063750" y="2492376"/>
            <a:ext cx="8229600" cy="1439863"/>
          </a:xfrm>
        </p:spPr>
        <p:txBody>
          <a:bodyPr/>
          <a:lstStyle/>
          <a:p>
            <a:r>
              <a:rPr lang="ru-RU" sz="4800" b="1">
                <a:solidFill>
                  <a:srgbClr val="000099"/>
                </a:solidFill>
              </a:rPr>
              <a:t>Спасибо за внимание!</a:t>
            </a:r>
          </a:p>
        </p:txBody>
      </p:sp>
      <p:sp>
        <p:nvSpPr>
          <p:cNvPr id="36901" name="Rectangle 38"/>
          <p:cNvSpPr>
            <a:spLocks noChangeArrowheads="1"/>
          </p:cNvSpPr>
          <p:nvPr/>
        </p:nvSpPr>
        <p:spPr bwMode="auto">
          <a:xfrm>
            <a:off x="1847850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02" name="Rectangle 39"/>
          <p:cNvSpPr>
            <a:spLocks noChangeArrowheads="1"/>
          </p:cNvSpPr>
          <p:nvPr/>
        </p:nvSpPr>
        <p:spPr bwMode="auto">
          <a:xfrm rot="-1966961">
            <a:off x="6743700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903" name="Rectangle 40"/>
          <p:cNvSpPr>
            <a:spLocks noChangeArrowheads="1"/>
          </p:cNvSpPr>
          <p:nvPr/>
        </p:nvSpPr>
        <p:spPr bwMode="auto">
          <a:xfrm rot="932178">
            <a:off x="8543925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04" name="Rectangle 41"/>
          <p:cNvSpPr>
            <a:spLocks noChangeArrowheads="1"/>
          </p:cNvSpPr>
          <p:nvPr/>
        </p:nvSpPr>
        <p:spPr bwMode="auto">
          <a:xfrm rot="-634205">
            <a:off x="5303839" y="8366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905" name="Rectangle 42"/>
          <p:cNvSpPr>
            <a:spLocks noChangeArrowheads="1"/>
          </p:cNvSpPr>
          <p:nvPr/>
        </p:nvSpPr>
        <p:spPr bwMode="auto">
          <a:xfrm rot="-1966961">
            <a:off x="3719514" y="112395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906" name="Rectangle 43"/>
          <p:cNvSpPr>
            <a:spLocks noChangeArrowheads="1"/>
          </p:cNvSpPr>
          <p:nvPr/>
        </p:nvSpPr>
        <p:spPr bwMode="auto">
          <a:xfrm rot="1073047">
            <a:off x="7535864" y="10525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907" name="Rectangle 44"/>
          <p:cNvSpPr>
            <a:spLocks noChangeArrowheads="1"/>
          </p:cNvSpPr>
          <p:nvPr/>
        </p:nvSpPr>
        <p:spPr bwMode="auto">
          <a:xfrm rot="-1124404">
            <a:off x="8856664" y="42926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908" name="Rectangle 45"/>
          <p:cNvSpPr>
            <a:spLocks noChangeArrowheads="1"/>
          </p:cNvSpPr>
          <p:nvPr/>
        </p:nvSpPr>
        <p:spPr bwMode="auto">
          <a:xfrm rot="-1966961">
            <a:off x="8129589" y="1374775"/>
            <a:ext cx="24844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909" name="Rectangle 46"/>
          <p:cNvSpPr>
            <a:spLocks noChangeArrowheads="1"/>
          </p:cNvSpPr>
          <p:nvPr/>
        </p:nvSpPr>
        <p:spPr bwMode="auto">
          <a:xfrm rot="-634205">
            <a:off x="4800600" y="1889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10" name="Rectangle 47"/>
          <p:cNvSpPr>
            <a:spLocks noChangeArrowheads="1"/>
          </p:cNvSpPr>
          <p:nvPr/>
        </p:nvSpPr>
        <p:spPr bwMode="auto">
          <a:xfrm rot="932178">
            <a:off x="8975725" y="3571875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33781276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1334</TotalTime>
  <Words>813</Words>
  <Application>Microsoft Office PowerPoint</Application>
  <PresentationFormat>Широкоэкранный</PresentationFormat>
  <Paragraphs>275</Paragraphs>
  <Slides>35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1" baseType="lpstr">
      <vt:lpstr>Arial</vt:lpstr>
      <vt:lpstr>Calibri</vt:lpstr>
      <vt:lpstr>Calibri Light</vt:lpstr>
      <vt:lpstr>Tahoma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26. Информационно-вычислительные и ситуационные центры в государственном и региональном управлении.</dc:title>
  <dc:creator>Андрей Руфеев</dc:creator>
  <cp:lastModifiedBy>user</cp:lastModifiedBy>
  <cp:revision>134</cp:revision>
  <dcterms:created xsi:type="dcterms:W3CDTF">2021-10-24T19:59:40Z</dcterms:created>
  <dcterms:modified xsi:type="dcterms:W3CDTF">2025-09-04T15:06:01Z</dcterms:modified>
</cp:coreProperties>
</file>