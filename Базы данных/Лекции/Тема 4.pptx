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82"/>
  </p:notesMasterIdLst>
  <p:sldIdLst>
    <p:sldId id="319" r:id="rId2"/>
    <p:sldId id="257" r:id="rId3"/>
    <p:sldId id="669" r:id="rId4"/>
    <p:sldId id="627" r:id="rId5"/>
    <p:sldId id="647" r:id="rId6"/>
    <p:sldId id="646" r:id="rId7"/>
    <p:sldId id="645" r:id="rId8"/>
    <p:sldId id="480" r:id="rId9"/>
    <p:sldId id="628" r:id="rId10"/>
    <p:sldId id="650" r:id="rId11"/>
    <p:sldId id="648" r:id="rId12"/>
    <p:sldId id="649" r:id="rId13"/>
    <p:sldId id="670" r:id="rId14"/>
    <p:sldId id="671" r:id="rId15"/>
    <p:sldId id="483" r:id="rId16"/>
    <p:sldId id="629" r:id="rId17"/>
    <p:sldId id="653" r:id="rId18"/>
    <p:sldId id="652" r:id="rId19"/>
    <p:sldId id="673" r:id="rId20"/>
    <p:sldId id="672" r:id="rId21"/>
    <p:sldId id="651" r:id="rId22"/>
    <p:sldId id="676" r:id="rId23"/>
    <p:sldId id="674" r:id="rId24"/>
    <p:sldId id="675" r:id="rId25"/>
    <p:sldId id="678" r:id="rId26"/>
    <p:sldId id="677" r:id="rId27"/>
    <p:sldId id="481" r:id="rId28"/>
    <p:sldId id="630" r:id="rId29"/>
    <p:sldId id="621" r:id="rId30"/>
    <p:sldId id="631" r:id="rId31"/>
    <p:sldId id="659" r:id="rId32"/>
    <p:sldId id="657" r:id="rId33"/>
    <p:sldId id="658" r:id="rId34"/>
    <p:sldId id="622" r:id="rId35"/>
    <p:sldId id="632" r:id="rId36"/>
    <p:sldId id="662" r:id="rId37"/>
    <p:sldId id="661" r:id="rId38"/>
    <p:sldId id="679" r:id="rId39"/>
    <p:sldId id="660" r:id="rId40"/>
    <p:sldId id="623" r:id="rId41"/>
    <p:sldId id="665" r:id="rId42"/>
    <p:sldId id="664" r:id="rId43"/>
    <p:sldId id="680" r:id="rId44"/>
    <p:sldId id="663" r:id="rId45"/>
    <p:sldId id="624" r:id="rId46"/>
    <p:sldId id="634" r:id="rId47"/>
    <p:sldId id="625" r:id="rId48"/>
    <p:sldId id="635" r:id="rId49"/>
    <p:sldId id="639" r:id="rId50"/>
    <p:sldId id="638" r:id="rId51"/>
    <p:sldId id="637" r:id="rId52"/>
    <p:sldId id="681" r:id="rId53"/>
    <p:sldId id="626" r:id="rId54"/>
    <p:sldId id="683" r:id="rId55"/>
    <p:sldId id="682" r:id="rId56"/>
    <p:sldId id="636" r:id="rId57"/>
    <p:sldId id="643" r:id="rId58"/>
    <p:sldId id="642" r:id="rId59"/>
    <p:sldId id="641" r:id="rId60"/>
    <p:sldId id="687" r:id="rId61"/>
    <p:sldId id="689" r:id="rId62"/>
    <p:sldId id="688" r:id="rId63"/>
    <p:sldId id="691" r:id="rId64"/>
    <p:sldId id="686" r:id="rId65"/>
    <p:sldId id="692" r:id="rId66"/>
    <p:sldId id="640" r:id="rId67"/>
    <p:sldId id="685" r:id="rId68"/>
    <p:sldId id="693" r:id="rId69"/>
    <p:sldId id="696" r:id="rId70"/>
    <p:sldId id="697" r:id="rId71"/>
    <p:sldId id="695" r:id="rId72"/>
    <p:sldId id="694" r:id="rId73"/>
    <p:sldId id="699" r:id="rId74"/>
    <p:sldId id="700" r:id="rId75"/>
    <p:sldId id="698" r:id="rId76"/>
    <p:sldId id="701" r:id="rId77"/>
    <p:sldId id="703" r:id="rId78"/>
    <p:sldId id="702" r:id="rId79"/>
    <p:sldId id="704" r:id="rId80"/>
    <p:sldId id="338" r:id="rId8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29" autoAdjust="0"/>
    <p:restoredTop sz="94662" autoAdjust="0"/>
  </p:normalViewPr>
  <p:slideViewPr>
    <p:cSldViewPr snapToGrid="0">
      <p:cViewPr varScale="1">
        <p:scale>
          <a:sx n="109" d="100"/>
          <a:sy n="109" d="100"/>
        </p:scale>
        <p:origin x="1050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4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367213" y="6021288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5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36428" y="3244334"/>
            <a:ext cx="79931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1" dirty="0">
                <a:solidFill>
                  <a:srgbClr val="FF0000"/>
                </a:solidFill>
              </a:rPr>
              <a:t>Типы данных СУБД </a:t>
            </a:r>
            <a:r>
              <a:rPr lang="ru-RU" sz="4000" b="1" i="1" dirty="0" err="1">
                <a:solidFill>
                  <a:srgbClr val="FF0000"/>
                </a:solidFill>
              </a:rPr>
              <a:t>PostgreSQL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 smtClean="0">
                <a:solidFill>
                  <a:srgbClr val="FF0000"/>
                </a:solidFill>
              </a:rPr>
              <a:t>числовые типы: целочисленные типы, числа с произвольной точностью, типы с плавающей точкой</a:t>
            </a: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31907"/>
              </p:ext>
            </p:extLst>
          </p:nvPr>
        </p:nvGraphicFramePr>
        <p:xfrm>
          <a:off x="-2" y="0"/>
          <a:ext cx="12192004" cy="6958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3008464334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90079381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53779692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986216922"/>
                    </a:ext>
                  </a:extLst>
                </a:gridCol>
              </a:tblGrid>
              <a:tr h="30211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Имя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Размер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Диапазон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 anchor="ctr"/>
                </a:tc>
                <a:extLst>
                  <a:ext uri="{0D108BD9-81ED-4DB2-BD59-A6C34878D82A}">
                    <a16:rowId xmlns:a16="http://schemas.microsoft.com/office/drawing/2014/main" val="1983640967"/>
                  </a:ext>
                </a:extLst>
              </a:tr>
              <a:tr h="51774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smallint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 байта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целое в небольшом диапазоне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-32768 .. +32767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36542377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integer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 байта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типичный выбор для целых чисел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-2147483648 .. +2147483647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2217312681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bigint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 байт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целое в большом диапазоне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-9223372036854775808 .. 9223372036854775807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2522526188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decimal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переменный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вещественное число с указанной точностью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до 131072 цифр до десятичной точки и до 16383 — после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250494967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numeric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переменный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вещественное число с указанной точностью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до 131072 цифр до десятичной точки и до 16383 — после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3244342914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real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 байта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вещественное число с переменной точностью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точность в пределах 6 десятичных цифр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3015852545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double precision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 байт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вещественное число с переменной точностью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точность в пределах 15 десятичных цифр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3723094057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smallserial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 байта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небольшое целое с автоувеличением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1 .. 32767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2827933502"/>
                  </a:ext>
                </a:extLst>
              </a:tr>
              <a:tr h="30211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serial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 байта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целое с автоувеличением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1 .. 2147483647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3095195344"/>
                  </a:ext>
                </a:extLst>
              </a:tr>
              <a:tr h="5238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bigserial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 байт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большое целое с автоувеличением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1 .. 9223372036854775807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295" marR="34295" marT="34295" marB="34295"/>
                </a:tc>
                <a:extLst>
                  <a:ext uri="{0D108BD9-81ED-4DB2-BD59-A6C34878D82A}">
                    <a16:rowId xmlns:a16="http://schemas.microsoft.com/office/drawing/2014/main" val="718825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7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Целочисленные </a:t>
            </a:r>
            <a:r>
              <a:rPr lang="ru-RU" sz="2400" b="1" dirty="0" smtClean="0"/>
              <a:t>типы - </a:t>
            </a:r>
            <a:r>
              <a:rPr lang="ru-RU" sz="2400" dirty="0" err="1" smtClean="0"/>
              <a:t>smallint</a:t>
            </a:r>
            <a:r>
              <a:rPr lang="ru-RU" sz="2400" dirty="0"/>
              <a:t>, </a:t>
            </a:r>
            <a:r>
              <a:rPr lang="ru-RU" sz="2400" dirty="0" err="1"/>
              <a:t>integer</a:t>
            </a:r>
            <a:r>
              <a:rPr lang="ru-RU" sz="2400" dirty="0"/>
              <a:t> и </a:t>
            </a:r>
            <a:r>
              <a:rPr lang="ru-RU" sz="2400" dirty="0" err="1"/>
              <a:t>bigint</a:t>
            </a:r>
            <a:r>
              <a:rPr lang="ru-RU" sz="2400" dirty="0"/>
              <a:t> хранят целые </a:t>
            </a:r>
            <a:r>
              <a:rPr lang="ru-RU" sz="2400" dirty="0" smtClean="0"/>
              <a:t>числа</a:t>
            </a:r>
          </a:p>
          <a:p>
            <a:r>
              <a:rPr lang="ru-RU" sz="2400" b="1" dirty="0"/>
              <a:t>Числа с произвольной точностью </a:t>
            </a:r>
            <a:r>
              <a:rPr lang="ru-RU" sz="2400" b="1" dirty="0" smtClean="0"/>
              <a:t> - </a:t>
            </a:r>
            <a:r>
              <a:rPr lang="ru-RU" sz="2400" dirty="0"/>
              <a:t> </a:t>
            </a:r>
            <a:r>
              <a:rPr lang="ru-RU" sz="2400" dirty="0" err="1"/>
              <a:t>numeric</a:t>
            </a:r>
            <a:r>
              <a:rPr lang="ru-RU" sz="2400" dirty="0"/>
              <a:t> позволяет хранить числа с очень большим количеством </a:t>
            </a:r>
            <a:r>
              <a:rPr lang="ru-RU" sz="2400" dirty="0" smtClean="0"/>
              <a:t>цифр</a:t>
            </a:r>
          </a:p>
          <a:p>
            <a:r>
              <a:rPr lang="ru-RU" sz="2400" dirty="0"/>
              <a:t>NUMERIC(</a:t>
            </a:r>
            <a:r>
              <a:rPr lang="ru-RU" sz="2400" b="1" i="1" dirty="0"/>
              <a:t>точность</a:t>
            </a:r>
            <a:r>
              <a:rPr lang="ru-RU" sz="2400" dirty="0"/>
              <a:t>, </a:t>
            </a:r>
            <a:r>
              <a:rPr lang="ru-RU" sz="2400" b="1" i="1" dirty="0"/>
              <a:t>масштаб</a:t>
            </a:r>
            <a:endParaRPr lang="ru-RU" sz="2400" b="1" dirty="0"/>
          </a:p>
          <a:p>
            <a:r>
              <a:rPr lang="ru-RU" sz="2400" b="1" dirty="0" smtClean="0"/>
              <a:t> </a:t>
            </a:r>
            <a:r>
              <a:rPr lang="ru-RU" sz="2400" dirty="0"/>
              <a:t>NUMERIC(</a:t>
            </a:r>
            <a:r>
              <a:rPr lang="ru-RU" sz="2400" b="1" i="1" dirty="0"/>
              <a:t>точность</a:t>
            </a:r>
            <a:r>
              <a:rPr lang="ru-RU" sz="2400" dirty="0"/>
              <a:t>)</a:t>
            </a:r>
          </a:p>
          <a:p>
            <a:r>
              <a:rPr lang="ru-RU" sz="2400" dirty="0"/>
              <a:t>количество цифр слева в сумме с масштабом превысит объявленную точность, произойдёт </a:t>
            </a:r>
            <a:r>
              <a:rPr lang="ru-RU" sz="2400" dirty="0" smtClean="0"/>
              <a:t>ошибка.</a:t>
            </a:r>
          </a:p>
          <a:p>
            <a:r>
              <a:rPr lang="ru-RU" sz="2400" b="1" dirty="0" smtClean="0"/>
              <a:t>Пример: </a:t>
            </a:r>
            <a:r>
              <a:rPr lang="ru-RU" sz="2400" dirty="0"/>
              <a:t>NUMERIC(3, 1</a:t>
            </a:r>
            <a:r>
              <a:rPr lang="ru-RU" sz="2400" dirty="0" smtClean="0"/>
              <a:t>)  , </a:t>
            </a:r>
            <a:r>
              <a:rPr lang="ru-RU" sz="2400" dirty="0"/>
              <a:t>будет содержать значения, округлённые до одного десятичного знака, от -99.9 до 99.9 включительно.</a:t>
            </a:r>
          </a:p>
          <a:p>
            <a:r>
              <a:rPr lang="ru-RU" sz="2400" dirty="0"/>
              <a:t>тип </a:t>
            </a:r>
            <a:r>
              <a:rPr lang="ru-RU" sz="2400" dirty="0" err="1"/>
              <a:t>numeric</a:t>
            </a:r>
            <a:r>
              <a:rPr lang="ru-RU" sz="2400" dirty="0"/>
              <a:t> принимает следующие специальные значения:</a:t>
            </a:r>
          </a:p>
          <a:p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err="1"/>
              <a:t>Infinity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-</a:t>
            </a:r>
            <a:r>
              <a:rPr lang="ru-RU" sz="2400" dirty="0" err="1"/>
              <a:t>Infinity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err="1"/>
              <a:t>NaN</a:t>
            </a:r>
            <a:endParaRPr lang="ru-RU" sz="2400" dirty="0"/>
          </a:p>
          <a:p>
            <a:endParaRPr lang="ru-RU" sz="2400" b="1" dirty="0" smtClean="0"/>
          </a:p>
          <a:p>
            <a:r>
              <a:rPr lang="ru-RU" sz="2400" dirty="0"/>
              <a:t>например так: UPDATE </a:t>
            </a:r>
            <a:r>
              <a:rPr lang="ru-RU" sz="2400" dirty="0" err="1"/>
              <a:t>table</a:t>
            </a:r>
            <a:r>
              <a:rPr lang="ru-RU" sz="2400" dirty="0"/>
              <a:t> SET x = '-</a:t>
            </a:r>
            <a:r>
              <a:rPr lang="ru-RU" sz="2400" dirty="0" err="1" smtClean="0"/>
              <a:t>Infinity</a:t>
            </a:r>
            <a:r>
              <a:rPr lang="ru-RU" sz="2400" dirty="0" smtClean="0"/>
              <a:t>‘</a:t>
            </a:r>
          </a:p>
          <a:p>
            <a:r>
              <a:rPr lang="ru-RU" sz="2400" dirty="0"/>
              <a:t>Например, </a:t>
            </a:r>
            <a:r>
              <a:rPr lang="ru-RU" sz="2400" dirty="0" err="1"/>
              <a:t>Infinity</a:t>
            </a:r>
            <a:r>
              <a:rPr lang="ru-RU" sz="2400" dirty="0"/>
              <a:t> плюс любое конечное значение равно </a:t>
            </a:r>
            <a:r>
              <a:rPr lang="ru-RU" sz="2400" dirty="0" err="1"/>
              <a:t>Infinity</a:t>
            </a:r>
            <a:r>
              <a:rPr lang="ru-RU" sz="2400" dirty="0"/>
              <a:t>, как и </a:t>
            </a:r>
            <a:r>
              <a:rPr lang="ru-RU" sz="2400" dirty="0" err="1"/>
              <a:t>Infinity</a:t>
            </a:r>
            <a:r>
              <a:rPr lang="ru-RU" sz="2400" dirty="0"/>
              <a:t> плюс </a:t>
            </a:r>
            <a:r>
              <a:rPr lang="ru-RU" sz="2400" dirty="0" err="1"/>
              <a:t>Infinity</a:t>
            </a:r>
            <a:r>
              <a:rPr lang="ru-RU" sz="2400" dirty="0"/>
              <a:t>; но </a:t>
            </a:r>
            <a:r>
              <a:rPr lang="ru-RU" sz="2400" dirty="0" err="1"/>
              <a:t>Infinity</a:t>
            </a:r>
            <a:r>
              <a:rPr lang="ru-RU" sz="2400" dirty="0"/>
              <a:t> минус </a:t>
            </a:r>
            <a:r>
              <a:rPr lang="ru-RU" sz="2400" dirty="0" err="1"/>
              <a:t>Infinity</a:t>
            </a:r>
            <a:r>
              <a:rPr lang="ru-RU" sz="2400" dirty="0"/>
              <a:t> даёт </a:t>
            </a:r>
            <a:r>
              <a:rPr lang="ru-RU" sz="2400" dirty="0" err="1"/>
              <a:t>NaN</a:t>
            </a:r>
            <a:r>
              <a:rPr lang="ru-RU" sz="2400" dirty="0"/>
              <a:t> (не </a:t>
            </a:r>
            <a:r>
              <a:rPr lang="ru-RU" sz="2400" dirty="0" smtClean="0"/>
              <a:t>число)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60533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20262" y="0"/>
            <a:ext cx="1167173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Типы </a:t>
            </a:r>
            <a:r>
              <a:rPr lang="ru-RU" sz="2400" dirty="0" err="1"/>
              <a:t>decimal</a:t>
            </a:r>
            <a:r>
              <a:rPr lang="ru-RU" sz="2400" dirty="0"/>
              <a:t> и </a:t>
            </a:r>
            <a:r>
              <a:rPr lang="ru-RU" sz="2400" dirty="0" err="1"/>
              <a:t>numeric</a:t>
            </a:r>
            <a:r>
              <a:rPr lang="ru-RU" sz="2400" dirty="0"/>
              <a:t> </a:t>
            </a:r>
            <a:r>
              <a:rPr lang="ru-RU" sz="2400" dirty="0" smtClean="0"/>
              <a:t>равнозначны</a:t>
            </a:r>
          </a:p>
          <a:p>
            <a:r>
              <a:rPr lang="ru-RU" sz="2400" dirty="0"/>
              <a:t> Например</a:t>
            </a:r>
            <a:r>
              <a:rPr lang="en-US" sz="2400" dirty="0"/>
              <a:t>:</a:t>
            </a:r>
            <a:endParaRPr lang="ru-RU" sz="2400" dirty="0"/>
          </a:p>
          <a:p>
            <a:r>
              <a:rPr lang="en-US" sz="2400" dirty="0"/>
              <a:t>SELECT x,</a:t>
            </a:r>
            <a:endParaRPr lang="ru-RU" sz="2400" dirty="0"/>
          </a:p>
          <a:p>
            <a:r>
              <a:rPr lang="en-US" sz="2400" dirty="0"/>
              <a:t>  round(x::numeric) AS </a:t>
            </a:r>
            <a:r>
              <a:rPr lang="en-US" sz="2400" dirty="0" err="1"/>
              <a:t>num_round</a:t>
            </a:r>
            <a:r>
              <a:rPr lang="en-US" sz="2400" dirty="0"/>
              <a:t>,</a:t>
            </a:r>
            <a:endParaRPr lang="ru-RU" sz="2400" dirty="0"/>
          </a:p>
          <a:p>
            <a:r>
              <a:rPr lang="en-US" sz="2400" dirty="0"/>
              <a:t>  round(x::double precision) AS </a:t>
            </a:r>
            <a:r>
              <a:rPr lang="en-US" sz="2400" dirty="0" err="1"/>
              <a:t>dbl_round</a:t>
            </a:r>
            <a:endParaRPr lang="ru-RU" sz="2400" dirty="0"/>
          </a:p>
          <a:p>
            <a:r>
              <a:rPr lang="en-US" sz="2400" dirty="0"/>
              <a:t>FROM </a:t>
            </a:r>
            <a:r>
              <a:rPr lang="en-US" sz="2400" dirty="0" err="1"/>
              <a:t>generate_series</a:t>
            </a:r>
            <a:r>
              <a:rPr lang="en-US" sz="2400" dirty="0"/>
              <a:t>(-3.5, 3.5, 1) as x;</a:t>
            </a:r>
            <a:endParaRPr lang="ru-RU" sz="2400" dirty="0"/>
          </a:p>
          <a:p>
            <a:r>
              <a:rPr lang="en-US" sz="2400" dirty="0"/>
              <a:t>  x   | </a:t>
            </a:r>
            <a:r>
              <a:rPr lang="en-US" sz="2400" dirty="0" err="1"/>
              <a:t>num_round</a:t>
            </a:r>
            <a:r>
              <a:rPr lang="en-US" sz="2400" dirty="0"/>
              <a:t> | </a:t>
            </a:r>
            <a:r>
              <a:rPr lang="en-US" sz="2400" dirty="0" err="1"/>
              <a:t>dbl_round</a:t>
            </a:r>
            <a:endParaRPr lang="ru-RU" sz="2400" dirty="0"/>
          </a:p>
          <a:p>
            <a:r>
              <a:rPr lang="en-US" sz="2400" dirty="0"/>
              <a:t>------+-----------+-----------</a:t>
            </a:r>
            <a:endParaRPr lang="ru-RU" sz="2400" dirty="0"/>
          </a:p>
          <a:p>
            <a:r>
              <a:rPr lang="en-US" sz="2400" dirty="0"/>
              <a:t> -3.5 |        -4 |        -4</a:t>
            </a:r>
            <a:endParaRPr lang="ru-RU" sz="2400" dirty="0"/>
          </a:p>
          <a:p>
            <a:r>
              <a:rPr lang="en-US" sz="2400" dirty="0"/>
              <a:t> -2.5 |        -3 |        -2</a:t>
            </a:r>
            <a:endParaRPr lang="ru-RU" sz="2400" dirty="0"/>
          </a:p>
          <a:p>
            <a:r>
              <a:rPr lang="en-US" sz="2400" dirty="0"/>
              <a:t> -1.5 |        -2 |        -2</a:t>
            </a:r>
            <a:endParaRPr lang="ru-RU" sz="2400" dirty="0"/>
          </a:p>
          <a:p>
            <a:r>
              <a:rPr lang="en-US" sz="2400" dirty="0"/>
              <a:t> -0.5 |        -1 |        -0</a:t>
            </a:r>
            <a:endParaRPr lang="ru-RU" sz="2400" dirty="0"/>
          </a:p>
          <a:p>
            <a:r>
              <a:rPr lang="en-US" sz="2400" dirty="0"/>
              <a:t>  0.5 |         1 |         0</a:t>
            </a:r>
            <a:endParaRPr lang="ru-RU" sz="2400" dirty="0"/>
          </a:p>
          <a:p>
            <a:r>
              <a:rPr lang="en-US" sz="2400" dirty="0"/>
              <a:t>  1.5 |         2 |         2</a:t>
            </a:r>
            <a:endParaRPr lang="ru-RU" sz="2400" dirty="0"/>
          </a:p>
          <a:p>
            <a:r>
              <a:rPr lang="en-US" sz="2400" dirty="0"/>
              <a:t>  2.5 |         3 |         2</a:t>
            </a:r>
            <a:endParaRPr lang="ru-RU" sz="2400" dirty="0"/>
          </a:p>
          <a:p>
            <a:r>
              <a:rPr lang="en-US" sz="2400" dirty="0"/>
              <a:t>  3.5 |         4 |         4</a:t>
            </a:r>
            <a:endParaRPr lang="ru-RU" sz="2400" dirty="0"/>
          </a:p>
          <a:p>
            <a:r>
              <a:rPr lang="en-US" sz="2400" dirty="0"/>
              <a:t>(8 rows)</a:t>
            </a:r>
            <a:endParaRPr lang="ru-RU" sz="2400" dirty="0"/>
          </a:p>
          <a:p>
            <a:pPr algn="ctr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7245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37338" y="0"/>
            <a:ext cx="43612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Типы с плавающей точкой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Типы данных </a:t>
            </a:r>
            <a:r>
              <a:rPr lang="ru-RU" sz="2400" dirty="0" err="1"/>
              <a:t>real</a:t>
            </a:r>
            <a:r>
              <a:rPr lang="ru-RU" sz="2400" dirty="0"/>
              <a:t> и </a:t>
            </a:r>
            <a:r>
              <a:rPr lang="ru-RU" sz="2400" dirty="0" err="1"/>
              <a:t>double</a:t>
            </a:r>
            <a:r>
              <a:rPr lang="ru-RU" sz="2400" dirty="0"/>
              <a:t> </a:t>
            </a:r>
            <a:r>
              <a:rPr lang="ru-RU" sz="2400" dirty="0" err="1"/>
              <a:t>precision</a:t>
            </a:r>
            <a:r>
              <a:rPr lang="ru-RU" sz="2400" dirty="0"/>
              <a:t> хранят приближённые числовые значения с переменной </a:t>
            </a:r>
            <a:r>
              <a:rPr lang="ru-RU" sz="2400" dirty="0" smtClean="0"/>
              <a:t>точностью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Если вам нужна точность при хранении и вычислениях (например, для денежных сумм), используйте вместо этого тип </a:t>
            </a:r>
            <a:r>
              <a:rPr lang="ru-RU" sz="2400" dirty="0" err="1"/>
              <a:t>numeric</a:t>
            </a:r>
            <a:r>
              <a:rPr lang="ru-RU" sz="24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Если вы хотите выполнять с этими типами сложные вычисления, имеющие большую важность, тщательно изучите реализацию операций в вашей среде и особенно поведение в крайних случаях (бесконечность, антипереполнение).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Проверка равенства двух чисел с плавающей точкой может не всегда давать ожидаемый результат.</a:t>
            </a:r>
          </a:p>
          <a:p>
            <a:pPr algn="just"/>
            <a:r>
              <a:rPr lang="ru-RU" sz="2400" dirty="0"/>
              <a:t>На всех поддерживаемых сейчас платформах тип </a:t>
            </a:r>
            <a:r>
              <a:rPr lang="ru-RU" sz="2400" dirty="0" err="1"/>
              <a:t>real</a:t>
            </a:r>
            <a:r>
              <a:rPr lang="ru-RU" sz="2400" dirty="0"/>
              <a:t> может сохранить значения примерно от 1E-37 до 1E+37 с точностью не меньше 6 десятичных цифр. Тип </a:t>
            </a:r>
            <a:r>
              <a:rPr lang="ru-RU" sz="2400" dirty="0" err="1"/>
              <a:t>double</a:t>
            </a:r>
            <a:r>
              <a:rPr lang="ru-RU" sz="2400" dirty="0"/>
              <a:t> </a:t>
            </a:r>
            <a:r>
              <a:rPr lang="ru-RU" sz="2400" dirty="0" err="1"/>
              <a:t>precision</a:t>
            </a:r>
            <a:r>
              <a:rPr lang="ru-RU" sz="2400" dirty="0"/>
              <a:t> предлагает значения в диапазоне приблизительно от 1E-307 до 1E+308 и с точностью не меньше 15 </a:t>
            </a:r>
            <a:r>
              <a:rPr lang="ru-RU" sz="2400" dirty="0" smtClean="0"/>
              <a:t>цифр.</a:t>
            </a:r>
          </a:p>
          <a:p>
            <a:pPr algn="just"/>
            <a:r>
              <a:rPr lang="ru-RU" sz="2400" dirty="0"/>
              <a:t>При любом значении </a:t>
            </a:r>
            <a:r>
              <a:rPr lang="ru-RU" sz="2400" dirty="0" smtClean="0"/>
              <a:t> </a:t>
            </a:r>
            <a:r>
              <a:rPr lang="en-US" sz="2400" dirty="0" err="1" smtClean="0"/>
              <a:t>extra_float_diqits</a:t>
            </a:r>
            <a:r>
              <a:rPr lang="ru-RU" sz="2400" dirty="0" smtClean="0"/>
              <a:t>, </a:t>
            </a:r>
            <a:r>
              <a:rPr lang="ru-RU" sz="2400" dirty="0"/>
              <a:t>большем 0, выбирается кратчайшее точное представление.</a:t>
            </a:r>
          </a:p>
          <a:p>
            <a:pPr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0809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типы с плавающей точкой принимают следующие специальные значения:</a:t>
            </a:r>
          </a:p>
          <a:p>
            <a:r>
              <a:rPr lang="ru-RU" sz="2400" dirty="0" err="1"/>
              <a:t>Infinity</a:t>
            </a:r>
            <a:endParaRPr lang="ru-RU" sz="2400" dirty="0"/>
          </a:p>
          <a:p>
            <a:r>
              <a:rPr lang="ru-RU" sz="2400" dirty="0"/>
              <a:t>-</a:t>
            </a:r>
            <a:r>
              <a:rPr lang="ru-RU" sz="2400" dirty="0" err="1"/>
              <a:t>Infinity</a:t>
            </a:r>
            <a:endParaRPr lang="ru-RU" sz="2400" dirty="0"/>
          </a:p>
          <a:p>
            <a:r>
              <a:rPr lang="ru-RU" sz="2400" dirty="0" err="1" smtClean="0"/>
              <a:t>NaN</a:t>
            </a:r>
            <a:endParaRPr lang="en-US" sz="2400" dirty="0" smtClean="0"/>
          </a:p>
          <a:p>
            <a:r>
              <a:rPr lang="ru-RU" sz="2400" dirty="0" smtClean="0"/>
              <a:t>значения </a:t>
            </a:r>
            <a:r>
              <a:rPr lang="ru-RU" sz="2400" dirty="0"/>
              <a:t>в виде констант в команде SQL, их нужно заключать в апострофы, например так: UPDATE </a:t>
            </a:r>
            <a:r>
              <a:rPr lang="ru-RU" sz="2400" dirty="0" err="1"/>
              <a:t>table</a:t>
            </a:r>
            <a:r>
              <a:rPr lang="ru-RU" sz="2400" dirty="0"/>
              <a:t> SET x = '-</a:t>
            </a:r>
            <a:r>
              <a:rPr lang="ru-RU" sz="2400" dirty="0" err="1" smtClean="0"/>
              <a:t>Infinity</a:t>
            </a:r>
            <a:r>
              <a:rPr lang="ru-RU" sz="2400" dirty="0" smtClean="0"/>
              <a:t>‘</a:t>
            </a:r>
            <a:r>
              <a:rPr lang="en-US" sz="2400" dirty="0" smtClean="0"/>
              <a:t> (</a:t>
            </a:r>
            <a:r>
              <a:rPr lang="ru-RU" sz="2400" dirty="0"/>
              <a:t>значения, описанные в IEEE </a:t>
            </a:r>
            <a:r>
              <a:rPr lang="ru-RU" sz="2400" dirty="0" smtClean="0"/>
              <a:t>754</a:t>
            </a:r>
            <a:r>
              <a:rPr lang="en-US" sz="2400" dirty="0" smtClean="0"/>
              <a:t>)</a:t>
            </a:r>
          </a:p>
          <a:p>
            <a:pPr algn="just"/>
            <a:r>
              <a:rPr lang="ru-RU" sz="2400" dirty="0" err="1"/>
              <a:t>PostgreSQL</a:t>
            </a:r>
            <a:r>
              <a:rPr lang="ru-RU" sz="2400" dirty="0"/>
              <a:t> также поддерживает форматы </a:t>
            </a:r>
            <a:r>
              <a:rPr lang="ru-RU" sz="2400" dirty="0" err="1"/>
              <a:t>float</a:t>
            </a:r>
            <a:r>
              <a:rPr lang="ru-RU" sz="2400" dirty="0"/>
              <a:t> и </a:t>
            </a:r>
            <a:r>
              <a:rPr lang="ru-RU" sz="2400" dirty="0" err="1"/>
              <a:t>float</a:t>
            </a:r>
            <a:r>
              <a:rPr lang="ru-RU" sz="2400" dirty="0"/>
              <a:t>(</a:t>
            </a:r>
            <a:r>
              <a:rPr lang="ru-RU" sz="2400" b="1" i="1" dirty="0"/>
              <a:t>p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 algn="just"/>
            <a:r>
              <a:rPr lang="ru-RU" sz="2400" b="1" i="1" dirty="0" smtClean="0"/>
              <a:t>p</a:t>
            </a:r>
            <a:r>
              <a:rPr lang="ru-RU" sz="2400" dirty="0"/>
              <a:t> определяет минимально допустимую точность в </a:t>
            </a:r>
            <a:r>
              <a:rPr lang="ru-RU" sz="2400" b="1" i="1" dirty="0"/>
              <a:t>двоичных</a:t>
            </a:r>
            <a:r>
              <a:rPr lang="ru-RU" sz="2400" dirty="0"/>
              <a:t> цифрах. </a:t>
            </a:r>
            <a:r>
              <a:rPr lang="ru-RU" sz="2400" dirty="0" err="1"/>
              <a:t>PostgreSQL</a:t>
            </a:r>
            <a:r>
              <a:rPr lang="ru-RU" sz="2400" dirty="0"/>
              <a:t> воспринимает запись от </a:t>
            </a:r>
            <a:r>
              <a:rPr lang="ru-RU" sz="2400" dirty="0" err="1"/>
              <a:t>float</a:t>
            </a:r>
            <a:r>
              <a:rPr lang="ru-RU" sz="2400" dirty="0"/>
              <a:t>(1) до </a:t>
            </a:r>
            <a:r>
              <a:rPr lang="ru-RU" sz="2400" dirty="0" err="1"/>
              <a:t>float</a:t>
            </a:r>
            <a:r>
              <a:rPr lang="ru-RU" sz="2400" dirty="0"/>
              <a:t>(24) как выбор типа </a:t>
            </a:r>
            <a:r>
              <a:rPr lang="ru-RU" sz="2400" dirty="0" err="1"/>
              <a:t>real</a:t>
            </a:r>
            <a:r>
              <a:rPr lang="ru-RU" sz="2400" dirty="0"/>
              <a:t>, а запись от </a:t>
            </a:r>
            <a:r>
              <a:rPr lang="ru-RU" sz="2400" dirty="0" err="1"/>
              <a:t>float</a:t>
            </a:r>
            <a:r>
              <a:rPr lang="ru-RU" sz="2400" dirty="0"/>
              <a:t>(25) до </a:t>
            </a:r>
            <a:r>
              <a:rPr lang="ru-RU" sz="2400" dirty="0" err="1"/>
              <a:t>float</a:t>
            </a:r>
            <a:r>
              <a:rPr lang="ru-RU" sz="2400" dirty="0"/>
              <a:t>(53) как выбор типа </a:t>
            </a:r>
            <a:r>
              <a:rPr lang="ru-RU" sz="2400" dirty="0" err="1"/>
              <a:t>double</a:t>
            </a:r>
            <a:r>
              <a:rPr lang="ru-RU" sz="2400" dirty="0"/>
              <a:t> </a:t>
            </a:r>
            <a:r>
              <a:rPr lang="ru-RU" sz="2400" dirty="0" err="1"/>
              <a:t>precision</a:t>
            </a:r>
            <a:r>
              <a:rPr lang="ru-RU" sz="2400" dirty="0"/>
              <a:t>. Значения </a:t>
            </a:r>
            <a:r>
              <a:rPr lang="ru-RU" sz="2400" b="1" i="1" dirty="0"/>
              <a:t>p</a:t>
            </a:r>
            <a:r>
              <a:rPr lang="ru-RU" sz="2400" dirty="0"/>
              <a:t> вне допустимого диапазона вызывают ошибку. Если </a:t>
            </a:r>
            <a:r>
              <a:rPr lang="ru-RU" sz="2400" dirty="0" err="1"/>
              <a:t>float</a:t>
            </a:r>
            <a:r>
              <a:rPr lang="ru-RU" sz="2400" dirty="0"/>
              <a:t> указывается без точности, подразумевается тип </a:t>
            </a:r>
            <a:r>
              <a:rPr lang="ru-RU" sz="2400" dirty="0" err="1"/>
              <a:t>double</a:t>
            </a:r>
            <a:r>
              <a:rPr lang="ru-RU" sz="2400" dirty="0"/>
              <a:t> </a:t>
            </a:r>
            <a:r>
              <a:rPr lang="ru-RU" sz="2400" dirty="0" err="1"/>
              <a:t>precision</a:t>
            </a:r>
            <a:r>
              <a:rPr lang="ru-RU" sz="2400" dirty="0"/>
              <a:t>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21523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8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 smtClean="0">
                <a:solidFill>
                  <a:srgbClr val="FF0000"/>
                </a:solidFill>
              </a:rPr>
              <a:t>Последовательные типы. Денежные типы. Символьные типы. Двоичные типы данных . </a:t>
            </a:r>
            <a:r>
              <a:rPr lang="ru-RU" sz="4000" b="1" dirty="0" err="1" smtClean="0">
                <a:solidFill>
                  <a:srgbClr val="FF0000"/>
                </a:solidFill>
              </a:rPr>
              <a:t>Шестнадцатиричный</a:t>
            </a:r>
            <a:r>
              <a:rPr lang="ru-RU" sz="4000" b="1" dirty="0" smtClean="0">
                <a:solidFill>
                  <a:srgbClr val="FF0000"/>
                </a:solidFill>
              </a:rPr>
              <a:t> формат</a:t>
            </a:r>
            <a:r>
              <a:rPr lang="en-US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</a:rPr>
              <a:t>bytea</a:t>
            </a:r>
            <a:r>
              <a:rPr lang="en-US" sz="4000" b="1" dirty="0" smtClean="0">
                <a:solidFill>
                  <a:srgbClr val="FF0000"/>
                </a:solidFill>
              </a:rPr>
              <a:t>.</a:t>
            </a:r>
            <a:r>
              <a:rPr lang="ru-RU" sz="4000" b="1" dirty="0" smtClean="0">
                <a:solidFill>
                  <a:srgbClr val="FF0000"/>
                </a:solidFill>
              </a:rPr>
              <a:t> Формат </a:t>
            </a:r>
            <a:r>
              <a:rPr lang="ru-RU" sz="4000" b="1" dirty="0" err="1" smtClean="0">
                <a:solidFill>
                  <a:srgbClr val="FF0000"/>
                </a:solidFill>
              </a:rPr>
              <a:t>спецпоследовательностей</a:t>
            </a:r>
            <a:r>
              <a:rPr lang="ru-RU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</a:rPr>
              <a:t>bytea</a:t>
            </a:r>
            <a:r>
              <a:rPr lang="ru-RU" sz="4000" b="1" dirty="0" smtClean="0">
                <a:solidFill>
                  <a:srgbClr val="FF0000"/>
                </a:solidFill>
              </a:rPr>
              <a:t>.</a:t>
            </a:r>
          </a:p>
          <a:p>
            <a:pPr lvl="1" algn="ctr"/>
            <a:r>
              <a:rPr lang="ru-RU" sz="4000" b="1" dirty="0" smtClean="0"/>
              <a:t>Вопрос 2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8575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57600" y="0"/>
            <a:ext cx="37414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Последовательные типы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354842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CREATE TABLE </a:t>
            </a:r>
            <a:r>
              <a:rPr lang="ru-RU" sz="2400" dirty="0" err="1"/>
              <a:t>имя_таблицы</a:t>
            </a:r>
            <a:r>
              <a:rPr lang="ru-RU" sz="2400" dirty="0"/>
              <a:t> (</a:t>
            </a:r>
          </a:p>
          <a:p>
            <a:r>
              <a:rPr lang="ru-RU" sz="2400" dirty="0"/>
              <a:t>    </a:t>
            </a:r>
            <a:r>
              <a:rPr lang="ru-RU" sz="2400" dirty="0" err="1"/>
              <a:t>имя_столбца</a:t>
            </a:r>
            <a:r>
              <a:rPr lang="ru-RU" sz="2400" dirty="0"/>
              <a:t> </a:t>
            </a:r>
            <a:r>
              <a:rPr lang="en-US" sz="2400" b="1" dirty="0"/>
              <a:t>SERIAL</a:t>
            </a:r>
          </a:p>
          <a:p>
            <a:r>
              <a:rPr lang="en-US" sz="2400" dirty="0"/>
              <a:t>);</a:t>
            </a:r>
          </a:p>
          <a:p>
            <a:r>
              <a:rPr lang="ru-RU" sz="2400" dirty="0"/>
              <a:t>равнозначна следующим командам:</a:t>
            </a:r>
          </a:p>
          <a:p>
            <a:r>
              <a:rPr lang="en-US" sz="2400" dirty="0"/>
              <a:t>CREATE SEQUENCE </a:t>
            </a:r>
            <a:r>
              <a:rPr lang="ru-RU" sz="2400" dirty="0" err="1"/>
              <a:t>имя_таблицы_имя_столбца</a:t>
            </a:r>
            <a:r>
              <a:rPr lang="ru-RU" sz="2400" dirty="0"/>
              <a:t>_</a:t>
            </a:r>
            <a:r>
              <a:rPr lang="en-US" sz="2400" dirty="0" err="1"/>
              <a:t>seq</a:t>
            </a:r>
            <a:r>
              <a:rPr lang="en-US" sz="2400" dirty="0"/>
              <a:t> AS integer;</a:t>
            </a:r>
          </a:p>
          <a:p>
            <a:r>
              <a:rPr lang="en-US" sz="2400" dirty="0"/>
              <a:t>CREATE TABLE </a:t>
            </a:r>
            <a:r>
              <a:rPr lang="ru-RU" sz="2400" dirty="0" err="1"/>
              <a:t>имя_таблицы</a:t>
            </a:r>
            <a:r>
              <a:rPr lang="ru-RU" sz="2400" dirty="0"/>
              <a:t> (</a:t>
            </a:r>
          </a:p>
          <a:p>
            <a:r>
              <a:rPr lang="ru-RU" sz="2400" dirty="0"/>
              <a:t>    </a:t>
            </a:r>
            <a:r>
              <a:rPr lang="ru-RU" sz="2400" dirty="0" err="1"/>
              <a:t>имя_столбца</a:t>
            </a:r>
            <a:r>
              <a:rPr lang="ru-RU" sz="2400" dirty="0"/>
              <a:t> </a:t>
            </a:r>
            <a:r>
              <a:rPr lang="en-US" sz="2400" dirty="0"/>
              <a:t>integer NOT NULL DEFAULT </a:t>
            </a:r>
            <a:r>
              <a:rPr lang="en-US" sz="2400" dirty="0" err="1"/>
              <a:t>nextval</a:t>
            </a:r>
            <a:r>
              <a:rPr lang="en-US" sz="2400" dirty="0"/>
              <a:t>('</a:t>
            </a:r>
            <a:r>
              <a:rPr lang="ru-RU" sz="2400" dirty="0" err="1"/>
              <a:t>имя_таблицы_имя_столбца</a:t>
            </a:r>
            <a:r>
              <a:rPr lang="ru-RU" sz="2400" dirty="0"/>
              <a:t>_</a:t>
            </a:r>
            <a:r>
              <a:rPr lang="en-US" sz="2400" dirty="0" err="1"/>
              <a:t>seq</a:t>
            </a:r>
            <a:r>
              <a:rPr lang="en-US" sz="2400" dirty="0"/>
              <a:t>')</a:t>
            </a:r>
          </a:p>
          <a:p>
            <a:r>
              <a:rPr lang="en-US" sz="2400" dirty="0"/>
              <a:t>);</a:t>
            </a:r>
          </a:p>
          <a:p>
            <a:r>
              <a:rPr lang="en-US" sz="2400" dirty="0"/>
              <a:t>ALTER SEQUENCE </a:t>
            </a:r>
            <a:r>
              <a:rPr lang="ru-RU" sz="2400" dirty="0" err="1"/>
              <a:t>имя_таблицы_имя_столбца</a:t>
            </a:r>
            <a:r>
              <a:rPr lang="ru-RU" sz="2400" dirty="0"/>
              <a:t>_</a:t>
            </a:r>
            <a:r>
              <a:rPr lang="en-US" sz="2400" dirty="0" err="1"/>
              <a:t>seq</a:t>
            </a:r>
            <a:r>
              <a:rPr lang="en-US" sz="2400" dirty="0"/>
              <a:t> OWNED BY </a:t>
            </a:r>
            <a:r>
              <a:rPr lang="ru-RU" sz="2400" dirty="0" err="1"/>
              <a:t>имя_таблицы.имя_столбца</a:t>
            </a:r>
            <a:r>
              <a:rPr lang="ru-RU" sz="2400" dirty="0" smtClean="0"/>
              <a:t>;</a:t>
            </a:r>
          </a:p>
          <a:p>
            <a:r>
              <a:rPr lang="ru-RU" sz="2400" dirty="0"/>
              <a:t>типы </a:t>
            </a:r>
            <a:r>
              <a:rPr lang="ru-RU" sz="2400" dirty="0" err="1"/>
              <a:t>smallserial</a:t>
            </a:r>
            <a:r>
              <a:rPr lang="ru-RU" sz="2400" dirty="0"/>
              <a:t>, </a:t>
            </a:r>
            <a:r>
              <a:rPr lang="ru-RU" sz="2400" dirty="0" err="1"/>
              <a:t>serial</a:t>
            </a:r>
            <a:r>
              <a:rPr lang="ru-RU" sz="2400" dirty="0"/>
              <a:t> и </a:t>
            </a:r>
            <a:r>
              <a:rPr lang="ru-RU" sz="2400" dirty="0" err="1"/>
              <a:t>bigserial</a:t>
            </a:r>
            <a:r>
              <a:rPr lang="ru-RU" sz="2400" dirty="0"/>
              <a:t> реализованы через последовательности, в числовом ряду значений столбца могут образовываться пропуски (или «дыры</a:t>
            </a:r>
            <a:r>
              <a:rPr lang="ru-RU" sz="2400" dirty="0" smtClean="0"/>
              <a:t>»)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9454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49170" y="0"/>
            <a:ext cx="25613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Денежные типы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627314"/>
              </p:ext>
            </p:extLst>
          </p:nvPr>
        </p:nvGraphicFramePr>
        <p:xfrm>
          <a:off x="0" y="461666"/>
          <a:ext cx="12192000" cy="13261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78880248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709562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9654803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76267550"/>
                    </a:ext>
                  </a:extLst>
                </a:gridCol>
              </a:tblGrid>
              <a:tr h="47882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Имя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Размер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Описание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Диапазон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96216170"/>
                  </a:ext>
                </a:extLst>
              </a:tr>
              <a:tr h="84736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money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 байт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денежная сумма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-92233720368547​758.08 .. +92233720368547​758.07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59557186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787858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Значения типов </a:t>
            </a:r>
            <a:r>
              <a:rPr lang="en-US" sz="2400" dirty="0"/>
              <a:t>numeric,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 err="1"/>
              <a:t>bigint</a:t>
            </a:r>
            <a:r>
              <a:rPr lang="en-US" sz="2400" dirty="0"/>
              <a:t> </a:t>
            </a:r>
            <a:r>
              <a:rPr lang="ru-RU" sz="2400" dirty="0"/>
              <a:t>можно привести к типу </a:t>
            </a:r>
            <a:r>
              <a:rPr lang="en-US" sz="2400" dirty="0"/>
              <a:t>money. </a:t>
            </a:r>
            <a:r>
              <a:rPr lang="ru-RU" sz="2400" dirty="0"/>
              <a:t>Преобразования типов </a:t>
            </a:r>
            <a:r>
              <a:rPr lang="en-US" sz="2400" dirty="0"/>
              <a:t>real </a:t>
            </a:r>
            <a:r>
              <a:rPr lang="ru-RU" sz="2400" dirty="0"/>
              <a:t>и </a:t>
            </a:r>
            <a:r>
              <a:rPr lang="en-US" sz="2400" dirty="0"/>
              <a:t>double precision </a:t>
            </a:r>
            <a:r>
              <a:rPr lang="ru-RU" sz="2400" dirty="0"/>
              <a:t>так же возможны через тип </a:t>
            </a:r>
            <a:r>
              <a:rPr lang="en-US" sz="2400" dirty="0"/>
              <a:t>numeric, </a:t>
            </a:r>
            <a:r>
              <a:rPr lang="ru-RU" sz="2400" dirty="0"/>
              <a:t>например:</a:t>
            </a:r>
          </a:p>
          <a:p>
            <a:r>
              <a:rPr lang="en-US" sz="2400" dirty="0"/>
              <a:t>SELECT '12.34'::float8::numeric::</a:t>
            </a:r>
            <a:r>
              <a:rPr lang="en-US" sz="2400" dirty="0" smtClean="0"/>
              <a:t>money</a:t>
            </a:r>
            <a:endParaRPr lang="ru-RU" sz="2400" dirty="0" smtClean="0"/>
          </a:p>
          <a:p>
            <a:r>
              <a:rPr lang="en-US" sz="2400" dirty="0"/>
              <a:t>SELECT '52093.89'::money::numeric::float8;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056697"/>
              </p:ext>
            </p:extLst>
          </p:nvPr>
        </p:nvGraphicFramePr>
        <p:xfrm>
          <a:off x="0" y="3285014"/>
          <a:ext cx="12192000" cy="22194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22146478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863885179"/>
                    </a:ext>
                  </a:extLst>
                </a:gridCol>
              </a:tblGrid>
              <a:tr h="38242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Имя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70276135"/>
                  </a:ext>
                </a:extLst>
              </a:tr>
              <a:tr h="38375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character varying(n), varchar(n)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строка ограниченной переменной длины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746373646"/>
                  </a:ext>
                </a:extLst>
              </a:tr>
              <a:tr h="38375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character(n), char(n), bpchar(n)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строка фиксированной длины, дополненная пробелами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72005671"/>
                  </a:ext>
                </a:extLst>
              </a:tr>
              <a:tr h="38242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bpchar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строка неограниченной переменной длины с удалением пробелов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85067049"/>
                  </a:ext>
                </a:extLst>
              </a:tr>
              <a:tr h="38242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text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строка неограниченной переменной длины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888905848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0" y="573777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тип </a:t>
            </a:r>
            <a:r>
              <a:rPr lang="ru-RU" sz="2400" dirty="0" err="1"/>
              <a:t>character</a:t>
            </a:r>
            <a:r>
              <a:rPr lang="ru-RU" sz="2400" dirty="0"/>
              <a:t>(n) работает быстрее других, в </a:t>
            </a:r>
            <a:r>
              <a:rPr lang="ru-RU" sz="2400" dirty="0" err="1"/>
              <a:t>PostgreSQL</a:t>
            </a:r>
            <a:r>
              <a:rPr lang="ru-RU" sz="2400" dirty="0"/>
              <a:t> это не так</a:t>
            </a:r>
          </a:p>
        </p:txBody>
      </p:sp>
    </p:spTree>
    <p:extLst>
      <p:ext uri="{BB962C8B-B14F-4D97-AF65-F5344CB8AC3E}">
        <p14:creationId xmlns:p14="http://schemas.microsoft.com/office/powerpoint/2010/main" val="2090870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675564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CREATE TABLE test1 (a character(4));</a:t>
            </a:r>
          </a:p>
          <a:p>
            <a:r>
              <a:rPr lang="en-US" dirty="0"/>
              <a:t>INSERT INTO test1 VALUES ('ok');</a:t>
            </a:r>
          </a:p>
          <a:p>
            <a:r>
              <a:rPr lang="en-US" dirty="0"/>
              <a:t>SELECT a, </a:t>
            </a:r>
            <a:r>
              <a:rPr lang="en-US" dirty="0" err="1"/>
              <a:t>char_length</a:t>
            </a:r>
            <a:r>
              <a:rPr lang="en-US" dirty="0"/>
              <a:t>(a) FROM test1; -- (1)</a:t>
            </a:r>
          </a:p>
          <a:p>
            <a:endParaRPr lang="en-US" dirty="0"/>
          </a:p>
          <a:p>
            <a:r>
              <a:rPr lang="en-US" dirty="0"/>
              <a:t>  a   | </a:t>
            </a:r>
            <a:r>
              <a:rPr lang="en-US" dirty="0" err="1"/>
              <a:t>char_length</a:t>
            </a:r>
            <a:endParaRPr lang="en-US" dirty="0"/>
          </a:p>
          <a:p>
            <a:r>
              <a:rPr lang="en-US" dirty="0"/>
              <a:t>------+-------------</a:t>
            </a:r>
          </a:p>
          <a:p>
            <a:r>
              <a:rPr lang="en-US" dirty="0"/>
              <a:t> ok   |           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TABLE test2 (b varchar(5));</a:t>
            </a:r>
          </a:p>
          <a:p>
            <a:r>
              <a:rPr lang="en-US" dirty="0"/>
              <a:t>INSERT INTO test2 VALUES ('ok');</a:t>
            </a:r>
          </a:p>
          <a:p>
            <a:r>
              <a:rPr lang="en-US" dirty="0"/>
              <a:t>INSERT INTO test2 VALUES ('good      ');</a:t>
            </a:r>
          </a:p>
          <a:p>
            <a:r>
              <a:rPr lang="en-US" dirty="0"/>
              <a:t>INSERT INTO test2 VALUES ('too long');</a:t>
            </a:r>
          </a:p>
          <a:p>
            <a:r>
              <a:rPr lang="ru-RU" dirty="0"/>
              <a:t>ОШИБКА:  значение не умещается в тип </a:t>
            </a:r>
            <a:r>
              <a:rPr lang="en-US" dirty="0"/>
              <a:t>character varying(5)</a:t>
            </a:r>
          </a:p>
          <a:p>
            <a:r>
              <a:rPr lang="en-US" dirty="0"/>
              <a:t>INSERT INTO test2 VALUES ('too long'::varchar(5)); -- </a:t>
            </a:r>
            <a:r>
              <a:rPr lang="ru-RU" dirty="0"/>
              <a:t>явное усечение</a:t>
            </a:r>
          </a:p>
          <a:p>
            <a:r>
              <a:rPr lang="en-US" dirty="0"/>
              <a:t>SELECT b, </a:t>
            </a:r>
            <a:r>
              <a:rPr lang="en-US" dirty="0" err="1"/>
              <a:t>char_length</a:t>
            </a:r>
            <a:r>
              <a:rPr lang="en-US" dirty="0"/>
              <a:t>(b) FROM test2;</a:t>
            </a:r>
          </a:p>
          <a:p>
            <a:endParaRPr lang="en-US" dirty="0"/>
          </a:p>
          <a:p>
            <a:r>
              <a:rPr lang="en-US" dirty="0"/>
              <a:t>   b   | </a:t>
            </a:r>
            <a:r>
              <a:rPr lang="en-US" b="1" dirty="0" err="1"/>
              <a:t>char_length</a:t>
            </a:r>
            <a:endParaRPr lang="en-US" b="1" dirty="0"/>
          </a:p>
          <a:p>
            <a:r>
              <a:rPr lang="en-US" dirty="0"/>
              <a:t>-------+-------------</a:t>
            </a:r>
          </a:p>
          <a:p>
            <a:r>
              <a:rPr lang="en-US" dirty="0"/>
              <a:t> ok    |           2</a:t>
            </a:r>
          </a:p>
          <a:p>
            <a:r>
              <a:rPr lang="en-US" dirty="0"/>
              <a:t> good  |           5</a:t>
            </a:r>
          </a:p>
          <a:p>
            <a:r>
              <a:rPr lang="en-US" dirty="0"/>
              <a:t> too l |           5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05465"/>
              </p:ext>
            </p:extLst>
          </p:nvPr>
        </p:nvGraphicFramePr>
        <p:xfrm>
          <a:off x="6496336" y="-1"/>
          <a:ext cx="5695665" cy="4391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8555">
                  <a:extLst>
                    <a:ext uri="{9D8B030D-6E8A-4147-A177-3AD203B41FA5}">
                      <a16:colId xmlns:a16="http://schemas.microsoft.com/office/drawing/2014/main" val="3392809255"/>
                    </a:ext>
                  </a:extLst>
                </a:gridCol>
                <a:gridCol w="1898555">
                  <a:extLst>
                    <a:ext uri="{9D8B030D-6E8A-4147-A177-3AD203B41FA5}">
                      <a16:colId xmlns:a16="http://schemas.microsoft.com/office/drawing/2014/main" val="1688674237"/>
                    </a:ext>
                  </a:extLst>
                </a:gridCol>
                <a:gridCol w="1898555">
                  <a:extLst>
                    <a:ext uri="{9D8B030D-6E8A-4147-A177-3AD203B41FA5}">
                      <a16:colId xmlns:a16="http://schemas.microsoft.com/office/drawing/2014/main" val="3162179618"/>
                    </a:ext>
                  </a:extLst>
                </a:gridCol>
              </a:tblGrid>
              <a:tr h="146375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Имя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Размер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128159471"/>
                  </a:ext>
                </a:extLst>
              </a:tr>
              <a:tr h="146375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"char"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внутренний однобайтный тип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21326254"/>
                  </a:ext>
                </a:extLst>
              </a:tr>
              <a:tr h="146375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name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64 байта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внутренний тип для имён объектов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784593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39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57600" y="0"/>
            <a:ext cx="3728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Двоичные типы данных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314307"/>
              </p:ext>
            </p:extLst>
          </p:nvPr>
        </p:nvGraphicFramePr>
        <p:xfrm>
          <a:off x="0" y="461664"/>
          <a:ext cx="12192000" cy="17902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499191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59853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29415288"/>
                    </a:ext>
                  </a:extLst>
                </a:gridCol>
              </a:tblGrid>
              <a:tr h="89510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Имя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Размер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920599903"/>
                  </a:ext>
                </a:extLst>
              </a:tr>
              <a:tr h="89510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bytea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или 4 байта плюс сама двоичная строка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двоичная строка переменной длины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35287155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3562065" y="2251882"/>
            <a:ext cx="60732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Шестнадцатеричный формат </a:t>
            </a:r>
            <a:r>
              <a:rPr lang="en-US" sz="2400" b="1" dirty="0" err="1"/>
              <a:t>bytea</a:t>
            </a:r>
            <a:r>
              <a:rPr lang="en-US" sz="2400" b="1" dirty="0"/>
              <a:t> </a:t>
            </a:r>
            <a:endParaRPr lang="ru-RU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2511188"/>
            <a:ext cx="38213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SET </a:t>
            </a:r>
            <a:r>
              <a:rPr lang="en-US" sz="2000" dirty="0" err="1"/>
              <a:t>bytea_output</a:t>
            </a:r>
            <a:r>
              <a:rPr lang="en-US" sz="2000" dirty="0"/>
              <a:t> = 'hex';</a:t>
            </a:r>
          </a:p>
          <a:p>
            <a:endParaRPr lang="en-US" sz="2000" dirty="0"/>
          </a:p>
          <a:p>
            <a:r>
              <a:rPr lang="en-US" sz="2000" dirty="0"/>
              <a:t>SELECT '\</a:t>
            </a:r>
            <a:r>
              <a:rPr lang="en-US" sz="2000" dirty="0" err="1"/>
              <a:t>xDEADBEEF</a:t>
            </a:r>
            <a:r>
              <a:rPr lang="en-US" sz="2000" dirty="0"/>
              <a:t>'::</a:t>
            </a:r>
            <a:r>
              <a:rPr lang="en-US" sz="2000" dirty="0" err="1"/>
              <a:t>bytea</a:t>
            </a:r>
            <a:r>
              <a:rPr lang="en-US" sz="2000" dirty="0"/>
              <a:t>;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bytea</a:t>
            </a:r>
            <a:endParaRPr lang="en-US" sz="2000" dirty="0"/>
          </a:p>
          <a:p>
            <a:r>
              <a:rPr lang="en-US" sz="2000" dirty="0"/>
              <a:t>------------</a:t>
            </a:r>
          </a:p>
          <a:p>
            <a:r>
              <a:rPr lang="en-US" sz="2000" dirty="0"/>
              <a:t> \</a:t>
            </a:r>
            <a:r>
              <a:rPr lang="en-US" sz="2000" dirty="0" err="1"/>
              <a:t>xdeadbeef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01302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47415" y="0"/>
            <a:ext cx="58592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Формат </a:t>
            </a:r>
            <a:r>
              <a:rPr lang="ru-RU" sz="2400" b="1" dirty="0" err="1"/>
              <a:t>спецпоследовательностей</a:t>
            </a:r>
            <a:r>
              <a:rPr lang="ru-RU" sz="2400" b="1" dirty="0"/>
              <a:t> </a:t>
            </a:r>
            <a:r>
              <a:rPr lang="en-US" sz="2400" b="1" dirty="0" err="1"/>
              <a:t>bytea</a:t>
            </a:r>
            <a:r>
              <a:rPr lang="en-US" sz="2400" b="1" dirty="0"/>
              <a:t> </a:t>
            </a:r>
            <a:endParaRPr lang="ru-RU" sz="2400" b="1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532762"/>
              </p:ext>
            </p:extLst>
          </p:nvPr>
        </p:nvGraphicFramePr>
        <p:xfrm>
          <a:off x="0" y="461666"/>
          <a:ext cx="12192000" cy="48609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91391411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77968387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4881035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4780692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4015998"/>
                    </a:ext>
                  </a:extLst>
                </a:gridCol>
              </a:tblGrid>
              <a:tr h="118994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Десятичное значение байта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Спецпоследовательность ввода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Пример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Шестнадцатеричное представление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651893110"/>
                  </a:ext>
                </a:extLst>
              </a:tr>
              <a:tr h="67240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нулевой байт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'\000'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'\000'::bytea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\x00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493684415"/>
                  </a:ext>
                </a:extLst>
              </a:tr>
              <a:tr h="67474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39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апостроф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'''' или '\047'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''''::bytea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\x27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84455643"/>
                  </a:ext>
                </a:extLst>
              </a:tr>
              <a:tr h="67474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92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обратная косая черта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'\\' или '\134'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'\\'::bytea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\x5c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677863213"/>
                  </a:ext>
                </a:extLst>
              </a:tr>
              <a:tr h="118994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от 0 до 31 и от 127 до 255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«непечатаемые» байты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E'\\xxx' (восьмеричное значение)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'\001'::bytea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\x01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4468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393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67010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SET </a:t>
            </a:r>
            <a:r>
              <a:rPr lang="en-US" sz="2400" dirty="0" err="1"/>
              <a:t>bytea_output</a:t>
            </a:r>
            <a:r>
              <a:rPr lang="en-US" sz="2400" dirty="0"/>
              <a:t> = 'escape';</a:t>
            </a:r>
          </a:p>
          <a:p>
            <a:endParaRPr lang="en-US" sz="2400" dirty="0"/>
          </a:p>
          <a:p>
            <a:r>
              <a:rPr lang="en-US" sz="2400" dirty="0"/>
              <a:t>SELECT '</a:t>
            </a:r>
            <a:r>
              <a:rPr lang="en-US" sz="2400" dirty="0" err="1"/>
              <a:t>abc</a:t>
            </a:r>
            <a:r>
              <a:rPr lang="en-US" sz="2400" dirty="0"/>
              <a:t> \153\154\155 \052\251\124'::</a:t>
            </a:r>
            <a:r>
              <a:rPr lang="en-US" sz="2400" dirty="0" err="1"/>
              <a:t>bytea</a:t>
            </a:r>
            <a:r>
              <a:rPr lang="en-US" sz="2400" dirty="0"/>
              <a:t>;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bytea</a:t>
            </a:r>
            <a:endParaRPr lang="en-US" sz="2400" dirty="0"/>
          </a:p>
          <a:p>
            <a:r>
              <a:rPr lang="en-US" sz="2400" dirty="0"/>
              <a:t>----------------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abc</a:t>
            </a:r>
            <a:r>
              <a:rPr lang="en-US" sz="2400" dirty="0"/>
              <a:t> </a:t>
            </a:r>
            <a:r>
              <a:rPr lang="en-US" sz="2400" dirty="0" err="1"/>
              <a:t>klm</a:t>
            </a:r>
            <a:r>
              <a:rPr lang="en-US" sz="2400" dirty="0"/>
              <a:t> *\251T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236817"/>
              </p:ext>
            </p:extLst>
          </p:nvPr>
        </p:nvGraphicFramePr>
        <p:xfrm>
          <a:off x="0" y="2308323"/>
          <a:ext cx="12192000" cy="33705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06063875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055784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6778974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7532477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92300354"/>
                    </a:ext>
                  </a:extLst>
                </a:gridCol>
              </a:tblGrid>
              <a:tr h="70920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Десятичное значение байта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Спецпоследовательность вывода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Пример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Выводимый результат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94072346"/>
                  </a:ext>
                </a:extLst>
              </a:tr>
              <a:tr h="40075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92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обратная косая черта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\\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'\134'::bytea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\\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53702733"/>
                  </a:ext>
                </a:extLst>
              </a:tr>
              <a:tr h="70920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от 0 до 31 и от 127 до 255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«непечатаемые» байты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\xxx (значение байта)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'\001'::bytea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\001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507085386"/>
                  </a:ext>
                </a:extLst>
              </a:tr>
              <a:tr h="70920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от 32 до 126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«печатаемые» байты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представление из клиентского набора символов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'\176'::bytea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~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24460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688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15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 smtClean="0">
                <a:solidFill>
                  <a:srgbClr val="FF0000"/>
                </a:solidFill>
              </a:rPr>
              <a:t>Типы даты/времени, ввод, вывод даты/ времени. Часовые пояса. Ввод интервалов.</a:t>
            </a:r>
          </a:p>
          <a:p>
            <a:pPr lvl="1" algn="ctr"/>
            <a:r>
              <a:rPr lang="ru-RU" sz="4000" b="1" dirty="0" smtClean="0"/>
              <a:t>Вопрос 3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96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749013"/>
              </p:ext>
            </p:extLst>
          </p:nvPr>
        </p:nvGraphicFramePr>
        <p:xfrm>
          <a:off x="0" y="1"/>
          <a:ext cx="12192000" cy="7361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74899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00460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54545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706450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555087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87124205"/>
                    </a:ext>
                  </a:extLst>
                </a:gridCol>
              </a:tblGrid>
              <a:tr h="9797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Имя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Размер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Наименьшее значение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Наибольшее значение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Точность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421815811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timestamp [ (p) ] [ without time zone ]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дата и время (без часового пояса)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4713 до н. э.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294276 н. э.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микросекунда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0321293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timestamp [ (p) ] with time zone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дата и время (с часовым поясом)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4713 до н. э.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294276 н. э.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микросекунда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6132754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date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 байта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дата (без времени суток)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4713 до н. э.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5874897 н. э.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день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898422367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time [ (p) ] [ without time zone ]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8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время суток (без даты)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00:00:00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24:00:00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микросекунда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1479554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time [ (p) ] with time zone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12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время дня (без даты), с часовым поясом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00:00:00+1559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24:00:00-1559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микросекунда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432731404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interval [ поля ] [ (p) ]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16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временной интервал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-178000000 лет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178000000 лет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 микросекунда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97966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120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тип </a:t>
            </a:r>
            <a:r>
              <a:rPr lang="en-US" sz="2400" dirty="0"/>
              <a:t>timestamp </a:t>
            </a:r>
            <a:r>
              <a:rPr lang="ru-RU" sz="2400" dirty="0"/>
              <a:t>подразумевал </a:t>
            </a:r>
            <a:r>
              <a:rPr lang="en-US" sz="2400" dirty="0"/>
              <a:t>timestamp without time zone (</a:t>
            </a:r>
            <a:r>
              <a:rPr lang="ru-RU" sz="2400" dirty="0"/>
              <a:t>время без часового пояса</a:t>
            </a:r>
            <a:r>
              <a:rPr lang="ru-RU" sz="2400" dirty="0" smtClean="0"/>
              <a:t>). </a:t>
            </a:r>
            <a:endParaRPr lang="ru-RU" sz="2400" dirty="0"/>
          </a:p>
          <a:p>
            <a:pPr algn="just"/>
            <a:r>
              <a:rPr lang="ru-RU" sz="2400" dirty="0"/>
              <a:t>Типы </a:t>
            </a:r>
            <a:r>
              <a:rPr lang="ru-RU" sz="2400" dirty="0" err="1"/>
              <a:t>time</a:t>
            </a:r>
            <a:r>
              <a:rPr lang="ru-RU" sz="2400" dirty="0"/>
              <a:t>, </a:t>
            </a:r>
            <a:r>
              <a:rPr lang="ru-RU" sz="2400" dirty="0" err="1"/>
              <a:t>timestamp</a:t>
            </a:r>
            <a:r>
              <a:rPr lang="ru-RU" sz="2400" dirty="0"/>
              <a:t> и </a:t>
            </a:r>
            <a:r>
              <a:rPr lang="ru-RU" sz="2400" b="1" dirty="0" err="1"/>
              <a:t>interval</a:t>
            </a:r>
            <a:r>
              <a:rPr lang="ru-RU" sz="2400" dirty="0"/>
              <a:t> принимают необязательное значение точности p, определяющее, сколько знаков после запятой должно сохраняться в </a:t>
            </a:r>
            <a:r>
              <a:rPr lang="ru-RU" sz="2400" dirty="0" smtClean="0"/>
              <a:t>секундах. </a:t>
            </a:r>
          </a:p>
          <a:p>
            <a:pPr algn="just"/>
            <a:r>
              <a:rPr lang="en-US" sz="2400" dirty="0"/>
              <a:t>YEAR</a:t>
            </a:r>
          </a:p>
          <a:p>
            <a:pPr algn="just"/>
            <a:r>
              <a:rPr lang="en-US" sz="2400" dirty="0"/>
              <a:t>MONTH</a:t>
            </a:r>
          </a:p>
          <a:p>
            <a:pPr algn="just"/>
            <a:r>
              <a:rPr lang="en-US" sz="2400" dirty="0"/>
              <a:t>DAY</a:t>
            </a:r>
          </a:p>
          <a:p>
            <a:pPr algn="just"/>
            <a:r>
              <a:rPr lang="en-US" sz="2400" dirty="0"/>
              <a:t>HOUR</a:t>
            </a:r>
          </a:p>
          <a:p>
            <a:pPr algn="just"/>
            <a:r>
              <a:rPr lang="en-US" sz="2400" dirty="0"/>
              <a:t>MINUTE</a:t>
            </a:r>
          </a:p>
          <a:p>
            <a:pPr algn="just"/>
            <a:r>
              <a:rPr lang="en-US" sz="2400" dirty="0"/>
              <a:t>SECOND</a:t>
            </a:r>
          </a:p>
          <a:p>
            <a:pPr algn="just"/>
            <a:r>
              <a:rPr lang="en-US" sz="2400" dirty="0"/>
              <a:t>YEAR TO MONTH</a:t>
            </a:r>
          </a:p>
          <a:p>
            <a:pPr algn="just"/>
            <a:r>
              <a:rPr lang="en-US" sz="2400" dirty="0"/>
              <a:t>DAY TO HOUR</a:t>
            </a:r>
          </a:p>
          <a:p>
            <a:pPr algn="just"/>
            <a:r>
              <a:rPr lang="en-US" sz="2400" dirty="0"/>
              <a:t>DAY TO MINUTE</a:t>
            </a:r>
          </a:p>
          <a:p>
            <a:pPr algn="just"/>
            <a:r>
              <a:rPr lang="en-US" sz="2400" dirty="0"/>
              <a:t>DAY TO SECOND</a:t>
            </a:r>
          </a:p>
          <a:p>
            <a:pPr algn="just"/>
            <a:r>
              <a:rPr lang="en-US" sz="2400" dirty="0"/>
              <a:t>HOUR TO MINUTE</a:t>
            </a:r>
          </a:p>
          <a:p>
            <a:pPr algn="just"/>
            <a:r>
              <a:rPr lang="en-US" sz="2400" dirty="0"/>
              <a:t>HOUR TO SECOND</a:t>
            </a:r>
          </a:p>
          <a:p>
            <a:pPr algn="just"/>
            <a:r>
              <a:rPr lang="en-US" sz="2400" dirty="0"/>
              <a:t>MINUTE TO </a:t>
            </a:r>
            <a:r>
              <a:rPr lang="en-US" sz="2400" b="1" dirty="0" smtClean="0"/>
              <a:t>SECOND</a:t>
            </a:r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r>
              <a:rPr lang="ru-RU" sz="2400" dirty="0"/>
              <a:t>Тип </a:t>
            </a:r>
            <a:r>
              <a:rPr lang="en-US" sz="2400" dirty="0"/>
              <a:t>time with time zone </a:t>
            </a:r>
            <a:r>
              <a:rPr lang="ru-RU" sz="2400" dirty="0"/>
              <a:t>определён стандартом </a:t>
            </a:r>
            <a:r>
              <a:rPr lang="en-US" sz="2400" dirty="0"/>
              <a:t>SQL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13815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53636" y="0"/>
            <a:ext cx="45310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Ввод даты/времени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286603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любые вводимые значения даты и времени нужно заключать в апострофы, как текстовые </a:t>
            </a:r>
            <a:r>
              <a:rPr lang="ru-RU" sz="2400" dirty="0" smtClean="0"/>
              <a:t>строки.                                                тип </a:t>
            </a:r>
            <a:r>
              <a:rPr lang="ru-RU" sz="2400" dirty="0"/>
              <a:t>[ (</a:t>
            </a:r>
            <a:r>
              <a:rPr lang="en-US" sz="2400" dirty="0"/>
              <a:t>p) ] '</a:t>
            </a:r>
            <a:r>
              <a:rPr lang="ru-RU" sz="2400" dirty="0" smtClean="0"/>
              <a:t>значение‘</a:t>
            </a: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627532"/>
              </p:ext>
            </p:extLst>
          </p:nvPr>
        </p:nvGraphicFramePr>
        <p:xfrm>
          <a:off x="0" y="1117604"/>
          <a:ext cx="12192000" cy="56263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6472">
                  <a:extLst>
                    <a:ext uri="{9D8B030D-6E8A-4147-A177-3AD203B41FA5}">
                      <a16:colId xmlns:a16="http://schemas.microsoft.com/office/drawing/2014/main" val="323317434"/>
                    </a:ext>
                  </a:extLst>
                </a:gridCol>
                <a:gridCol w="9885528">
                  <a:extLst>
                    <a:ext uri="{9D8B030D-6E8A-4147-A177-3AD203B41FA5}">
                      <a16:colId xmlns:a16="http://schemas.microsoft.com/office/drawing/2014/main" val="401206827"/>
                    </a:ext>
                  </a:extLst>
                </a:gridCol>
              </a:tblGrid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Пример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Описание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 anchor="ctr"/>
                </a:tc>
                <a:extLst>
                  <a:ext uri="{0D108BD9-81ED-4DB2-BD59-A6C34878D82A}">
                    <a16:rowId xmlns:a16="http://schemas.microsoft.com/office/drawing/2014/main" val="1391179185"/>
                  </a:ext>
                </a:extLst>
              </a:tr>
              <a:tr h="33697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1999-01-08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ISO 8601; 8 января в любом режиме (рекомендуемый формат)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1397547098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January</a:t>
                      </a:r>
                      <a:r>
                        <a:rPr lang="ru-RU" sz="1600" dirty="0">
                          <a:effectLst/>
                        </a:rPr>
                        <a:t> 8, 1999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воспринимается однозначно в любом режиме datestyle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2327643893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1/8/1999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 января в режиме MDY и 1 августа в режиме DMY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334717353"/>
                  </a:ext>
                </a:extLst>
              </a:tr>
              <a:tr h="35754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1/18/1999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18 января в режиме MDY; недопустимая дата в других режимах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1228405984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01/02/03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 января 2003 г. в режиме MDY; 1 февраля 2003 г. в режиме DMY и 3 февраля 2001 г. в режиме YMD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2312543316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1999-Jan-08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 января в любом режиме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3573360714"/>
                  </a:ext>
                </a:extLst>
              </a:tr>
              <a:tr h="29668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Jan-08-1999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 января в любом режиме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3986974463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08-Jan-1999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 января в любом режиме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634742557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99-Jan-08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 января в режиме YMD; ошибка в других режимах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710003553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08-Jan-99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 января; ошибка в режиме YMD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1340742396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Jan-08-99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 января; ошибка в режиме YMD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4273362694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19990108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ISO 8601; 8 января 1999 в любом режиме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804538764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990108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ISO 8601; 8 января 1999 в любом режиме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345449222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1999.008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год и день года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3712504705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J2451187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юлианский день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415509869"/>
                  </a:ext>
                </a:extLst>
              </a:tr>
              <a:tr h="3149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January 8, 99 BC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99 до н. э.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29" marR="32629" marT="32629" marB="32629"/>
                </a:tc>
                <a:extLst>
                  <a:ext uri="{0D108BD9-81ED-4DB2-BD59-A6C34878D82A}">
                    <a16:rowId xmlns:a16="http://schemas.microsoft.com/office/drawing/2014/main" val="2711280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835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54137" y="0"/>
            <a:ext cx="1546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Время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968397"/>
              </p:ext>
            </p:extLst>
          </p:nvPr>
        </p:nvGraphicFramePr>
        <p:xfrm>
          <a:off x="0" y="461664"/>
          <a:ext cx="12091916" cy="61519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48004">
                  <a:extLst>
                    <a:ext uri="{9D8B030D-6E8A-4147-A177-3AD203B41FA5}">
                      <a16:colId xmlns:a16="http://schemas.microsoft.com/office/drawing/2014/main" val="2005092406"/>
                    </a:ext>
                  </a:extLst>
                </a:gridCol>
                <a:gridCol w="7543912">
                  <a:extLst>
                    <a:ext uri="{9D8B030D-6E8A-4147-A177-3AD203B41FA5}">
                      <a16:colId xmlns:a16="http://schemas.microsoft.com/office/drawing/2014/main" val="2461469183"/>
                    </a:ext>
                  </a:extLst>
                </a:gridCol>
              </a:tblGrid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Пример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 anchor="ctr"/>
                </a:tc>
                <a:extLst>
                  <a:ext uri="{0D108BD9-81ED-4DB2-BD59-A6C34878D82A}">
                    <a16:rowId xmlns:a16="http://schemas.microsoft.com/office/drawing/2014/main" val="3130176655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04:05:06.789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ISO 8601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641822282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04:05:06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3193204996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843696378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040506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584061541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 AM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то же, что и 04:05; AM не меняет значение времени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4212458416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04:05 PM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то же, что и 16:05; часы должны быть &lt;= 12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1659332744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04:05:06.789-8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8601, с часовым поясом в виде смещения от UTC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2088526389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04:05:06-08:00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8601, с часовым поясом в виде смещения от UTC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194729940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04:05-08:00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8601, с часовым поясом в виде смещения от UTC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1700519561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040506-08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8601, с часовым поясом в виде смещения от UTC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991928628"/>
                  </a:ext>
                </a:extLst>
              </a:tr>
              <a:tr h="67018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040506+0730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ISO 8601, с часовым поясом, задаваемым нецелочисленным смещением от UTC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1884111445"/>
                  </a:ext>
                </a:extLst>
              </a:tr>
              <a:tr h="67018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040506+07:30:00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смещение от UTC, заданное до секунд (не допускается в ISO 8601)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1622096085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04:05:06 PST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часовой пояс задаётся аббревиатурой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1365574332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2003-04-12 04:05:06 </a:t>
                      </a:r>
                      <a:r>
                        <a:rPr lang="ru-RU" sz="1800" dirty="0" err="1">
                          <a:effectLst/>
                        </a:rPr>
                        <a:t>America</a:t>
                      </a:r>
                      <a:r>
                        <a:rPr lang="ru-RU" sz="1800" dirty="0">
                          <a:effectLst/>
                        </a:rPr>
                        <a:t>/</a:t>
                      </a:r>
                      <a:r>
                        <a:rPr lang="ru-RU" sz="1800" dirty="0" err="1">
                          <a:effectLst/>
                        </a:rPr>
                        <a:t>New_York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часовой пояс задаётся полным названием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776" marR="36776" marT="36776" marB="36776"/>
                </a:tc>
                <a:extLst>
                  <a:ext uri="{0D108BD9-81ED-4DB2-BD59-A6C34878D82A}">
                    <a16:rowId xmlns:a16="http://schemas.microsoft.com/office/drawing/2014/main" val="4181554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074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956871"/>
              </p:ext>
            </p:extLst>
          </p:nvPr>
        </p:nvGraphicFramePr>
        <p:xfrm>
          <a:off x="0" y="4"/>
          <a:ext cx="12192000" cy="5929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11122471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844772729"/>
                    </a:ext>
                  </a:extLst>
                </a:gridCol>
              </a:tblGrid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Пример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484003967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PST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аббревиатура (Pacific Standard Time, Стандартное тихоокеанское время)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465628825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America/New_York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полное название часового пояса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953369853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PST8PDT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указание часового пояса в стиле POSIX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011182061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-8:00:00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смещение часового пояса PST от UTC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14707358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-8:00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смещение часового пояса PST от UTC (расширенный формат ISO 8601)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739828461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-800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смещение часового пояса PST от UTC (стандартный формат ISO 8601)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50428942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смещение часового пояса PST от UTC (стандартный формат ISO 8601)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98432430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zulu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принятое у военных сокращение UTC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76848841"/>
                  </a:ext>
                </a:extLst>
              </a:tr>
              <a:tr h="53011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z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краткая форма </a:t>
                      </a:r>
                      <a:r>
                        <a:rPr lang="ru-RU" sz="1800" dirty="0" err="1">
                          <a:effectLst/>
                        </a:rPr>
                        <a:t>zulu</a:t>
                      </a:r>
                      <a:r>
                        <a:rPr lang="ru-RU" sz="1800" dirty="0">
                          <a:effectLst/>
                        </a:rPr>
                        <a:t> (также определена в ISO 8601)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69038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371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35773" y="0"/>
            <a:ext cx="21512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Даты и время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341194"/>
            <a:ext cx="1219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1999-01-08 04:05:06</a:t>
            </a:r>
          </a:p>
          <a:p>
            <a:r>
              <a:rPr lang="ru-RU" sz="2400" dirty="0"/>
              <a:t>и</a:t>
            </a:r>
          </a:p>
          <a:p>
            <a:r>
              <a:rPr lang="ru-RU" sz="2400" dirty="0"/>
              <a:t>1999-01-08 04:05:06 -</a:t>
            </a:r>
            <a:r>
              <a:rPr lang="ru-RU" sz="2400" dirty="0" smtClean="0"/>
              <a:t>8:00</a:t>
            </a:r>
          </a:p>
          <a:p>
            <a:r>
              <a:rPr lang="ru-RU" sz="2400" dirty="0"/>
              <a:t>поддерживается распространённый формат:</a:t>
            </a:r>
          </a:p>
          <a:p>
            <a:r>
              <a:rPr lang="ru-RU" sz="2400" dirty="0" err="1"/>
              <a:t>January</a:t>
            </a:r>
            <a:r>
              <a:rPr lang="ru-RU" sz="2400" dirty="0"/>
              <a:t> 8 04:05:06 1999 </a:t>
            </a:r>
            <a:r>
              <a:rPr lang="ru-RU" sz="2400" dirty="0" smtClean="0"/>
              <a:t>PST</a:t>
            </a:r>
          </a:p>
          <a:p>
            <a:r>
              <a:rPr lang="ru-RU" sz="2400" dirty="0"/>
              <a:t>Следовательно, согласно стандарту, записи</a:t>
            </a:r>
          </a:p>
          <a:p>
            <a:r>
              <a:rPr lang="en-US" sz="2400" dirty="0"/>
              <a:t>TIMESTAMP '2004-10-19 10:23:54'</a:t>
            </a:r>
          </a:p>
          <a:p>
            <a:r>
              <a:rPr lang="ru-RU" sz="2400" dirty="0"/>
              <a:t>должен соответствовать тип </a:t>
            </a:r>
            <a:r>
              <a:rPr lang="en-US" sz="2400" dirty="0"/>
              <a:t>timestamp without time zone, </a:t>
            </a:r>
            <a:r>
              <a:rPr lang="ru-RU" sz="2400" dirty="0"/>
              <a:t>а</a:t>
            </a:r>
          </a:p>
          <a:p>
            <a:r>
              <a:rPr lang="en-US" sz="2400" dirty="0"/>
              <a:t>TIMESTAMP '2004-10-19 10:23:54+02'</a:t>
            </a:r>
          </a:p>
          <a:p>
            <a:r>
              <a:rPr lang="ru-RU" sz="2400" dirty="0"/>
              <a:t>тип </a:t>
            </a:r>
            <a:r>
              <a:rPr lang="en-US" sz="2400" dirty="0"/>
              <a:t>timestamp with time zone. </a:t>
            </a:r>
            <a:endParaRPr lang="ru-RU" sz="2400" dirty="0" smtClean="0"/>
          </a:p>
          <a:p>
            <a:r>
              <a:rPr lang="ru-RU" sz="2400" dirty="0"/>
              <a:t>чтобы определить тип значения, и поэтому обе записи будут обработаны как значения типа </a:t>
            </a:r>
            <a:r>
              <a:rPr lang="ru-RU" sz="2400" dirty="0" err="1"/>
              <a:t>timestamp</a:t>
            </a:r>
            <a:r>
              <a:rPr lang="ru-RU" sz="2400" dirty="0"/>
              <a:t> </a:t>
            </a:r>
            <a:r>
              <a:rPr lang="ru-RU" sz="2400" dirty="0" err="1"/>
              <a:t>without</a:t>
            </a:r>
            <a:r>
              <a:rPr lang="ru-RU" sz="2400" dirty="0"/>
              <a:t> </a:t>
            </a:r>
            <a:r>
              <a:rPr lang="ru-RU" sz="2400" dirty="0" err="1"/>
              <a:t>time</a:t>
            </a:r>
            <a:r>
              <a:rPr lang="ru-RU" sz="2400" dirty="0"/>
              <a:t> </a:t>
            </a:r>
            <a:r>
              <a:rPr lang="ru-RU" sz="2400" dirty="0" err="1" smtClean="0"/>
              <a:t>zone</a:t>
            </a:r>
            <a:endParaRPr lang="ru-RU" sz="2400" dirty="0" smtClean="0"/>
          </a:p>
          <a:p>
            <a:r>
              <a:rPr lang="ru-RU" sz="2400" dirty="0"/>
              <a:t>текстовая константа обрабатывалась как </a:t>
            </a:r>
            <a:r>
              <a:rPr lang="en-US" sz="2400" dirty="0"/>
              <a:t>timestamp with time zone, </a:t>
            </a:r>
            <a:r>
              <a:rPr lang="ru-RU" sz="2400" dirty="0"/>
              <a:t>укажите этот тип явно:</a:t>
            </a:r>
          </a:p>
          <a:p>
            <a:r>
              <a:rPr lang="en-US" sz="2400" dirty="0"/>
              <a:t>TIMESTAMP WITH TIME ZONE '2004-10-19 10:23:54+02</a:t>
            </a:r>
            <a:r>
              <a:rPr lang="en-US" sz="2400" dirty="0" smtClean="0"/>
              <a:t>'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21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66281" y="0"/>
            <a:ext cx="4201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Специальные значения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86021"/>
              </p:ext>
            </p:extLst>
          </p:nvPr>
        </p:nvGraphicFramePr>
        <p:xfrm>
          <a:off x="0" y="354841"/>
          <a:ext cx="12192000" cy="5733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829512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915867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40602020"/>
                    </a:ext>
                  </a:extLst>
                </a:gridCol>
              </a:tblGrid>
              <a:tr h="48656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Вводимая строка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Допустимые типы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768935970"/>
                  </a:ext>
                </a:extLst>
              </a:tr>
              <a:tr h="86106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epoch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date, timestamp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1970-01-01 00:00:00+00 (точка отсчёта времени в Unix)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1819473"/>
                  </a:ext>
                </a:extLst>
              </a:tr>
              <a:tr h="86106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infinity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date, timestamp, interval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время после максимальной допустимой даты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04044729"/>
                  </a:ext>
                </a:extLst>
              </a:tr>
              <a:tr h="48825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-infinity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date, timestamp, interval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время до минимальной допустимой даты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364064483"/>
                  </a:ext>
                </a:extLst>
              </a:tr>
              <a:tr h="48825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now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date</a:t>
                      </a:r>
                      <a:r>
                        <a:rPr lang="ru-RU" sz="1800" dirty="0">
                          <a:effectLst/>
                        </a:rPr>
                        <a:t>, </a:t>
                      </a:r>
                      <a:r>
                        <a:rPr lang="ru-RU" sz="1800" dirty="0" err="1">
                          <a:effectLst/>
                        </a:rPr>
                        <a:t>time</a:t>
                      </a:r>
                      <a:r>
                        <a:rPr lang="ru-RU" sz="1800" dirty="0">
                          <a:effectLst/>
                        </a:rPr>
                        <a:t>, </a:t>
                      </a:r>
                      <a:r>
                        <a:rPr lang="ru-RU" sz="1800" dirty="0" err="1">
                          <a:effectLst/>
                        </a:rPr>
                        <a:t>timestamp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время начала текущей транзакции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681677802"/>
                  </a:ext>
                </a:extLst>
              </a:tr>
              <a:tr h="48825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today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date, timestamp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время начала текущих суток (00:00)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923872"/>
                  </a:ext>
                </a:extLst>
              </a:tr>
              <a:tr h="48825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tomorrow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date, timestamp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время начала следующих суток (00:00)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58829434"/>
                  </a:ext>
                </a:extLst>
              </a:tr>
              <a:tr h="48825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yesterday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date, timestamp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время начала предыдущих суток (00:00)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50865620"/>
                  </a:ext>
                </a:extLst>
              </a:tr>
              <a:tr h="48656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allballs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time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00:00:00.00 UTC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34292380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 rot="10800000" flipV="1">
            <a:off x="0" y="6181813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CURRENT_DATE, CURRENT_TIME, CURRENT_TIMESTAMP, LOCALTIME </a:t>
            </a:r>
            <a:r>
              <a:rPr lang="ru-RU" sz="2400" dirty="0"/>
              <a:t>и </a:t>
            </a:r>
            <a:r>
              <a:rPr lang="en-US" sz="2400" dirty="0"/>
              <a:t>LOCALTIMESTAMP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31701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794079" y="0"/>
            <a:ext cx="34824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Вывод даты/времени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23395"/>
              </p:ext>
            </p:extLst>
          </p:nvPr>
        </p:nvGraphicFramePr>
        <p:xfrm>
          <a:off x="0" y="461667"/>
          <a:ext cx="12192000" cy="26500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712382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501044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2606249"/>
                    </a:ext>
                  </a:extLst>
                </a:gridCol>
              </a:tblGrid>
              <a:tr h="4923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Стиль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Пример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168102889"/>
                  </a:ext>
                </a:extLst>
              </a:tr>
              <a:tr h="4923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ISO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ISO 8601, стандарт SQL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</a:rPr>
                        <a:t>1997-12-17   </a:t>
                      </a:r>
                      <a:r>
                        <a:rPr lang="ru-RU" sz="2000" b="1" dirty="0" smtClean="0">
                          <a:effectLst/>
                        </a:rPr>
                        <a:t>Т</a:t>
                      </a:r>
                      <a:r>
                        <a:rPr lang="ru-RU" sz="2000" dirty="0" smtClean="0">
                          <a:effectLst/>
                        </a:rPr>
                        <a:t> </a:t>
                      </a:r>
                      <a:r>
                        <a:rPr lang="ru-RU" sz="2000" dirty="0">
                          <a:effectLst/>
                        </a:rPr>
                        <a:t>07:37:16-08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573725306"/>
                  </a:ext>
                </a:extLst>
              </a:tr>
              <a:tr h="4923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SQL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традиционный стиль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12/17/1997 07:37:16.00 PST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8223332"/>
                  </a:ext>
                </a:extLst>
              </a:tr>
              <a:tr h="68080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Postgres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изначальный стиль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Wed Dec 17 07:37:16 1997 PST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166333728"/>
                  </a:ext>
                </a:extLst>
              </a:tr>
              <a:tr h="4923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German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региональный стиль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17.12.1997 07:37:16.00 PST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50073874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552986"/>
              </p:ext>
            </p:extLst>
          </p:nvPr>
        </p:nvGraphicFramePr>
        <p:xfrm>
          <a:off x="0" y="3111692"/>
          <a:ext cx="12191999" cy="18151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3729720"/>
                    </a:ext>
                  </a:extLst>
                </a:gridCol>
                <a:gridCol w="3606042">
                  <a:extLst>
                    <a:ext uri="{9D8B030D-6E8A-4147-A177-3AD203B41FA5}">
                      <a16:colId xmlns:a16="http://schemas.microsoft.com/office/drawing/2014/main" val="39060760"/>
                    </a:ext>
                  </a:extLst>
                </a:gridCol>
                <a:gridCol w="4521957">
                  <a:extLst>
                    <a:ext uri="{9D8B030D-6E8A-4147-A177-3AD203B41FA5}">
                      <a16:colId xmlns:a16="http://schemas.microsoft.com/office/drawing/2014/main" val="666070929"/>
                    </a:ext>
                  </a:extLst>
                </a:gridCol>
              </a:tblGrid>
              <a:tr h="45378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Параметр </a:t>
                      </a:r>
                      <a:r>
                        <a:rPr lang="ru-RU" sz="2000" dirty="0" err="1">
                          <a:effectLst/>
                        </a:rPr>
                        <a:t>datestyle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Порядок при вводе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Пример вывода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342036310"/>
                  </a:ext>
                </a:extLst>
              </a:tr>
              <a:tr h="45378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SQL, DMY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день/месяц/год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17/12/1997 15:37:16.00 CET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02256670"/>
                  </a:ext>
                </a:extLst>
              </a:tr>
              <a:tr h="45378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SQL, MDY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месяц/день/год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12/17/1997 07:37:16.00 PST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38455560"/>
                  </a:ext>
                </a:extLst>
              </a:tr>
              <a:tr h="45378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Postgres, DMY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день/месяц/год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Wed</a:t>
                      </a:r>
                      <a:r>
                        <a:rPr lang="ru-RU" sz="2000" dirty="0">
                          <a:effectLst/>
                        </a:rPr>
                        <a:t> 17 </a:t>
                      </a:r>
                      <a:r>
                        <a:rPr lang="ru-RU" sz="2000" dirty="0" err="1">
                          <a:effectLst/>
                        </a:rPr>
                        <a:t>Dec</a:t>
                      </a:r>
                      <a:r>
                        <a:rPr lang="ru-RU" sz="2000" dirty="0">
                          <a:effectLst/>
                        </a:rPr>
                        <a:t> 07:37:16 1997 PST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391706016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 rot="10800000" flipV="1">
            <a:off x="0" y="4886094"/>
            <a:ext cx="1219199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Смещение будет отображаться как </a:t>
            </a:r>
            <a:r>
              <a:rPr lang="ru-RU" sz="2000" dirty="0" err="1"/>
              <a:t>hh</a:t>
            </a:r>
            <a:r>
              <a:rPr lang="ru-RU" sz="2000" dirty="0"/>
              <a:t> (только часы), если оно задаётся целым числом часов, как </a:t>
            </a:r>
            <a:r>
              <a:rPr lang="ru-RU" sz="2000" dirty="0" err="1"/>
              <a:t>hh:mm</a:t>
            </a:r>
            <a:r>
              <a:rPr lang="ru-RU" sz="2000" dirty="0"/>
              <a:t>, если оно задаётся целым числом минут, или как </a:t>
            </a:r>
            <a:r>
              <a:rPr lang="ru-RU" sz="2000" dirty="0" err="1" smtClean="0"/>
              <a:t>hh:mm:ss</a:t>
            </a:r>
            <a:endParaRPr lang="ru-RU" sz="2000" dirty="0" smtClean="0"/>
          </a:p>
          <a:p>
            <a:r>
              <a:rPr lang="ru-RU" sz="2000" dirty="0"/>
              <a:t>Стиль даты/времени пользователь может выбрать с помощью команды SET </a:t>
            </a:r>
            <a:r>
              <a:rPr lang="ru-RU" sz="2000" dirty="0" err="1"/>
              <a:t>datestyle</a:t>
            </a:r>
            <a:r>
              <a:rPr lang="ru-RU" sz="2000" dirty="0"/>
              <a:t>, параметра </a:t>
            </a:r>
            <a:r>
              <a:rPr lang="ru-RU" sz="2000" dirty="0" err="1"/>
              <a:t>DateStyle</a:t>
            </a:r>
            <a:r>
              <a:rPr lang="ru-RU" sz="2000" dirty="0"/>
              <a:t> в файле конфигурации </a:t>
            </a:r>
            <a:r>
              <a:rPr lang="ru-RU" sz="2000" dirty="0" err="1"/>
              <a:t>postgresql.conf</a:t>
            </a:r>
            <a:r>
              <a:rPr lang="ru-RU" sz="2000" dirty="0"/>
              <a:t> или переменной окружения PGDATESTYLE на сервере или клиенте</a:t>
            </a:r>
          </a:p>
        </p:txBody>
      </p:sp>
    </p:spTree>
    <p:extLst>
      <p:ext uri="{BB962C8B-B14F-4D97-AF65-F5344CB8AC3E}">
        <p14:creationId xmlns:p14="http://schemas.microsoft.com/office/powerpoint/2010/main" val="1462747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98293" y="0"/>
            <a:ext cx="36546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Ввод интервалов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6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Значения типа </a:t>
            </a:r>
            <a:r>
              <a:rPr lang="ru-RU" sz="2400" dirty="0" err="1"/>
              <a:t>interval</a:t>
            </a:r>
            <a:r>
              <a:rPr lang="ru-RU" sz="2400" dirty="0"/>
              <a:t> могут быть записаны в следующей расширенной форме:</a:t>
            </a:r>
          </a:p>
          <a:p>
            <a:pPr algn="just"/>
            <a:r>
              <a:rPr lang="ru-RU" sz="2400" dirty="0"/>
              <a:t>[@] количество единица [количество единица...] [направление]</a:t>
            </a:r>
          </a:p>
          <a:p>
            <a:pPr algn="just"/>
            <a:r>
              <a:rPr lang="ru-RU" sz="2400" dirty="0"/>
              <a:t>где количество — это число (возможно, со знаком); единица — одно из значений: </a:t>
            </a:r>
            <a:r>
              <a:rPr lang="ru-RU" sz="2400" dirty="0" err="1"/>
              <a:t>microsecond</a:t>
            </a:r>
            <a:r>
              <a:rPr lang="ru-RU" sz="2400" dirty="0"/>
              <a:t>, </a:t>
            </a:r>
            <a:r>
              <a:rPr lang="ru-RU" sz="2400" dirty="0" err="1"/>
              <a:t>millisecond</a:t>
            </a:r>
            <a:r>
              <a:rPr lang="ru-RU" sz="2400" dirty="0"/>
              <a:t>, </a:t>
            </a:r>
            <a:r>
              <a:rPr lang="ru-RU" sz="2400" dirty="0" err="1"/>
              <a:t>second</a:t>
            </a:r>
            <a:r>
              <a:rPr lang="ru-RU" sz="2400" dirty="0"/>
              <a:t>, </a:t>
            </a:r>
            <a:r>
              <a:rPr lang="ru-RU" sz="2400" dirty="0" err="1"/>
              <a:t>minute</a:t>
            </a:r>
            <a:r>
              <a:rPr lang="ru-RU" sz="2400" dirty="0"/>
              <a:t>, </a:t>
            </a:r>
            <a:r>
              <a:rPr lang="ru-RU" sz="2400" dirty="0" err="1"/>
              <a:t>hour</a:t>
            </a:r>
            <a:r>
              <a:rPr lang="ru-RU" sz="2400" dirty="0"/>
              <a:t>, </a:t>
            </a:r>
            <a:r>
              <a:rPr lang="ru-RU" sz="2400" dirty="0" err="1"/>
              <a:t>day</a:t>
            </a:r>
            <a:r>
              <a:rPr lang="ru-RU" sz="2400" dirty="0"/>
              <a:t>, </a:t>
            </a:r>
            <a:r>
              <a:rPr lang="ru-RU" sz="2400" dirty="0" err="1"/>
              <a:t>week</a:t>
            </a:r>
            <a:r>
              <a:rPr lang="ru-RU" sz="2400" dirty="0"/>
              <a:t>, </a:t>
            </a:r>
            <a:r>
              <a:rPr lang="ru-RU" sz="2400" dirty="0" err="1"/>
              <a:t>month</a:t>
            </a:r>
            <a:r>
              <a:rPr lang="ru-RU" sz="2400" dirty="0"/>
              <a:t>, </a:t>
            </a:r>
            <a:r>
              <a:rPr lang="ru-RU" sz="2400" dirty="0" err="1"/>
              <a:t>year</a:t>
            </a:r>
            <a:r>
              <a:rPr lang="ru-RU" sz="2400" dirty="0"/>
              <a:t>, </a:t>
            </a:r>
            <a:r>
              <a:rPr lang="ru-RU" sz="2400" dirty="0" err="1"/>
              <a:t>decade</a:t>
            </a:r>
            <a:r>
              <a:rPr lang="ru-RU" sz="2400" dirty="0"/>
              <a:t>, </a:t>
            </a:r>
            <a:r>
              <a:rPr lang="ru-RU" sz="2400" dirty="0" err="1"/>
              <a:t>century</a:t>
            </a:r>
            <a:r>
              <a:rPr lang="ru-RU" sz="2400" dirty="0"/>
              <a:t>, </a:t>
            </a:r>
            <a:r>
              <a:rPr lang="ru-RU" sz="2400" dirty="0" err="1"/>
              <a:t>millennium</a:t>
            </a:r>
            <a:r>
              <a:rPr lang="ru-RU" sz="2400" dirty="0"/>
              <a:t> (которые обозначают соответственно микросекунды, миллисекунды, секунды, минуты, часы, дни, недели, месяцы, годы, десятилетия, века и тысячелетия</a:t>
            </a:r>
            <a:r>
              <a:rPr lang="ru-RU" sz="2400" dirty="0" smtClean="0"/>
              <a:t>).</a:t>
            </a:r>
          </a:p>
          <a:p>
            <a:pPr algn="just"/>
            <a:r>
              <a:rPr lang="ru-RU" sz="2400" dirty="0"/>
              <a:t> Например, запись '1 12:59:10' равнозначна '1 </a:t>
            </a:r>
            <a:r>
              <a:rPr lang="ru-RU" sz="2400" dirty="0" err="1"/>
              <a:t>day</a:t>
            </a:r>
            <a:r>
              <a:rPr lang="ru-RU" sz="2400" dirty="0"/>
              <a:t> 12 </a:t>
            </a:r>
            <a:r>
              <a:rPr lang="ru-RU" sz="2400" dirty="0" err="1"/>
              <a:t>hours</a:t>
            </a:r>
            <a:r>
              <a:rPr lang="ru-RU" sz="2400" dirty="0"/>
              <a:t> 59 </a:t>
            </a:r>
            <a:r>
              <a:rPr lang="ru-RU" sz="2400" dirty="0" err="1"/>
              <a:t>min</a:t>
            </a:r>
            <a:r>
              <a:rPr lang="ru-RU" sz="2400" dirty="0"/>
              <a:t> 10 </a:t>
            </a:r>
            <a:r>
              <a:rPr lang="ru-RU" sz="2400" dirty="0" err="1"/>
              <a:t>sec</a:t>
            </a:r>
            <a:r>
              <a:rPr lang="ru-RU" sz="2400" dirty="0" smtClean="0"/>
              <a:t>'.</a:t>
            </a:r>
          </a:p>
          <a:p>
            <a:pPr algn="just"/>
            <a:r>
              <a:rPr lang="ru-RU" sz="2400" dirty="0"/>
              <a:t>например '200-10' означает то, же что и '200 </a:t>
            </a:r>
            <a:r>
              <a:rPr lang="ru-RU" sz="2400" dirty="0" err="1"/>
              <a:t>years</a:t>
            </a:r>
            <a:r>
              <a:rPr lang="ru-RU" sz="2400" dirty="0"/>
              <a:t> 10 </a:t>
            </a:r>
            <a:r>
              <a:rPr lang="ru-RU" sz="2400" dirty="0" err="1"/>
              <a:t>months</a:t>
            </a:r>
            <a:r>
              <a:rPr lang="ru-RU" sz="2400" dirty="0" smtClean="0"/>
              <a:t>'.</a:t>
            </a:r>
          </a:p>
          <a:p>
            <a:pPr algn="just"/>
            <a:r>
              <a:rPr lang="ru-RU" sz="2400" dirty="0"/>
              <a:t>P количество единица [ количество единица ...] [ T [ количество единица </a:t>
            </a:r>
            <a:r>
              <a:rPr lang="ru-RU" sz="2400" dirty="0" smtClean="0"/>
              <a:t>...]]</a:t>
            </a:r>
            <a:endParaRPr lang="ru-RU" sz="24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329549"/>
              </p:ext>
            </p:extLst>
          </p:nvPr>
        </p:nvGraphicFramePr>
        <p:xfrm>
          <a:off x="204715" y="3877986"/>
          <a:ext cx="5827595" cy="2852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4047">
                  <a:extLst>
                    <a:ext uri="{9D8B030D-6E8A-4147-A177-3AD203B41FA5}">
                      <a16:colId xmlns:a16="http://schemas.microsoft.com/office/drawing/2014/main" val="577967874"/>
                    </a:ext>
                  </a:extLst>
                </a:gridCol>
                <a:gridCol w="4543548">
                  <a:extLst>
                    <a:ext uri="{9D8B030D-6E8A-4147-A177-3AD203B41FA5}">
                      <a16:colId xmlns:a16="http://schemas.microsoft.com/office/drawing/2014/main" val="1820558815"/>
                    </a:ext>
                  </a:extLst>
                </a:gridCol>
              </a:tblGrid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Код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Значение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25316217"/>
                  </a:ext>
                </a:extLst>
              </a:tr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Y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годы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329093147"/>
                  </a:ext>
                </a:extLst>
              </a:tr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месяцы (в дате)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39147265"/>
                  </a:ext>
                </a:extLst>
              </a:tr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недели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726216845"/>
                  </a:ext>
                </a:extLst>
              </a:tr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D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дни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48774980"/>
                  </a:ext>
                </a:extLst>
              </a:tr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H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часы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061725163"/>
                  </a:ext>
                </a:extLst>
              </a:tr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минуты (во времени)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55767256"/>
                  </a:ext>
                </a:extLst>
              </a:tr>
              <a:tr h="33411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секунды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55437948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 rot="10800000" flipV="1">
            <a:off x="6237025" y="3691145"/>
            <a:ext cx="595497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альтернативном формате:</a:t>
            </a:r>
          </a:p>
          <a:p>
            <a:r>
              <a:rPr lang="ru-RU" sz="2000" dirty="0"/>
              <a:t>P [ год-месяц-день ] [ T </a:t>
            </a:r>
            <a:r>
              <a:rPr lang="ru-RU" sz="2000" dirty="0" err="1"/>
              <a:t>часы:минуты:секунды</a:t>
            </a:r>
            <a:r>
              <a:rPr lang="ru-RU" sz="2000" dirty="0"/>
              <a:t> </a:t>
            </a:r>
            <a:r>
              <a:rPr lang="ru-RU" sz="2000" dirty="0" smtClean="0"/>
              <a:t>]</a:t>
            </a:r>
          </a:p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237022" y="4394578"/>
            <a:ext cx="59549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SELECT '2 years 15 months 100 weeks 99 hours 123456789 milliseconds'::interval;</a:t>
            </a:r>
          </a:p>
          <a:p>
            <a:r>
              <a:rPr lang="en-US" sz="2000" dirty="0"/>
              <a:t>               interval</a:t>
            </a:r>
          </a:p>
          <a:p>
            <a:r>
              <a:rPr lang="en-US" sz="2000" dirty="0"/>
              <a:t>---------------------------------------</a:t>
            </a:r>
          </a:p>
          <a:p>
            <a:r>
              <a:rPr lang="en-US" sz="2000" dirty="0"/>
              <a:t> 3 years 3 mons 700 days 133:17:36.789</a:t>
            </a:r>
          </a:p>
        </p:txBody>
      </p:sp>
    </p:spTree>
    <p:extLst>
      <p:ext uri="{BB962C8B-B14F-4D97-AF65-F5344CB8AC3E}">
        <p14:creationId xmlns:p14="http://schemas.microsoft.com/office/powerpoint/2010/main" val="1518131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530030"/>
              </p:ext>
            </p:extLst>
          </p:nvPr>
        </p:nvGraphicFramePr>
        <p:xfrm>
          <a:off x="0" y="1"/>
          <a:ext cx="12192000" cy="50571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039672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953971507"/>
                    </a:ext>
                  </a:extLst>
                </a:gridCol>
              </a:tblGrid>
              <a:tr h="72179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Пример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345873439"/>
                  </a:ext>
                </a:extLst>
              </a:tr>
              <a:tr h="72179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1-2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Стандартный формат SQL: 1 год и 2 месяца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47176981"/>
                  </a:ext>
                </a:extLst>
              </a:tr>
              <a:tr h="72179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 4:05:06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Стандартный формат SQL: 3 дня 4 часа 5 минут 6 секунд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24637514"/>
                  </a:ext>
                </a:extLst>
              </a:tr>
              <a:tr h="94102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 year 2 months 3 days 4 hours 5 minutes 6 seconds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Традиционный формат Postgres: 1 год 2 месяца 3 дня 4 часа 5 минут 6 секунд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31726224"/>
                  </a:ext>
                </a:extLst>
              </a:tr>
              <a:tr h="72179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P1Y2M3DT4H5M6S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«Формат с кодами» ISO 8601: то же значение, что и выше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97703104"/>
                  </a:ext>
                </a:extLst>
              </a:tr>
              <a:tr h="72179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P0001-02-03T04:05:06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«Альтернативный формат» ISO 8601: то же значение, что и выше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0235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023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21624" y="0"/>
            <a:ext cx="30082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Вывод интервалов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0011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Формат вывода типа </a:t>
            </a:r>
            <a:r>
              <a:rPr lang="en-US" sz="2400" dirty="0"/>
              <a:t>interval </a:t>
            </a:r>
            <a:r>
              <a:rPr lang="ru-RU" sz="2400" dirty="0"/>
              <a:t>может определяться одним из четырёх стилей: </a:t>
            </a:r>
            <a:r>
              <a:rPr lang="en-US" sz="2400" dirty="0" err="1"/>
              <a:t>sql_standard</a:t>
            </a:r>
            <a:r>
              <a:rPr lang="en-US" sz="2400" dirty="0"/>
              <a:t>, </a:t>
            </a:r>
            <a:r>
              <a:rPr lang="en-US" sz="2400" dirty="0" err="1"/>
              <a:t>postgres</a:t>
            </a:r>
            <a:r>
              <a:rPr lang="en-US" sz="2400" dirty="0"/>
              <a:t>, </a:t>
            </a:r>
            <a:r>
              <a:rPr lang="en-US" sz="2400" dirty="0" err="1"/>
              <a:t>postgres_verbose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 smtClean="0"/>
              <a:t>iso_8601</a:t>
            </a:r>
            <a:endParaRPr lang="ru-RU" sz="2400" dirty="0" smtClean="0"/>
          </a:p>
          <a:p>
            <a:r>
              <a:rPr lang="ru-RU" sz="2400" dirty="0"/>
              <a:t>Выбрать нужный стиль позволяет команда SET </a:t>
            </a:r>
            <a:r>
              <a:rPr lang="ru-RU" sz="2400" dirty="0" err="1"/>
              <a:t>intervalstyle</a:t>
            </a:r>
            <a:r>
              <a:rPr lang="ru-RU" sz="2400" dirty="0"/>
              <a:t> (по умолчанию выбран </a:t>
            </a:r>
            <a:r>
              <a:rPr lang="ru-RU" sz="2400" dirty="0" err="1"/>
              <a:t>postgres</a:t>
            </a:r>
            <a:r>
              <a:rPr lang="ru-RU" sz="2400" dirty="0" smtClean="0"/>
              <a:t>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114764"/>
              </p:ext>
            </p:extLst>
          </p:nvPr>
        </p:nvGraphicFramePr>
        <p:xfrm>
          <a:off x="0" y="1600442"/>
          <a:ext cx="12192000" cy="45127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1120454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9363586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104714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34632413"/>
                    </a:ext>
                  </a:extLst>
                </a:gridCol>
              </a:tblGrid>
              <a:tr h="52875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Стиль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Интервал год-месяц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Интервал день-время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Смешанный интервал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92743435"/>
                  </a:ext>
                </a:extLst>
              </a:tr>
              <a:tr h="52875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sql_standard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1-2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 4:05:06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-1-2 +3 -4:05:06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866766222"/>
                  </a:ext>
                </a:extLst>
              </a:tr>
              <a:tr h="52875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postgres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 year 2 mons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 days 04:05:06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-1 year -2 mons +3 days -04:05:06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63984782"/>
                  </a:ext>
                </a:extLst>
              </a:tr>
              <a:tr h="93574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postgres_verbose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@ 1 year 2 mons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@ 3 days 4 hours 5 mins 6 secs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@ 1 year 2 mons -3 days 4 hours 5 mins 6 secs ago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317609151"/>
                  </a:ext>
                </a:extLst>
              </a:tr>
              <a:tr h="52875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iso_8601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P1Y2M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P3DT4H5M6S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P-1Y-2M3D​T-4H-5M-6S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2082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63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27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Вывод интервалов. Логический тип.</a:t>
            </a:r>
            <a:r>
              <a:rPr lang="ru-RU" sz="4000" b="1" dirty="0">
                <a:solidFill>
                  <a:srgbClr val="FF0000"/>
                </a:solidFill>
              </a:rPr>
              <a:t> </a:t>
            </a:r>
          </a:p>
          <a:p>
            <a:pPr algn="ctr"/>
            <a:r>
              <a:rPr lang="ru-RU" sz="5400" b="1" dirty="0" smtClean="0"/>
              <a:t>Вопрос 4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2289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76216" y="0"/>
            <a:ext cx="28064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Логический тип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669658"/>
              </p:ext>
            </p:extLst>
          </p:nvPr>
        </p:nvGraphicFramePr>
        <p:xfrm>
          <a:off x="0" y="461665"/>
          <a:ext cx="12192000" cy="1066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65714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98823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50747840"/>
                    </a:ext>
                  </a:extLst>
                </a:gridCol>
              </a:tblGrid>
              <a:tr h="40778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Имя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Размер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879623967"/>
                  </a:ext>
                </a:extLst>
              </a:tr>
              <a:tr h="65909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boolean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состояние: истина или ложь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674790697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528549"/>
            <a:ext cx="515885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CREATE TABLE test1 (a </a:t>
            </a:r>
            <a:r>
              <a:rPr lang="en-US" sz="2000" dirty="0" err="1"/>
              <a:t>boolean</a:t>
            </a:r>
            <a:r>
              <a:rPr lang="en-US" sz="2000" dirty="0"/>
              <a:t>, b text);</a:t>
            </a:r>
          </a:p>
          <a:p>
            <a:r>
              <a:rPr lang="en-US" sz="2000" dirty="0"/>
              <a:t>INSERT INTO test1 VALUES (TRUE, 'sic </a:t>
            </a:r>
            <a:r>
              <a:rPr lang="en-US" sz="2000" dirty="0" err="1"/>
              <a:t>est</a:t>
            </a:r>
            <a:r>
              <a:rPr lang="en-US" sz="2000" dirty="0"/>
              <a:t>');</a:t>
            </a:r>
          </a:p>
          <a:p>
            <a:r>
              <a:rPr lang="en-US" sz="2000" dirty="0"/>
              <a:t>INSERT INTO test1 VALUES (FALSE, 'non </a:t>
            </a:r>
            <a:r>
              <a:rPr lang="en-US" sz="2000" dirty="0" err="1"/>
              <a:t>est</a:t>
            </a:r>
            <a:r>
              <a:rPr lang="en-US" sz="2000" dirty="0"/>
              <a:t>');</a:t>
            </a:r>
          </a:p>
          <a:p>
            <a:r>
              <a:rPr lang="en-US" sz="2000" dirty="0"/>
              <a:t>SELECT * FROM test1;</a:t>
            </a:r>
          </a:p>
          <a:p>
            <a:r>
              <a:rPr lang="en-US" sz="2000" dirty="0"/>
              <a:t> a |    b</a:t>
            </a:r>
          </a:p>
          <a:p>
            <a:r>
              <a:rPr lang="en-US" sz="2000" dirty="0"/>
              <a:t>---+---------</a:t>
            </a:r>
          </a:p>
          <a:p>
            <a:r>
              <a:rPr lang="en-US" sz="2000" dirty="0"/>
              <a:t> t | sic </a:t>
            </a:r>
            <a:r>
              <a:rPr lang="en-US" sz="2000" dirty="0" err="1"/>
              <a:t>est</a:t>
            </a:r>
            <a:endParaRPr lang="en-US" sz="2000" dirty="0"/>
          </a:p>
          <a:p>
            <a:r>
              <a:rPr lang="en-US" sz="2000" dirty="0"/>
              <a:t> f | non </a:t>
            </a:r>
            <a:r>
              <a:rPr lang="en-US" sz="2000" dirty="0" err="1"/>
              <a:t>est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SELECT * FROM test1 WHERE a;</a:t>
            </a:r>
          </a:p>
          <a:p>
            <a:r>
              <a:rPr lang="en-US" sz="2000" dirty="0"/>
              <a:t> a |    b</a:t>
            </a:r>
          </a:p>
          <a:p>
            <a:r>
              <a:rPr lang="en-US" sz="2000" dirty="0"/>
              <a:t>---+---------</a:t>
            </a:r>
          </a:p>
          <a:p>
            <a:r>
              <a:rPr lang="en-US" sz="2000" dirty="0"/>
              <a:t> t | sic </a:t>
            </a:r>
            <a:r>
              <a:rPr lang="en-US" sz="2000" dirty="0" err="1"/>
              <a:t>est</a:t>
            </a:r>
            <a:endParaRPr lang="en-US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049672" y="1528549"/>
            <a:ext cx="714232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Функция ввода данных типа </a:t>
            </a:r>
            <a:r>
              <a:rPr lang="ru-RU" sz="2400" dirty="0" err="1"/>
              <a:t>boolean</a:t>
            </a:r>
            <a:r>
              <a:rPr lang="ru-RU" sz="2400" dirty="0"/>
              <a:t> воспринимает следующие строковые представления состояния «</a:t>
            </a:r>
            <a:r>
              <a:rPr lang="ru-RU" sz="2400" dirty="0" err="1"/>
              <a:t>true</a:t>
            </a:r>
            <a:r>
              <a:rPr lang="ru-RU" sz="2400" dirty="0"/>
              <a:t>»:</a:t>
            </a:r>
          </a:p>
          <a:p>
            <a:r>
              <a:rPr lang="ru-RU" sz="2400" dirty="0" err="1"/>
              <a:t>true</a:t>
            </a:r>
            <a:endParaRPr lang="ru-RU" sz="2400" dirty="0"/>
          </a:p>
          <a:p>
            <a:r>
              <a:rPr lang="ru-RU" sz="2400" dirty="0" err="1"/>
              <a:t>yes</a:t>
            </a:r>
            <a:endParaRPr lang="ru-RU" sz="2400" dirty="0"/>
          </a:p>
          <a:p>
            <a:r>
              <a:rPr lang="ru-RU" sz="2400" dirty="0" err="1"/>
              <a:t>on</a:t>
            </a:r>
            <a:endParaRPr lang="ru-RU" sz="2400" dirty="0"/>
          </a:p>
          <a:p>
            <a:r>
              <a:rPr lang="ru-RU" sz="2400" dirty="0"/>
              <a:t>1</a:t>
            </a:r>
          </a:p>
          <a:p>
            <a:r>
              <a:rPr lang="ru-RU" sz="2400" dirty="0"/>
              <a:t>и следующие представления состояния «</a:t>
            </a:r>
            <a:r>
              <a:rPr lang="ru-RU" sz="2400" dirty="0" err="1"/>
              <a:t>false</a:t>
            </a:r>
            <a:r>
              <a:rPr lang="ru-RU" sz="2400" dirty="0"/>
              <a:t>»:</a:t>
            </a:r>
          </a:p>
          <a:p>
            <a:r>
              <a:rPr lang="ru-RU" sz="2400" dirty="0" err="1"/>
              <a:t>false</a:t>
            </a:r>
            <a:endParaRPr lang="ru-RU" sz="2400" dirty="0"/>
          </a:p>
          <a:p>
            <a:r>
              <a:rPr lang="ru-RU" sz="2400" dirty="0" err="1"/>
              <a:t>no</a:t>
            </a:r>
            <a:endParaRPr lang="ru-RU" sz="2400" dirty="0"/>
          </a:p>
          <a:p>
            <a:r>
              <a:rPr lang="ru-RU" sz="2400" dirty="0" err="1"/>
              <a:t>off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61455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29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Типы перечислений, объявление перечислений, порядок, безопасность типа. Тонкости реализации. 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5400" b="1" dirty="0" smtClean="0"/>
              <a:t>Вопрос 5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11944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612944" y="0"/>
            <a:ext cx="3630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Объявление перечислений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400111"/>
            <a:ext cx="719237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CREATE TYPE mood AS ENUM ('sad', 'ok', 'happy');</a:t>
            </a:r>
          </a:p>
          <a:p>
            <a:r>
              <a:rPr lang="en-US" sz="2400" dirty="0"/>
              <a:t>CREATE TABLE person (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current_mood</a:t>
            </a:r>
            <a:r>
              <a:rPr lang="en-US" sz="2400" dirty="0"/>
              <a:t> mood</a:t>
            </a:r>
          </a:p>
          <a:p>
            <a:r>
              <a:rPr lang="en-US" sz="2400" dirty="0"/>
              <a:t>);</a:t>
            </a:r>
          </a:p>
          <a:p>
            <a:r>
              <a:rPr lang="en-US" sz="2400" dirty="0"/>
              <a:t>INSERT INTO person VALUES ('Moe', 'happy');</a:t>
            </a:r>
          </a:p>
          <a:p>
            <a:r>
              <a:rPr lang="en-US" sz="2400" dirty="0"/>
              <a:t>SELECT * FROM person WHERE </a:t>
            </a:r>
            <a:r>
              <a:rPr lang="en-US" sz="2400" dirty="0" err="1"/>
              <a:t>current_mood</a:t>
            </a:r>
            <a:r>
              <a:rPr lang="en-US" sz="2400" dirty="0"/>
              <a:t> = 'happy';</a:t>
            </a:r>
          </a:p>
          <a:p>
            <a:r>
              <a:rPr lang="en-US" sz="2400" dirty="0"/>
              <a:t> name | </a:t>
            </a:r>
            <a:r>
              <a:rPr lang="en-US" sz="2400" dirty="0" err="1"/>
              <a:t>current_mood</a:t>
            </a:r>
            <a:endParaRPr lang="en-US" sz="2400" dirty="0"/>
          </a:p>
          <a:p>
            <a:r>
              <a:rPr lang="en-US" sz="2400" dirty="0" smtClean="0"/>
              <a:t>------+--------------</a:t>
            </a:r>
            <a:endParaRPr lang="ru-RU" sz="2400" dirty="0" smtClean="0"/>
          </a:p>
          <a:p>
            <a:r>
              <a:rPr lang="en-US" sz="2400" dirty="0" smtClean="0"/>
              <a:t>Moe  </a:t>
            </a:r>
            <a:r>
              <a:rPr lang="en-US" sz="2400" dirty="0"/>
              <a:t>| happy</a:t>
            </a:r>
          </a:p>
          <a:p>
            <a:r>
              <a:rPr lang="en-US" sz="2400" dirty="0"/>
              <a:t>(1 row)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7601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94830" y="0"/>
            <a:ext cx="19195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Порядок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286603"/>
            <a:ext cx="10440536" cy="6651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INSERT INTO person VALUES ('Larry', 'sad');</a:t>
            </a:r>
          </a:p>
          <a:p>
            <a:r>
              <a:rPr lang="en-US" dirty="0"/>
              <a:t>INSERT INTO person VALUES ('Curly', 'ok');</a:t>
            </a:r>
          </a:p>
          <a:p>
            <a:r>
              <a:rPr lang="en-US" dirty="0"/>
              <a:t>SELECT * FROM person WHERE </a:t>
            </a:r>
            <a:r>
              <a:rPr lang="en-US" dirty="0" err="1"/>
              <a:t>current_mood</a:t>
            </a:r>
            <a:r>
              <a:rPr lang="en-US" dirty="0"/>
              <a:t> &gt; 'sad';</a:t>
            </a:r>
          </a:p>
          <a:p>
            <a:r>
              <a:rPr lang="en-US" dirty="0"/>
              <a:t> name  | </a:t>
            </a:r>
            <a:r>
              <a:rPr lang="en-US" dirty="0" err="1"/>
              <a:t>current_mood</a:t>
            </a:r>
            <a:endParaRPr lang="en-US" dirty="0"/>
          </a:p>
          <a:p>
            <a:r>
              <a:rPr lang="en-US" dirty="0"/>
              <a:t>-------+--------------</a:t>
            </a:r>
          </a:p>
          <a:p>
            <a:r>
              <a:rPr lang="en-US" dirty="0"/>
              <a:t> Moe   | happy</a:t>
            </a:r>
          </a:p>
          <a:p>
            <a:r>
              <a:rPr lang="en-US" dirty="0"/>
              <a:t> Curly | ok</a:t>
            </a:r>
          </a:p>
          <a:p>
            <a:r>
              <a:rPr lang="en-US" dirty="0"/>
              <a:t>(2 rows)</a:t>
            </a:r>
          </a:p>
          <a:p>
            <a:endParaRPr lang="en-US" dirty="0"/>
          </a:p>
          <a:p>
            <a:r>
              <a:rPr lang="en-US" dirty="0"/>
              <a:t>SELECT * FROM person WHERE </a:t>
            </a:r>
            <a:r>
              <a:rPr lang="en-US" dirty="0" err="1"/>
              <a:t>current_mood</a:t>
            </a:r>
            <a:r>
              <a:rPr lang="en-US" dirty="0"/>
              <a:t> &gt; 'sad' ORDER BY </a:t>
            </a:r>
            <a:r>
              <a:rPr lang="en-US" dirty="0" err="1"/>
              <a:t>current_mood</a:t>
            </a:r>
            <a:r>
              <a:rPr lang="en-US" dirty="0"/>
              <a:t>;</a:t>
            </a:r>
          </a:p>
          <a:p>
            <a:r>
              <a:rPr lang="en-US" dirty="0"/>
              <a:t> name  | </a:t>
            </a:r>
            <a:r>
              <a:rPr lang="en-US" dirty="0" err="1"/>
              <a:t>current_mood</a:t>
            </a:r>
            <a:r>
              <a:rPr lang="en-US" dirty="0"/>
              <a:t> </a:t>
            </a:r>
          </a:p>
          <a:p>
            <a:r>
              <a:rPr lang="en-US" dirty="0"/>
              <a:t>-------+--------------</a:t>
            </a:r>
          </a:p>
          <a:p>
            <a:r>
              <a:rPr lang="en-US" dirty="0"/>
              <a:t> Curly | ok</a:t>
            </a:r>
          </a:p>
          <a:p>
            <a:r>
              <a:rPr lang="en-US" dirty="0"/>
              <a:t> Moe   | happy</a:t>
            </a:r>
          </a:p>
          <a:p>
            <a:r>
              <a:rPr lang="en-US" dirty="0"/>
              <a:t>(2 rows)</a:t>
            </a:r>
          </a:p>
          <a:p>
            <a:endParaRPr lang="en-US" dirty="0"/>
          </a:p>
          <a:p>
            <a:r>
              <a:rPr lang="en-US" dirty="0"/>
              <a:t>SELECT name</a:t>
            </a:r>
          </a:p>
          <a:p>
            <a:r>
              <a:rPr lang="en-US" dirty="0"/>
              <a:t>FROM person</a:t>
            </a:r>
          </a:p>
          <a:p>
            <a:r>
              <a:rPr lang="en-US" dirty="0"/>
              <a:t>WHERE </a:t>
            </a:r>
            <a:r>
              <a:rPr lang="en-US" dirty="0" err="1"/>
              <a:t>current_mood</a:t>
            </a:r>
            <a:r>
              <a:rPr lang="en-US" dirty="0"/>
              <a:t> = (SELECT MIN(</a:t>
            </a:r>
            <a:r>
              <a:rPr lang="en-US" dirty="0" err="1"/>
              <a:t>current_mood</a:t>
            </a:r>
            <a:r>
              <a:rPr lang="en-US" dirty="0"/>
              <a:t>) FROM person);</a:t>
            </a:r>
          </a:p>
          <a:p>
            <a:r>
              <a:rPr lang="en-US" dirty="0"/>
              <a:t> name  </a:t>
            </a:r>
          </a:p>
          <a:p>
            <a:r>
              <a:rPr lang="en-US" dirty="0"/>
              <a:t>-------</a:t>
            </a:r>
          </a:p>
          <a:p>
            <a:r>
              <a:rPr lang="en-US" dirty="0"/>
              <a:t> Larry</a:t>
            </a:r>
          </a:p>
          <a:p>
            <a:r>
              <a:rPr lang="en-US" dirty="0"/>
              <a:t>(1 row)</a:t>
            </a:r>
          </a:p>
        </p:txBody>
      </p:sp>
    </p:spTree>
    <p:extLst>
      <p:ext uri="{BB962C8B-B14F-4D97-AF65-F5344CB8AC3E}">
        <p14:creationId xmlns:p14="http://schemas.microsoft.com/office/powerpoint/2010/main" val="2399757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49421" y="0"/>
            <a:ext cx="23790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Безопасность типа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00110"/>
            <a:ext cx="807947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CREATE TYPE happiness AS ENUM ('happy', 'very happy', 'ecstatic');</a:t>
            </a:r>
          </a:p>
          <a:p>
            <a:r>
              <a:rPr lang="en-US" sz="2000" dirty="0"/>
              <a:t>CREATE TABLE holidays (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num_weeks</a:t>
            </a:r>
            <a:r>
              <a:rPr lang="en-US" sz="2000" dirty="0"/>
              <a:t> integer,</a:t>
            </a:r>
          </a:p>
          <a:p>
            <a:r>
              <a:rPr lang="en-US" sz="2000" dirty="0"/>
              <a:t>    happiness </a:t>
            </a:r>
            <a:r>
              <a:rPr lang="en-US" sz="2000" dirty="0" err="1"/>
              <a:t>happiness</a:t>
            </a:r>
            <a:endParaRPr lang="en-US" sz="2000" dirty="0"/>
          </a:p>
          <a:p>
            <a:r>
              <a:rPr lang="en-US" sz="2000" dirty="0"/>
              <a:t>);</a:t>
            </a:r>
          </a:p>
          <a:p>
            <a:r>
              <a:rPr lang="en-US" sz="2000" dirty="0"/>
              <a:t>INSERT INTO holidays(</a:t>
            </a:r>
            <a:r>
              <a:rPr lang="en-US" sz="2000" dirty="0" err="1"/>
              <a:t>num_weeks,happiness</a:t>
            </a:r>
            <a:r>
              <a:rPr lang="en-US" sz="2000" dirty="0"/>
              <a:t>) VALUES (4, 'happy');</a:t>
            </a:r>
          </a:p>
          <a:p>
            <a:r>
              <a:rPr lang="en-US" sz="2000" dirty="0"/>
              <a:t>INSERT INTO holidays(</a:t>
            </a:r>
            <a:r>
              <a:rPr lang="en-US" sz="2000" dirty="0" err="1"/>
              <a:t>num_weeks,happiness</a:t>
            </a:r>
            <a:r>
              <a:rPr lang="en-US" sz="2000" dirty="0"/>
              <a:t>) VALUES (6, 'very happy');</a:t>
            </a:r>
          </a:p>
          <a:p>
            <a:r>
              <a:rPr lang="en-US" sz="2000" dirty="0"/>
              <a:t>INSERT INTO holidays(</a:t>
            </a:r>
            <a:r>
              <a:rPr lang="en-US" sz="2000" dirty="0" err="1"/>
              <a:t>num_weeks,happiness</a:t>
            </a:r>
            <a:r>
              <a:rPr lang="en-US" sz="2000" dirty="0"/>
              <a:t>) VALUES (8, 'ecstatic');</a:t>
            </a:r>
          </a:p>
          <a:p>
            <a:r>
              <a:rPr lang="en-US" sz="2000" dirty="0"/>
              <a:t>INSERT INTO holidays(</a:t>
            </a:r>
            <a:r>
              <a:rPr lang="en-US" sz="2000" dirty="0" err="1"/>
              <a:t>num_weeks,happiness</a:t>
            </a:r>
            <a:r>
              <a:rPr lang="en-US" sz="2000" dirty="0"/>
              <a:t>) VALUES (2, 'sad');</a:t>
            </a:r>
          </a:p>
          <a:p>
            <a:r>
              <a:rPr lang="ru-RU" sz="2000" dirty="0"/>
              <a:t>ОШИБКА:  неверное значение для перечисления </a:t>
            </a:r>
            <a:r>
              <a:rPr lang="en-US" sz="2000" dirty="0"/>
              <a:t>happiness: "sad"</a:t>
            </a:r>
          </a:p>
          <a:p>
            <a:r>
              <a:rPr lang="en-US" sz="2000" dirty="0"/>
              <a:t>SELECT person.name, </a:t>
            </a:r>
            <a:r>
              <a:rPr lang="en-US" sz="2000" dirty="0" err="1"/>
              <a:t>holidays.num_weeks</a:t>
            </a:r>
            <a:r>
              <a:rPr lang="en-US" sz="2000" dirty="0"/>
              <a:t> FROM person, holidays</a:t>
            </a:r>
          </a:p>
          <a:p>
            <a:r>
              <a:rPr lang="en-US" sz="2000" dirty="0"/>
              <a:t>  WHERE </a:t>
            </a:r>
            <a:r>
              <a:rPr lang="en-US" sz="2000" dirty="0" err="1"/>
              <a:t>person.current_mood</a:t>
            </a:r>
            <a:r>
              <a:rPr lang="en-US" sz="2000" dirty="0"/>
              <a:t> = </a:t>
            </a:r>
            <a:r>
              <a:rPr lang="en-US" sz="2000" dirty="0" err="1"/>
              <a:t>holidays.happiness</a:t>
            </a:r>
            <a:r>
              <a:rPr lang="en-US" sz="2000" dirty="0"/>
              <a:t>;</a:t>
            </a:r>
          </a:p>
          <a:p>
            <a:r>
              <a:rPr lang="ru-RU" sz="2000" dirty="0"/>
              <a:t>ОШИБКА:  оператор не существует: </a:t>
            </a:r>
            <a:r>
              <a:rPr lang="en-US" sz="2000" dirty="0"/>
              <a:t>mood = happiness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792872" y="504968"/>
            <a:ext cx="43991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SELECT person.name, </a:t>
            </a:r>
            <a:r>
              <a:rPr lang="en-US" sz="2000" dirty="0" err="1"/>
              <a:t>holidays.num_weeks</a:t>
            </a:r>
            <a:r>
              <a:rPr lang="en-US" sz="2000" dirty="0"/>
              <a:t> FROM person, holidays</a:t>
            </a:r>
          </a:p>
          <a:p>
            <a:r>
              <a:rPr lang="en-US" sz="2000" dirty="0"/>
              <a:t>  WHERE </a:t>
            </a:r>
            <a:r>
              <a:rPr lang="en-US" sz="2000" dirty="0" err="1"/>
              <a:t>person.current_mood</a:t>
            </a:r>
            <a:r>
              <a:rPr lang="en-US" sz="2000" dirty="0"/>
              <a:t>::text = </a:t>
            </a:r>
            <a:r>
              <a:rPr lang="en-US" sz="2000" dirty="0" err="1"/>
              <a:t>holidays.happiness</a:t>
            </a:r>
            <a:r>
              <a:rPr lang="en-US" sz="2000" dirty="0"/>
              <a:t>::text;</a:t>
            </a:r>
          </a:p>
          <a:p>
            <a:r>
              <a:rPr lang="en-US" sz="2000" dirty="0"/>
              <a:t> name | </a:t>
            </a:r>
            <a:r>
              <a:rPr lang="en-US" sz="2000" dirty="0" err="1"/>
              <a:t>num_weeks</a:t>
            </a:r>
            <a:endParaRPr lang="en-US" sz="2000" dirty="0"/>
          </a:p>
          <a:p>
            <a:r>
              <a:rPr lang="en-US" sz="2000" dirty="0"/>
              <a:t>------+-----------</a:t>
            </a:r>
          </a:p>
          <a:p>
            <a:r>
              <a:rPr lang="en-US" sz="2000" dirty="0"/>
              <a:t> Moe  |         4</a:t>
            </a:r>
          </a:p>
          <a:p>
            <a:r>
              <a:rPr lang="en-US" sz="2000" dirty="0"/>
              <a:t>(1 row)</a:t>
            </a:r>
          </a:p>
        </p:txBody>
      </p:sp>
    </p:spTree>
    <p:extLst>
      <p:ext uri="{BB962C8B-B14F-4D97-AF65-F5344CB8AC3E}">
        <p14:creationId xmlns:p14="http://schemas.microsoft.com/office/powerpoint/2010/main" val="3484597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43701" y="0"/>
            <a:ext cx="3921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Тонкости реализации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регистр имеет значение, т. е. '</a:t>
            </a:r>
            <a:r>
              <a:rPr lang="ru-RU" sz="2400" dirty="0" err="1"/>
              <a:t>happy</a:t>
            </a:r>
            <a:r>
              <a:rPr lang="ru-RU" sz="2400" dirty="0"/>
              <a:t>' и 'HAPPY' — не одно и то </a:t>
            </a:r>
            <a:r>
              <a:rPr lang="ru-RU" sz="2400" dirty="0" smtClean="0"/>
              <a:t>же.</a:t>
            </a:r>
          </a:p>
          <a:p>
            <a:r>
              <a:rPr lang="ru-RU" sz="2400" dirty="0"/>
              <a:t> Значение </a:t>
            </a:r>
            <a:r>
              <a:rPr lang="ru-RU" sz="2400" dirty="0" err="1"/>
              <a:t>enum</a:t>
            </a:r>
            <a:r>
              <a:rPr lang="ru-RU" sz="2400" dirty="0"/>
              <a:t> занимает на диске 4 байта. Длина текстовой метки значения ограничена параметром компиляции NAMEDATALEN; в стандартных сборках </a:t>
            </a:r>
            <a:r>
              <a:rPr lang="ru-RU" sz="2400" dirty="0" err="1"/>
              <a:t>PostgreSQL</a:t>
            </a:r>
            <a:r>
              <a:rPr lang="ru-RU" sz="2400" dirty="0"/>
              <a:t> он ограничивает длину 63 байтами.</a:t>
            </a:r>
          </a:p>
          <a:p>
            <a:r>
              <a:rPr lang="ru-RU" sz="2400" dirty="0"/>
              <a:t>Сопоставления внутренних значений </a:t>
            </a:r>
            <a:r>
              <a:rPr lang="ru-RU" sz="2400" dirty="0" err="1"/>
              <a:t>enum</a:t>
            </a:r>
            <a:r>
              <a:rPr lang="ru-RU" sz="2400" dirty="0"/>
              <a:t> с текстовыми метками хранятся в системном каталоге </a:t>
            </a:r>
            <a:r>
              <a:rPr lang="ru-RU" sz="2400" dirty="0" err="1"/>
              <a:t>pg_enum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21243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34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Геометрические типы: точки, прямые, отрезки, прямоугольники, многоугольники, окружности.</a:t>
            </a:r>
          </a:p>
          <a:p>
            <a:pPr algn="ctr"/>
            <a:r>
              <a:rPr lang="ru-RU" sz="5400" b="1" dirty="0" smtClean="0"/>
              <a:t>Вопрос 6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96974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119356"/>
              </p:ext>
            </p:extLst>
          </p:nvPr>
        </p:nvGraphicFramePr>
        <p:xfrm>
          <a:off x="0" y="2"/>
          <a:ext cx="12192000" cy="69671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8253151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85060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869833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43692902"/>
                    </a:ext>
                  </a:extLst>
                </a:gridCol>
              </a:tblGrid>
              <a:tr h="60641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Имя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Размер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Описание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Представление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893858209"/>
                  </a:ext>
                </a:extLst>
              </a:tr>
              <a:tr h="60641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point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16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Точка на плоскости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(x,y)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77765732"/>
                  </a:ext>
                </a:extLst>
              </a:tr>
              <a:tr h="60641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line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24 байта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Бесконечная прямая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{A,B,C}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52828091"/>
                  </a:ext>
                </a:extLst>
              </a:tr>
              <a:tr h="60641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lseg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32 байта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Отрезок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[(x1,y1),(x2,y2)]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48319572"/>
                  </a:ext>
                </a:extLst>
              </a:tr>
              <a:tr h="60641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box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32 байта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Прямоугольник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(x1,y1),(x2,y2)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50355343"/>
                  </a:ext>
                </a:extLst>
              </a:tr>
              <a:tr h="107316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path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16+16n байт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Закрытый путь (подобный многоугольнику)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((x1,y1),...)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164784662"/>
                  </a:ext>
                </a:extLst>
              </a:tr>
              <a:tr h="60641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path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16+16n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Открытый путь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[(x1,y1),...]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24511554"/>
                  </a:ext>
                </a:extLst>
              </a:tr>
              <a:tr h="107316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polygon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40+16n байт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Многоугольник (подобный закрытому пути)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((x1,y1),...)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48992192"/>
                  </a:ext>
                </a:extLst>
              </a:tr>
              <a:tr h="107316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circle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24 байта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Окружность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&lt;(</a:t>
                      </a:r>
                      <a:r>
                        <a:rPr lang="ru-RU" sz="2000" dirty="0" err="1">
                          <a:effectLst/>
                        </a:rPr>
                        <a:t>x,y</a:t>
                      </a:r>
                      <a:r>
                        <a:rPr lang="ru-RU" sz="2000" dirty="0">
                          <a:effectLst/>
                        </a:rPr>
                        <a:t>),r&gt; (центр окружности и радиус)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94102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0094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246557" y="0"/>
            <a:ext cx="12454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Точки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6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Точки — это основной элемент, на базе которого строятся все остальные геометрические типы. Значения типа </a:t>
            </a:r>
            <a:r>
              <a:rPr lang="ru-RU" sz="2400" dirty="0" err="1"/>
              <a:t>point</a:t>
            </a:r>
            <a:r>
              <a:rPr lang="ru-RU" sz="2400" dirty="0"/>
              <a:t> записываются в одном из двух форматов:</a:t>
            </a:r>
          </a:p>
          <a:p>
            <a:r>
              <a:rPr lang="ru-RU" sz="2400" dirty="0"/>
              <a:t>( x , y )</a:t>
            </a:r>
          </a:p>
          <a:p>
            <a:r>
              <a:rPr lang="ru-RU" sz="2400" dirty="0"/>
              <a:t>  x , y</a:t>
            </a:r>
          </a:p>
          <a:p>
            <a:r>
              <a:rPr lang="ru-RU" sz="2400" dirty="0"/>
              <a:t>где x и y — координаты точки на плоскости, выраженные числами с плавающей точкой</a:t>
            </a:r>
            <a:r>
              <a:rPr lang="ru-RU" sz="2400" dirty="0" smtClean="0"/>
              <a:t>.</a:t>
            </a:r>
          </a:p>
          <a:p>
            <a:pPr algn="ctr"/>
            <a:r>
              <a:rPr lang="ru-RU" sz="2400" b="1" dirty="0" smtClean="0"/>
              <a:t>Прямые</a:t>
            </a:r>
          </a:p>
          <a:p>
            <a:pPr algn="just"/>
            <a:r>
              <a:rPr lang="ru-RU" sz="2400" dirty="0" err="1"/>
              <a:t>Ax</a:t>
            </a:r>
            <a:r>
              <a:rPr lang="ru-RU" sz="2400" dirty="0"/>
              <a:t> + </a:t>
            </a:r>
            <a:r>
              <a:rPr lang="ru-RU" sz="2400" dirty="0" err="1"/>
              <a:t>By</a:t>
            </a:r>
            <a:r>
              <a:rPr lang="ru-RU" sz="2400" dirty="0"/>
              <a:t> + C = 0, где A и B не могут быть равны 0 одновременно. Значения типа </a:t>
            </a:r>
            <a:r>
              <a:rPr lang="ru-RU" sz="2400" dirty="0" err="1"/>
              <a:t>line</a:t>
            </a:r>
            <a:r>
              <a:rPr lang="ru-RU" sz="2400" dirty="0"/>
              <a:t> вводятся и выводятся в следующем виде</a:t>
            </a:r>
            <a:r>
              <a:rPr lang="ru-RU" sz="2400" dirty="0" smtClean="0"/>
              <a:t>: { </a:t>
            </a:r>
            <a:r>
              <a:rPr lang="ru-RU" sz="2400" dirty="0"/>
              <a:t>A, B, C }</a:t>
            </a:r>
          </a:p>
          <a:p>
            <a:pPr algn="just"/>
            <a:r>
              <a:rPr lang="ru-RU" sz="2400" dirty="0"/>
              <a:t>Кроме того, для ввода может использоваться любая из этих форм:</a:t>
            </a:r>
          </a:p>
          <a:p>
            <a:pPr algn="just"/>
            <a:r>
              <a:rPr lang="ru-RU" sz="2400" dirty="0"/>
              <a:t>[ ( x1 , y1 ) , ( x2 , y2 ) ]</a:t>
            </a:r>
          </a:p>
          <a:p>
            <a:pPr algn="just"/>
            <a:r>
              <a:rPr lang="ru-RU" sz="2400" dirty="0"/>
              <a:t>( ( x1 , y1 ) , ( x2 , y2 ) )</a:t>
            </a:r>
          </a:p>
          <a:p>
            <a:pPr algn="just"/>
            <a:r>
              <a:rPr lang="ru-RU" sz="2400" dirty="0"/>
              <a:t>  ( x1 , y1 ) , ( x2 , y2 )</a:t>
            </a:r>
          </a:p>
          <a:p>
            <a:pPr algn="just"/>
            <a:r>
              <a:rPr lang="ru-RU" sz="2400" dirty="0"/>
              <a:t>    x1 , y1   ,   x2 , y2</a:t>
            </a:r>
          </a:p>
          <a:p>
            <a:pPr algn="just"/>
            <a:r>
              <a:rPr lang="ru-RU" sz="2400" dirty="0"/>
              <a:t>где (x1,y1) и (x2,y2) — две различные точки на данной прямой</a:t>
            </a:r>
          </a:p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260113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отрезки</a:t>
            </a:r>
            <a:endParaRPr lang="ru-RU" sz="2400" b="1" dirty="0"/>
          </a:p>
          <a:p>
            <a:r>
              <a:rPr lang="ru-RU" sz="2400" dirty="0"/>
              <a:t>Отрезок представляется парой точек, определяющих концы отрезка. Значения типа </a:t>
            </a:r>
            <a:r>
              <a:rPr lang="ru-RU" sz="2400" dirty="0" err="1"/>
              <a:t>lseg</a:t>
            </a:r>
            <a:r>
              <a:rPr lang="ru-RU" sz="2400" dirty="0"/>
              <a:t> записываются в одной из следующих форм:</a:t>
            </a:r>
          </a:p>
          <a:p>
            <a:r>
              <a:rPr lang="ru-RU" sz="2400" dirty="0"/>
              <a:t>[ ( x1 , y1 ) , ( x2 , y2 ) ]</a:t>
            </a:r>
          </a:p>
          <a:p>
            <a:r>
              <a:rPr lang="ru-RU" sz="2400" dirty="0"/>
              <a:t>( ( x1 , y1 ) , ( x2 , y2 ) )</a:t>
            </a:r>
          </a:p>
          <a:p>
            <a:r>
              <a:rPr lang="ru-RU" sz="2400" dirty="0"/>
              <a:t>  ( x1 , y1 ) , ( x2 , y2 )</a:t>
            </a:r>
          </a:p>
          <a:p>
            <a:r>
              <a:rPr lang="ru-RU" sz="2400" dirty="0"/>
              <a:t>    x1 , y1   ,   x2 , y2</a:t>
            </a:r>
          </a:p>
          <a:p>
            <a:r>
              <a:rPr lang="ru-RU" sz="2400" dirty="0"/>
              <a:t>где (x1,y1) и (x2,y2) — концы отрезка</a:t>
            </a:r>
            <a:r>
              <a:rPr lang="ru-RU" sz="2400" dirty="0" smtClean="0"/>
              <a:t>.</a:t>
            </a:r>
          </a:p>
          <a:p>
            <a:pPr algn="ctr"/>
            <a:r>
              <a:rPr lang="ru-RU" sz="2400" b="1" dirty="0"/>
              <a:t>Прямоугольники </a:t>
            </a:r>
          </a:p>
          <a:p>
            <a:pPr algn="just"/>
            <a:r>
              <a:rPr lang="ru-RU" sz="2400" dirty="0"/>
              <a:t>Прямоугольник представляется двумя точками, находящимися в противоположных его углах. Значения типа </a:t>
            </a:r>
            <a:r>
              <a:rPr lang="ru-RU" sz="2400" dirty="0" err="1"/>
              <a:t>box</a:t>
            </a:r>
            <a:r>
              <a:rPr lang="ru-RU" sz="2400" dirty="0"/>
              <a:t> записываются в одной из следующих форм:</a:t>
            </a:r>
          </a:p>
          <a:p>
            <a:pPr algn="just"/>
            <a:r>
              <a:rPr lang="ru-RU" sz="2400" dirty="0"/>
              <a:t>( ( x1 , y1 ) , ( x2 , y2 ) )</a:t>
            </a:r>
          </a:p>
          <a:p>
            <a:pPr algn="just"/>
            <a:r>
              <a:rPr lang="ru-RU" sz="2400" dirty="0"/>
              <a:t>  ( x1 , y1 ) , ( x2 , y2 )</a:t>
            </a:r>
          </a:p>
          <a:p>
            <a:pPr algn="just"/>
            <a:r>
              <a:rPr lang="ru-RU" sz="2400" dirty="0"/>
              <a:t>    x1 , y1   ,   x2 , y2</a:t>
            </a:r>
          </a:p>
          <a:p>
            <a:pPr algn="just"/>
            <a:r>
              <a:rPr lang="ru-RU" sz="2400" dirty="0"/>
              <a:t>где (x1,y1) и (x2,y2) — противоположные углы прямоугольника.</a:t>
            </a:r>
          </a:p>
          <a:p>
            <a:pPr algn="ctr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06622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/>
              <a:t>Пути </a:t>
            </a:r>
          </a:p>
          <a:p>
            <a:pPr algn="just"/>
            <a:r>
              <a:rPr lang="ru-RU" sz="2200" dirty="0"/>
              <a:t>Пути представляют собой списки соединённых точек. </a:t>
            </a:r>
          </a:p>
          <a:p>
            <a:pPr algn="just"/>
            <a:r>
              <a:rPr lang="ru-RU" sz="2200" dirty="0"/>
              <a:t>Значения типа </a:t>
            </a:r>
            <a:r>
              <a:rPr lang="ru-RU" sz="2200" dirty="0" err="1"/>
              <a:t>path</a:t>
            </a:r>
            <a:r>
              <a:rPr lang="ru-RU" sz="2200" dirty="0"/>
              <a:t> записываются в одной из следующих форм:</a:t>
            </a:r>
          </a:p>
          <a:p>
            <a:pPr algn="just"/>
            <a:r>
              <a:rPr lang="ru-RU" sz="2200" dirty="0"/>
              <a:t>[ ( x1 , y1 ) , ... , (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r>
              <a:rPr lang="ru-RU" sz="2200" dirty="0"/>
              <a:t> ) ]</a:t>
            </a:r>
          </a:p>
          <a:p>
            <a:pPr algn="just"/>
            <a:r>
              <a:rPr lang="ru-RU" sz="2200" dirty="0"/>
              <a:t>( ( x1 , y1 ) , ... , (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r>
              <a:rPr lang="ru-RU" sz="2200" dirty="0"/>
              <a:t> ) )</a:t>
            </a:r>
          </a:p>
          <a:p>
            <a:pPr algn="just"/>
            <a:r>
              <a:rPr lang="ru-RU" sz="2200" dirty="0"/>
              <a:t>  ( x1 , y1 ) , ... , (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r>
              <a:rPr lang="ru-RU" sz="2200" dirty="0"/>
              <a:t> )</a:t>
            </a:r>
          </a:p>
          <a:p>
            <a:pPr algn="just"/>
            <a:r>
              <a:rPr lang="ru-RU" sz="2200" dirty="0"/>
              <a:t>  ( x1 , y1   , ... ,  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r>
              <a:rPr lang="ru-RU" sz="2200" dirty="0"/>
              <a:t> )</a:t>
            </a:r>
          </a:p>
          <a:p>
            <a:pPr algn="just"/>
            <a:r>
              <a:rPr lang="ru-RU" sz="2200" dirty="0"/>
              <a:t>    x1 , y1   , ... ,  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endParaRPr lang="ru-RU" sz="2200" dirty="0"/>
          </a:p>
          <a:p>
            <a:pPr algn="just"/>
            <a:r>
              <a:rPr lang="ru-RU" sz="2200" dirty="0"/>
              <a:t>где точки задают узлы сегментов, составляющих путь. Квадратные скобки ([]) указывают, что путь открытый, а круглые (()) — закрытый</a:t>
            </a:r>
            <a:r>
              <a:rPr lang="ru-RU" sz="2200" dirty="0" smtClean="0"/>
              <a:t>.</a:t>
            </a:r>
          </a:p>
          <a:p>
            <a:pPr algn="ctr"/>
            <a:r>
              <a:rPr lang="ru-RU" sz="2200" b="1" dirty="0"/>
              <a:t>Многоугольники </a:t>
            </a:r>
          </a:p>
          <a:p>
            <a:pPr algn="just"/>
            <a:r>
              <a:rPr lang="ru-RU" sz="2200" dirty="0"/>
              <a:t>Многоугольники представляются списками точек (вершин</a:t>
            </a:r>
            <a:r>
              <a:rPr lang="ru-RU" sz="2200" dirty="0" smtClean="0"/>
              <a:t>).отличие - </a:t>
            </a:r>
            <a:r>
              <a:rPr lang="ru-RU" sz="2200" dirty="0"/>
              <a:t>многоугольник считается содержащим область внутри него, а путь — нет.</a:t>
            </a:r>
          </a:p>
          <a:p>
            <a:pPr algn="just"/>
            <a:r>
              <a:rPr lang="ru-RU" sz="2200" dirty="0" smtClean="0"/>
              <a:t>Значения </a:t>
            </a:r>
            <a:r>
              <a:rPr lang="ru-RU" sz="2200" dirty="0"/>
              <a:t>типа </a:t>
            </a:r>
            <a:r>
              <a:rPr lang="ru-RU" sz="2200" dirty="0" err="1"/>
              <a:t>polygon</a:t>
            </a:r>
            <a:r>
              <a:rPr lang="ru-RU" sz="2200" dirty="0"/>
              <a:t> записываются в одной из следующих форм:</a:t>
            </a:r>
          </a:p>
          <a:p>
            <a:pPr algn="just"/>
            <a:r>
              <a:rPr lang="ru-RU" sz="2200" dirty="0"/>
              <a:t>( ( x1 , y1 ) , ... , (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r>
              <a:rPr lang="ru-RU" sz="2200" dirty="0"/>
              <a:t> ) )</a:t>
            </a:r>
          </a:p>
          <a:p>
            <a:pPr algn="just"/>
            <a:r>
              <a:rPr lang="ru-RU" sz="2200" dirty="0"/>
              <a:t>  ( x1 , y1 ) , ... , (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r>
              <a:rPr lang="ru-RU" sz="2200" dirty="0"/>
              <a:t> )</a:t>
            </a:r>
          </a:p>
          <a:p>
            <a:pPr algn="just"/>
            <a:r>
              <a:rPr lang="ru-RU" sz="2200" dirty="0"/>
              <a:t>  ( x1 , y1   , ... ,  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r>
              <a:rPr lang="ru-RU" sz="2200" dirty="0"/>
              <a:t> )</a:t>
            </a:r>
          </a:p>
          <a:p>
            <a:pPr algn="just"/>
            <a:r>
              <a:rPr lang="ru-RU" sz="2200" dirty="0"/>
              <a:t>    x1 , y1   , ... ,   </a:t>
            </a:r>
            <a:r>
              <a:rPr lang="ru-RU" sz="2200" dirty="0" err="1"/>
              <a:t>xn</a:t>
            </a:r>
            <a:r>
              <a:rPr lang="ru-RU" sz="2200" dirty="0"/>
              <a:t> , </a:t>
            </a:r>
            <a:r>
              <a:rPr lang="ru-RU" sz="2200" dirty="0" err="1"/>
              <a:t>yn</a:t>
            </a:r>
            <a:endParaRPr lang="ru-RU" sz="2200" dirty="0"/>
          </a:p>
          <a:p>
            <a:pPr algn="just"/>
            <a:r>
              <a:rPr lang="ru-RU" sz="2200" dirty="0"/>
              <a:t>где точки задают узлы сегментов, образующих границу </a:t>
            </a:r>
            <a:r>
              <a:rPr lang="ru-RU" sz="2200" dirty="0" smtClean="0"/>
              <a:t>многоугольника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07788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199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Окружности </a:t>
            </a:r>
          </a:p>
          <a:p>
            <a:r>
              <a:rPr lang="ru-RU" sz="2400" dirty="0"/>
              <a:t>Окружности задаются координатами центра и радиусом. Значения типа </a:t>
            </a:r>
            <a:r>
              <a:rPr lang="ru-RU" sz="2400" dirty="0" err="1"/>
              <a:t>circle</a:t>
            </a:r>
            <a:r>
              <a:rPr lang="ru-RU" sz="2400" dirty="0"/>
              <a:t> записываются в одном из следующих форматов:</a:t>
            </a:r>
          </a:p>
          <a:p>
            <a:r>
              <a:rPr lang="ru-RU" sz="2400" dirty="0"/>
              <a:t>&lt; ( x , y ) , r &gt;</a:t>
            </a:r>
          </a:p>
          <a:p>
            <a:r>
              <a:rPr lang="ru-RU" sz="2400" dirty="0"/>
              <a:t>( ( x , y ) , r )</a:t>
            </a:r>
          </a:p>
          <a:p>
            <a:r>
              <a:rPr lang="ru-RU" sz="2400" dirty="0"/>
              <a:t>  ( x , y ) , r</a:t>
            </a:r>
          </a:p>
          <a:p>
            <a:r>
              <a:rPr lang="ru-RU" sz="2400" dirty="0"/>
              <a:t>    x , y   , r</a:t>
            </a:r>
          </a:p>
          <a:p>
            <a:r>
              <a:rPr lang="ru-RU" sz="2400" dirty="0"/>
              <a:t>где (</a:t>
            </a:r>
            <a:r>
              <a:rPr lang="ru-RU" sz="2400" dirty="0" err="1"/>
              <a:t>x,y</a:t>
            </a:r>
            <a:r>
              <a:rPr lang="ru-RU" sz="2400" dirty="0"/>
              <a:t>) — центр окружности, а r — её радиус.</a:t>
            </a:r>
          </a:p>
        </p:txBody>
      </p:sp>
    </p:spTree>
    <p:extLst>
      <p:ext uri="{BB962C8B-B14F-4D97-AF65-F5344CB8AC3E}">
        <p14:creationId xmlns:p14="http://schemas.microsoft.com/office/powerpoint/2010/main" val="3675976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40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Типы описывающие сетевые адреса:</a:t>
            </a:r>
            <a:r>
              <a:rPr lang="en-US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</a:rPr>
              <a:t>inet</a:t>
            </a:r>
            <a:r>
              <a:rPr lang="en-US" sz="4000" b="1" dirty="0" smtClean="0">
                <a:solidFill>
                  <a:srgbClr val="FF0000"/>
                </a:solidFill>
              </a:rPr>
              <a:t>, </a:t>
            </a:r>
            <a:r>
              <a:rPr lang="en-US" sz="4000" b="1" dirty="0" err="1" smtClean="0">
                <a:solidFill>
                  <a:srgbClr val="FF0000"/>
                </a:solidFill>
              </a:rPr>
              <a:t>cidr</a:t>
            </a:r>
            <a:r>
              <a:rPr lang="ru-RU" sz="4000" b="1" dirty="0" smtClean="0">
                <a:solidFill>
                  <a:srgbClr val="FF0000"/>
                </a:solidFill>
              </a:rPr>
              <a:t>. Различия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inet</a:t>
            </a:r>
            <a:r>
              <a:rPr lang="en-US" sz="4000" b="1" dirty="0">
                <a:solidFill>
                  <a:srgbClr val="FF0000"/>
                </a:solidFill>
              </a:rPr>
              <a:t>, </a:t>
            </a:r>
            <a:r>
              <a:rPr lang="en-US" sz="4000" b="1" dirty="0" err="1">
                <a:solidFill>
                  <a:srgbClr val="FF0000"/>
                </a:solidFill>
              </a:rPr>
              <a:t>cidr</a:t>
            </a:r>
            <a:r>
              <a:rPr lang="en-US" sz="4000" b="1" dirty="0">
                <a:solidFill>
                  <a:srgbClr val="FF0000"/>
                </a:solidFill>
              </a:rPr>
              <a:t>, </a:t>
            </a:r>
            <a:r>
              <a:rPr lang="en-US" sz="4000" b="1" dirty="0" err="1" smtClean="0">
                <a:solidFill>
                  <a:srgbClr val="FF0000"/>
                </a:solidFill>
              </a:rPr>
              <a:t>macaddr</a:t>
            </a:r>
            <a:r>
              <a:rPr lang="en-US" sz="4000" b="1" dirty="0">
                <a:solidFill>
                  <a:srgbClr val="FF0000"/>
                </a:solidFill>
              </a:rPr>
              <a:t>, </a:t>
            </a:r>
            <a:r>
              <a:rPr lang="en-US" sz="4000" b="1" dirty="0" smtClean="0">
                <a:solidFill>
                  <a:srgbClr val="FF0000"/>
                </a:solidFill>
              </a:rPr>
              <a:t>macaddr8</a:t>
            </a:r>
            <a:r>
              <a:rPr lang="ru-RU" sz="4000" b="1" dirty="0" smtClean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ru-RU" sz="5400" b="1" dirty="0" smtClean="0"/>
              <a:t>Вопрос 7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81811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11075"/>
              </p:ext>
            </p:extLst>
          </p:nvPr>
        </p:nvGraphicFramePr>
        <p:xfrm>
          <a:off x="0" y="0"/>
          <a:ext cx="5921115" cy="58361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0355">
                  <a:extLst>
                    <a:ext uri="{9D8B030D-6E8A-4147-A177-3AD203B41FA5}">
                      <a16:colId xmlns:a16="http://schemas.microsoft.com/office/drawing/2014/main" val="615861105"/>
                    </a:ext>
                  </a:extLst>
                </a:gridCol>
                <a:gridCol w="1977056">
                  <a:extLst>
                    <a:ext uri="{9D8B030D-6E8A-4147-A177-3AD203B41FA5}">
                      <a16:colId xmlns:a16="http://schemas.microsoft.com/office/drawing/2014/main" val="4177827815"/>
                    </a:ext>
                  </a:extLst>
                </a:gridCol>
                <a:gridCol w="1973704">
                  <a:extLst>
                    <a:ext uri="{9D8B030D-6E8A-4147-A177-3AD203B41FA5}">
                      <a16:colId xmlns:a16="http://schemas.microsoft.com/office/drawing/2014/main" val="2818957234"/>
                    </a:ext>
                  </a:extLst>
                </a:gridCol>
              </a:tblGrid>
              <a:tr h="59312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Имя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Размер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99389528"/>
                  </a:ext>
                </a:extLst>
              </a:tr>
              <a:tr h="107537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cidr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7 или 19 байт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Сети IPv4 и IPv6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680152106"/>
                  </a:ext>
                </a:extLst>
              </a:tr>
              <a:tr h="107537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inet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7 или 19 байт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Узлы и сети IPv4 и IPv6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41891716"/>
                  </a:ext>
                </a:extLst>
              </a:tr>
              <a:tr h="107084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macaddr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6 байт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MAC-адреса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32944739"/>
                  </a:ext>
                </a:extLst>
              </a:tr>
              <a:tr h="156034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macaddr8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8 байт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MAC-адреса (в формате EUI-64)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1659256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5921114" y="0"/>
            <a:ext cx="627088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Тип </a:t>
            </a:r>
            <a:r>
              <a:rPr lang="ru-RU" sz="2400" dirty="0" err="1"/>
              <a:t>inet</a:t>
            </a:r>
            <a:r>
              <a:rPr lang="ru-RU" sz="2400" dirty="0"/>
              <a:t> содержит IPv4- или IPv6-адрес узла и может также содержать его подсеть, всё в одном поле, когда нужно, чтобы принимались только адреса сетей, следует использовать тип </a:t>
            </a:r>
            <a:r>
              <a:rPr lang="ru-RU" sz="2400" dirty="0" err="1"/>
              <a:t>cidr</a:t>
            </a:r>
            <a:r>
              <a:rPr lang="ru-RU" sz="2400" dirty="0"/>
              <a:t>, а не </a:t>
            </a:r>
            <a:r>
              <a:rPr lang="ru-RU" sz="2400" dirty="0" err="1"/>
              <a:t>inet</a:t>
            </a:r>
            <a:r>
              <a:rPr lang="ru-RU" sz="2400" dirty="0"/>
              <a:t>.</a:t>
            </a:r>
          </a:p>
          <a:p>
            <a:pPr algn="just"/>
            <a:r>
              <a:rPr lang="ru-RU" sz="2400" dirty="0"/>
              <a:t> Тип </a:t>
            </a:r>
            <a:r>
              <a:rPr lang="ru-RU" sz="2400" dirty="0" err="1"/>
              <a:t>cidr</a:t>
            </a:r>
            <a:r>
              <a:rPr lang="ru-RU" sz="2400" dirty="0"/>
              <a:t> содержит определение сети IPv4 или IPv6. Определение сети записывается в формате адрес/y, где адрес — минимальный адрес в сети, представленный в виде адреса IPv4 или IPv6, а y — число бит в маске сети.</a:t>
            </a:r>
          </a:p>
        </p:txBody>
      </p:sp>
    </p:spTree>
    <p:extLst>
      <p:ext uri="{BB962C8B-B14F-4D97-AF65-F5344CB8AC3E}">
        <p14:creationId xmlns:p14="http://schemas.microsoft.com/office/powerpoint/2010/main" val="683457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168249"/>
              </p:ext>
            </p:extLst>
          </p:nvPr>
        </p:nvGraphicFramePr>
        <p:xfrm>
          <a:off x="1" y="4"/>
          <a:ext cx="12191998" cy="70332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87187">
                  <a:extLst>
                    <a:ext uri="{9D8B030D-6E8A-4147-A177-3AD203B41FA5}">
                      <a16:colId xmlns:a16="http://schemas.microsoft.com/office/drawing/2014/main" val="3185218865"/>
                    </a:ext>
                  </a:extLst>
                </a:gridCol>
                <a:gridCol w="3840812">
                  <a:extLst>
                    <a:ext uri="{9D8B030D-6E8A-4147-A177-3AD203B41FA5}">
                      <a16:colId xmlns:a16="http://schemas.microsoft.com/office/drawing/2014/main" val="3809277124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4167534560"/>
                    </a:ext>
                  </a:extLst>
                </a:gridCol>
              </a:tblGrid>
              <a:tr h="581068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Вводимое значение </a:t>
                      </a:r>
                      <a:r>
                        <a:rPr lang="ru-RU" sz="1800" dirty="0" err="1">
                          <a:effectLst/>
                        </a:rPr>
                        <a:t>cidr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Выводимое значение cidr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abbrev(cidr)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 anchor="ctr"/>
                </a:tc>
                <a:extLst>
                  <a:ext uri="{0D108BD9-81ED-4DB2-BD59-A6C34878D82A}">
                    <a16:rowId xmlns:a16="http://schemas.microsoft.com/office/drawing/2014/main" val="723796079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192.168.100.128/25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192.168.100.128/25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192.168.100.128/25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2823244311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192.168.0.0/24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192.168.0/24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1650958776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192.168/25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192.168.0.0/25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192.168.0.0/25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1263157232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192.168.1.0/24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192.168.1/24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1136119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192.168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192.168.0.0/24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192.168.0/24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2934730429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128.1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128.1.0.0/16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128.1/16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3524671141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128.0.0.0/16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128.0/16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2725183845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128.1.2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128.1.2.0/24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128.1.2/24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1635050410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10.1.2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10.1.2.0/24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10.1.2/24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2667191387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10.1.0.0/16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10.1/16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860399869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10.0.0.0/8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10/8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1614324953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10.1.2.3/32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10.1.2.3/32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10.1.2.3/32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3135160501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2001:4f8:3:ba::/64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2001:4f8:3:ba::/64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2001:4f8:3:ba/64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409191673"/>
                  </a:ext>
                </a:extLst>
              </a:tr>
              <a:tr h="66460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2001:4f8:3:ba:​2e0:81ff:fe22:d1f1/128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2001:4f8:3:ba:​2e0:81ff:fe22:d1f1/128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2001:4f8:3:ba:​2e0:81ff:fe22:d1f1/128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2895424455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::ffff:1.2.3.0/120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::ffff:1.2.3.0/120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::ffff:1.2.3/120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4230962419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::ffff:1.2.3.0/128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::ffff:1.2.3.0/128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::ffff:1.2.3.0/128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037" marR="34037" marT="34037" marB="34037"/>
                </a:tc>
                <a:extLst>
                  <a:ext uri="{0D108BD9-81ED-4DB2-BD59-A6C34878D82A}">
                    <a16:rowId xmlns:a16="http://schemas.microsoft.com/office/drawing/2014/main" val="1807796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7682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/>
              <a:t>Различием </a:t>
            </a:r>
            <a:r>
              <a:rPr lang="ru-RU" sz="2400" dirty="0"/>
              <a:t>типов данных </a:t>
            </a:r>
            <a:r>
              <a:rPr lang="ru-RU" sz="2400" dirty="0" err="1"/>
              <a:t>inet</a:t>
            </a:r>
            <a:r>
              <a:rPr lang="ru-RU" sz="2400" dirty="0"/>
              <a:t> и </a:t>
            </a:r>
            <a:r>
              <a:rPr lang="ru-RU" sz="2400" dirty="0" err="1"/>
              <a:t>cidr</a:t>
            </a:r>
            <a:r>
              <a:rPr lang="ru-RU" sz="2400" dirty="0"/>
              <a:t> является то, что </a:t>
            </a:r>
            <a:r>
              <a:rPr lang="ru-RU" sz="2400" dirty="0" err="1"/>
              <a:t>inet</a:t>
            </a:r>
            <a:r>
              <a:rPr lang="ru-RU" sz="2400" dirty="0"/>
              <a:t> принимает значения с ненулевыми битами справа от маски сети, а </a:t>
            </a:r>
            <a:r>
              <a:rPr lang="ru-RU" sz="2400" dirty="0" err="1"/>
              <a:t>cidr</a:t>
            </a:r>
            <a:r>
              <a:rPr lang="ru-RU" sz="2400" dirty="0"/>
              <a:t> — нет. Например, значение 192.168.0.1/24 является допустимым для типа </a:t>
            </a:r>
            <a:r>
              <a:rPr lang="ru-RU" sz="2400" dirty="0" err="1"/>
              <a:t>inet</a:t>
            </a:r>
            <a:r>
              <a:rPr lang="ru-RU" sz="2400" dirty="0"/>
              <a:t>, но не для </a:t>
            </a:r>
            <a:r>
              <a:rPr lang="ru-RU" sz="2400" dirty="0" err="1"/>
              <a:t>cidr</a:t>
            </a:r>
            <a:r>
              <a:rPr lang="ru-RU" sz="2400" dirty="0" smtClean="0"/>
              <a:t>.(  другой вариант </a:t>
            </a:r>
            <a:r>
              <a:rPr lang="ru-RU" sz="2400" dirty="0"/>
              <a:t>функции </a:t>
            </a:r>
            <a:r>
              <a:rPr lang="en-US" sz="2400" dirty="0"/>
              <a:t>host, text </a:t>
            </a:r>
            <a:r>
              <a:rPr lang="ru-RU" sz="2400" dirty="0"/>
              <a:t>и </a:t>
            </a:r>
            <a:r>
              <a:rPr lang="en-US" sz="2400" dirty="0" smtClean="0"/>
              <a:t>abbrev</a:t>
            </a:r>
            <a:r>
              <a:rPr lang="ru-RU" sz="2400" dirty="0" smtClean="0"/>
              <a:t>)</a:t>
            </a:r>
          </a:p>
          <a:p>
            <a:pPr algn="just"/>
            <a:r>
              <a:rPr lang="ru-RU" sz="2400" dirty="0"/>
              <a:t>Тип </a:t>
            </a:r>
            <a:r>
              <a:rPr lang="ru-RU" sz="2400" b="1" dirty="0" err="1"/>
              <a:t>macadd</a:t>
            </a:r>
            <a:r>
              <a:rPr lang="ru-RU" sz="2400" dirty="0" err="1"/>
              <a:t>r</a:t>
            </a:r>
            <a:r>
              <a:rPr lang="ru-RU" sz="2400" dirty="0"/>
              <a:t> </a:t>
            </a:r>
            <a:r>
              <a:rPr lang="ru-RU" sz="2400" dirty="0" smtClean="0"/>
              <a:t> - MAC-адреса</a:t>
            </a:r>
            <a:r>
              <a:rPr lang="ru-RU" sz="2400" dirty="0"/>
              <a:t>, </a:t>
            </a:r>
            <a:r>
              <a:rPr lang="ru-RU" sz="2400" dirty="0" smtClean="0"/>
              <a:t>пример: адрес </a:t>
            </a:r>
            <a:r>
              <a:rPr lang="ru-RU" sz="2400" dirty="0"/>
              <a:t>сетевой платы </a:t>
            </a:r>
            <a:r>
              <a:rPr lang="ru-RU" sz="2400" dirty="0" err="1"/>
              <a:t>Ethernet</a:t>
            </a:r>
            <a:r>
              <a:rPr lang="ru-RU" sz="2400" dirty="0"/>
              <a:t> (хотя MAC-адреса применяются и для других целей). Вводимые значения могут задаваться в следующих форматах:</a:t>
            </a:r>
          </a:p>
          <a:p>
            <a:pPr algn="just"/>
            <a:r>
              <a:rPr lang="ru-RU" sz="2400" dirty="0"/>
              <a:t>'08:00:2b:01:02:03'</a:t>
            </a:r>
          </a:p>
          <a:p>
            <a:pPr algn="just"/>
            <a:r>
              <a:rPr lang="ru-RU" sz="2400" dirty="0"/>
              <a:t>'08-00-2b-01-02-03'</a:t>
            </a:r>
          </a:p>
          <a:p>
            <a:pPr algn="just"/>
            <a:r>
              <a:rPr lang="ru-RU" sz="2400" dirty="0"/>
              <a:t>'08002b:010203'</a:t>
            </a:r>
          </a:p>
          <a:p>
            <a:pPr algn="just"/>
            <a:r>
              <a:rPr lang="ru-RU" sz="2400" dirty="0"/>
              <a:t>'08002b-010203'</a:t>
            </a:r>
          </a:p>
          <a:p>
            <a:pPr algn="just"/>
            <a:r>
              <a:rPr lang="ru-RU" sz="2400" dirty="0"/>
              <a:t>'0800.2b01.0203'</a:t>
            </a:r>
          </a:p>
          <a:p>
            <a:pPr algn="just"/>
            <a:r>
              <a:rPr lang="ru-RU" sz="2400" dirty="0"/>
              <a:t>'0800-2b01-0203'</a:t>
            </a:r>
          </a:p>
          <a:p>
            <a:pPr algn="just"/>
            <a:r>
              <a:rPr lang="ru-RU" sz="2400" dirty="0"/>
              <a:t>'08002b010203'</a:t>
            </a:r>
          </a:p>
          <a:p>
            <a:pPr algn="just"/>
            <a:r>
              <a:rPr lang="ru-RU" sz="2400" dirty="0"/>
              <a:t>IEEE 802-2001 стандартной считается вторая форма MAC-адресов (с минусами), а первая (с двоеточиями) предполагает обратный порядок бит, от старшего к младшему, так что 08-00-2b-01-02-03 = 10:00:D4:80:40:C0. </a:t>
            </a:r>
          </a:p>
        </p:txBody>
      </p:sp>
    </p:spTree>
    <p:extLst>
      <p:ext uri="{BB962C8B-B14F-4D97-AF65-F5344CB8AC3E}">
        <p14:creationId xmlns:p14="http://schemas.microsoft.com/office/powerpoint/2010/main" val="3557361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Тип </a:t>
            </a:r>
            <a:r>
              <a:rPr lang="ru-RU" sz="2400" b="1" dirty="0"/>
              <a:t>macaddr8</a:t>
            </a:r>
            <a:r>
              <a:rPr lang="ru-RU" sz="2400" dirty="0"/>
              <a:t> хранит MAC-адреса в формате EUI-64, применяющиеся, например, для аппаратных адресов плат </a:t>
            </a:r>
            <a:r>
              <a:rPr lang="ru-RU" sz="2400" dirty="0" err="1"/>
              <a:t>Ethernet</a:t>
            </a:r>
            <a:r>
              <a:rPr lang="ru-RU" sz="2400" dirty="0"/>
              <a:t> . </a:t>
            </a:r>
            <a:r>
              <a:rPr lang="ru-RU" sz="2400" dirty="0" smtClean="0"/>
              <a:t>Для </a:t>
            </a:r>
            <a:r>
              <a:rPr lang="ru-RU" sz="2400" dirty="0"/>
              <a:t>IPv6 используется модифицированный формат EUI-64, в котором 7-ой бит должен быть установлен в 1 после преобразования из EUI-48. Для выполнения этого изменения предоставляется функция macaddr8_set7bit</a:t>
            </a:r>
            <a:r>
              <a:rPr lang="ru-RU" sz="2400" dirty="0" smtClean="0"/>
              <a:t>.</a:t>
            </a:r>
          </a:p>
          <a:p>
            <a:pPr algn="just"/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887689"/>
              </p:ext>
            </p:extLst>
          </p:nvPr>
        </p:nvGraphicFramePr>
        <p:xfrm>
          <a:off x="554637" y="1603948"/>
          <a:ext cx="4542020" cy="40734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42020">
                  <a:extLst>
                    <a:ext uri="{9D8B030D-6E8A-4147-A177-3AD203B41FA5}">
                      <a16:colId xmlns:a16="http://schemas.microsoft.com/office/drawing/2014/main" val="215309530"/>
                    </a:ext>
                  </a:extLst>
                </a:gridCol>
              </a:tblGrid>
              <a:tr h="5825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'08:00:2b:01:02:03:04:05'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2067818422"/>
                  </a:ext>
                </a:extLst>
              </a:tr>
              <a:tr h="5825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'08-00-2b-01-02-03-04-05'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1846127767"/>
                  </a:ext>
                </a:extLst>
              </a:tr>
              <a:tr h="29464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'08002b:0102030405'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726641586"/>
                  </a:ext>
                </a:extLst>
              </a:tr>
              <a:tr h="29464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'08002b-0102030405'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3868395848"/>
                  </a:ext>
                </a:extLst>
              </a:tr>
              <a:tr h="5825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'0800.2b01.0203.0405'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1453652503"/>
                  </a:ext>
                </a:extLst>
              </a:tr>
              <a:tr h="58250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'0800-2b01-0203-0405'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1104818306"/>
                  </a:ext>
                </a:extLst>
              </a:tr>
              <a:tr h="29464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'08002b01:02030405'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2781311563"/>
                  </a:ext>
                </a:extLst>
              </a:tr>
              <a:tr h="29464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'08002b0102030405'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7620" marB="7620" anchor="ctr"/>
                </a:tc>
                <a:extLst>
                  <a:ext uri="{0D108BD9-81ED-4DB2-BD59-A6C34878D82A}">
                    <a16:rowId xmlns:a16="http://schemas.microsoft.com/office/drawing/2014/main" val="288532547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5231566" y="1603948"/>
            <a:ext cx="696043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48-битный </a:t>
            </a:r>
            <a:r>
              <a:rPr lang="en-US" sz="2400" dirty="0"/>
              <a:t>MAC-</a:t>
            </a:r>
            <a:r>
              <a:rPr lang="ru-RU" sz="2400" dirty="0"/>
              <a:t>адрес в формате </a:t>
            </a:r>
            <a:r>
              <a:rPr lang="en-US" sz="2400" dirty="0"/>
              <a:t>EUI-48 </a:t>
            </a:r>
            <a:r>
              <a:rPr lang="ru-RU" sz="2400" dirty="0"/>
              <a:t>в модифицированный формат </a:t>
            </a:r>
            <a:r>
              <a:rPr lang="en-US" sz="2400" dirty="0"/>
              <a:t>EUI-64 </a:t>
            </a:r>
            <a:r>
              <a:rPr lang="ru-RU" sz="2400" dirty="0"/>
              <a:t>для включения в состав адреса </a:t>
            </a:r>
            <a:r>
              <a:rPr lang="en-US" sz="2400" dirty="0"/>
              <a:t>IPv6 </a:t>
            </a:r>
            <a:r>
              <a:rPr lang="ru-RU" sz="2400" dirty="0"/>
              <a:t>в качестве адреса узла, используйте функцию </a:t>
            </a:r>
            <a:r>
              <a:rPr lang="en-US" sz="2400" dirty="0"/>
              <a:t>macaddr8_set7bit </a:t>
            </a:r>
            <a:r>
              <a:rPr lang="ru-RU" sz="2400" dirty="0"/>
              <a:t>следующим образом:</a:t>
            </a:r>
          </a:p>
          <a:p>
            <a:pPr algn="just"/>
            <a:r>
              <a:rPr lang="en-US" sz="2400" dirty="0"/>
              <a:t>SELECT macaddr8_set7bit('08:00:2b:01:02:03');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    macaddr8_set7bit</a:t>
            </a:r>
          </a:p>
          <a:p>
            <a:pPr algn="just"/>
            <a:r>
              <a:rPr lang="en-US" sz="2400" dirty="0"/>
              <a:t>-------------------------</a:t>
            </a:r>
          </a:p>
          <a:p>
            <a:pPr algn="just"/>
            <a:r>
              <a:rPr lang="en-US" sz="2400" dirty="0"/>
              <a:t> 0a:00:2b:ff:fe:01:02:03</a:t>
            </a:r>
          </a:p>
          <a:p>
            <a:pPr algn="just"/>
            <a:r>
              <a:rPr lang="en-US" sz="2400" dirty="0"/>
              <a:t>(1 row)</a:t>
            </a:r>
          </a:p>
        </p:txBody>
      </p:sp>
    </p:spTree>
    <p:extLst>
      <p:ext uri="{BB962C8B-B14F-4D97-AF65-F5344CB8AC3E}">
        <p14:creationId xmlns:p14="http://schemas.microsoft.com/office/powerpoint/2010/main" val="799341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45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Битовые строки</a:t>
            </a:r>
          </a:p>
          <a:p>
            <a:pPr algn="ctr"/>
            <a:r>
              <a:rPr lang="ru-RU" sz="5400" b="1" dirty="0" smtClean="0"/>
              <a:t>Вопрос 8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10429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SQL есть два битовых типа: </a:t>
            </a:r>
            <a:r>
              <a:rPr lang="ru-RU" sz="2400" dirty="0" err="1"/>
              <a:t>bit</a:t>
            </a:r>
            <a:r>
              <a:rPr lang="ru-RU" sz="2400" dirty="0"/>
              <a:t>(n) и </a:t>
            </a:r>
            <a:r>
              <a:rPr lang="ru-RU" sz="2400" dirty="0" err="1"/>
              <a:t>bit</a:t>
            </a:r>
            <a:r>
              <a:rPr lang="ru-RU" sz="2400" dirty="0"/>
              <a:t> </a:t>
            </a:r>
            <a:r>
              <a:rPr lang="ru-RU" sz="2400" dirty="0" err="1"/>
              <a:t>varying</a:t>
            </a:r>
            <a:r>
              <a:rPr lang="ru-RU" sz="2400" dirty="0"/>
              <a:t>(n), где n — положительное целое число</a:t>
            </a:r>
            <a:r>
              <a:rPr lang="ru-RU" sz="2400" dirty="0" smtClean="0"/>
              <a:t>.</a:t>
            </a:r>
          </a:p>
          <a:p>
            <a:r>
              <a:rPr lang="en-US" sz="2400" dirty="0"/>
              <a:t>CREATE TABLE test (a BIT(3), b BIT VARYING(5));</a:t>
            </a:r>
          </a:p>
          <a:p>
            <a:r>
              <a:rPr lang="en-US" sz="2400" dirty="0"/>
              <a:t>INSERT INTO test VALUES (B'101', B'00');</a:t>
            </a:r>
          </a:p>
          <a:p>
            <a:r>
              <a:rPr lang="en-US" sz="2400" dirty="0"/>
              <a:t>INSERT INTO test VALUES (B'10', B'101');</a:t>
            </a:r>
          </a:p>
          <a:p>
            <a:endParaRPr lang="en-US" sz="2400" dirty="0"/>
          </a:p>
          <a:p>
            <a:r>
              <a:rPr lang="ru-RU" sz="2400" dirty="0"/>
              <a:t>ОШИБКА:  длина битовой строки (2) не соответствует типу </a:t>
            </a:r>
            <a:r>
              <a:rPr lang="en-US" sz="2400" dirty="0"/>
              <a:t>bit(3)</a:t>
            </a:r>
          </a:p>
          <a:p>
            <a:endParaRPr lang="en-US" sz="2400" dirty="0"/>
          </a:p>
          <a:p>
            <a:r>
              <a:rPr lang="en-US" sz="2400" dirty="0"/>
              <a:t>INSERT INTO test VALUES (B'10'::bit(3), B'101');</a:t>
            </a:r>
          </a:p>
          <a:p>
            <a:r>
              <a:rPr lang="en-US" sz="2400" dirty="0"/>
              <a:t>SELECT * FROM test;</a:t>
            </a:r>
          </a:p>
          <a:p>
            <a:endParaRPr lang="en-US" sz="2400" dirty="0"/>
          </a:p>
          <a:p>
            <a:r>
              <a:rPr lang="en-US" sz="2400" dirty="0"/>
              <a:t>  a  |  b</a:t>
            </a:r>
          </a:p>
          <a:p>
            <a:r>
              <a:rPr lang="en-US" sz="2400" dirty="0"/>
              <a:t>-----+-----</a:t>
            </a:r>
          </a:p>
          <a:p>
            <a:r>
              <a:rPr lang="en-US" sz="2400" dirty="0"/>
              <a:t> 101 | 00</a:t>
            </a:r>
          </a:p>
          <a:p>
            <a:r>
              <a:rPr lang="en-US" sz="2400" dirty="0"/>
              <a:t> 100 | 101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86586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47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Типы предназначенные для текстового поиска: </a:t>
            </a:r>
            <a:r>
              <a:rPr lang="en-US" sz="4000" b="1" dirty="0" err="1" smtClean="0">
                <a:solidFill>
                  <a:srgbClr val="FF0000"/>
                </a:solidFill>
              </a:rPr>
              <a:t>tsvector</a:t>
            </a:r>
            <a:r>
              <a:rPr lang="en-US" sz="4000" b="1" dirty="0" smtClean="0">
                <a:solidFill>
                  <a:srgbClr val="FF0000"/>
                </a:solidFill>
              </a:rPr>
              <a:t> , </a:t>
            </a:r>
            <a:r>
              <a:rPr lang="en-US" sz="4000" b="1" dirty="0" err="1" smtClean="0">
                <a:solidFill>
                  <a:srgbClr val="FF0000"/>
                </a:solidFill>
              </a:rPr>
              <a:t>tsquery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algn="ctr"/>
            <a:r>
              <a:rPr lang="ru-RU" sz="5400" b="1" dirty="0" smtClean="0"/>
              <a:t>Вопрос 9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19194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100" b="1" dirty="0" err="1"/>
              <a:t>tsvector</a:t>
            </a:r>
            <a:r>
              <a:rPr lang="ru-RU" sz="2100" b="1" dirty="0"/>
              <a:t> </a:t>
            </a:r>
          </a:p>
          <a:p>
            <a:r>
              <a:rPr lang="ru-RU" sz="2100" dirty="0"/>
              <a:t>Значение типа </a:t>
            </a:r>
            <a:r>
              <a:rPr lang="ru-RU" sz="2100" dirty="0" err="1"/>
              <a:t>tsvector</a:t>
            </a:r>
            <a:r>
              <a:rPr lang="ru-RU" sz="2100" dirty="0"/>
              <a:t> содержит отсортированный список неповторяющихся </a:t>
            </a:r>
            <a:r>
              <a:rPr lang="ru-RU" sz="2100" dirty="0" smtClean="0"/>
              <a:t>лексем.</a:t>
            </a:r>
          </a:p>
          <a:p>
            <a:r>
              <a:rPr lang="ru-RU" sz="2100" dirty="0" smtClean="0"/>
              <a:t> </a:t>
            </a:r>
            <a:r>
              <a:rPr lang="en-US" sz="2100" dirty="0"/>
              <a:t>SELECT 'a fat cat sat on a mat and ate a fat rat'::</a:t>
            </a:r>
            <a:r>
              <a:rPr lang="en-US" sz="2100" dirty="0" err="1"/>
              <a:t>tsvector</a:t>
            </a:r>
            <a:r>
              <a:rPr lang="en-US" sz="2100" dirty="0"/>
              <a:t>;</a:t>
            </a:r>
          </a:p>
          <a:p>
            <a:r>
              <a:rPr lang="en-US" sz="2100" dirty="0"/>
              <a:t>                      </a:t>
            </a:r>
            <a:r>
              <a:rPr lang="en-US" sz="2100" dirty="0" err="1"/>
              <a:t>tsvector</a:t>
            </a:r>
            <a:endParaRPr lang="en-US" sz="2100" dirty="0"/>
          </a:p>
          <a:p>
            <a:r>
              <a:rPr lang="en-US" sz="2100" dirty="0"/>
              <a:t>----------------------------------------------------</a:t>
            </a:r>
          </a:p>
          <a:p>
            <a:r>
              <a:rPr lang="en-US" sz="2100" dirty="0"/>
              <a:t> 'a' 'and' 'ate' 'cat' 'fat' 'mat' 'on' 'rat' 'sat'</a:t>
            </a:r>
          </a:p>
          <a:p>
            <a:r>
              <a:rPr lang="ru-RU" sz="2100" dirty="0"/>
              <a:t>Для представления в виде лексем пробелов или знаков препинания их нужно заключить в апострофы:</a:t>
            </a:r>
          </a:p>
          <a:p>
            <a:r>
              <a:rPr lang="en-US" sz="2100" dirty="0"/>
              <a:t>SELECT $$the lexeme '    ' contains spaces$$::</a:t>
            </a:r>
            <a:r>
              <a:rPr lang="en-US" sz="2100" dirty="0" err="1"/>
              <a:t>tsvector</a:t>
            </a:r>
            <a:r>
              <a:rPr lang="en-US" sz="2100" dirty="0"/>
              <a:t>;</a:t>
            </a:r>
          </a:p>
          <a:p>
            <a:r>
              <a:rPr lang="en-US" sz="2100" dirty="0"/>
              <a:t>                 </a:t>
            </a:r>
            <a:r>
              <a:rPr lang="en-US" sz="2100" dirty="0" err="1"/>
              <a:t>tsvector</a:t>
            </a:r>
            <a:endParaRPr lang="en-US" sz="2100" dirty="0"/>
          </a:p>
          <a:p>
            <a:r>
              <a:rPr lang="en-US" sz="2100" dirty="0"/>
              <a:t>-------------------------------------------</a:t>
            </a:r>
          </a:p>
          <a:p>
            <a:r>
              <a:rPr lang="en-US" sz="2100" dirty="0"/>
              <a:t> '    ' 'contains' 'lexeme' 'spaces' 'the'</a:t>
            </a:r>
          </a:p>
          <a:p>
            <a:r>
              <a:rPr lang="ru-RU" sz="2400" b="1" dirty="0"/>
              <a:t>включаемый апостроф или обратную косую черту нужно продублировать:</a:t>
            </a:r>
          </a:p>
          <a:p>
            <a:r>
              <a:rPr lang="en-US" sz="2100" dirty="0"/>
              <a:t>SELECT $$the lexeme '</a:t>
            </a:r>
            <a:r>
              <a:rPr lang="en-US" sz="2100" dirty="0" err="1"/>
              <a:t>Joe''s</a:t>
            </a:r>
            <a:r>
              <a:rPr lang="en-US" sz="2100" dirty="0"/>
              <a:t>' contains a quote$$::</a:t>
            </a:r>
            <a:r>
              <a:rPr lang="en-US" sz="2100" dirty="0" err="1"/>
              <a:t>tsvector</a:t>
            </a:r>
            <a:r>
              <a:rPr lang="en-US" sz="2100" dirty="0"/>
              <a:t>;</a:t>
            </a:r>
          </a:p>
          <a:p>
            <a:r>
              <a:rPr lang="en-US" sz="2100" dirty="0"/>
              <a:t>                    </a:t>
            </a:r>
            <a:r>
              <a:rPr lang="en-US" sz="2100" dirty="0" err="1"/>
              <a:t>tsvector</a:t>
            </a:r>
            <a:endParaRPr lang="en-US" sz="2100" dirty="0"/>
          </a:p>
          <a:p>
            <a:r>
              <a:rPr lang="en-US" sz="2100" dirty="0"/>
              <a:t>------------------------------------------------</a:t>
            </a:r>
          </a:p>
          <a:p>
            <a:r>
              <a:rPr lang="en-US" sz="2100" dirty="0"/>
              <a:t> '</a:t>
            </a:r>
            <a:r>
              <a:rPr lang="en-US" sz="2100" dirty="0" err="1"/>
              <a:t>Joe''s</a:t>
            </a:r>
            <a:r>
              <a:rPr lang="en-US" sz="2100" dirty="0"/>
              <a:t>' 'a' 'contains' 'lexeme' 'quote' 'the'</a:t>
            </a:r>
          </a:p>
          <a:p>
            <a:r>
              <a:rPr lang="ru-RU" sz="2100" dirty="0"/>
              <a:t>Также для лексем можно указать их целочисленные позиции:</a:t>
            </a:r>
          </a:p>
          <a:p>
            <a:r>
              <a:rPr lang="en-US" sz="2100" dirty="0"/>
              <a:t>SELECT 'a:1 fat:2 cat:3 sat:4 on:5 a:6 mat:7 and:8 ate:9 a:10 fat:11 rat:12'::</a:t>
            </a:r>
            <a:r>
              <a:rPr lang="en-US" sz="2100" dirty="0" err="1"/>
              <a:t>tsvector</a:t>
            </a:r>
            <a:r>
              <a:rPr lang="en-US" sz="2100" dirty="0"/>
              <a:t>;</a:t>
            </a:r>
          </a:p>
          <a:p>
            <a:r>
              <a:rPr lang="en-US" sz="2100" dirty="0"/>
              <a:t>                                  </a:t>
            </a:r>
            <a:r>
              <a:rPr lang="en-US" sz="2100" dirty="0" err="1"/>
              <a:t>tsvector</a:t>
            </a:r>
            <a:endParaRPr lang="en-US" sz="2100" dirty="0"/>
          </a:p>
          <a:p>
            <a:r>
              <a:rPr lang="en-US" sz="2100" dirty="0"/>
              <a:t>-------------------------------------------------------------------------------</a:t>
            </a:r>
          </a:p>
          <a:p>
            <a:r>
              <a:rPr lang="en-US" sz="2100" dirty="0"/>
              <a:t> 'a':1,6,10 'and':8 'ate':9 'cat':3 'fat':2,11 'mat':7 'on':5 'rat':12 'sat':</a:t>
            </a:r>
            <a:r>
              <a:rPr lang="en-US" sz="2100" dirty="0" smtClean="0"/>
              <a:t>4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587676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b="1" dirty="0"/>
              <a:t>Лексема</a:t>
            </a:r>
            <a:r>
              <a:rPr lang="ru-RU" sz="2100" dirty="0"/>
              <a:t> — это минимальная единица значимой информации в языке программирования. Она состоит только из разрешённых символов алфавита языка и не содержит в своём составе другие структурные единицы языка или </a:t>
            </a:r>
            <a:r>
              <a:rPr lang="ru-RU" sz="2100" dirty="0" smtClean="0"/>
              <a:t>символы.</a:t>
            </a:r>
            <a:r>
              <a:rPr lang="ru-RU" sz="2100"/>
              <a:t> </a:t>
            </a:r>
            <a:r>
              <a:rPr lang="ru-RU" sz="2100" smtClean="0"/>
              <a:t>Лексемам</a:t>
            </a:r>
            <a:r>
              <a:rPr lang="ru-RU" sz="2100" dirty="0"/>
              <a:t>, </a:t>
            </a:r>
            <a:r>
              <a:rPr lang="ru-RU" sz="2100" dirty="0" smtClean="0"/>
              <a:t>можно </a:t>
            </a:r>
            <a:r>
              <a:rPr lang="ru-RU" sz="2100" dirty="0"/>
              <a:t>назначить вес, выраженный буквами A, B, C или D. Вес D подразумевается по умолчанию и поэтому он не показывается при выводе:</a:t>
            </a:r>
          </a:p>
          <a:p>
            <a:r>
              <a:rPr lang="ru-RU" sz="2100" dirty="0"/>
              <a:t>SELECT 'a:1A fat:2B,4C cat:5D'::</a:t>
            </a:r>
            <a:r>
              <a:rPr lang="ru-RU" sz="2100" dirty="0" err="1"/>
              <a:t>tsvector</a:t>
            </a:r>
            <a:r>
              <a:rPr lang="ru-RU" sz="2100" dirty="0"/>
              <a:t>;</a:t>
            </a:r>
          </a:p>
          <a:p>
            <a:r>
              <a:rPr lang="ru-RU" sz="2100" dirty="0"/>
              <a:t>          </a:t>
            </a:r>
            <a:r>
              <a:rPr lang="ru-RU" sz="2100" dirty="0" err="1"/>
              <a:t>tsvector</a:t>
            </a:r>
            <a:endParaRPr lang="ru-RU" sz="2100" dirty="0"/>
          </a:p>
          <a:p>
            <a:r>
              <a:rPr lang="ru-RU" sz="2100" dirty="0"/>
              <a:t>----------------------------</a:t>
            </a:r>
          </a:p>
          <a:p>
            <a:r>
              <a:rPr lang="ru-RU" sz="2100" dirty="0"/>
              <a:t> 'a':1A 'cat':5 'fat':</a:t>
            </a:r>
            <a:r>
              <a:rPr lang="ru-RU" sz="2100" dirty="0" smtClean="0"/>
              <a:t>2B,4C</a:t>
            </a:r>
          </a:p>
          <a:p>
            <a:endParaRPr lang="ru-RU" sz="2100" dirty="0" smtClean="0"/>
          </a:p>
          <a:p>
            <a:r>
              <a:rPr lang="en-US" sz="2100" dirty="0" err="1" smtClean="0"/>
              <a:t>Например</a:t>
            </a:r>
            <a:r>
              <a:rPr lang="en-US" sz="2100" dirty="0"/>
              <a:t>:</a:t>
            </a:r>
          </a:p>
          <a:p>
            <a:r>
              <a:rPr lang="en-US" sz="2100" dirty="0"/>
              <a:t>SELECT 'The Fat Rats'::</a:t>
            </a:r>
            <a:r>
              <a:rPr lang="en-US" sz="2100" dirty="0" err="1"/>
              <a:t>tsvector</a:t>
            </a:r>
            <a:r>
              <a:rPr lang="en-US" sz="2100" dirty="0"/>
              <a:t>;</a:t>
            </a:r>
          </a:p>
          <a:p>
            <a:r>
              <a:rPr lang="en-US" sz="2100" dirty="0"/>
              <a:t>      </a:t>
            </a:r>
            <a:r>
              <a:rPr lang="en-US" sz="2100" dirty="0" err="1"/>
              <a:t>tsvector</a:t>
            </a:r>
            <a:endParaRPr lang="en-US" sz="2100" dirty="0"/>
          </a:p>
          <a:p>
            <a:r>
              <a:rPr lang="en-US" sz="2100" dirty="0"/>
              <a:t>--------------------</a:t>
            </a:r>
          </a:p>
          <a:p>
            <a:r>
              <a:rPr lang="en-US" sz="2100" dirty="0"/>
              <a:t> 'Fat' 'Rats' </a:t>
            </a:r>
            <a:r>
              <a:rPr lang="en-US" sz="2100" dirty="0" smtClean="0"/>
              <a:t>'The‘</a:t>
            </a:r>
            <a:endParaRPr lang="ru-RU" sz="2100" dirty="0" smtClean="0"/>
          </a:p>
          <a:p>
            <a:endParaRPr lang="ru-RU" sz="2100" dirty="0" smtClean="0"/>
          </a:p>
          <a:p>
            <a:r>
              <a:rPr lang="ru-RU" sz="2100" dirty="0"/>
              <a:t>Исходник </a:t>
            </a:r>
            <a:r>
              <a:rPr lang="ru-RU" sz="2100" dirty="0" smtClean="0"/>
              <a:t>обрабатывается функцией </a:t>
            </a:r>
            <a:r>
              <a:rPr lang="en-US" sz="2100" b="1" dirty="0" err="1"/>
              <a:t>to_tsvector</a:t>
            </a:r>
            <a:endParaRPr lang="en-US" sz="2100" b="1" dirty="0"/>
          </a:p>
          <a:p>
            <a:r>
              <a:rPr lang="en-US" sz="2100" dirty="0"/>
              <a:t>SELECT </a:t>
            </a:r>
            <a:r>
              <a:rPr lang="en-US" sz="2100" dirty="0" err="1"/>
              <a:t>to_tsvector</a:t>
            </a:r>
            <a:r>
              <a:rPr lang="en-US" sz="2100" dirty="0"/>
              <a:t>('</a:t>
            </a:r>
            <a:r>
              <a:rPr lang="en-US" sz="2100" dirty="0" err="1"/>
              <a:t>english</a:t>
            </a:r>
            <a:r>
              <a:rPr lang="en-US" sz="2100" dirty="0"/>
              <a:t>', 'The Fat Rats');</a:t>
            </a:r>
          </a:p>
          <a:p>
            <a:r>
              <a:rPr lang="en-US" sz="2100" dirty="0"/>
              <a:t>   </a:t>
            </a:r>
            <a:r>
              <a:rPr lang="en-US" sz="2100" dirty="0" err="1"/>
              <a:t>to_tsvector</a:t>
            </a:r>
            <a:endParaRPr lang="en-US" sz="2100" dirty="0"/>
          </a:p>
          <a:p>
            <a:r>
              <a:rPr lang="en-US" sz="2100" dirty="0"/>
              <a:t>-----------------</a:t>
            </a:r>
          </a:p>
          <a:p>
            <a:r>
              <a:rPr lang="en-US" sz="2100" dirty="0"/>
              <a:t> 'fat':2 'rat':</a:t>
            </a:r>
            <a:r>
              <a:rPr lang="en-US" sz="2100" dirty="0" smtClean="0"/>
              <a:t>3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28081643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7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100" b="1" dirty="0" err="1" smtClean="0"/>
              <a:t>tsquery</a:t>
            </a:r>
            <a:endParaRPr lang="ru-RU" sz="2100" b="1" dirty="0" smtClean="0"/>
          </a:p>
          <a:p>
            <a:pPr algn="just"/>
            <a:r>
              <a:rPr lang="ru-RU" sz="2100" dirty="0" err="1" smtClean="0"/>
              <a:t>tsquery</a:t>
            </a:r>
            <a:r>
              <a:rPr lang="ru-RU" sz="2100" dirty="0" smtClean="0"/>
              <a:t> содержит искомые лексемы, объединяемые логическими операторами &amp; (И), | (ИЛИ) и ! (НЕ), а также оператором поиска фраз &lt;-&gt; (ПРЕДШЕСТВУЕТ).  </a:t>
            </a:r>
          </a:p>
          <a:p>
            <a:pPr algn="just"/>
            <a:r>
              <a:rPr lang="ru-RU" sz="2100" dirty="0" smtClean="0"/>
              <a:t>Или оператор ПРЕДШЕСТВУЕТ вида &lt;N&gt;, где N — целочисленная константа, задающая расстояние между двумя искомыми лексемами. Запись оператора &lt;-&gt; равнозначна &lt;1&gt;.</a:t>
            </a:r>
          </a:p>
          <a:p>
            <a:pPr algn="just"/>
            <a:r>
              <a:rPr lang="ru-RU" sz="2100" b="1" dirty="0" smtClean="0"/>
              <a:t>СКОБКИ важны !</a:t>
            </a:r>
          </a:p>
          <a:p>
            <a:pPr algn="just"/>
            <a:r>
              <a:rPr lang="ru-RU" sz="2100" dirty="0" smtClean="0"/>
              <a:t>разные </a:t>
            </a:r>
            <a:r>
              <a:rPr lang="ru-RU" sz="2100" dirty="0"/>
              <a:t>приоритеты, в порядке убывания: ! (НЕ), &lt;-&gt; (ПРЕДШЕСТВУЕТ), &amp; (И) и | (ИЛИ</a:t>
            </a:r>
            <a:r>
              <a:rPr lang="ru-RU" sz="2100" dirty="0" smtClean="0"/>
              <a:t>).</a:t>
            </a:r>
          </a:p>
          <a:p>
            <a:pPr algn="just"/>
            <a:r>
              <a:rPr lang="en-US" sz="2100" dirty="0"/>
              <a:t>SELECT 'fat &amp; rat'::</a:t>
            </a:r>
            <a:r>
              <a:rPr lang="en-US" sz="2100" dirty="0" err="1"/>
              <a:t>tsquery</a:t>
            </a:r>
            <a:r>
              <a:rPr lang="en-US" sz="2100" dirty="0"/>
              <a:t>;</a:t>
            </a:r>
          </a:p>
          <a:p>
            <a:pPr algn="just"/>
            <a:r>
              <a:rPr lang="en-US" sz="2100" dirty="0"/>
              <a:t>    </a:t>
            </a:r>
            <a:r>
              <a:rPr lang="en-US" sz="2100" dirty="0" err="1"/>
              <a:t>tsquery</a:t>
            </a:r>
            <a:endParaRPr lang="en-US" sz="2100" dirty="0"/>
          </a:p>
          <a:p>
            <a:pPr algn="just"/>
            <a:r>
              <a:rPr lang="en-US" sz="2100" dirty="0"/>
              <a:t>---------------</a:t>
            </a:r>
          </a:p>
          <a:p>
            <a:pPr algn="just"/>
            <a:r>
              <a:rPr lang="en-US" sz="2100" dirty="0"/>
              <a:t> 'fat' &amp; 'rat'</a:t>
            </a:r>
          </a:p>
          <a:p>
            <a:pPr algn="just"/>
            <a:endParaRPr lang="en-US" sz="2100" dirty="0"/>
          </a:p>
          <a:p>
            <a:pPr algn="just"/>
            <a:r>
              <a:rPr lang="en-US" sz="2100" dirty="0"/>
              <a:t>SELECT 'fat &amp; (rat | cat)'::</a:t>
            </a:r>
            <a:r>
              <a:rPr lang="en-US" sz="2100" dirty="0" err="1"/>
              <a:t>tsquery</a:t>
            </a:r>
            <a:r>
              <a:rPr lang="en-US" sz="2100" dirty="0"/>
              <a:t>;</a:t>
            </a:r>
          </a:p>
          <a:p>
            <a:pPr algn="just"/>
            <a:r>
              <a:rPr lang="en-US" sz="2100" dirty="0"/>
              <a:t>          </a:t>
            </a:r>
            <a:r>
              <a:rPr lang="en-US" sz="2100" dirty="0" err="1"/>
              <a:t>tsquery</a:t>
            </a:r>
            <a:endParaRPr lang="en-US" sz="2100" dirty="0"/>
          </a:p>
          <a:p>
            <a:pPr algn="just"/>
            <a:r>
              <a:rPr lang="en-US" sz="2100" dirty="0"/>
              <a:t>---------------------------</a:t>
            </a:r>
          </a:p>
          <a:p>
            <a:pPr algn="just"/>
            <a:r>
              <a:rPr lang="en-US" sz="2100" dirty="0"/>
              <a:t> 'fat' &amp; ( 'rat' | 'cat' )</a:t>
            </a:r>
          </a:p>
          <a:p>
            <a:pPr algn="just"/>
            <a:endParaRPr lang="en-US" sz="2100" dirty="0"/>
          </a:p>
          <a:p>
            <a:pPr algn="just"/>
            <a:r>
              <a:rPr lang="en-US" sz="2100" dirty="0"/>
              <a:t>SELECT 'fat &amp; rat &amp; ! cat'::</a:t>
            </a:r>
            <a:r>
              <a:rPr lang="en-US" sz="2100" dirty="0" err="1"/>
              <a:t>tsquery</a:t>
            </a:r>
            <a:r>
              <a:rPr lang="en-US" sz="2100" dirty="0"/>
              <a:t>;</a:t>
            </a:r>
          </a:p>
          <a:p>
            <a:pPr algn="just"/>
            <a:r>
              <a:rPr lang="en-US" sz="2100" dirty="0"/>
              <a:t>        </a:t>
            </a:r>
            <a:r>
              <a:rPr lang="en-US" sz="2100" dirty="0" err="1"/>
              <a:t>tsquery</a:t>
            </a:r>
            <a:endParaRPr lang="en-US" sz="2100" dirty="0"/>
          </a:p>
          <a:p>
            <a:pPr algn="just"/>
            <a:r>
              <a:rPr lang="en-US" sz="2100" dirty="0"/>
              <a:t>------------------------</a:t>
            </a:r>
          </a:p>
          <a:p>
            <a:pPr algn="just"/>
            <a:r>
              <a:rPr lang="en-US" sz="2100" dirty="0"/>
              <a:t> 'fat' &amp; 'rat' &amp; !'cat</a:t>
            </a:r>
            <a:r>
              <a:rPr lang="en-US" sz="2100" dirty="0" smtClean="0"/>
              <a:t>'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693943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соответствовать только тем лексемам в </a:t>
            </a:r>
            <a:r>
              <a:rPr lang="en-US" sz="2400" dirty="0" err="1"/>
              <a:t>tsvector</a:t>
            </a:r>
            <a:r>
              <a:rPr lang="en-US" sz="2400" dirty="0"/>
              <a:t>, </a:t>
            </a:r>
            <a:r>
              <a:rPr lang="ru-RU" sz="2400" dirty="0"/>
              <a:t>которые имеют какой-либо из этих весов:</a:t>
            </a:r>
          </a:p>
          <a:p>
            <a:r>
              <a:rPr lang="en-US" sz="2400" dirty="0"/>
              <a:t>SELECT '</a:t>
            </a:r>
            <a:r>
              <a:rPr lang="en-US" sz="2400" dirty="0" err="1"/>
              <a:t>fat:ab</a:t>
            </a:r>
            <a:r>
              <a:rPr lang="en-US" sz="2400" dirty="0"/>
              <a:t> &amp; cat'::</a:t>
            </a:r>
            <a:r>
              <a:rPr lang="en-US" sz="2400" dirty="0" err="1"/>
              <a:t>tsquery</a:t>
            </a:r>
            <a:r>
              <a:rPr lang="en-US" sz="2400" dirty="0"/>
              <a:t>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tsquery</a:t>
            </a:r>
            <a:endParaRPr lang="en-US" sz="2400" dirty="0"/>
          </a:p>
          <a:p>
            <a:r>
              <a:rPr lang="en-US" sz="2400" dirty="0"/>
              <a:t>------------------</a:t>
            </a:r>
          </a:p>
          <a:p>
            <a:r>
              <a:rPr lang="en-US" sz="2400" dirty="0"/>
              <a:t> '</a:t>
            </a:r>
            <a:r>
              <a:rPr lang="en-US" sz="2400" dirty="0" err="1"/>
              <a:t>fat':AB</a:t>
            </a:r>
            <a:r>
              <a:rPr lang="en-US" sz="2400" dirty="0"/>
              <a:t> &amp; 'cat'</a:t>
            </a:r>
          </a:p>
          <a:p>
            <a:r>
              <a:rPr lang="ru-RU" sz="2400" dirty="0"/>
              <a:t>Кроме того, в лексемах </a:t>
            </a:r>
            <a:r>
              <a:rPr lang="en-US" sz="2400" dirty="0" err="1"/>
              <a:t>tsquery</a:t>
            </a:r>
            <a:r>
              <a:rPr lang="en-US" sz="2400" dirty="0"/>
              <a:t> </a:t>
            </a:r>
            <a:r>
              <a:rPr lang="ru-RU" sz="2400" dirty="0"/>
              <a:t>можно использовать знак * для поиска по префиксу:</a:t>
            </a:r>
          </a:p>
          <a:p>
            <a:r>
              <a:rPr lang="en-US" sz="2400" dirty="0"/>
              <a:t>SELECT 'super:*'::</a:t>
            </a:r>
            <a:r>
              <a:rPr lang="en-US" sz="2400" dirty="0" err="1"/>
              <a:t>tsquery</a:t>
            </a:r>
            <a:r>
              <a:rPr lang="en-US" sz="2400" dirty="0"/>
              <a:t>;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tsquery</a:t>
            </a:r>
            <a:endParaRPr lang="en-US" sz="2400" dirty="0"/>
          </a:p>
          <a:p>
            <a:r>
              <a:rPr lang="en-US" sz="2400" dirty="0"/>
              <a:t>-----------</a:t>
            </a:r>
          </a:p>
          <a:p>
            <a:r>
              <a:rPr lang="en-US" sz="2400" dirty="0"/>
              <a:t> 'super</a:t>
            </a:r>
            <a:r>
              <a:rPr lang="en-US" sz="2400" dirty="0" smtClean="0"/>
              <a:t>':*</a:t>
            </a:r>
            <a:endParaRPr lang="ru-RU" sz="2400" dirty="0" smtClean="0"/>
          </a:p>
          <a:p>
            <a:r>
              <a:rPr lang="ru-RU" sz="2400" dirty="0"/>
              <a:t>Для </a:t>
            </a:r>
            <a:r>
              <a:rPr lang="ru-RU" sz="2400" dirty="0" smtClean="0"/>
              <a:t>нормализации </a:t>
            </a:r>
            <a:r>
              <a:rPr lang="ru-RU" sz="2400" dirty="0"/>
              <a:t>удобно использовать функцию </a:t>
            </a:r>
            <a:r>
              <a:rPr lang="en-US" sz="2400" dirty="0" err="1"/>
              <a:t>to_tsquery</a:t>
            </a:r>
            <a:r>
              <a:rPr lang="en-US" sz="2400" dirty="0"/>
              <a:t>:</a:t>
            </a:r>
          </a:p>
          <a:p>
            <a:r>
              <a:rPr lang="en-US" sz="2400" dirty="0"/>
              <a:t>SELECT </a:t>
            </a:r>
            <a:r>
              <a:rPr lang="en-US" sz="2400" dirty="0" err="1"/>
              <a:t>to_tsquery</a:t>
            </a:r>
            <a:r>
              <a:rPr lang="en-US" sz="2400" dirty="0"/>
              <a:t>('</a:t>
            </a:r>
            <a:r>
              <a:rPr lang="en-US" sz="2400" dirty="0" err="1"/>
              <a:t>Fat:ab</a:t>
            </a:r>
            <a:r>
              <a:rPr lang="en-US" sz="2400" dirty="0"/>
              <a:t> &amp; Cats');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to_tsquery</a:t>
            </a:r>
            <a:endParaRPr lang="en-US" sz="2400" dirty="0"/>
          </a:p>
          <a:p>
            <a:r>
              <a:rPr lang="en-US" sz="2400" dirty="0"/>
              <a:t>------------------</a:t>
            </a:r>
          </a:p>
          <a:p>
            <a:r>
              <a:rPr lang="en-US" sz="2400" dirty="0"/>
              <a:t> '</a:t>
            </a:r>
            <a:r>
              <a:rPr lang="en-US" sz="2400" dirty="0" err="1"/>
              <a:t>fat':AB</a:t>
            </a:r>
            <a:r>
              <a:rPr lang="en-US" sz="2400" dirty="0"/>
              <a:t> &amp; 'cat'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87914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4911" y="0"/>
            <a:ext cx="900908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/>
              <a:t>Пример функции </a:t>
            </a:r>
            <a:r>
              <a:rPr lang="en-US" sz="2400" dirty="0" err="1" smtClean="0"/>
              <a:t>t</a:t>
            </a:r>
            <a:r>
              <a:rPr lang="en-US" sz="2400" b="1" dirty="0" err="1" smtClean="0"/>
              <a:t>o_tsquery</a:t>
            </a:r>
            <a:r>
              <a:rPr lang="en-US" sz="2400" dirty="0" smtClean="0"/>
              <a:t> </a:t>
            </a:r>
            <a:r>
              <a:rPr lang="ru-RU" sz="2400" dirty="0" smtClean="0"/>
              <a:t> </a:t>
            </a:r>
          </a:p>
          <a:p>
            <a:r>
              <a:rPr lang="en-US" sz="2400" dirty="0" smtClean="0"/>
              <a:t>SELECT </a:t>
            </a:r>
            <a:r>
              <a:rPr lang="en-US" sz="2400" dirty="0" err="1"/>
              <a:t>to_tsvector</a:t>
            </a:r>
            <a:r>
              <a:rPr lang="en-US" sz="2400" dirty="0"/>
              <a:t>( 'postgraduate' ) @@ </a:t>
            </a:r>
            <a:r>
              <a:rPr lang="en-US" sz="2400" dirty="0" err="1"/>
              <a:t>to_tsquery</a:t>
            </a:r>
            <a:r>
              <a:rPr lang="en-US" sz="2400" dirty="0"/>
              <a:t>( '</a:t>
            </a:r>
            <a:r>
              <a:rPr lang="en-US" sz="2400" dirty="0" err="1"/>
              <a:t>postgres</a:t>
            </a:r>
            <a:r>
              <a:rPr lang="en-US" sz="2400" dirty="0"/>
              <a:t>:*' );</a:t>
            </a:r>
          </a:p>
          <a:p>
            <a:r>
              <a:rPr lang="en-US" sz="2400" dirty="0"/>
              <a:t> ?column?</a:t>
            </a:r>
          </a:p>
          <a:p>
            <a:r>
              <a:rPr lang="en-US" sz="2400" dirty="0"/>
              <a:t>----------</a:t>
            </a:r>
          </a:p>
          <a:p>
            <a:r>
              <a:rPr lang="en-US" sz="2400" dirty="0"/>
              <a:t> t</a:t>
            </a:r>
          </a:p>
          <a:p>
            <a:r>
              <a:rPr lang="ru-RU" sz="2400" dirty="0"/>
              <a:t>так как </a:t>
            </a:r>
            <a:r>
              <a:rPr lang="en-US" sz="2400" dirty="0" err="1"/>
              <a:t>postgres</a:t>
            </a:r>
            <a:r>
              <a:rPr lang="en-US" sz="2400" dirty="0"/>
              <a:t> </a:t>
            </a:r>
            <a:r>
              <a:rPr lang="ru-RU" sz="2400" dirty="0"/>
              <a:t>преобразуется </a:t>
            </a:r>
            <a:r>
              <a:rPr lang="ru-RU" sz="2400" dirty="0" err="1"/>
              <a:t>стеммером</a:t>
            </a:r>
            <a:r>
              <a:rPr lang="ru-RU" sz="2400" dirty="0"/>
              <a:t> в </a:t>
            </a:r>
            <a:r>
              <a:rPr lang="en-US" sz="2400" dirty="0" err="1"/>
              <a:t>postgr</a:t>
            </a:r>
            <a:r>
              <a:rPr lang="en-US" sz="2400" dirty="0"/>
              <a:t>:</a:t>
            </a:r>
          </a:p>
          <a:p>
            <a:r>
              <a:rPr lang="en-US" sz="2400" dirty="0"/>
              <a:t>SELECT </a:t>
            </a:r>
            <a:r>
              <a:rPr lang="en-US" sz="2400" dirty="0" err="1"/>
              <a:t>to_tsvector</a:t>
            </a:r>
            <a:r>
              <a:rPr lang="en-US" sz="2400" dirty="0"/>
              <a:t>( 'postgraduate' ), </a:t>
            </a:r>
            <a:r>
              <a:rPr lang="en-US" sz="2400" dirty="0" err="1"/>
              <a:t>to_tsquery</a:t>
            </a:r>
            <a:r>
              <a:rPr lang="en-US" sz="2400" dirty="0"/>
              <a:t>( '</a:t>
            </a:r>
            <a:r>
              <a:rPr lang="en-US" sz="2400" dirty="0" err="1"/>
              <a:t>postgres</a:t>
            </a:r>
            <a:r>
              <a:rPr lang="en-US" sz="2400" dirty="0"/>
              <a:t>:*' );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to_tsvector</a:t>
            </a:r>
            <a:r>
              <a:rPr lang="en-US" sz="2400" dirty="0"/>
              <a:t>  | </a:t>
            </a:r>
            <a:r>
              <a:rPr lang="en-US" sz="2400" dirty="0" err="1"/>
              <a:t>to_tsquery</a:t>
            </a:r>
            <a:endParaRPr lang="en-US" sz="2400" dirty="0"/>
          </a:p>
          <a:p>
            <a:r>
              <a:rPr lang="en-US" sz="2400" dirty="0"/>
              <a:t>---------------+------------</a:t>
            </a:r>
          </a:p>
          <a:p>
            <a:r>
              <a:rPr lang="en-US" sz="2400" dirty="0"/>
              <a:t> 'postgradu':1 | '</a:t>
            </a:r>
            <a:r>
              <a:rPr lang="en-US" sz="2400" dirty="0" err="1"/>
              <a:t>postgr</a:t>
            </a:r>
            <a:r>
              <a:rPr lang="en-US" sz="2400" dirty="0"/>
              <a:t>':*</a:t>
            </a:r>
          </a:p>
        </p:txBody>
      </p:sp>
    </p:spTree>
    <p:extLst>
      <p:ext uri="{BB962C8B-B14F-4D97-AF65-F5344CB8AC3E}">
        <p14:creationId xmlns:p14="http://schemas.microsoft.com/office/powerpoint/2010/main" val="34690910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53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Тип </a:t>
            </a:r>
            <a:r>
              <a:rPr lang="en-US" sz="4000" b="1" dirty="0" smtClean="0">
                <a:solidFill>
                  <a:srgbClr val="FF0000"/>
                </a:solidFill>
              </a:rPr>
              <a:t>UUID</a:t>
            </a:r>
          </a:p>
          <a:p>
            <a:pPr algn="ctr"/>
            <a:r>
              <a:rPr lang="ru-RU" sz="5400" b="1" dirty="0" smtClean="0"/>
              <a:t>Вопрос </a:t>
            </a:r>
            <a:r>
              <a:rPr lang="en-US" sz="5400" b="1" dirty="0" smtClean="0"/>
              <a:t>10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09793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Тип </a:t>
            </a:r>
            <a:r>
              <a:rPr lang="en-US" sz="2400" b="1" dirty="0"/>
              <a:t>UUID. </a:t>
            </a:r>
          </a:p>
          <a:p>
            <a:r>
              <a:rPr lang="ru-RU" sz="2400" dirty="0"/>
              <a:t>Тип данных </a:t>
            </a:r>
            <a:r>
              <a:rPr lang="en-US" sz="2400" dirty="0" err="1"/>
              <a:t>uuid</a:t>
            </a:r>
            <a:r>
              <a:rPr lang="en-US" sz="2400" dirty="0"/>
              <a:t> </a:t>
            </a:r>
            <a:r>
              <a:rPr lang="ru-RU" sz="2400" dirty="0"/>
              <a:t>сохраняет универсальные уникальные идентификаторы (</a:t>
            </a:r>
            <a:r>
              <a:rPr lang="en-US" sz="2400" dirty="0"/>
              <a:t>Universally Unique Identifiers, UUID), </a:t>
            </a:r>
            <a:r>
              <a:rPr lang="ru-RU" sz="2400" dirty="0"/>
              <a:t>определённые в </a:t>
            </a:r>
            <a:r>
              <a:rPr lang="en-US" sz="2400" dirty="0"/>
              <a:t>RFC 9562, ISO/IEC 9834-8:2005 </a:t>
            </a:r>
            <a:r>
              <a:rPr lang="ru-RU" sz="2400" dirty="0"/>
              <a:t>и связанных стандартах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en-US" sz="2400" dirty="0" smtClean="0"/>
              <a:t>PostgreSQL </a:t>
            </a:r>
            <a:r>
              <a:rPr lang="ru-RU" sz="2400" dirty="0"/>
              <a:t>также принимает альтернативные варианты: цифры в верхнем регистре, стандартную запись, заключённую в фигурные скобки, запись без минусов или с минусами, разделяющими любые группы из четырёх цифр. Например:</a:t>
            </a:r>
          </a:p>
          <a:p>
            <a:r>
              <a:rPr lang="en-US" sz="2400" dirty="0"/>
              <a:t>A0EEBC99-9C0B-4EF8-BB6D-6BB9BD380A11</a:t>
            </a:r>
          </a:p>
          <a:p>
            <a:r>
              <a:rPr lang="en-US" sz="2400" dirty="0"/>
              <a:t>{a0eebc99-9c0b-4ef8-bb6d-6bb9bd380a11}</a:t>
            </a:r>
          </a:p>
          <a:p>
            <a:r>
              <a:rPr lang="en-US" sz="2400" dirty="0"/>
              <a:t>a0eebc999c0b4ef8bb6d6bb9bd380a11</a:t>
            </a:r>
          </a:p>
          <a:p>
            <a:r>
              <a:rPr lang="en-US" sz="2400" dirty="0"/>
              <a:t>a0ee-bc99-9c0b-4ef8-bb6d-6bb9-bd38-0a11</a:t>
            </a:r>
          </a:p>
          <a:p>
            <a:r>
              <a:rPr lang="en-US" sz="2400" dirty="0"/>
              <a:t>{a0eebc99-9c0b4ef8-bb6d6bb9-bd380a11}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76021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55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1576551"/>
            <a:ext cx="101767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4000" b="1" i="1" dirty="0" smtClean="0">
              <a:solidFill>
                <a:srgbClr val="FF0000"/>
              </a:solidFill>
            </a:endParaRPr>
          </a:p>
          <a:p>
            <a:pPr algn="ctr"/>
            <a:endParaRPr lang="ru-RU" sz="4000" b="1" i="1" dirty="0">
              <a:solidFill>
                <a:srgbClr val="FF0000"/>
              </a:solidFill>
            </a:endParaRPr>
          </a:p>
          <a:p>
            <a:pPr algn="ctr"/>
            <a:r>
              <a:rPr lang="ru-RU" sz="4000" b="1" i="1" dirty="0" smtClean="0">
                <a:solidFill>
                  <a:srgbClr val="FF0000"/>
                </a:solidFill>
              </a:rPr>
              <a:t>Типы </a:t>
            </a:r>
            <a:r>
              <a:rPr lang="ru-RU" sz="4000" b="1" i="1" dirty="0">
                <a:solidFill>
                  <a:srgbClr val="FF0000"/>
                </a:solidFill>
              </a:rPr>
              <a:t>данных СУБД </a:t>
            </a:r>
            <a:r>
              <a:rPr lang="ru-RU" sz="4000" b="1" i="1" dirty="0" err="1" smtClean="0">
                <a:solidFill>
                  <a:srgbClr val="FF0000"/>
                </a:solidFill>
              </a:rPr>
              <a:t>PostgreSQL</a:t>
            </a:r>
            <a:endParaRPr lang="ru-RU" sz="4000" b="1" i="1" dirty="0" smtClean="0">
              <a:solidFill>
                <a:srgbClr val="FF0000"/>
              </a:solidFill>
            </a:endParaRPr>
          </a:p>
          <a:p>
            <a:pPr algn="ctr"/>
            <a:r>
              <a:rPr lang="ru-RU" sz="5400" b="1" dirty="0" smtClean="0"/>
              <a:t>Вопрос 11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97229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Чтобы получить значение типа </a:t>
            </a:r>
            <a:r>
              <a:rPr lang="en-US" sz="2400" dirty="0"/>
              <a:t>xml </a:t>
            </a:r>
            <a:r>
              <a:rPr lang="ru-RU" sz="2400" dirty="0"/>
              <a:t>из текстовой строки, используйте функцию </a:t>
            </a:r>
            <a:r>
              <a:rPr lang="en-US" sz="2400" dirty="0" err="1"/>
              <a:t>xmlparse</a:t>
            </a:r>
            <a:r>
              <a:rPr lang="en-US" sz="2400" dirty="0"/>
              <a:t>:</a:t>
            </a:r>
          </a:p>
          <a:p>
            <a:r>
              <a:rPr lang="en-US" sz="2400" dirty="0"/>
              <a:t>XMLPARSE ( { DOCUMENT | CONTENT } value)</a:t>
            </a:r>
          </a:p>
          <a:p>
            <a:r>
              <a:rPr lang="ru-RU" sz="2400" dirty="0"/>
              <a:t>Примеры:</a:t>
            </a:r>
          </a:p>
          <a:p>
            <a:r>
              <a:rPr lang="en-US" sz="2400" dirty="0"/>
              <a:t>XMLPARSE (DOCUMENT '&lt;?xml version="1.0"?&gt;&lt;book&gt;&lt;title&gt;Manual&lt;/title&gt;&lt;chapter&gt;...&lt;/chapter&gt;&lt;/book&gt;')</a:t>
            </a:r>
          </a:p>
          <a:p>
            <a:r>
              <a:rPr lang="en-US" sz="2400" dirty="0"/>
              <a:t>XMLPARSE (CONTENT '</a:t>
            </a:r>
            <a:r>
              <a:rPr lang="en-US" sz="2400" dirty="0" err="1"/>
              <a:t>abc</a:t>
            </a:r>
            <a:r>
              <a:rPr lang="en-US" sz="2400" dirty="0"/>
              <a:t>&lt;foo&gt;bar&lt;/foo&gt;&lt;bar&gt;foo&lt;/bar</a:t>
            </a:r>
            <a:r>
              <a:rPr lang="en-US" sz="2400" dirty="0" smtClean="0"/>
              <a:t>&gt;')</a:t>
            </a:r>
            <a:endParaRPr lang="ru-RU" sz="2400" dirty="0" smtClean="0"/>
          </a:p>
          <a:p>
            <a:r>
              <a:rPr lang="ru-RU" sz="2400" b="1" dirty="0" smtClean="0"/>
              <a:t>специфический </a:t>
            </a:r>
            <a:r>
              <a:rPr lang="ru-RU" sz="2400" b="1" dirty="0"/>
              <a:t>синтаксис </a:t>
            </a:r>
            <a:r>
              <a:rPr lang="ru-RU" sz="2400" b="1" dirty="0" err="1"/>
              <a:t>Postgres</a:t>
            </a:r>
            <a:r>
              <a:rPr lang="ru-RU" sz="2400" b="1" dirty="0"/>
              <a:t> </a:t>
            </a:r>
            <a:r>
              <a:rPr lang="ru-RU" sz="2400" b="1" dirty="0" err="1"/>
              <a:t>Pro</a:t>
            </a:r>
            <a:r>
              <a:rPr lang="ru-RU" sz="2400" b="1" dirty="0"/>
              <a:t>:</a:t>
            </a:r>
          </a:p>
          <a:p>
            <a:r>
              <a:rPr lang="en-US" sz="2400" dirty="0"/>
              <a:t>xml '&lt;foo&gt;bar&lt;/foo&gt;'</a:t>
            </a:r>
            <a:endParaRPr lang="ru-RU" sz="2400" dirty="0"/>
          </a:p>
          <a:p>
            <a:r>
              <a:rPr lang="en-US" sz="2400" dirty="0"/>
              <a:t>'&lt;foo&gt;bar&lt;/foo&gt;'::xml</a:t>
            </a:r>
            <a:endParaRPr lang="ru-RU" sz="2400" dirty="0"/>
          </a:p>
          <a:p>
            <a:r>
              <a:rPr lang="ru-RU" sz="2400" dirty="0"/>
              <a:t>Обратная операция, получение текстовой строки из </a:t>
            </a:r>
            <a:r>
              <a:rPr lang="ru-RU" sz="2400" dirty="0" err="1"/>
              <a:t>xml</a:t>
            </a:r>
            <a:r>
              <a:rPr lang="ru-RU" sz="2400" dirty="0"/>
              <a:t>, выполняется с помощью функции </a:t>
            </a:r>
            <a:r>
              <a:rPr lang="ru-RU" sz="2400" dirty="0" err="1"/>
              <a:t>xmlserialize</a:t>
            </a:r>
            <a:r>
              <a:rPr lang="ru-RU" sz="2400" dirty="0"/>
              <a:t>:</a:t>
            </a:r>
          </a:p>
          <a:p>
            <a:r>
              <a:rPr lang="en-US" sz="2400" dirty="0"/>
              <a:t>XMLSERIALIZE ( { DOCUMENT | CONTENT } </a:t>
            </a:r>
            <a:r>
              <a:rPr lang="ru-RU" sz="2400" b="1" i="1" dirty="0"/>
              <a:t>значение</a:t>
            </a:r>
            <a:r>
              <a:rPr lang="en-US" sz="2400" dirty="0"/>
              <a:t> AS </a:t>
            </a:r>
            <a:r>
              <a:rPr lang="ru-RU" sz="2400" b="1" i="1" dirty="0"/>
              <a:t>тип</a:t>
            </a:r>
            <a:r>
              <a:rPr lang="en-US" sz="2400" dirty="0"/>
              <a:t> [ [ NO ] INDENT ] )</a:t>
            </a:r>
            <a:endParaRPr lang="ru-RU" sz="2400" dirty="0"/>
          </a:p>
          <a:p>
            <a:r>
              <a:rPr lang="ru-RU" sz="2400" dirty="0"/>
              <a:t>CONTENT определяется параметром конфигурации сеанса «XML </a:t>
            </a:r>
            <a:r>
              <a:rPr lang="ru-RU" sz="2400" dirty="0" err="1"/>
              <a:t>option</a:t>
            </a:r>
            <a:r>
              <a:rPr lang="ru-RU" sz="2400" dirty="0"/>
              <a:t>», установить который можно следующей стандартной командой:</a:t>
            </a:r>
          </a:p>
          <a:p>
            <a:r>
              <a:rPr lang="en-US" sz="2400" dirty="0"/>
              <a:t>SET XML OPTION { DOCUMENT | CONTENT };</a:t>
            </a:r>
            <a:endParaRPr lang="ru-RU" sz="2400" dirty="0"/>
          </a:p>
          <a:p>
            <a:r>
              <a:rPr lang="ru-RU" sz="2400" dirty="0"/>
              <a:t>или такой командой в духе </a:t>
            </a:r>
            <a:r>
              <a:rPr lang="ru-RU" sz="2400" dirty="0" err="1"/>
              <a:t>Postgres</a:t>
            </a:r>
            <a:r>
              <a:rPr lang="ru-RU" sz="2400" dirty="0"/>
              <a:t> </a:t>
            </a:r>
            <a:r>
              <a:rPr lang="ru-RU" sz="2400" dirty="0" err="1"/>
              <a:t>Pro</a:t>
            </a:r>
            <a:r>
              <a:rPr lang="ru-RU" sz="2400" dirty="0"/>
              <a:t>:</a:t>
            </a:r>
          </a:p>
          <a:p>
            <a:r>
              <a:rPr lang="en-US" sz="2400" dirty="0"/>
              <a:t>SET </a:t>
            </a:r>
            <a:r>
              <a:rPr lang="en-US" sz="2400" dirty="0" err="1"/>
              <a:t>xmloption</a:t>
            </a:r>
            <a:r>
              <a:rPr lang="en-US" sz="2400" dirty="0"/>
              <a:t> TO { DOCUMENT | CONTENT };</a:t>
            </a:r>
            <a:endParaRPr lang="ru-RU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79725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764515"/>
              </p:ext>
            </p:extLst>
          </p:nvPr>
        </p:nvGraphicFramePr>
        <p:xfrm>
          <a:off x="0" y="-1"/>
          <a:ext cx="12192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755046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07359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23608936"/>
                    </a:ext>
                  </a:extLst>
                </a:gridCol>
              </a:tblGrid>
              <a:tr h="9382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400" dirty="0">
                          <a:effectLst/>
                        </a:rPr>
                        <a:t>Примитивный тип JSON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400">
                          <a:effectLst/>
                        </a:rPr>
                        <a:t>Тип Postgres Pro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400">
                          <a:effectLst/>
                        </a:rPr>
                        <a:t>Примечания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08440766"/>
                  </a:ext>
                </a:extLst>
              </a:tr>
              <a:tr h="23826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string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 err="1">
                          <a:effectLst/>
                        </a:rPr>
                        <a:t>text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\u0000 не допускается как спецпоследовательность Unicode, представляющая символ, который отсутствует в кодировке базы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50117105"/>
                  </a:ext>
                </a:extLst>
              </a:tr>
              <a:tr h="9382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number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 err="1">
                          <a:effectLst/>
                        </a:rPr>
                        <a:t>numeric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Значения NaN и infinity не допускаются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60076832"/>
                  </a:ext>
                </a:extLst>
              </a:tr>
              <a:tr h="1660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boolean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 err="1">
                          <a:effectLst/>
                        </a:rPr>
                        <a:t>boolean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Допускаются только варианты </a:t>
                      </a:r>
                      <a:r>
                        <a:rPr lang="ru-RU" sz="2400" dirty="0" err="1">
                          <a:effectLst/>
                        </a:rPr>
                        <a:t>true</a:t>
                      </a:r>
                      <a:r>
                        <a:rPr lang="ru-RU" sz="2400" dirty="0">
                          <a:effectLst/>
                        </a:rPr>
                        <a:t> и </a:t>
                      </a:r>
                      <a:r>
                        <a:rPr lang="ru-RU" sz="2400" dirty="0" err="1">
                          <a:effectLst/>
                        </a:rPr>
                        <a:t>false</a:t>
                      </a:r>
                      <a:r>
                        <a:rPr lang="ru-RU" sz="2400" dirty="0">
                          <a:effectLst/>
                        </a:rPr>
                        <a:t> (в нижнем регистре)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69379370"/>
                  </a:ext>
                </a:extLst>
              </a:tr>
              <a:tr h="9382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null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(нет)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NULL в SQL имеет другой смысл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56267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7920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СИНТЕКС ВВОДИМЫХ И ВЫВОДИМЫХ ЗНАЧЕНИЙ </a:t>
            </a:r>
            <a:r>
              <a:rPr lang="en-US" sz="2400" b="1" dirty="0" smtClean="0"/>
              <a:t>JSON</a:t>
            </a:r>
            <a:endParaRPr lang="ru-RU" sz="2400" b="1" dirty="0"/>
          </a:p>
          <a:p>
            <a:r>
              <a:rPr lang="ru-RU" sz="2400" dirty="0" smtClean="0"/>
              <a:t>Примеры </a:t>
            </a:r>
            <a:r>
              <a:rPr lang="ru-RU" sz="2400" dirty="0"/>
              <a:t>допустимых выражений с типом </a:t>
            </a:r>
            <a:r>
              <a:rPr lang="ru-RU" sz="2400" dirty="0" err="1"/>
              <a:t>json</a:t>
            </a:r>
            <a:r>
              <a:rPr lang="ru-RU" sz="2400" dirty="0"/>
              <a:t> (или </a:t>
            </a:r>
            <a:r>
              <a:rPr lang="ru-RU" sz="2400" dirty="0" err="1"/>
              <a:t>jsonb</a:t>
            </a:r>
            <a:r>
              <a:rPr lang="ru-RU" sz="2400" dirty="0"/>
              <a:t>):</a:t>
            </a:r>
          </a:p>
          <a:p>
            <a:r>
              <a:rPr lang="ru-RU" sz="2400" dirty="0"/>
              <a:t>-- Простое скалярное/примитивное значение</a:t>
            </a:r>
          </a:p>
          <a:p>
            <a:r>
              <a:rPr lang="ru-RU" sz="2400" dirty="0"/>
              <a:t>-- Простыми значениями могут быть числа, строки в кавычках, </a:t>
            </a:r>
            <a:r>
              <a:rPr lang="ru-RU" sz="2400" dirty="0" err="1"/>
              <a:t>true</a:t>
            </a:r>
            <a:r>
              <a:rPr lang="ru-RU" sz="2400" dirty="0"/>
              <a:t>, </a:t>
            </a:r>
            <a:r>
              <a:rPr lang="ru-RU" sz="2400" dirty="0" err="1"/>
              <a:t>false</a:t>
            </a:r>
            <a:r>
              <a:rPr lang="ru-RU" sz="2400" dirty="0"/>
              <a:t> или </a:t>
            </a:r>
            <a:r>
              <a:rPr lang="ru-RU" sz="2400" dirty="0" err="1"/>
              <a:t>null</a:t>
            </a:r>
            <a:endParaRPr lang="ru-RU" sz="2400" dirty="0"/>
          </a:p>
          <a:p>
            <a:r>
              <a:rPr lang="ru-RU" sz="2400" dirty="0"/>
              <a:t>SELECT '5'::</a:t>
            </a:r>
            <a:r>
              <a:rPr lang="ru-RU" sz="2400" dirty="0" err="1"/>
              <a:t>json</a:t>
            </a:r>
            <a:r>
              <a:rPr lang="ru-RU" sz="2400" dirty="0"/>
              <a:t>;</a:t>
            </a:r>
          </a:p>
          <a:p>
            <a:endParaRPr lang="ru-RU" sz="2400" dirty="0"/>
          </a:p>
          <a:p>
            <a:r>
              <a:rPr lang="ru-RU" sz="2400" dirty="0"/>
              <a:t>-- Массив из нуля и более элементов (элементы могут быть разных типов)</a:t>
            </a:r>
          </a:p>
          <a:p>
            <a:r>
              <a:rPr lang="ru-RU" sz="2400" dirty="0"/>
              <a:t>SELECT '[1, 2, "</a:t>
            </a:r>
            <a:r>
              <a:rPr lang="ru-RU" sz="2400" dirty="0" err="1"/>
              <a:t>foo</a:t>
            </a:r>
            <a:r>
              <a:rPr lang="ru-RU" sz="2400" dirty="0"/>
              <a:t>", </a:t>
            </a:r>
            <a:r>
              <a:rPr lang="ru-RU" sz="2400" dirty="0" err="1"/>
              <a:t>null</a:t>
            </a:r>
            <a:r>
              <a:rPr lang="ru-RU" sz="2400" dirty="0"/>
              <a:t>]'::</a:t>
            </a:r>
            <a:r>
              <a:rPr lang="ru-RU" sz="2400" dirty="0" err="1"/>
              <a:t>json</a:t>
            </a:r>
            <a:r>
              <a:rPr lang="ru-RU" sz="2400" dirty="0"/>
              <a:t>;</a:t>
            </a:r>
          </a:p>
          <a:p>
            <a:endParaRPr lang="ru-RU" sz="2400" dirty="0"/>
          </a:p>
          <a:p>
            <a:r>
              <a:rPr lang="ru-RU" sz="2400" dirty="0"/>
              <a:t>-- Объект, содержащий пары ключей и значений</a:t>
            </a:r>
          </a:p>
          <a:p>
            <a:r>
              <a:rPr lang="ru-RU" sz="2400" dirty="0"/>
              <a:t>-- Заметьте, что ключи объектов — это всегда строки в кавычках</a:t>
            </a:r>
          </a:p>
          <a:p>
            <a:r>
              <a:rPr lang="ru-RU" sz="2400" dirty="0"/>
              <a:t>SELECT '{"</a:t>
            </a:r>
            <a:r>
              <a:rPr lang="ru-RU" sz="2400" dirty="0" err="1"/>
              <a:t>bar</a:t>
            </a:r>
            <a:r>
              <a:rPr lang="ru-RU" sz="2400" dirty="0"/>
              <a:t>": "</a:t>
            </a:r>
            <a:r>
              <a:rPr lang="ru-RU" sz="2400" dirty="0" err="1"/>
              <a:t>baz</a:t>
            </a:r>
            <a:r>
              <a:rPr lang="ru-RU" sz="2400" dirty="0"/>
              <a:t>", "</a:t>
            </a:r>
            <a:r>
              <a:rPr lang="ru-RU" sz="2400" dirty="0" err="1"/>
              <a:t>balance</a:t>
            </a:r>
            <a:r>
              <a:rPr lang="ru-RU" sz="2400" dirty="0"/>
              <a:t>": 7.77, "</a:t>
            </a:r>
            <a:r>
              <a:rPr lang="ru-RU" sz="2400" dirty="0" err="1"/>
              <a:t>active</a:t>
            </a:r>
            <a:r>
              <a:rPr lang="ru-RU" sz="2400" dirty="0"/>
              <a:t>": </a:t>
            </a:r>
            <a:r>
              <a:rPr lang="ru-RU" sz="2400" dirty="0" err="1"/>
              <a:t>false</a:t>
            </a:r>
            <a:r>
              <a:rPr lang="ru-RU" sz="2400" dirty="0"/>
              <a:t>}'::</a:t>
            </a:r>
            <a:r>
              <a:rPr lang="ru-RU" sz="2400" dirty="0" err="1"/>
              <a:t>json</a:t>
            </a:r>
            <a:r>
              <a:rPr lang="ru-RU" sz="2400" dirty="0"/>
              <a:t>;</a:t>
            </a:r>
          </a:p>
          <a:p>
            <a:endParaRPr lang="ru-RU" sz="2400" dirty="0"/>
          </a:p>
          <a:p>
            <a:r>
              <a:rPr lang="ru-RU" sz="2400" dirty="0"/>
              <a:t>-- Массивы и объекты могут вкладываться произвольным образом</a:t>
            </a:r>
          </a:p>
          <a:p>
            <a:r>
              <a:rPr lang="ru-RU" sz="2400" dirty="0"/>
              <a:t>SELECT '{"</a:t>
            </a:r>
            <a:r>
              <a:rPr lang="ru-RU" sz="2400" dirty="0" err="1"/>
              <a:t>foo</a:t>
            </a:r>
            <a:r>
              <a:rPr lang="ru-RU" sz="2400" dirty="0"/>
              <a:t>": [</a:t>
            </a:r>
            <a:r>
              <a:rPr lang="ru-RU" sz="2400" dirty="0" err="1"/>
              <a:t>true</a:t>
            </a:r>
            <a:r>
              <a:rPr lang="ru-RU" sz="2400" dirty="0"/>
              <a:t>, "</a:t>
            </a:r>
            <a:r>
              <a:rPr lang="ru-RU" sz="2400" dirty="0" err="1"/>
              <a:t>bar</a:t>
            </a:r>
            <a:r>
              <a:rPr lang="ru-RU" sz="2400" dirty="0"/>
              <a:t>"], "</a:t>
            </a:r>
            <a:r>
              <a:rPr lang="ru-RU" sz="2400" dirty="0" err="1"/>
              <a:t>tags</a:t>
            </a:r>
            <a:r>
              <a:rPr lang="ru-RU" sz="2400" dirty="0"/>
              <a:t>": {"a": 1, "b": </a:t>
            </a:r>
            <a:r>
              <a:rPr lang="ru-RU" sz="2400" dirty="0" err="1"/>
              <a:t>null</a:t>
            </a:r>
            <a:r>
              <a:rPr lang="ru-RU" sz="2400" dirty="0"/>
              <a:t>}}'::</a:t>
            </a:r>
            <a:r>
              <a:rPr lang="ru-RU" sz="2400" dirty="0" err="1"/>
              <a:t>json</a:t>
            </a:r>
            <a:r>
              <a:rPr lang="ru-RU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85274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Например, посмотрите на эти различия:</a:t>
            </a:r>
          </a:p>
          <a:p>
            <a:r>
              <a:rPr lang="en-US" sz="2400" dirty="0"/>
              <a:t>SELECT '{"bar": "</a:t>
            </a:r>
            <a:r>
              <a:rPr lang="en-US" sz="2400" dirty="0" err="1"/>
              <a:t>baz</a:t>
            </a:r>
            <a:r>
              <a:rPr lang="en-US" sz="2400" dirty="0"/>
              <a:t>", "balance": 7.77, "</a:t>
            </a:r>
            <a:r>
              <a:rPr lang="en-US" sz="2400" dirty="0" err="1"/>
              <a:t>active":false</a:t>
            </a:r>
            <a:r>
              <a:rPr lang="en-US" sz="2400" dirty="0"/>
              <a:t>}'::</a:t>
            </a:r>
            <a:r>
              <a:rPr lang="en-US" sz="2400" dirty="0" err="1"/>
              <a:t>json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           </a:t>
            </a:r>
            <a:r>
              <a:rPr lang="en-US" sz="2400" dirty="0" err="1"/>
              <a:t>json</a:t>
            </a:r>
            <a:endParaRPr lang="en-US" sz="2400" dirty="0"/>
          </a:p>
          <a:p>
            <a:r>
              <a:rPr lang="en-US" sz="2400" dirty="0"/>
              <a:t>-------------------------------------------------</a:t>
            </a:r>
          </a:p>
          <a:p>
            <a:r>
              <a:rPr lang="en-US" sz="2400" dirty="0"/>
              <a:t> {"bar": "</a:t>
            </a:r>
            <a:r>
              <a:rPr lang="en-US" sz="2400" dirty="0" err="1"/>
              <a:t>baz</a:t>
            </a:r>
            <a:r>
              <a:rPr lang="en-US" sz="2400" dirty="0"/>
              <a:t>", "balance": 7.77, "</a:t>
            </a:r>
            <a:r>
              <a:rPr lang="en-US" sz="2400" dirty="0" err="1"/>
              <a:t>active":false</a:t>
            </a:r>
            <a:r>
              <a:rPr lang="en-US" sz="2400" dirty="0"/>
              <a:t>}</a:t>
            </a:r>
          </a:p>
          <a:p>
            <a:r>
              <a:rPr lang="en-US" sz="2400" dirty="0"/>
              <a:t>(1 row)</a:t>
            </a:r>
          </a:p>
          <a:p>
            <a:endParaRPr lang="en-US" sz="2400" dirty="0"/>
          </a:p>
          <a:p>
            <a:r>
              <a:rPr lang="en-US" sz="2400" dirty="0"/>
              <a:t>SELECT '{"bar": "</a:t>
            </a:r>
            <a:r>
              <a:rPr lang="en-US" sz="2400" dirty="0" err="1"/>
              <a:t>baz</a:t>
            </a:r>
            <a:r>
              <a:rPr lang="en-US" sz="2400" dirty="0"/>
              <a:t>", "balance": 7.77, "</a:t>
            </a:r>
            <a:r>
              <a:rPr lang="en-US" sz="2400" dirty="0" err="1"/>
              <a:t>active":false</a:t>
            </a:r>
            <a:r>
              <a:rPr lang="en-US" sz="2400" dirty="0"/>
              <a:t>}'::</a:t>
            </a:r>
            <a:r>
              <a:rPr lang="en-US" sz="2400" dirty="0" err="1"/>
              <a:t>jsonb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           </a:t>
            </a:r>
            <a:r>
              <a:rPr lang="en-US" sz="2400" dirty="0" err="1"/>
              <a:t>jsonb</a:t>
            </a:r>
            <a:endParaRPr lang="en-US" sz="2400" dirty="0"/>
          </a:p>
          <a:p>
            <a:r>
              <a:rPr lang="en-US" sz="2400" dirty="0"/>
              <a:t>--------------------------------------------------</a:t>
            </a:r>
          </a:p>
          <a:p>
            <a:r>
              <a:rPr lang="en-US" sz="2400" dirty="0"/>
              <a:t> {"bar": "</a:t>
            </a:r>
            <a:r>
              <a:rPr lang="en-US" sz="2400" dirty="0" err="1"/>
              <a:t>baz</a:t>
            </a:r>
            <a:r>
              <a:rPr lang="en-US" sz="2400" dirty="0"/>
              <a:t>", "active": false, "balance": 7.77}</a:t>
            </a:r>
          </a:p>
          <a:p>
            <a:r>
              <a:rPr lang="en-US" sz="2400" dirty="0"/>
              <a:t>(1 row</a:t>
            </a:r>
            <a:r>
              <a:rPr lang="en-US" sz="2400" dirty="0" smtClean="0"/>
              <a:t>)</a:t>
            </a:r>
          </a:p>
          <a:p>
            <a:r>
              <a:rPr lang="ru-RU" sz="2400" dirty="0" smtClean="0"/>
              <a:t>На практике числа</a:t>
            </a:r>
            <a:r>
              <a:rPr lang="ru-RU" sz="2400" dirty="0"/>
              <a:t>, заданные в записи с </a:t>
            </a:r>
            <a:r>
              <a:rPr lang="en-US" sz="2400" dirty="0"/>
              <a:t>E, </a:t>
            </a:r>
            <a:r>
              <a:rPr lang="ru-RU" sz="2400" dirty="0"/>
              <a:t>будут выведены без неё, например:</a:t>
            </a:r>
          </a:p>
          <a:p>
            <a:r>
              <a:rPr lang="en-US" sz="2400" dirty="0"/>
              <a:t>SELECT '{"reading": 1.230e-5}'::</a:t>
            </a:r>
            <a:r>
              <a:rPr lang="en-US" sz="2400" dirty="0" err="1"/>
              <a:t>json</a:t>
            </a:r>
            <a:r>
              <a:rPr lang="en-US" sz="2400" dirty="0"/>
              <a:t>, '{"reading": 1.230e-5}'::</a:t>
            </a:r>
            <a:r>
              <a:rPr lang="en-US" sz="2400" dirty="0" err="1"/>
              <a:t>jsonb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</a:t>
            </a:r>
            <a:r>
              <a:rPr lang="en-US" sz="2400" dirty="0" err="1"/>
              <a:t>json</a:t>
            </a:r>
            <a:r>
              <a:rPr lang="en-US" sz="2400" dirty="0"/>
              <a:t>          |          </a:t>
            </a:r>
            <a:r>
              <a:rPr lang="en-US" sz="2400" dirty="0" err="1"/>
              <a:t>jsonb</a:t>
            </a:r>
            <a:endParaRPr lang="en-US" sz="2400" dirty="0"/>
          </a:p>
          <a:p>
            <a:r>
              <a:rPr lang="en-US" sz="2400" dirty="0"/>
              <a:t>-----------------------+-------------------------</a:t>
            </a:r>
          </a:p>
          <a:p>
            <a:r>
              <a:rPr lang="en-US" sz="2400" dirty="0"/>
              <a:t> {"reading": 1.230e-5} | {"reading": 0.00001230}</a:t>
            </a:r>
          </a:p>
          <a:p>
            <a:r>
              <a:rPr lang="en-US" sz="2400" dirty="0"/>
              <a:t>(1 row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03584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Проверки </a:t>
            </a:r>
            <a:r>
              <a:rPr lang="ru-RU" sz="2400" b="1" dirty="0"/>
              <a:t>на вхождение и существование </a:t>
            </a:r>
            <a:r>
              <a:rPr lang="ru-RU" sz="2400" b="1" dirty="0" err="1"/>
              <a:t>jsonb</a:t>
            </a:r>
            <a:r>
              <a:rPr lang="ru-RU" sz="2400" b="1" dirty="0"/>
              <a:t> </a:t>
            </a:r>
            <a:endParaRPr lang="ru-RU" sz="2400" b="1" dirty="0" smtClean="0"/>
          </a:p>
          <a:p>
            <a:pPr algn="ctr"/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1" y="524656"/>
            <a:ext cx="12191999" cy="6232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dirty="0"/>
              <a:t>-- Простые скалярные/примитивные значения включают только одно идентичное значение:</a:t>
            </a:r>
          </a:p>
          <a:p>
            <a:r>
              <a:rPr lang="en-US" sz="2100" dirty="0"/>
              <a:t>SELECT '"foo"'::</a:t>
            </a:r>
            <a:r>
              <a:rPr lang="en-US" sz="2100" dirty="0" err="1"/>
              <a:t>jsonb</a:t>
            </a:r>
            <a:r>
              <a:rPr lang="en-US" sz="2100" dirty="0"/>
              <a:t> @&gt; '"foo"'::</a:t>
            </a:r>
            <a:r>
              <a:rPr lang="en-US" sz="2100" dirty="0" err="1"/>
              <a:t>jsonb</a:t>
            </a:r>
            <a:r>
              <a:rPr lang="en-US" sz="2100" dirty="0"/>
              <a:t>;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Массив с правой стороны входит в массив слева:</a:t>
            </a:r>
          </a:p>
          <a:p>
            <a:r>
              <a:rPr lang="en-US" sz="2100" dirty="0"/>
              <a:t>SELECT '[1, 2, 3]'::</a:t>
            </a:r>
            <a:r>
              <a:rPr lang="en-US" sz="2100" dirty="0" err="1"/>
              <a:t>jsonb</a:t>
            </a:r>
            <a:r>
              <a:rPr lang="en-US" sz="2100" dirty="0"/>
              <a:t> @&gt; '[1, 3]'::</a:t>
            </a:r>
            <a:r>
              <a:rPr lang="en-US" sz="2100" dirty="0" err="1"/>
              <a:t>jsonb</a:t>
            </a:r>
            <a:r>
              <a:rPr lang="en-US" sz="2100" dirty="0"/>
              <a:t>;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Порядок элементов в массиве не важен, поэтому это условие тоже выполняется:</a:t>
            </a:r>
          </a:p>
          <a:p>
            <a:r>
              <a:rPr lang="en-US" sz="2100" dirty="0"/>
              <a:t>SELECT '[1, 2, 3]'::</a:t>
            </a:r>
            <a:r>
              <a:rPr lang="en-US" sz="2100" dirty="0" err="1"/>
              <a:t>jsonb</a:t>
            </a:r>
            <a:r>
              <a:rPr lang="en-US" sz="2100" dirty="0"/>
              <a:t> @&gt; '[3, 1]'::</a:t>
            </a:r>
            <a:r>
              <a:rPr lang="en-US" sz="2100" dirty="0" err="1"/>
              <a:t>jsonb</a:t>
            </a:r>
            <a:r>
              <a:rPr lang="en-US" sz="2100" dirty="0"/>
              <a:t>;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А повторяющиеся элементы массива не имеют значения:</a:t>
            </a:r>
          </a:p>
          <a:p>
            <a:r>
              <a:rPr lang="en-US" sz="2100" dirty="0"/>
              <a:t>SELECT '[1, 2, 3]'::</a:t>
            </a:r>
            <a:r>
              <a:rPr lang="en-US" sz="2100" dirty="0" err="1"/>
              <a:t>jsonb</a:t>
            </a:r>
            <a:r>
              <a:rPr lang="en-US" sz="2100" dirty="0"/>
              <a:t> @&gt; '[1, 2, 2]'::</a:t>
            </a:r>
            <a:r>
              <a:rPr lang="en-US" sz="2100" dirty="0" err="1"/>
              <a:t>jsonb</a:t>
            </a:r>
            <a:r>
              <a:rPr lang="en-US" sz="2100" dirty="0"/>
              <a:t>;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Объект с одной парой справа входит в объект слева:</a:t>
            </a:r>
          </a:p>
          <a:p>
            <a:r>
              <a:rPr lang="en-US" sz="2100" dirty="0"/>
              <a:t>SELECT '{"product": "PostgreSQL", "version": 9.4, "</a:t>
            </a:r>
            <a:r>
              <a:rPr lang="en-US" sz="2100" dirty="0" err="1"/>
              <a:t>jsonb</a:t>
            </a:r>
            <a:r>
              <a:rPr lang="en-US" sz="2100" dirty="0"/>
              <a:t>": true}'::</a:t>
            </a:r>
            <a:r>
              <a:rPr lang="en-US" sz="2100" dirty="0" err="1"/>
              <a:t>jsonb</a:t>
            </a:r>
            <a:r>
              <a:rPr lang="en-US" sz="2100" dirty="0"/>
              <a:t> @&gt; '{"version": 9.4}'::</a:t>
            </a:r>
            <a:r>
              <a:rPr lang="en-US" sz="2100" dirty="0" err="1"/>
              <a:t>jsonb</a:t>
            </a:r>
            <a:r>
              <a:rPr lang="en-US" sz="2100" dirty="0"/>
              <a:t>;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Массив справа не считается входящим в</a:t>
            </a:r>
          </a:p>
          <a:p>
            <a:r>
              <a:rPr lang="ru-RU" sz="2100" dirty="0"/>
              <a:t>-- массив слева, хотя в последний и вложен подобный массив:</a:t>
            </a:r>
          </a:p>
          <a:p>
            <a:r>
              <a:rPr lang="en-US" sz="2100" dirty="0"/>
              <a:t>SELECT '[1, 2, [1, 3]]'::</a:t>
            </a:r>
            <a:r>
              <a:rPr lang="en-US" sz="2100" dirty="0" err="1"/>
              <a:t>jsonb</a:t>
            </a:r>
            <a:r>
              <a:rPr lang="en-US" sz="2100" dirty="0"/>
              <a:t> @&gt; '[1, 3]'::</a:t>
            </a:r>
            <a:r>
              <a:rPr lang="en-US" sz="2100" dirty="0" err="1"/>
              <a:t>jsonb</a:t>
            </a:r>
            <a:r>
              <a:rPr lang="en-US" sz="2100" dirty="0"/>
              <a:t>;  -- </a:t>
            </a:r>
            <a:r>
              <a:rPr lang="ru-RU" sz="2100" dirty="0"/>
              <a:t>выдаёт </a:t>
            </a:r>
            <a:r>
              <a:rPr lang="en-US" sz="2100" dirty="0"/>
              <a:t>false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Но если добавить уровень вложенности, проверка на вхождение выполняется:</a:t>
            </a:r>
          </a:p>
          <a:p>
            <a:r>
              <a:rPr lang="en-US" sz="2100" dirty="0"/>
              <a:t>SELECT '[1, 2, [1, 3]]'::</a:t>
            </a:r>
            <a:r>
              <a:rPr lang="en-US" sz="2100" dirty="0" err="1"/>
              <a:t>jsonb</a:t>
            </a:r>
            <a:r>
              <a:rPr lang="en-US" sz="2100" dirty="0"/>
              <a:t> @&gt; '[[1, 3]]'::</a:t>
            </a:r>
            <a:r>
              <a:rPr lang="en-US" sz="2100" dirty="0" err="1"/>
              <a:t>jsonb</a:t>
            </a:r>
            <a:r>
              <a:rPr lang="en-US" sz="2100" dirty="0"/>
              <a:t>;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Аналогично, это вхождением не считается:</a:t>
            </a:r>
          </a:p>
          <a:p>
            <a:r>
              <a:rPr lang="en-US" sz="2100" dirty="0"/>
              <a:t>SELECT '{"foo": {"bar": "</a:t>
            </a:r>
            <a:r>
              <a:rPr lang="en-US" sz="2100" dirty="0" err="1"/>
              <a:t>baz</a:t>
            </a:r>
            <a:r>
              <a:rPr lang="en-US" sz="2100" dirty="0"/>
              <a:t>"}}'::</a:t>
            </a:r>
            <a:r>
              <a:rPr lang="en-US" sz="2100" dirty="0" err="1"/>
              <a:t>jsonb</a:t>
            </a:r>
            <a:r>
              <a:rPr lang="en-US" sz="2100" dirty="0"/>
              <a:t> @&gt; '{"bar": "</a:t>
            </a:r>
            <a:r>
              <a:rPr lang="en-US" sz="2100" dirty="0" err="1"/>
              <a:t>baz</a:t>
            </a:r>
            <a:r>
              <a:rPr lang="en-US" sz="2100" dirty="0"/>
              <a:t>"}'::</a:t>
            </a:r>
            <a:r>
              <a:rPr lang="en-US" sz="2100" dirty="0" err="1"/>
              <a:t>jsonb</a:t>
            </a:r>
            <a:r>
              <a:rPr lang="en-US" sz="2100" dirty="0"/>
              <a:t>;  -- </a:t>
            </a:r>
            <a:r>
              <a:rPr lang="ru-RU" sz="2100" dirty="0"/>
              <a:t>выдаёт </a:t>
            </a:r>
            <a:r>
              <a:rPr lang="en-US" sz="2100" dirty="0"/>
              <a:t>false</a:t>
            </a:r>
          </a:p>
          <a:p>
            <a:r>
              <a:rPr lang="en-US" sz="2100" dirty="0" smtClean="0"/>
              <a:t>-- </a:t>
            </a:r>
            <a:r>
              <a:rPr lang="ru-RU" sz="2100" dirty="0"/>
              <a:t>Ключ с пустым объектом на верхнем уровне входит в объект с таким ключом:</a:t>
            </a:r>
          </a:p>
          <a:p>
            <a:r>
              <a:rPr lang="en-US" sz="2100" dirty="0"/>
              <a:t>SELECT '{"foo": {"bar": "</a:t>
            </a:r>
            <a:r>
              <a:rPr lang="en-US" sz="2100" dirty="0" err="1"/>
              <a:t>baz</a:t>
            </a:r>
            <a:r>
              <a:rPr lang="en-US" sz="2100" dirty="0"/>
              <a:t>"}}'::</a:t>
            </a:r>
            <a:r>
              <a:rPr lang="en-US" sz="2100" dirty="0" err="1"/>
              <a:t>jsonb</a:t>
            </a:r>
            <a:r>
              <a:rPr lang="en-US" sz="2100" dirty="0"/>
              <a:t> @&gt; '{"foo": {}}'::</a:t>
            </a:r>
            <a:r>
              <a:rPr lang="en-US" sz="2100" dirty="0" err="1"/>
              <a:t>jsonb</a:t>
            </a:r>
            <a:r>
              <a:rPr lang="en-US" sz="21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864233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массив может содержать примитивное значение:</a:t>
            </a:r>
          </a:p>
          <a:p>
            <a:r>
              <a:rPr lang="ru-RU" sz="2400" dirty="0"/>
              <a:t>-- В этот массив входит примитивное строковое значение:</a:t>
            </a:r>
          </a:p>
          <a:p>
            <a:r>
              <a:rPr lang="ru-RU" sz="2400" dirty="0"/>
              <a:t>SELECT '["</a:t>
            </a:r>
            <a:r>
              <a:rPr lang="ru-RU" sz="2400" dirty="0" err="1"/>
              <a:t>foo</a:t>
            </a:r>
            <a:r>
              <a:rPr lang="ru-RU" sz="2400" dirty="0"/>
              <a:t>", "</a:t>
            </a:r>
            <a:r>
              <a:rPr lang="ru-RU" sz="2400" dirty="0" err="1"/>
              <a:t>bar</a:t>
            </a:r>
            <a:r>
              <a:rPr lang="ru-RU" sz="2400" dirty="0"/>
              <a:t>"]'::</a:t>
            </a:r>
            <a:r>
              <a:rPr lang="ru-RU" sz="2400" dirty="0" err="1"/>
              <a:t>jsonb</a:t>
            </a:r>
            <a:r>
              <a:rPr lang="ru-RU" sz="2400" dirty="0"/>
              <a:t> @&gt; '"</a:t>
            </a:r>
            <a:r>
              <a:rPr lang="ru-RU" sz="2400" dirty="0" err="1"/>
              <a:t>bar</a:t>
            </a:r>
            <a:r>
              <a:rPr lang="ru-RU" sz="2400" dirty="0"/>
              <a:t>"'::</a:t>
            </a:r>
            <a:r>
              <a:rPr lang="ru-RU" sz="2400" dirty="0" err="1"/>
              <a:t>jsonb</a:t>
            </a:r>
            <a:r>
              <a:rPr lang="ru-RU" sz="2400" dirty="0"/>
              <a:t>;</a:t>
            </a:r>
          </a:p>
          <a:p>
            <a:r>
              <a:rPr lang="ru-RU" sz="2400" dirty="0" smtClean="0"/>
              <a:t>-- </a:t>
            </a:r>
            <a:r>
              <a:rPr lang="ru-RU" sz="2400" dirty="0"/>
              <a:t>Это исключение действует только в одну сторону -- здесь вхождения нет:</a:t>
            </a:r>
          </a:p>
          <a:p>
            <a:r>
              <a:rPr lang="ru-RU" sz="2400" dirty="0"/>
              <a:t>SELECT '"</a:t>
            </a:r>
            <a:r>
              <a:rPr lang="ru-RU" sz="2400" dirty="0" err="1"/>
              <a:t>bar</a:t>
            </a:r>
            <a:r>
              <a:rPr lang="ru-RU" sz="2400" dirty="0"/>
              <a:t>"'::</a:t>
            </a:r>
            <a:r>
              <a:rPr lang="ru-RU" sz="2400" dirty="0" err="1"/>
              <a:t>jsonb</a:t>
            </a:r>
            <a:r>
              <a:rPr lang="ru-RU" sz="2400" dirty="0"/>
              <a:t> @&gt; '["</a:t>
            </a:r>
            <a:r>
              <a:rPr lang="ru-RU" sz="2400" dirty="0" err="1"/>
              <a:t>bar</a:t>
            </a:r>
            <a:r>
              <a:rPr lang="ru-RU" sz="2400" dirty="0"/>
              <a:t>"]'::</a:t>
            </a:r>
            <a:r>
              <a:rPr lang="ru-RU" sz="2400" dirty="0" err="1"/>
              <a:t>jsonb</a:t>
            </a:r>
            <a:r>
              <a:rPr lang="ru-RU" sz="2400" dirty="0"/>
              <a:t>;  -- выдаёт </a:t>
            </a:r>
            <a:r>
              <a:rPr lang="ru-RU" sz="2400" dirty="0" err="1" smtClean="0"/>
              <a:t>false</a:t>
            </a:r>
            <a:endParaRPr lang="ru-RU" sz="2400" dirty="0" smtClean="0"/>
          </a:p>
          <a:p>
            <a:r>
              <a:rPr lang="ru-RU" sz="2400" dirty="0" smtClean="0"/>
              <a:t>В примере возвращается </a:t>
            </a:r>
            <a:r>
              <a:rPr lang="ru-RU" sz="2400" dirty="0"/>
              <a:t>истинное значение (кроме упомянутых исключений):</a:t>
            </a:r>
          </a:p>
          <a:p>
            <a:r>
              <a:rPr lang="ru-RU" sz="2400" dirty="0"/>
              <a:t>-- Строка существует в качестве элемента массива:</a:t>
            </a:r>
          </a:p>
          <a:p>
            <a:r>
              <a:rPr lang="ru-RU" sz="2400" dirty="0"/>
              <a:t>SELECT '["</a:t>
            </a:r>
            <a:r>
              <a:rPr lang="ru-RU" sz="2400" dirty="0" err="1"/>
              <a:t>foo</a:t>
            </a:r>
            <a:r>
              <a:rPr lang="ru-RU" sz="2400" dirty="0"/>
              <a:t>", "</a:t>
            </a:r>
            <a:r>
              <a:rPr lang="ru-RU" sz="2400" dirty="0" err="1"/>
              <a:t>bar</a:t>
            </a:r>
            <a:r>
              <a:rPr lang="ru-RU" sz="2400" dirty="0"/>
              <a:t>", "</a:t>
            </a:r>
            <a:r>
              <a:rPr lang="ru-RU" sz="2400" dirty="0" err="1"/>
              <a:t>baz</a:t>
            </a:r>
            <a:r>
              <a:rPr lang="ru-RU" sz="2400" dirty="0"/>
              <a:t>"]'::</a:t>
            </a:r>
            <a:r>
              <a:rPr lang="ru-RU" sz="2400" dirty="0" err="1"/>
              <a:t>jsonb</a:t>
            </a:r>
            <a:r>
              <a:rPr lang="ru-RU" sz="2400" dirty="0"/>
              <a:t> ? '</a:t>
            </a:r>
            <a:r>
              <a:rPr lang="ru-RU" sz="2400" dirty="0" err="1"/>
              <a:t>bar</a:t>
            </a:r>
            <a:r>
              <a:rPr lang="ru-RU" sz="2400" dirty="0"/>
              <a:t>';</a:t>
            </a:r>
          </a:p>
          <a:p>
            <a:r>
              <a:rPr lang="ru-RU" sz="2400" dirty="0" smtClean="0"/>
              <a:t>-- </a:t>
            </a:r>
            <a:r>
              <a:rPr lang="ru-RU" sz="2400" dirty="0"/>
              <a:t>Строка существует в качестве ключа объекта:</a:t>
            </a:r>
          </a:p>
          <a:p>
            <a:r>
              <a:rPr lang="ru-RU" sz="2400" dirty="0"/>
              <a:t>SELECT '{"</a:t>
            </a:r>
            <a:r>
              <a:rPr lang="ru-RU" sz="2400" dirty="0" err="1"/>
              <a:t>foo</a:t>
            </a:r>
            <a:r>
              <a:rPr lang="ru-RU" sz="2400" dirty="0"/>
              <a:t>": "</a:t>
            </a:r>
            <a:r>
              <a:rPr lang="ru-RU" sz="2400" dirty="0" err="1"/>
              <a:t>bar</a:t>
            </a:r>
            <a:r>
              <a:rPr lang="ru-RU" sz="2400" dirty="0"/>
              <a:t>"}'::</a:t>
            </a:r>
            <a:r>
              <a:rPr lang="ru-RU" sz="2400" dirty="0" err="1"/>
              <a:t>jsonb</a:t>
            </a:r>
            <a:r>
              <a:rPr lang="ru-RU" sz="2400" dirty="0"/>
              <a:t> ? '</a:t>
            </a:r>
            <a:r>
              <a:rPr lang="ru-RU" sz="2400" dirty="0" err="1"/>
              <a:t>foo</a:t>
            </a:r>
            <a:r>
              <a:rPr lang="ru-RU" sz="2400" dirty="0"/>
              <a:t>';</a:t>
            </a:r>
          </a:p>
          <a:p>
            <a:r>
              <a:rPr lang="ru-RU" sz="2400" dirty="0" smtClean="0"/>
              <a:t>-- </a:t>
            </a:r>
            <a:r>
              <a:rPr lang="ru-RU" sz="2400" dirty="0"/>
              <a:t>Значения объектов не рассматриваются:</a:t>
            </a:r>
          </a:p>
          <a:p>
            <a:r>
              <a:rPr lang="ru-RU" sz="2400" dirty="0"/>
              <a:t>SELECT '{"</a:t>
            </a:r>
            <a:r>
              <a:rPr lang="ru-RU" sz="2400" dirty="0" err="1"/>
              <a:t>foo</a:t>
            </a:r>
            <a:r>
              <a:rPr lang="ru-RU" sz="2400" dirty="0"/>
              <a:t>": "</a:t>
            </a:r>
            <a:r>
              <a:rPr lang="ru-RU" sz="2400" dirty="0" err="1"/>
              <a:t>bar</a:t>
            </a:r>
            <a:r>
              <a:rPr lang="ru-RU" sz="2400" dirty="0"/>
              <a:t>"}'::</a:t>
            </a:r>
            <a:r>
              <a:rPr lang="ru-RU" sz="2400" dirty="0" err="1"/>
              <a:t>jsonb</a:t>
            </a:r>
            <a:r>
              <a:rPr lang="ru-RU" sz="2400" dirty="0"/>
              <a:t> ? '</a:t>
            </a:r>
            <a:r>
              <a:rPr lang="ru-RU" sz="2400" dirty="0" err="1"/>
              <a:t>bar</a:t>
            </a:r>
            <a:r>
              <a:rPr lang="ru-RU" sz="2400" dirty="0"/>
              <a:t>';  -- выдаёт </a:t>
            </a:r>
            <a:r>
              <a:rPr lang="ru-RU" sz="2400" dirty="0" err="1"/>
              <a:t>false</a:t>
            </a:r>
            <a:endParaRPr lang="ru-RU" sz="2400" dirty="0"/>
          </a:p>
          <a:p>
            <a:r>
              <a:rPr lang="ru-RU" sz="2400" dirty="0" smtClean="0"/>
              <a:t>-- </a:t>
            </a:r>
            <a:r>
              <a:rPr lang="ru-RU" sz="2400" dirty="0"/>
              <a:t>Как и вхождение, существование определяется на верхнем уровне:</a:t>
            </a:r>
          </a:p>
          <a:p>
            <a:r>
              <a:rPr lang="ru-RU" sz="2400" dirty="0"/>
              <a:t>SELECT '{"</a:t>
            </a:r>
            <a:r>
              <a:rPr lang="ru-RU" sz="2400" dirty="0" err="1"/>
              <a:t>foo</a:t>
            </a:r>
            <a:r>
              <a:rPr lang="ru-RU" sz="2400" dirty="0"/>
              <a:t>": {"</a:t>
            </a:r>
            <a:r>
              <a:rPr lang="ru-RU" sz="2400" dirty="0" err="1"/>
              <a:t>bar</a:t>
            </a:r>
            <a:r>
              <a:rPr lang="ru-RU" sz="2400" dirty="0"/>
              <a:t>": "</a:t>
            </a:r>
            <a:r>
              <a:rPr lang="ru-RU" sz="2400" dirty="0" err="1"/>
              <a:t>baz</a:t>
            </a:r>
            <a:r>
              <a:rPr lang="ru-RU" sz="2400" dirty="0"/>
              <a:t>"}}'::</a:t>
            </a:r>
            <a:r>
              <a:rPr lang="ru-RU" sz="2400" dirty="0" err="1"/>
              <a:t>jsonb</a:t>
            </a:r>
            <a:r>
              <a:rPr lang="ru-RU" sz="2400" dirty="0"/>
              <a:t> ? '</a:t>
            </a:r>
            <a:r>
              <a:rPr lang="ru-RU" sz="2400" dirty="0" err="1"/>
              <a:t>bar</a:t>
            </a:r>
            <a:r>
              <a:rPr lang="ru-RU" sz="2400" dirty="0"/>
              <a:t>'; -- выдаёт </a:t>
            </a:r>
            <a:r>
              <a:rPr lang="ru-RU" sz="2400" dirty="0" err="1"/>
              <a:t>false</a:t>
            </a:r>
            <a:endParaRPr lang="ru-RU" sz="2400" dirty="0"/>
          </a:p>
          <a:p>
            <a:r>
              <a:rPr lang="ru-RU" sz="2400" dirty="0" smtClean="0"/>
              <a:t>-- </a:t>
            </a:r>
            <a:r>
              <a:rPr lang="ru-RU" sz="2400" dirty="0"/>
              <a:t>Строка считается существующей, если она соответствует примитивной строке JSON:</a:t>
            </a:r>
          </a:p>
          <a:p>
            <a:r>
              <a:rPr lang="ru-RU" sz="2400" dirty="0"/>
              <a:t>SELECT '"</a:t>
            </a:r>
            <a:r>
              <a:rPr lang="ru-RU" sz="2400" dirty="0" err="1"/>
              <a:t>foo</a:t>
            </a:r>
            <a:r>
              <a:rPr lang="ru-RU" sz="2400" dirty="0"/>
              <a:t>"'::</a:t>
            </a:r>
            <a:r>
              <a:rPr lang="ru-RU" sz="2400" dirty="0" err="1"/>
              <a:t>jsonb</a:t>
            </a:r>
            <a:r>
              <a:rPr lang="ru-RU" sz="2400" dirty="0"/>
              <a:t> ? '</a:t>
            </a:r>
            <a:r>
              <a:rPr lang="ru-RU" sz="2400" dirty="0" err="1"/>
              <a:t>foo</a:t>
            </a:r>
            <a:r>
              <a:rPr lang="ru-RU" sz="2400" dirty="0" smtClean="0"/>
              <a:t>';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499168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214995"/>
              </p:ext>
            </p:extLst>
          </p:nvPr>
        </p:nvGraphicFramePr>
        <p:xfrm>
          <a:off x="0" y="461665"/>
          <a:ext cx="11632367" cy="4140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5260">
                  <a:extLst>
                    <a:ext uri="{9D8B030D-6E8A-4147-A177-3AD203B41FA5}">
                      <a16:colId xmlns:a16="http://schemas.microsoft.com/office/drawing/2014/main" val="647526583"/>
                    </a:ext>
                  </a:extLst>
                </a:gridCol>
                <a:gridCol w="9097107">
                  <a:extLst>
                    <a:ext uri="{9D8B030D-6E8A-4147-A177-3AD203B41FA5}">
                      <a16:colId xmlns:a16="http://schemas.microsoft.com/office/drawing/2014/main" val="2006216435"/>
                    </a:ext>
                  </a:extLst>
                </a:gridCol>
              </a:tblGrid>
              <a:tr h="8078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>
                          <a:effectLst/>
                        </a:rPr>
                        <a:t>Переменная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effectLst/>
                        </a:rPr>
                        <a:t>Описание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830758002"/>
                  </a:ext>
                </a:extLst>
              </a:tr>
              <a:tr h="854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$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</a:rPr>
                        <a:t>Переменная, представляющая значение JSON, фигурирующее в запросе (элемент контекста).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789484504"/>
                  </a:ext>
                </a:extLst>
              </a:tr>
              <a:tr h="1624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</a:rPr>
                        <a:t>$</a:t>
                      </a:r>
                      <a:r>
                        <a:rPr lang="ru-RU" sz="2000" dirty="0" err="1">
                          <a:effectLst/>
                        </a:rPr>
                        <a:t>varname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</a:rPr>
                        <a:t>Именованная переменная. Её значение может быть задано в параметре </a:t>
                      </a:r>
                      <a:r>
                        <a:rPr lang="ru-RU" sz="2000" dirty="0" err="1">
                          <a:effectLst/>
                        </a:rPr>
                        <a:t>vars</a:t>
                      </a:r>
                      <a:r>
                        <a:rPr lang="ru-RU" sz="2000" dirty="0">
                          <a:effectLst/>
                        </a:rPr>
                        <a:t>, который принимают различные функции обработки JSON;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4323732"/>
                  </a:ext>
                </a:extLst>
              </a:tr>
              <a:tr h="854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</a:rPr>
                        <a:t>@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</a:rPr>
                        <a:t>Переменная, </a:t>
                      </a:r>
                      <a:r>
                        <a:rPr lang="ru-RU" sz="2000" b="0" dirty="0">
                          <a:effectLst/>
                        </a:rPr>
                        <a:t>представляющая результат вычисления пути в выражениях фильтров.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5080838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503358" y="0"/>
            <a:ext cx="4761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Переменные </a:t>
            </a:r>
            <a:r>
              <a:rPr lang="en-US" sz="2400" b="1" dirty="0" err="1"/>
              <a:t>jsonpath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2424425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116795"/>
              </p:ext>
            </p:extLst>
          </p:nvPr>
        </p:nvGraphicFramePr>
        <p:xfrm>
          <a:off x="0" y="0"/>
          <a:ext cx="12191999" cy="66475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3338">
                  <a:extLst>
                    <a:ext uri="{9D8B030D-6E8A-4147-A177-3AD203B41FA5}">
                      <a16:colId xmlns:a16="http://schemas.microsoft.com/office/drawing/2014/main" val="3973006331"/>
                    </a:ext>
                  </a:extLst>
                </a:gridCol>
                <a:gridCol w="9658661">
                  <a:extLst>
                    <a:ext uri="{9D8B030D-6E8A-4147-A177-3AD203B41FA5}">
                      <a16:colId xmlns:a16="http://schemas.microsoft.com/office/drawing/2014/main" val="2687084912"/>
                    </a:ext>
                  </a:extLst>
                </a:gridCol>
              </a:tblGrid>
              <a:tr h="3537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800">
                          <a:effectLst/>
                        </a:rPr>
                        <a:t>Оператор обращения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8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 anchor="ctr"/>
                </a:tc>
                <a:extLst>
                  <a:ext uri="{0D108BD9-81ED-4DB2-BD59-A6C34878D82A}">
                    <a16:rowId xmlns:a16="http://schemas.microsoft.com/office/drawing/2014/main" val="3006491861"/>
                  </a:ext>
                </a:extLst>
              </a:tr>
              <a:tr h="1059928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.key</a:t>
                      </a: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."$имя_переменной"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Оператор обращения к члену объекта, выбираемому по заданному ключу. Если имя ключа совпадает с именем какой-либо переменной, начинающимся с $, или не соответствует действующим в JavaScript требованиям к идентификаторам, оно должно заключаться в двойные кавычки и таким образом представляться как строковая константа.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extLst>
                  <a:ext uri="{0D108BD9-81ED-4DB2-BD59-A6C34878D82A}">
                    <a16:rowId xmlns:a16="http://schemas.microsoft.com/office/drawing/2014/main" val="720739844"/>
                  </a:ext>
                </a:extLst>
              </a:tr>
              <a:tr h="456314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.*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Оператор обращения по звёздочке, который возвращает значения всех членов, находящихся на верхнем уровне объекта.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extLst>
                  <a:ext uri="{0D108BD9-81ED-4DB2-BD59-A6C34878D82A}">
                    <a16:rowId xmlns:a16="http://schemas.microsoft.com/office/drawing/2014/main" val="1875608568"/>
                  </a:ext>
                </a:extLst>
              </a:tr>
              <a:tr h="858723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.**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Рекурсивный оператор обращения по звёздочке, который проходит по всем уровням иерархии JSON текущего объекта и возвращает все значения членов, вне зависимости от их уровня вложенности. Это реализованное в Postgres Pro расширение стандарта SQL/JSON.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extLst>
                  <a:ext uri="{0D108BD9-81ED-4DB2-BD59-A6C34878D82A}">
                    <a16:rowId xmlns:a16="http://schemas.microsoft.com/office/drawing/2014/main" val="1854031898"/>
                  </a:ext>
                </a:extLst>
              </a:tr>
              <a:tr h="1059928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.**{уровень}</a:t>
                      </a: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.**{начальный_уровень to конечный_уровень}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</a:pPr>
                      <a:r>
                        <a:rPr lang="ru-RU" sz="1800" dirty="0">
                          <a:effectLst/>
                        </a:rPr>
                        <a:t>Этот оператор подобен .**, но выбирает только указанные уровни иерархии JSON. Уровни вложенности задаются целыми числами, при этом нулевой уровень соответствует текущему объекту. Для обращения к самому нижнему уровню вложенности можно использовать ключевое слово </a:t>
                      </a:r>
                      <a:r>
                        <a:rPr lang="ru-RU" sz="1800" dirty="0" err="1">
                          <a:effectLst/>
                        </a:rPr>
                        <a:t>last</a:t>
                      </a:r>
                      <a:r>
                        <a:rPr lang="ru-RU" sz="1800" dirty="0">
                          <a:effectLst/>
                        </a:rPr>
                        <a:t>. Это реализованное в </a:t>
                      </a:r>
                      <a:r>
                        <a:rPr lang="ru-RU" sz="1800" dirty="0" err="1">
                          <a:effectLst/>
                        </a:rPr>
                        <a:t>Postgres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Pro</a:t>
                      </a:r>
                      <a:r>
                        <a:rPr lang="ru-RU" sz="1800" dirty="0">
                          <a:effectLst/>
                        </a:rPr>
                        <a:t> расширение стандарта SQL/JSON.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extLst>
                  <a:ext uri="{0D108BD9-81ED-4DB2-BD59-A6C34878D82A}">
                    <a16:rowId xmlns:a16="http://schemas.microsoft.com/office/drawing/2014/main" val="3877198076"/>
                  </a:ext>
                </a:extLst>
              </a:tr>
              <a:tr h="2065952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[селектор, ...]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</a:pPr>
                      <a:r>
                        <a:rPr lang="ru-RU" sz="1800" dirty="0">
                          <a:effectLst/>
                        </a:rPr>
                        <a:t>Оператор обращения к элементу массива. Селектор может задаваться в двух формах: индекс или </a:t>
                      </a:r>
                      <a:r>
                        <a:rPr lang="ru-RU" sz="1800" dirty="0" err="1">
                          <a:effectLst/>
                        </a:rPr>
                        <a:t>начальный_индекс</a:t>
                      </a:r>
                      <a:r>
                        <a:rPr lang="ru-RU" sz="1800" dirty="0">
                          <a:effectLst/>
                        </a:rPr>
                        <a:t> </a:t>
                      </a:r>
                      <a:r>
                        <a:rPr lang="ru-RU" sz="1800" dirty="0" err="1">
                          <a:effectLst/>
                        </a:rPr>
                        <a:t>to</a:t>
                      </a:r>
                      <a:r>
                        <a:rPr lang="ru-RU" sz="1800" dirty="0">
                          <a:effectLst/>
                        </a:rPr>
                        <a:t> </a:t>
                      </a:r>
                      <a:r>
                        <a:rPr lang="ru-RU" sz="1800" dirty="0" err="1">
                          <a:effectLst/>
                        </a:rPr>
                        <a:t>конечный_индекс</a:t>
                      </a:r>
                      <a:r>
                        <a:rPr lang="ru-RU" sz="1800" dirty="0">
                          <a:effectLst/>
                        </a:rPr>
                        <a:t>. Первая форма выбирает единственный элемент по индексу. Вторая форма выбирает срез массива по двум индексам, включающий крайние элементы, </a:t>
                      </a:r>
                      <a:r>
                        <a:rPr lang="ru-RU" sz="1800" dirty="0" err="1">
                          <a:effectLst/>
                        </a:rPr>
                        <a:t>соответствущие</a:t>
                      </a:r>
                      <a:r>
                        <a:rPr lang="ru-RU" sz="1800" dirty="0">
                          <a:effectLst/>
                        </a:rPr>
                        <a:t> значениям </a:t>
                      </a:r>
                      <a:r>
                        <a:rPr lang="ru-RU" sz="1800" dirty="0" err="1">
                          <a:effectLst/>
                        </a:rPr>
                        <a:t>начальный_индекс</a:t>
                      </a:r>
                      <a:r>
                        <a:rPr lang="ru-RU" sz="1800" dirty="0">
                          <a:effectLst/>
                        </a:rPr>
                        <a:t> и </a:t>
                      </a:r>
                      <a:r>
                        <a:rPr lang="ru-RU" sz="1800" dirty="0" err="1">
                          <a:effectLst/>
                        </a:rPr>
                        <a:t>конечный_индекс</a:t>
                      </a:r>
                      <a:r>
                        <a:rPr lang="ru-RU" sz="1800" dirty="0">
                          <a:effectLst/>
                        </a:rPr>
                        <a:t>.</a:t>
                      </a:r>
                    </a:p>
                    <a:p>
                      <a:pPr algn="just">
                        <a:lnSpc>
                          <a:spcPts val="1800"/>
                        </a:lnSpc>
                      </a:pPr>
                      <a:r>
                        <a:rPr lang="ru-RU" sz="1800" dirty="0">
                          <a:effectLst/>
                        </a:rPr>
                        <a:t>Задаваемый индекс может быть целочисленным значением или выражением, возвращающим единственное число, которое автоматически приводится к целому. Индекс 0 соответствует первому элементу массива. Также в качестве индекса принимается ключевое слово </a:t>
                      </a:r>
                      <a:r>
                        <a:rPr lang="ru-RU" sz="1800" dirty="0" err="1">
                          <a:effectLst/>
                        </a:rPr>
                        <a:t>last</a:t>
                      </a:r>
                      <a:r>
                        <a:rPr lang="ru-RU" sz="1800" dirty="0">
                          <a:effectLst/>
                        </a:rPr>
                        <a:t>, обозначающее индекс последнего элемента массива, что полезно при обработке массивов неизвестной длины.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extLst>
                  <a:ext uri="{0D108BD9-81ED-4DB2-BD59-A6C34878D82A}">
                    <a16:rowId xmlns:a16="http://schemas.microsoft.com/office/drawing/2014/main" val="3774939955"/>
                  </a:ext>
                </a:extLst>
              </a:tr>
              <a:tr h="456314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ru-RU" sz="1800">
                          <a:effectLst/>
                        </a:rPr>
                        <a:t>[*]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</a:pPr>
                      <a:r>
                        <a:rPr lang="ru-RU" sz="1800" dirty="0">
                          <a:effectLst/>
                        </a:rPr>
                        <a:t>Оператор обращения к элементам массива по звёздочке, возвращающий все элементы массива.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69" marR="25669" marT="25669" marB="25669"/>
                </a:tc>
                <a:extLst>
                  <a:ext uri="{0D108BD9-81ED-4DB2-BD59-A6C34878D82A}">
                    <a16:rowId xmlns:a16="http://schemas.microsoft.com/office/drawing/2014/main" val="2411296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0549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944" y="238762"/>
            <a:ext cx="2828789" cy="8779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28" y="238762"/>
            <a:ext cx="585267" cy="84132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470638" y="3105835"/>
            <a:ext cx="667336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Массивы </a:t>
            </a:r>
            <a:r>
              <a:rPr lang="ru-RU" sz="4000" b="1" dirty="0" err="1" smtClean="0">
                <a:solidFill>
                  <a:srgbClr val="FF0000"/>
                </a:solidFill>
              </a:rPr>
              <a:t>PostgreSQL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4000" b="1" dirty="0"/>
              <a:t>Вопрос </a:t>
            </a:r>
            <a:r>
              <a:rPr lang="ru-RU" sz="4000" b="1" dirty="0" smtClean="0"/>
              <a:t>12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82054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32748" y="0"/>
            <a:ext cx="41862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Объявления типов массивов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436213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CREATE TABLE </a:t>
            </a:r>
            <a:r>
              <a:rPr lang="en-US" sz="2400" dirty="0" err="1"/>
              <a:t>sal_emp</a:t>
            </a:r>
            <a:r>
              <a:rPr lang="en-US" sz="2400" dirty="0"/>
              <a:t> (</a:t>
            </a:r>
          </a:p>
          <a:p>
            <a:r>
              <a:rPr lang="en-US" sz="2400" dirty="0"/>
              <a:t>    name            text,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pay_by_quarter</a:t>
            </a:r>
            <a:r>
              <a:rPr lang="en-US" sz="2400" dirty="0"/>
              <a:t>  integer[],</a:t>
            </a:r>
          </a:p>
          <a:p>
            <a:r>
              <a:rPr lang="en-US" sz="2400" dirty="0"/>
              <a:t>    schedule        text[][]</a:t>
            </a:r>
          </a:p>
          <a:p>
            <a:r>
              <a:rPr lang="en-US" sz="2400" dirty="0" smtClean="0"/>
              <a:t>);</a:t>
            </a:r>
            <a:endParaRPr lang="ru-RU" sz="2400" dirty="0" smtClean="0"/>
          </a:p>
          <a:p>
            <a:r>
              <a:rPr lang="en-US" sz="2400" dirty="0" smtClean="0"/>
              <a:t>([])</a:t>
            </a:r>
            <a:r>
              <a:rPr lang="ru-RU" sz="2400" dirty="0" smtClean="0"/>
              <a:t>- тип массива</a:t>
            </a:r>
          </a:p>
          <a:p>
            <a:r>
              <a:rPr lang="en-US" sz="2400" dirty="0"/>
              <a:t>text (name</a:t>
            </a:r>
            <a:r>
              <a:rPr lang="en-US" sz="2400" dirty="0" smtClean="0"/>
              <a:t>)</a:t>
            </a:r>
            <a:r>
              <a:rPr lang="ru-RU" sz="2400" dirty="0" smtClean="0"/>
              <a:t> – столбцы типов</a:t>
            </a:r>
          </a:p>
          <a:p>
            <a:r>
              <a:rPr lang="en-US" sz="2400" dirty="0"/>
              <a:t>integer (</a:t>
            </a:r>
            <a:r>
              <a:rPr lang="en-US" sz="2400" dirty="0" err="1"/>
              <a:t>pay_by_quarter</a:t>
            </a:r>
            <a:r>
              <a:rPr lang="en-US" sz="2400" dirty="0" smtClean="0"/>
              <a:t>)</a:t>
            </a:r>
            <a:r>
              <a:rPr lang="ru-RU" sz="2400" dirty="0" smtClean="0"/>
              <a:t>- </a:t>
            </a:r>
            <a:r>
              <a:rPr lang="ru-RU" sz="2400" dirty="0" err="1" smtClean="0"/>
              <a:t>однлмерный</a:t>
            </a:r>
            <a:r>
              <a:rPr lang="ru-RU" sz="2400" dirty="0" smtClean="0"/>
              <a:t> массив с элементами</a:t>
            </a:r>
          </a:p>
          <a:p>
            <a:r>
              <a:rPr lang="en-US" sz="2400" dirty="0"/>
              <a:t>text (schedule</a:t>
            </a:r>
            <a:r>
              <a:rPr lang="en-US" sz="2400" dirty="0" smtClean="0"/>
              <a:t>)</a:t>
            </a:r>
            <a:r>
              <a:rPr lang="ru-RU" sz="2400" dirty="0" smtClean="0"/>
              <a:t> –двухмерный массив</a:t>
            </a:r>
          </a:p>
          <a:p>
            <a:r>
              <a:rPr lang="en-US" sz="2400" dirty="0"/>
              <a:t>CREATE TABLE </a:t>
            </a:r>
            <a:r>
              <a:rPr lang="ru-RU" sz="2400" dirty="0" smtClean="0"/>
              <a:t> -точный размер массивов</a:t>
            </a:r>
          </a:p>
          <a:p>
            <a:r>
              <a:rPr lang="en-US" sz="2400" dirty="0"/>
              <a:t>CREATE TABLE </a:t>
            </a:r>
            <a:r>
              <a:rPr lang="en-US" sz="2400" dirty="0" err="1"/>
              <a:t>tictactoe</a:t>
            </a:r>
            <a:r>
              <a:rPr lang="en-US" sz="2400" dirty="0"/>
              <a:t> (</a:t>
            </a:r>
          </a:p>
          <a:p>
            <a:r>
              <a:rPr lang="en-US" sz="2400" dirty="0"/>
              <a:t>    squares   integer[3][3]</a:t>
            </a:r>
          </a:p>
          <a:p>
            <a:r>
              <a:rPr lang="en-US" sz="2400" dirty="0" smtClean="0"/>
              <a:t>);</a:t>
            </a:r>
            <a:endParaRPr lang="en-US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57207" y="461665"/>
            <a:ext cx="79347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ru-RU" sz="2400" dirty="0" smtClean="0"/>
              <a:t>объявление одномерных массивов - </a:t>
            </a:r>
            <a:r>
              <a:rPr lang="en-US" sz="2400" dirty="0" smtClean="0"/>
              <a:t>ARRAY</a:t>
            </a:r>
            <a:endParaRPr lang="ru-RU" sz="2400" dirty="0" smtClean="0"/>
          </a:p>
          <a:p>
            <a:r>
              <a:rPr lang="en-US" sz="2400" dirty="0" err="1" smtClean="0"/>
              <a:t>pay_by_quarter</a:t>
            </a:r>
            <a:r>
              <a:rPr lang="en-US" sz="2400" dirty="0" smtClean="0"/>
              <a:t>  </a:t>
            </a:r>
            <a:r>
              <a:rPr lang="en-US" sz="2400" dirty="0"/>
              <a:t>integer ARRAY[4</a:t>
            </a:r>
            <a:r>
              <a:rPr lang="en-US" sz="2400" dirty="0" smtClean="0"/>
              <a:t>]</a:t>
            </a:r>
            <a:endParaRPr lang="ru-RU" sz="2400" dirty="0" smtClean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562796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100" b="1" dirty="0"/>
              <a:t>Ввод значения </a:t>
            </a:r>
            <a:r>
              <a:rPr lang="ru-RU" sz="2100" b="1" dirty="0" smtClean="0"/>
              <a:t>массива</a:t>
            </a:r>
          </a:p>
          <a:p>
            <a:r>
              <a:rPr lang="ru-RU" sz="2100" dirty="0" smtClean="0"/>
              <a:t> общий формат константы массива выглядит так: '{ значение1 разделитель значение2 разделитель ... }'</a:t>
            </a:r>
          </a:p>
          <a:p>
            <a:r>
              <a:rPr lang="ru-RU" sz="2100" dirty="0" smtClean="0"/>
              <a:t>Например, константа массива может быть такой: '{{1,2,3},{4,5,6},{7,8,9}}'</a:t>
            </a:r>
          </a:p>
          <a:p>
            <a:r>
              <a:rPr lang="ru-RU" sz="2100" dirty="0" smtClean="0"/>
              <a:t>можем показать несколько операторов </a:t>
            </a:r>
            <a:r>
              <a:rPr lang="en-US" sz="2100" dirty="0" smtClean="0"/>
              <a:t>INSERT:</a:t>
            </a:r>
          </a:p>
          <a:p>
            <a:r>
              <a:rPr lang="en-US" sz="2100" dirty="0" smtClean="0"/>
              <a:t>INSERT INTO </a:t>
            </a:r>
            <a:r>
              <a:rPr lang="en-US" sz="2100" dirty="0" err="1" smtClean="0"/>
              <a:t>sal_emp</a:t>
            </a:r>
            <a:endParaRPr lang="en-US" sz="2100" dirty="0" smtClean="0"/>
          </a:p>
          <a:p>
            <a:r>
              <a:rPr lang="en-US" sz="2100" dirty="0" smtClean="0"/>
              <a:t>    VALUES ('Bill',</a:t>
            </a:r>
          </a:p>
          <a:p>
            <a:r>
              <a:rPr lang="en-US" sz="2100" dirty="0" smtClean="0"/>
              <a:t>    '{10000, 10000, 10000, 10000}',</a:t>
            </a:r>
          </a:p>
          <a:p>
            <a:r>
              <a:rPr lang="en-US" sz="2100" dirty="0" smtClean="0"/>
              <a:t>    '{{"meeting", "lunch"}, {"training", "presentation"}}');</a:t>
            </a:r>
          </a:p>
          <a:p>
            <a:endParaRPr lang="en-US" sz="2100" dirty="0" smtClean="0"/>
          </a:p>
          <a:p>
            <a:r>
              <a:rPr lang="en-US" sz="2100" dirty="0" smtClean="0"/>
              <a:t>INSERT INTO </a:t>
            </a:r>
            <a:r>
              <a:rPr lang="en-US" sz="2100" dirty="0" err="1" smtClean="0"/>
              <a:t>sal_emp</a:t>
            </a:r>
            <a:endParaRPr lang="en-US" sz="2100" dirty="0" smtClean="0"/>
          </a:p>
          <a:p>
            <a:r>
              <a:rPr lang="en-US" sz="2100" dirty="0" smtClean="0"/>
              <a:t>    VALUES ('Carol',</a:t>
            </a:r>
          </a:p>
          <a:p>
            <a:r>
              <a:rPr lang="en-US" sz="2100" dirty="0" smtClean="0"/>
              <a:t>    '{20000, 25000, 25000, 25000}',</a:t>
            </a:r>
          </a:p>
          <a:p>
            <a:r>
              <a:rPr lang="en-US" sz="2100" dirty="0" smtClean="0"/>
              <a:t>    '{{"breakfast", "consulting"}, {"meeting", "lunch"}}');</a:t>
            </a:r>
          </a:p>
          <a:p>
            <a:r>
              <a:rPr lang="ru-RU" sz="2100" dirty="0" smtClean="0"/>
              <a:t>Результат двух предыдущих команд</a:t>
            </a:r>
          </a:p>
          <a:p>
            <a:r>
              <a:rPr lang="en-US" sz="2100" dirty="0" smtClean="0"/>
              <a:t>SELECT * FROM </a:t>
            </a:r>
            <a:r>
              <a:rPr lang="en-US" sz="2100" dirty="0" err="1" smtClean="0"/>
              <a:t>sal_emp</a:t>
            </a:r>
            <a:r>
              <a:rPr lang="en-US" sz="2100" dirty="0" smtClean="0"/>
              <a:t>;</a:t>
            </a:r>
          </a:p>
          <a:p>
            <a:r>
              <a:rPr lang="en-US" sz="2100" dirty="0" smtClean="0"/>
              <a:t>name |     </a:t>
            </a:r>
            <a:r>
              <a:rPr lang="en-US" sz="2100" dirty="0" err="1" smtClean="0"/>
              <a:t>pay_by_quarter</a:t>
            </a:r>
            <a:r>
              <a:rPr lang="en-US" sz="2100" dirty="0" smtClean="0"/>
              <a:t>      |                schedule</a:t>
            </a:r>
          </a:p>
          <a:p>
            <a:r>
              <a:rPr lang="en-US" sz="2100" dirty="0" smtClean="0"/>
              <a:t>-----+-------------------------+--------------------------------------</a:t>
            </a:r>
          </a:p>
          <a:p>
            <a:r>
              <a:rPr lang="en-US" sz="2100" dirty="0" smtClean="0"/>
              <a:t>Bill |{10000,10000,10000,10000}|{{</a:t>
            </a:r>
            <a:r>
              <a:rPr lang="en-US" sz="2100" dirty="0" err="1" smtClean="0"/>
              <a:t>meeting,lunch</a:t>
            </a:r>
            <a:r>
              <a:rPr lang="en-US" sz="2100" dirty="0" smtClean="0"/>
              <a:t>},{</a:t>
            </a:r>
            <a:r>
              <a:rPr lang="en-US" sz="2100" dirty="0" err="1" smtClean="0"/>
              <a:t>training,presentation</a:t>
            </a:r>
            <a:r>
              <a:rPr lang="en-US" sz="2100" dirty="0" smtClean="0"/>
              <a:t>}}</a:t>
            </a:r>
          </a:p>
          <a:p>
            <a:r>
              <a:rPr lang="en-US" sz="2100" dirty="0" smtClean="0"/>
              <a:t>Carol|{20000,25000,25000,25000}|{{</a:t>
            </a:r>
            <a:r>
              <a:rPr lang="en-US" sz="2100" dirty="0" err="1" smtClean="0"/>
              <a:t>breakfast,consulting</a:t>
            </a:r>
            <a:r>
              <a:rPr lang="en-US" sz="2100" dirty="0" smtClean="0"/>
              <a:t>},{</a:t>
            </a:r>
            <a:r>
              <a:rPr lang="en-US" sz="2100" dirty="0" err="1" smtClean="0"/>
              <a:t>meeting,lunch</a:t>
            </a:r>
            <a:r>
              <a:rPr lang="en-US" sz="2100" dirty="0" smtClean="0"/>
              <a:t>}}</a:t>
            </a:r>
          </a:p>
          <a:p>
            <a:r>
              <a:rPr lang="en-US" sz="2100" dirty="0" smtClean="0"/>
              <a:t>(2 rows)</a:t>
            </a:r>
            <a:endParaRPr lang="ru-RU" sz="2100" b="1" dirty="0"/>
          </a:p>
        </p:txBody>
      </p:sp>
    </p:spTree>
    <p:extLst>
      <p:ext uri="{BB962C8B-B14F-4D97-AF65-F5344CB8AC3E}">
        <p14:creationId xmlns:p14="http://schemas.microsoft.com/office/powerpoint/2010/main" val="30809681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В многомерных массивов число элементов в каждой размерности должно быть одинаковым; в противном случае возникает ошибка. Например:</a:t>
            </a:r>
          </a:p>
          <a:p>
            <a:r>
              <a:rPr lang="en-US" sz="2400" dirty="0"/>
              <a:t>INSERT INTO </a:t>
            </a:r>
            <a:r>
              <a:rPr lang="en-US" sz="2400" dirty="0" err="1"/>
              <a:t>sal_emp</a:t>
            </a:r>
            <a:endParaRPr lang="en-US" sz="2400" dirty="0"/>
          </a:p>
          <a:p>
            <a:r>
              <a:rPr lang="en-US" sz="2400" dirty="0"/>
              <a:t>    VALUES ('Bill',</a:t>
            </a:r>
          </a:p>
          <a:p>
            <a:r>
              <a:rPr lang="en-US" sz="2400" dirty="0"/>
              <a:t>    '{10000, 10000, 10000, 10000}',</a:t>
            </a:r>
          </a:p>
          <a:p>
            <a:r>
              <a:rPr lang="en-US" sz="2400" dirty="0"/>
              <a:t>    '{{"meeting", "lunch"}, {"meeting"}}');</a:t>
            </a:r>
          </a:p>
          <a:p>
            <a:r>
              <a:rPr lang="en-US" sz="2400" dirty="0"/>
              <a:t>ERROR:  malformed array literal: "{{"meeting", "lunch"}, {"meeting"}}"</a:t>
            </a:r>
          </a:p>
          <a:p>
            <a:r>
              <a:rPr lang="en-US" sz="2400" dirty="0"/>
              <a:t>DETAIL:  Multidimensional arrays must have sub-arrays with matching dimensions.</a:t>
            </a:r>
          </a:p>
          <a:p>
            <a:r>
              <a:rPr lang="ru-RU" sz="2400" dirty="0"/>
              <a:t>Также можно использовать синтаксис конструктора </a:t>
            </a:r>
            <a:r>
              <a:rPr lang="en-US" sz="2400" dirty="0"/>
              <a:t>ARRAY:</a:t>
            </a:r>
          </a:p>
          <a:p>
            <a:r>
              <a:rPr lang="en-US" sz="2400" dirty="0"/>
              <a:t>INSERT INTO </a:t>
            </a:r>
            <a:r>
              <a:rPr lang="en-US" sz="2400" dirty="0" err="1"/>
              <a:t>sal_emp</a:t>
            </a:r>
            <a:endParaRPr lang="en-US" sz="2400" dirty="0"/>
          </a:p>
          <a:p>
            <a:r>
              <a:rPr lang="en-US" sz="2400" dirty="0"/>
              <a:t>    VALUES ('Bill',</a:t>
            </a:r>
          </a:p>
          <a:p>
            <a:r>
              <a:rPr lang="en-US" sz="2400" dirty="0"/>
              <a:t>    ARRAY[10000, 10000, 10000, 10000],</a:t>
            </a:r>
          </a:p>
          <a:p>
            <a:r>
              <a:rPr lang="en-US" sz="2400" dirty="0"/>
              <a:t>    ARRAY[['meeting', 'lunch'], ['training', 'presentation']]);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INSERT INTO </a:t>
            </a:r>
            <a:r>
              <a:rPr lang="en-US" sz="2400" dirty="0" err="1"/>
              <a:t>sal_emp</a:t>
            </a:r>
            <a:endParaRPr lang="en-US" sz="2400" dirty="0"/>
          </a:p>
          <a:p>
            <a:r>
              <a:rPr lang="en-US" sz="2400" dirty="0"/>
              <a:t>    VALUES ('Carol',</a:t>
            </a:r>
          </a:p>
          <a:p>
            <a:r>
              <a:rPr lang="en-US" sz="2400" dirty="0"/>
              <a:t>    ARRAY[20000, 25000, 25000, 25000],</a:t>
            </a:r>
          </a:p>
          <a:p>
            <a:r>
              <a:rPr lang="en-US" sz="2400" dirty="0"/>
              <a:t>    ARRAY[['breakfast', 'consulting'], ['meeting', 'lunch']]);</a:t>
            </a:r>
          </a:p>
        </p:txBody>
      </p:sp>
    </p:spTree>
    <p:extLst>
      <p:ext uri="{BB962C8B-B14F-4D97-AF65-F5344CB8AC3E}">
        <p14:creationId xmlns:p14="http://schemas.microsoft.com/office/powerpoint/2010/main" val="10028805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747846" y="0"/>
            <a:ext cx="26338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Обращение к массивам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69333"/>
            <a:ext cx="12192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запрос получает имена сотрудников, зарплата которых изменилась во втором квартале:</a:t>
            </a:r>
          </a:p>
          <a:p>
            <a:r>
              <a:rPr lang="en-US" sz="2400" dirty="0"/>
              <a:t>SELECT name FROM </a:t>
            </a:r>
            <a:r>
              <a:rPr lang="en-US" sz="2400" dirty="0" err="1"/>
              <a:t>sal_emp</a:t>
            </a:r>
            <a:r>
              <a:rPr lang="en-US" sz="2400" dirty="0"/>
              <a:t> WHERE </a:t>
            </a:r>
            <a:r>
              <a:rPr lang="en-US" sz="2400" dirty="0" err="1"/>
              <a:t>pay_by_quarter</a:t>
            </a:r>
            <a:r>
              <a:rPr lang="en-US" sz="2400" dirty="0"/>
              <a:t>[1] &lt;&gt; </a:t>
            </a:r>
            <a:r>
              <a:rPr lang="en-US" sz="2400" dirty="0" err="1"/>
              <a:t>pay_by_quarter</a:t>
            </a:r>
            <a:r>
              <a:rPr lang="en-US" sz="2400" dirty="0"/>
              <a:t>[2];</a:t>
            </a:r>
          </a:p>
          <a:p>
            <a:endParaRPr lang="en-US" sz="2400" dirty="0"/>
          </a:p>
          <a:p>
            <a:r>
              <a:rPr lang="en-US" sz="2400" dirty="0"/>
              <a:t> name</a:t>
            </a:r>
          </a:p>
          <a:p>
            <a:r>
              <a:rPr lang="en-US" sz="2400" dirty="0"/>
              <a:t>-------</a:t>
            </a:r>
          </a:p>
          <a:p>
            <a:r>
              <a:rPr lang="en-US" sz="2400" dirty="0"/>
              <a:t> Carol</a:t>
            </a:r>
          </a:p>
          <a:p>
            <a:r>
              <a:rPr lang="en-US" sz="2400" dirty="0"/>
              <a:t>(1 row</a:t>
            </a:r>
            <a:r>
              <a:rPr lang="en-US" sz="2400" dirty="0" smtClean="0"/>
              <a:t>)</a:t>
            </a:r>
          </a:p>
          <a:p>
            <a:endParaRPr lang="en-US" sz="2400" dirty="0" smtClean="0"/>
          </a:p>
          <a:p>
            <a:r>
              <a:rPr lang="ru-RU" sz="2400" dirty="0"/>
              <a:t>запрос выдаёт зарплату всех сотрудников в третьем квартале:</a:t>
            </a:r>
          </a:p>
          <a:p>
            <a:r>
              <a:rPr lang="en-US" sz="2400" dirty="0"/>
              <a:t>SELECT </a:t>
            </a:r>
            <a:r>
              <a:rPr lang="en-US" sz="2400" dirty="0" err="1"/>
              <a:t>pay_by_quarter</a:t>
            </a:r>
            <a:r>
              <a:rPr lang="en-US" sz="2400" dirty="0"/>
              <a:t>[3] FROM </a:t>
            </a:r>
            <a:r>
              <a:rPr lang="en-US" sz="2400" dirty="0" err="1"/>
              <a:t>sal_emp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en-US" sz="2400" dirty="0"/>
              <a:t> </a:t>
            </a:r>
            <a:endParaRPr lang="ru-RU" sz="2400" dirty="0"/>
          </a:p>
          <a:p>
            <a:r>
              <a:rPr lang="en-US" sz="2400" dirty="0"/>
              <a:t> </a:t>
            </a:r>
            <a:r>
              <a:rPr lang="ru-RU" sz="2400" dirty="0" err="1"/>
              <a:t>pay_by_quarter</a:t>
            </a:r>
            <a:endParaRPr lang="ru-RU" sz="2400" dirty="0"/>
          </a:p>
          <a:p>
            <a:r>
              <a:rPr lang="ru-RU" sz="2400" dirty="0"/>
              <a:t>----------------</a:t>
            </a:r>
          </a:p>
          <a:p>
            <a:r>
              <a:rPr lang="ru-RU" sz="2400" dirty="0"/>
              <a:t>          10000</a:t>
            </a:r>
          </a:p>
          <a:p>
            <a:r>
              <a:rPr lang="ru-RU" sz="2400" dirty="0"/>
              <a:t>          25000</a:t>
            </a:r>
          </a:p>
          <a:p>
            <a:r>
              <a:rPr lang="ru-RU" sz="2400" dirty="0"/>
              <a:t>(2 </a:t>
            </a:r>
            <a:r>
              <a:rPr lang="ru-RU" sz="2400" dirty="0" err="1"/>
              <a:t>rows</a:t>
            </a:r>
            <a:r>
              <a:rPr lang="ru-RU" dirty="0"/>
              <a:t>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59666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запрос получает первые пункты в графике Билла в первые два дня недели:</a:t>
            </a:r>
          </a:p>
          <a:p>
            <a:r>
              <a:rPr lang="en-US" sz="2400" dirty="0"/>
              <a:t>SELECT schedule[1:2][1:1] FROM </a:t>
            </a:r>
            <a:r>
              <a:rPr lang="en-US" sz="2400" dirty="0" err="1"/>
              <a:t>sal_emp</a:t>
            </a:r>
            <a:r>
              <a:rPr lang="en-US" sz="2400" dirty="0"/>
              <a:t> WHERE name = 'Bill';</a:t>
            </a:r>
          </a:p>
          <a:p>
            <a:endParaRPr lang="en-US" sz="2400" dirty="0"/>
          </a:p>
          <a:p>
            <a:r>
              <a:rPr lang="en-US" sz="2400" dirty="0"/>
              <a:t>        schedule</a:t>
            </a:r>
          </a:p>
          <a:p>
            <a:r>
              <a:rPr lang="en-US" sz="2400" dirty="0"/>
              <a:t>------------------------</a:t>
            </a:r>
          </a:p>
          <a:p>
            <a:r>
              <a:rPr lang="en-US" sz="2400" dirty="0"/>
              <a:t> {{meeting},{training}}</a:t>
            </a:r>
          </a:p>
          <a:p>
            <a:r>
              <a:rPr lang="en-US" sz="2400" dirty="0"/>
              <a:t>(1 row</a:t>
            </a:r>
            <a:r>
              <a:rPr lang="en-US" sz="2400" dirty="0" smtClean="0"/>
              <a:t>)</a:t>
            </a:r>
          </a:p>
          <a:p>
            <a:pPr algn="just"/>
            <a:r>
              <a:rPr lang="ru-RU" sz="2400" dirty="0"/>
              <a:t>срез войдут элемент от 1 до заданного номера. Например</a:t>
            </a:r>
            <a:r>
              <a:rPr lang="en-US" sz="2400" dirty="0"/>
              <a:t>, </a:t>
            </a:r>
            <a:r>
              <a:rPr lang="ru-RU" sz="2400" dirty="0"/>
              <a:t>в этом примере</a:t>
            </a:r>
            <a:r>
              <a:rPr lang="en-US" sz="2400" dirty="0"/>
              <a:t> [2] </a:t>
            </a:r>
            <a:r>
              <a:rPr lang="ru-RU" sz="2400" dirty="0"/>
              <a:t>будет равнозначно</a:t>
            </a:r>
            <a:r>
              <a:rPr lang="en-US" sz="2400" dirty="0"/>
              <a:t> [1:2]:</a:t>
            </a:r>
            <a:endParaRPr lang="ru-RU" sz="2400" dirty="0"/>
          </a:p>
          <a:p>
            <a:pPr algn="just"/>
            <a:r>
              <a:rPr lang="en-US" sz="2400" dirty="0"/>
              <a:t>SELECT schedule[1:2][2] FROM </a:t>
            </a:r>
            <a:r>
              <a:rPr lang="en-US" sz="2400" dirty="0" err="1"/>
              <a:t>sal_emp</a:t>
            </a:r>
            <a:r>
              <a:rPr lang="en-US" sz="2400" dirty="0"/>
              <a:t> WHERE name = 'Bill';</a:t>
            </a:r>
            <a:endParaRPr lang="ru-RU" sz="2400" dirty="0"/>
          </a:p>
          <a:p>
            <a:pPr algn="just"/>
            <a:r>
              <a:rPr lang="en-US" sz="2400" dirty="0"/>
              <a:t> </a:t>
            </a:r>
            <a:endParaRPr lang="ru-RU" sz="2400" dirty="0"/>
          </a:p>
          <a:p>
            <a:pPr algn="just"/>
            <a:r>
              <a:rPr lang="en-US" sz="2400" dirty="0"/>
              <a:t>                 schedule</a:t>
            </a:r>
            <a:endParaRPr lang="ru-RU" sz="2400" dirty="0"/>
          </a:p>
          <a:p>
            <a:pPr algn="just"/>
            <a:r>
              <a:rPr lang="en-US" sz="2400" dirty="0"/>
              <a:t>-------------------------------------------</a:t>
            </a:r>
            <a:endParaRPr lang="ru-RU" sz="2400" dirty="0"/>
          </a:p>
          <a:p>
            <a:pPr algn="just"/>
            <a:r>
              <a:rPr lang="en-US" sz="2400" dirty="0"/>
              <a:t> {{</a:t>
            </a:r>
            <a:r>
              <a:rPr lang="en-US" sz="2400" dirty="0" err="1"/>
              <a:t>meeting,lunch</a:t>
            </a:r>
            <a:r>
              <a:rPr lang="en-US" sz="2400" dirty="0"/>
              <a:t>},{</a:t>
            </a:r>
            <a:r>
              <a:rPr lang="en-US" sz="2400" dirty="0" err="1"/>
              <a:t>training,presentation</a:t>
            </a:r>
            <a:r>
              <a:rPr lang="en-US" sz="2400" dirty="0"/>
              <a:t>}}</a:t>
            </a:r>
            <a:endParaRPr lang="ru-RU" sz="2400" dirty="0"/>
          </a:p>
          <a:p>
            <a:pPr algn="just"/>
            <a:r>
              <a:rPr lang="en-US" sz="2400" dirty="0"/>
              <a:t>(1 row)</a:t>
            </a:r>
            <a:endParaRPr lang="ru-RU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89080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Значения нижняя-граница и/или верхняя-граница в указании среза можно опустить; опущенная граница заменяется нижним или верхним пределом индексов массива. Например:</a:t>
            </a:r>
          </a:p>
          <a:p>
            <a:pPr algn="just"/>
            <a:r>
              <a:rPr lang="en-US" sz="2400" dirty="0"/>
              <a:t>SELECT schedule[:2][2:] FROM </a:t>
            </a:r>
            <a:r>
              <a:rPr lang="en-US" sz="2400" dirty="0" err="1"/>
              <a:t>sal_emp</a:t>
            </a:r>
            <a:r>
              <a:rPr lang="en-US" sz="2400" dirty="0"/>
              <a:t> WHERE name = 'Bill';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        schedule</a:t>
            </a:r>
          </a:p>
          <a:p>
            <a:pPr algn="just"/>
            <a:r>
              <a:rPr lang="en-US" sz="2400" dirty="0"/>
              <a:t>------------------------</a:t>
            </a:r>
          </a:p>
          <a:p>
            <a:pPr algn="just"/>
            <a:r>
              <a:rPr lang="en-US" sz="2400" dirty="0"/>
              <a:t> {{lunch},{presentation}}</a:t>
            </a:r>
          </a:p>
          <a:p>
            <a:pPr algn="just"/>
            <a:r>
              <a:rPr lang="en-US" sz="2400" dirty="0"/>
              <a:t>(1 row)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SELECT schedule[:][1:1] FROM </a:t>
            </a:r>
            <a:r>
              <a:rPr lang="en-US" sz="2400" dirty="0" err="1"/>
              <a:t>sal_emp</a:t>
            </a:r>
            <a:r>
              <a:rPr lang="en-US" sz="2400" dirty="0"/>
              <a:t> WHERE name = 'Bill';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        schedule</a:t>
            </a:r>
          </a:p>
          <a:p>
            <a:pPr algn="just"/>
            <a:r>
              <a:rPr lang="en-US" sz="2400" dirty="0"/>
              <a:t>------------------------</a:t>
            </a:r>
          </a:p>
          <a:p>
            <a:pPr algn="just"/>
            <a:r>
              <a:rPr lang="en-US" sz="2400" dirty="0"/>
              <a:t> {{meeting},{training}}</a:t>
            </a:r>
          </a:p>
          <a:p>
            <a:pPr algn="just"/>
            <a:r>
              <a:rPr lang="en-US" sz="2400" dirty="0"/>
              <a:t>(1 row)</a:t>
            </a:r>
          </a:p>
        </p:txBody>
      </p:sp>
    </p:spTree>
    <p:extLst>
      <p:ext uri="{BB962C8B-B14F-4D97-AF65-F5344CB8AC3E}">
        <p14:creationId xmlns:p14="http://schemas.microsoft.com/office/powerpoint/2010/main" val="25656453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Текущие размеры значения массива можно получить с помощью функции </a:t>
            </a:r>
            <a:r>
              <a:rPr lang="en-US" sz="2000" dirty="0" err="1"/>
              <a:t>array_dims</a:t>
            </a:r>
            <a:r>
              <a:rPr lang="en-US" sz="2000" dirty="0"/>
              <a:t>: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array_dims</a:t>
            </a:r>
            <a:r>
              <a:rPr lang="en-US" sz="2000" dirty="0"/>
              <a:t>(schedule) FROM </a:t>
            </a:r>
            <a:r>
              <a:rPr lang="en-US" sz="2000" dirty="0" err="1"/>
              <a:t>sal_emp</a:t>
            </a:r>
            <a:r>
              <a:rPr lang="en-US" sz="2000" dirty="0"/>
              <a:t> WHERE name = 'Carol';</a:t>
            </a:r>
          </a:p>
          <a:p>
            <a:endParaRPr lang="en-US" sz="2000" dirty="0"/>
          </a:p>
          <a:p>
            <a:r>
              <a:rPr lang="en-US" sz="2000" dirty="0"/>
              <a:t> </a:t>
            </a:r>
            <a:r>
              <a:rPr lang="en-US" sz="2000" dirty="0" err="1"/>
              <a:t>array_dims</a:t>
            </a:r>
            <a:endParaRPr lang="en-US" sz="2000" dirty="0"/>
          </a:p>
          <a:p>
            <a:r>
              <a:rPr lang="en-US" sz="2000" dirty="0"/>
              <a:t>------------</a:t>
            </a:r>
          </a:p>
          <a:p>
            <a:r>
              <a:rPr lang="en-US" sz="2000" dirty="0"/>
              <a:t> [1:2][1:2]</a:t>
            </a:r>
          </a:p>
          <a:p>
            <a:r>
              <a:rPr lang="en-US" sz="2000" dirty="0"/>
              <a:t>(1 row</a:t>
            </a:r>
            <a:r>
              <a:rPr lang="en-US" sz="2000" dirty="0" smtClean="0"/>
              <a:t>)</a:t>
            </a:r>
          </a:p>
          <a:p>
            <a:r>
              <a:rPr lang="ru-RU" sz="2000" dirty="0"/>
              <a:t>Размеры массива также можно получить с помощью функций </a:t>
            </a:r>
            <a:r>
              <a:rPr lang="ru-RU" sz="2000" dirty="0" err="1"/>
              <a:t>array_upper</a:t>
            </a:r>
            <a:r>
              <a:rPr lang="ru-RU" sz="2000" dirty="0"/>
              <a:t> и </a:t>
            </a:r>
            <a:r>
              <a:rPr lang="ru-RU" sz="2000" dirty="0" err="1"/>
              <a:t>array_lower</a:t>
            </a:r>
            <a:r>
              <a:rPr lang="ru-RU" sz="2000" dirty="0"/>
              <a:t>, которые возвращают соответственно верхнюю и нижнюю границу для указанной размерности</a:t>
            </a:r>
            <a:r>
              <a:rPr lang="en-US" sz="2000" dirty="0"/>
              <a:t>:</a:t>
            </a:r>
            <a:endParaRPr lang="ru-RU" sz="2000" dirty="0"/>
          </a:p>
          <a:p>
            <a:r>
              <a:rPr lang="en-US" sz="2000" dirty="0"/>
              <a:t>SELECT </a:t>
            </a:r>
            <a:r>
              <a:rPr lang="en-US" sz="2000" dirty="0" err="1"/>
              <a:t>array_upper</a:t>
            </a:r>
            <a:r>
              <a:rPr lang="en-US" sz="2000" dirty="0"/>
              <a:t>(schedule, 1) FROM </a:t>
            </a:r>
            <a:r>
              <a:rPr lang="en-US" sz="2000" dirty="0" err="1"/>
              <a:t>sal_emp</a:t>
            </a:r>
            <a:r>
              <a:rPr lang="en-US" sz="2000" dirty="0"/>
              <a:t> WHERE name = 'Carol';</a:t>
            </a:r>
            <a:endParaRPr lang="ru-RU" sz="2000" dirty="0"/>
          </a:p>
          <a:p>
            <a:r>
              <a:rPr lang="en-US" sz="2000" dirty="0"/>
              <a:t> </a:t>
            </a:r>
            <a:endParaRPr lang="ru-RU" sz="2000" dirty="0"/>
          </a:p>
          <a:p>
            <a:r>
              <a:rPr lang="en-US" sz="2000" dirty="0"/>
              <a:t> </a:t>
            </a:r>
            <a:r>
              <a:rPr lang="ru-RU" sz="2000" dirty="0" err="1"/>
              <a:t>array_upper</a:t>
            </a:r>
            <a:endParaRPr lang="ru-RU" sz="2000" dirty="0"/>
          </a:p>
          <a:p>
            <a:r>
              <a:rPr lang="ru-RU" sz="2000" dirty="0"/>
              <a:t>-------------</a:t>
            </a:r>
          </a:p>
          <a:p>
            <a:r>
              <a:rPr lang="ru-RU" sz="2000" dirty="0"/>
              <a:t>           2</a:t>
            </a:r>
          </a:p>
          <a:p>
            <a:r>
              <a:rPr lang="ru-RU" sz="2000" dirty="0"/>
              <a:t>(1 </a:t>
            </a:r>
            <a:r>
              <a:rPr lang="ru-RU" sz="2000" dirty="0" err="1"/>
              <a:t>row</a:t>
            </a:r>
            <a:r>
              <a:rPr lang="ru-RU" sz="2000" dirty="0"/>
              <a:t>)</a:t>
            </a:r>
          </a:p>
          <a:p>
            <a:r>
              <a:rPr lang="ru-RU" sz="2000" dirty="0" err="1"/>
              <a:t>array_length</a:t>
            </a:r>
            <a:r>
              <a:rPr lang="ru-RU" sz="2000" dirty="0"/>
              <a:t> возвращает число элементов в указанной размерности массива: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array_length</a:t>
            </a:r>
            <a:r>
              <a:rPr lang="en-US" sz="2000" dirty="0"/>
              <a:t>(schedule, 1) FROM </a:t>
            </a:r>
            <a:r>
              <a:rPr lang="en-US" sz="2000" dirty="0" err="1"/>
              <a:t>sal_emp</a:t>
            </a:r>
            <a:r>
              <a:rPr lang="en-US" sz="2000" dirty="0"/>
              <a:t> WHERE name = 'Carol';</a:t>
            </a:r>
            <a:endParaRPr lang="ru-RU" sz="2000" dirty="0"/>
          </a:p>
          <a:p>
            <a:r>
              <a:rPr lang="en-US" sz="2000" dirty="0"/>
              <a:t> </a:t>
            </a:r>
            <a:endParaRPr lang="ru-RU" sz="2000" dirty="0"/>
          </a:p>
          <a:p>
            <a:r>
              <a:rPr lang="en-US" sz="2000" dirty="0"/>
              <a:t> </a:t>
            </a:r>
            <a:r>
              <a:rPr lang="ru-RU" sz="2000" dirty="0" err="1"/>
              <a:t>array_length</a:t>
            </a:r>
            <a:endParaRPr lang="ru-RU" sz="2000" dirty="0"/>
          </a:p>
          <a:p>
            <a:r>
              <a:rPr lang="ru-RU" sz="2000" dirty="0"/>
              <a:t>--------------</a:t>
            </a:r>
          </a:p>
          <a:p>
            <a:r>
              <a:rPr lang="ru-RU" sz="2000" dirty="0"/>
              <a:t>            2</a:t>
            </a:r>
          </a:p>
          <a:p>
            <a:r>
              <a:rPr lang="ru-RU" sz="2000" dirty="0"/>
              <a:t>(1 </a:t>
            </a:r>
            <a:r>
              <a:rPr lang="ru-RU" sz="2000" dirty="0" err="1"/>
              <a:t>row</a:t>
            </a:r>
            <a:r>
              <a:rPr lang="ru-RU" sz="20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31443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cardinality </a:t>
            </a:r>
            <a:r>
              <a:rPr lang="ru-RU" sz="2400" dirty="0"/>
              <a:t>возвращает общее число элементов массива по всем измерениям. Фактически это число строк, которое вернёт функция </a:t>
            </a:r>
            <a:r>
              <a:rPr lang="en-US" sz="2400" dirty="0" err="1"/>
              <a:t>unnest</a:t>
            </a:r>
            <a:r>
              <a:rPr lang="en-US" sz="2400" dirty="0"/>
              <a:t>:</a:t>
            </a:r>
          </a:p>
          <a:p>
            <a:r>
              <a:rPr lang="en-US" sz="2400" dirty="0"/>
              <a:t>SELECT cardinality(schedule) FROM </a:t>
            </a:r>
            <a:r>
              <a:rPr lang="en-US" sz="2400" dirty="0" err="1"/>
              <a:t>sal_emp</a:t>
            </a:r>
            <a:r>
              <a:rPr lang="en-US" sz="2400" dirty="0"/>
              <a:t> WHERE name = 'Carol';</a:t>
            </a:r>
          </a:p>
          <a:p>
            <a:endParaRPr lang="en-US" sz="2400" dirty="0"/>
          </a:p>
          <a:p>
            <a:r>
              <a:rPr lang="en-US" sz="2400" dirty="0"/>
              <a:t> cardinality</a:t>
            </a:r>
          </a:p>
          <a:p>
            <a:r>
              <a:rPr lang="en-US" sz="2400" dirty="0"/>
              <a:t>-------------</a:t>
            </a:r>
          </a:p>
          <a:p>
            <a:r>
              <a:rPr lang="en-US" sz="2400" dirty="0"/>
              <a:t>           4</a:t>
            </a:r>
          </a:p>
          <a:p>
            <a:r>
              <a:rPr lang="en-US" sz="2400" dirty="0"/>
              <a:t>(1 row</a:t>
            </a:r>
            <a:r>
              <a:rPr lang="en-US" sz="2400" dirty="0" smtClean="0"/>
              <a:t>)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88704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897315" y="0"/>
            <a:ext cx="40532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Изменение массивов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325315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Значение массива можно заменить полностью так:</a:t>
            </a:r>
          </a:p>
          <a:p>
            <a:r>
              <a:rPr lang="en-US" sz="2400" dirty="0"/>
              <a:t>UPDATE </a:t>
            </a:r>
            <a:r>
              <a:rPr lang="en-US" sz="2400" dirty="0" err="1"/>
              <a:t>sal_emp</a:t>
            </a:r>
            <a:r>
              <a:rPr lang="en-US" sz="2400" dirty="0"/>
              <a:t> SET </a:t>
            </a:r>
            <a:r>
              <a:rPr lang="en-US" sz="2400" dirty="0" err="1"/>
              <a:t>pay_by_quarter</a:t>
            </a:r>
            <a:r>
              <a:rPr lang="en-US" sz="2400" dirty="0"/>
              <a:t> = '{25000,25000,27000,27000}'</a:t>
            </a:r>
          </a:p>
          <a:p>
            <a:r>
              <a:rPr lang="en-US" sz="2400" dirty="0"/>
              <a:t>    WHERE name = 'Carol';</a:t>
            </a:r>
          </a:p>
          <a:p>
            <a:r>
              <a:rPr lang="ru-RU" sz="2400" dirty="0"/>
              <a:t>или используя синтаксис </a:t>
            </a:r>
            <a:r>
              <a:rPr lang="en-US" sz="2400" dirty="0"/>
              <a:t>ARRAY:</a:t>
            </a:r>
          </a:p>
          <a:p>
            <a:r>
              <a:rPr lang="en-US" sz="2400" dirty="0"/>
              <a:t>UPDATE </a:t>
            </a:r>
            <a:r>
              <a:rPr lang="en-US" sz="2400" dirty="0" err="1"/>
              <a:t>sal_emp</a:t>
            </a:r>
            <a:r>
              <a:rPr lang="en-US" sz="2400" dirty="0"/>
              <a:t> SET </a:t>
            </a:r>
            <a:r>
              <a:rPr lang="en-US" sz="2400" dirty="0" err="1"/>
              <a:t>pay_by_quarter</a:t>
            </a:r>
            <a:r>
              <a:rPr lang="en-US" sz="2400" dirty="0"/>
              <a:t> = ARRAY[25000,25000,27000,27000]</a:t>
            </a:r>
          </a:p>
          <a:p>
            <a:r>
              <a:rPr lang="en-US" sz="2400" dirty="0"/>
              <a:t>    WHERE name = 'Carol';</a:t>
            </a:r>
          </a:p>
          <a:p>
            <a:r>
              <a:rPr lang="ru-RU" sz="2400" dirty="0"/>
              <a:t>Также можно изменить один элемент массива:</a:t>
            </a:r>
          </a:p>
          <a:p>
            <a:r>
              <a:rPr lang="en-US" sz="2400" dirty="0"/>
              <a:t>UPDATE </a:t>
            </a:r>
            <a:r>
              <a:rPr lang="en-US" sz="2400" dirty="0" err="1"/>
              <a:t>sal_emp</a:t>
            </a:r>
            <a:r>
              <a:rPr lang="en-US" sz="2400" dirty="0"/>
              <a:t> SET </a:t>
            </a:r>
            <a:r>
              <a:rPr lang="en-US" sz="2400" dirty="0" err="1"/>
              <a:t>pay_by_quarter</a:t>
            </a:r>
            <a:r>
              <a:rPr lang="en-US" sz="2400" dirty="0"/>
              <a:t>[4] = 15000</a:t>
            </a:r>
          </a:p>
          <a:p>
            <a:r>
              <a:rPr lang="en-US" sz="2400" dirty="0"/>
              <a:t>    WHERE name = 'Bill';</a:t>
            </a:r>
          </a:p>
          <a:p>
            <a:r>
              <a:rPr lang="ru-RU" sz="2400" dirty="0"/>
              <a:t>или срез:</a:t>
            </a:r>
          </a:p>
          <a:p>
            <a:r>
              <a:rPr lang="en-US" sz="2400" dirty="0"/>
              <a:t>UPDATE </a:t>
            </a:r>
            <a:r>
              <a:rPr lang="en-US" sz="2400" dirty="0" err="1"/>
              <a:t>sal_emp</a:t>
            </a:r>
            <a:r>
              <a:rPr lang="en-US" sz="2400" dirty="0"/>
              <a:t> SET </a:t>
            </a:r>
            <a:r>
              <a:rPr lang="en-US" sz="2400" dirty="0" err="1"/>
              <a:t>pay_by_quarter</a:t>
            </a:r>
            <a:r>
              <a:rPr lang="en-US" sz="2400" dirty="0"/>
              <a:t>[1:2] = '{27000,27000}'</a:t>
            </a:r>
          </a:p>
          <a:p>
            <a:r>
              <a:rPr lang="en-US" sz="2400" dirty="0"/>
              <a:t>    WHERE name = 'Carol';</a:t>
            </a:r>
          </a:p>
        </p:txBody>
      </p:sp>
    </p:spTree>
    <p:extLst>
      <p:ext uri="{BB962C8B-B14F-4D97-AF65-F5344CB8AC3E}">
        <p14:creationId xmlns:p14="http://schemas.microsoft.com/office/powerpoint/2010/main" val="11256243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Значения массива также можно сконструировать с помощью оператора конкатенации, ||:</a:t>
            </a:r>
          </a:p>
          <a:p>
            <a:r>
              <a:rPr lang="en-US" sz="2400" dirty="0"/>
              <a:t>SELECT ARRAY[1,2] || ARRAY[3,4];</a:t>
            </a:r>
          </a:p>
          <a:p>
            <a:r>
              <a:rPr lang="en-US" sz="2400" dirty="0"/>
              <a:t> ?column?</a:t>
            </a:r>
          </a:p>
          <a:p>
            <a:r>
              <a:rPr lang="en-US" sz="2400" dirty="0"/>
              <a:t>-----------</a:t>
            </a:r>
          </a:p>
          <a:p>
            <a:r>
              <a:rPr lang="en-US" sz="2400" dirty="0"/>
              <a:t> {1,2,3,4}</a:t>
            </a:r>
          </a:p>
          <a:p>
            <a:r>
              <a:rPr lang="en-US" sz="2400" dirty="0"/>
              <a:t>(1 row)</a:t>
            </a:r>
          </a:p>
          <a:p>
            <a:endParaRPr lang="en-US" sz="2400" dirty="0"/>
          </a:p>
          <a:p>
            <a:r>
              <a:rPr lang="en-US" sz="2400" dirty="0"/>
              <a:t>SELECT ARRAY[5,6] || ARRAY[[1,2],[3,4]];</a:t>
            </a:r>
          </a:p>
          <a:p>
            <a:r>
              <a:rPr lang="en-US" sz="2400" dirty="0"/>
              <a:t>      ?column?</a:t>
            </a:r>
          </a:p>
          <a:p>
            <a:r>
              <a:rPr lang="en-US" sz="2400" dirty="0"/>
              <a:t>---------------------</a:t>
            </a:r>
          </a:p>
          <a:p>
            <a:r>
              <a:rPr lang="en-US" sz="2400" dirty="0"/>
              <a:t> {{5,6},{1,2},{3,4}}</a:t>
            </a:r>
          </a:p>
          <a:p>
            <a:r>
              <a:rPr lang="en-US" sz="2400" dirty="0"/>
              <a:t>(1 row</a:t>
            </a:r>
            <a:r>
              <a:rPr lang="en-US" sz="2400" dirty="0" smtClean="0"/>
              <a:t>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386780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Когда в начало или конец одномерного массива вставляется один элемент, в образованном в результате массиве будет та же нижняя граница, что и в массиве-операнде. Например:</a:t>
            </a:r>
          </a:p>
          <a:p>
            <a:r>
              <a:rPr lang="ru-RU" sz="2400" dirty="0"/>
              <a:t>SELECT </a:t>
            </a:r>
            <a:r>
              <a:rPr lang="ru-RU" sz="2400" dirty="0" err="1"/>
              <a:t>array_dims</a:t>
            </a:r>
            <a:r>
              <a:rPr lang="ru-RU" sz="2400" dirty="0"/>
              <a:t>(1 || '[0:1]={2,3}'::</a:t>
            </a:r>
            <a:r>
              <a:rPr lang="ru-RU" sz="2400" dirty="0" err="1"/>
              <a:t>int</a:t>
            </a:r>
            <a:r>
              <a:rPr lang="ru-RU" sz="2400" dirty="0"/>
              <a:t>[]);</a:t>
            </a:r>
          </a:p>
          <a:p>
            <a:r>
              <a:rPr lang="ru-RU" sz="2400" dirty="0"/>
              <a:t> </a:t>
            </a:r>
            <a:r>
              <a:rPr lang="ru-RU" sz="2400" dirty="0" err="1"/>
              <a:t>array_dims</a:t>
            </a:r>
            <a:endParaRPr lang="ru-RU" sz="2400" dirty="0"/>
          </a:p>
          <a:p>
            <a:r>
              <a:rPr lang="ru-RU" sz="2400" dirty="0"/>
              <a:t>------------</a:t>
            </a:r>
          </a:p>
          <a:p>
            <a:r>
              <a:rPr lang="ru-RU" sz="2400" dirty="0"/>
              <a:t> [0:2]</a:t>
            </a:r>
          </a:p>
          <a:p>
            <a:r>
              <a:rPr lang="ru-RU" sz="2400" dirty="0"/>
              <a:t>(1 </a:t>
            </a:r>
            <a:r>
              <a:rPr lang="ru-RU" sz="2400" dirty="0" err="1"/>
              <a:t>row</a:t>
            </a:r>
            <a:r>
              <a:rPr lang="ru-RU" sz="2400" dirty="0"/>
              <a:t>)</a:t>
            </a:r>
          </a:p>
          <a:p>
            <a:endParaRPr lang="ru-RU" sz="2400" dirty="0"/>
          </a:p>
          <a:p>
            <a:r>
              <a:rPr lang="ru-RU" sz="2400" dirty="0"/>
              <a:t>SELECT </a:t>
            </a:r>
            <a:r>
              <a:rPr lang="ru-RU" sz="2400" dirty="0" err="1"/>
              <a:t>array_dims</a:t>
            </a:r>
            <a:r>
              <a:rPr lang="ru-RU" sz="2400" dirty="0"/>
              <a:t>(ARRAY[1,2] || 3);</a:t>
            </a:r>
          </a:p>
          <a:p>
            <a:r>
              <a:rPr lang="ru-RU" sz="2400" dirty="0"/>
              <a:t> </a:t>
            </a:r>
            <a:r>
              <a:rPr lang="ru-RU" sz="2400" dirty="0" err="1"/>
              <a:t>array_dims</a:t>
            </a:r>
            <a:endParaRPr lang="ru-RU" sz="2400" dirty="0"/>
          </a:p>
          <a:p>
            <a:r>
              <a:rPr lang="ru-RU" sz="2400" dirty="0"/>
              <a:t>------------</a:t>
            </a:r>
          </a:p>
          <a:p>
            <a:r>
              <a:rPr lang="ru-RU" sz="2400" dirty="0"/>
              <a:t> [1:3]</a:t>
            </a:r>
          </a:p>
          <a:p>
            <a:r>
              <a:rPr lang="ru-RU" sz="2400" dirty="0"/>
              <a:t>(1 </a:t>
            </a:r>
            <a:r>
              <a:rPr lang="ru-RU" sz="2400" dirty="0" err="1"/>
              <a:t>row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936045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Когда складываются два массива одинаковых размерностей, в результате сохраняется нижняя граница внешней размерности левого операнда. Выходной массив включает все элементы левого операнда, после которых добавляются все элементы правого. Например:</a:t>
            </a:r>
          </a:p>
          <a:p>
            <a:pPr algn="just"/>
            <a:r>
              <a:rPr lang="ru-RU" sz="2400" dirty="0"/>
              <a:t>SELECT </a:t>
            </a:r>
            <a:r>
              <a:rPr lang="ru-RU" sz="2400" dirty="0" err="1"/>
              <a:t>array_dims</a:t>
            </a:r>
            <a:r>
              <a:rPr lang="ru-RU" sz="2400" dirty="0"/>
              <a:t>(ARRAY[1,2] || ARRAY[3,4,5]);</a:t>
            </a:r>
          </a:p>
          <a:p>
            <a:pPr algn="just"/>
            <a:r>
              <a:rPr lang="ru-RU" sz="2400" dirty="0"/>
              <a:t> </a:t>
            </a:r>
            <a:r>
              <a:rPr lang="ru-RU" sz="2400" dirty="0" err="1"/>
              <a:t>array_dims</a:t>
            </a:r>
            <a:endParaRPr lang="ru-RU" sz="2400" dirty="0"/>
          </a:p>
          <a:p>
            <a:pPr algn="just"/>
            <a:r>
              <a:rPr lang="ru-RU" sz="2400" dirty="0"/>
              <a:t>------------</a:t>
            </a:r>
          </a:p>
          <a:p>
            <a:pPr algn="just"/>
            <a:r>
              <a:rPr lang="ru-RU" sz="2400" dirty="0"/>
              <a:t> [1:5]</a:t>
            </a:r>
          </a:p>
          <a:p>
            <a:pPr algn="just"/>
            <a:r>
              <a:rPr lang="ru-RU" sz="2400" dirty="0"/>
              <a:t>(1 </a:t>
            </a:r>
            <a:r>
              <a:rPr lang="ru-RU" sz="2400" dirty="0" err="1"/>
              <a:t>row</a:t>
            </a:r>
            <a:r>
              <a:rPr lang="ru-RU" sz="2400" dirty="0"/>
              <a:t>)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SELECT </a:t>
            </a:r>
            <a:r>
              <a:rPr lang="ru-RU" sz="2400" dirty="0" err="1"/>
              <a:t>array_dims</a:t>
            </a:r>
            <a:r>
              <a:rPr lang="ru-RU" sz="2400" dirty="0"/>
              <a:t>(ARRAY[[1,2],[3,4]] || ARRAY[[5,6],[7,8],[9,0]]);</a:t>
            </a:r>
          </a:p>
          <a:p>
            <a:pPr algn="just"/>
            <a:r>
              <a:rPr lang="ru-RU" sz="2400" dirty="0"/>
              <a:t> </a:t>
            </a:r>
            <a:r>
              <a:rPr lang="ru-RU" sz="2400" dirty="0" err="1"/>
              <a:t>array_dims</a:t>
            </a:r>
            <a:endParaRPr lang="ru-RU" sz="2400" dirty="0"/>
          </a:p>
          <a:p>
            <a:pPr algn="just"/>
            <a:r>
              <a:rPr lang="ru-RU" sz="2400" dirty="0"/>
              <a:t>------------</a:t>
            </a:r>
          </a:p>
          <a:p>
            <a:pPr algn="just"/>
            <a:r>
              <a:rPr lang="ru-RU" sz="2400" dirty="0"/>
              <a:t> [1:5][1:2]</a:t>
            </a:r>
          </a:p>
          <a:p>
            <a:pPr algn="just"/>
            <a:r>
              <a:rPr lang="ru-RU" sz="2400" dirty="0"/>
              <a:t>(1 </a:t>
            </a:r>
            <a:r>
              <a:rPr lang="ru-RU" sz="2400" dirty="0" err="1"/>
              <a:t>row</a:t>
            </a:r>
            <a:r>
              <a:rPr lang="ru-RU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60426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Любой N-мерный массив по сути является элементом во внешней размерности массива, имеющего размерность N+1. Например:</a:t>
            </a:r>
          </a:p>
          <a:p>
            <a:r>
              <a:rPr lang="ru-RU" sz="2400" dirty="0"/>
              <a:t>SELECT </a:t>
            </a:r>
            <a:r>
              <a:rPr lang="ru-RU" sz="2400" dirty="0" err="1"/>
              <a:t>array_dims</a:t>
            </a:r>
            <a:r>
              <a:rPr lang="ru-RU" sz="2400" dirty="0"/>
              <a:t>(ARRAY[1,2] || ARRAY[[3,4],[5,6]]);</a:t>
            </a:r>
          </a:p>
          <a:p>
            <a:r>
              <a:rPr lang="ru-RU" sz="2400" dirty="0"/>
              <a:t> </a:t>
            </a:r>
            <a:r>
              <a:rPr lang="ru-RU" sz="2400" dirty="0" err="1"/>
              <a:t>array_dims</a:t>
            </a:r>
            <a:endParaRPr lang="ru-RU" sz="2400" dirty="0"/>
          </a:p>
          <a:p>
            <a:r>
              <a:rPr lang="ru-RU" sz="2400" dirty="0"/>
              <a:t>------------</a:t>
            </a:r>
          </a:p>
          <a:p>
            <a:r>
              <a:rPr lang="ru-RU" sz="2400" dirty="0"/>
              <a:t> [1:3][1:2]</a:t>
            </a:r>
          </a:p>
          <a:p>
            <a:r>
              <a:rPr lang="ru-RU" sz="2400" dirty="0"/>
              <a:t>(1 </a:t>
            </a:r>
            <a:r>
              <a:rPr lang="ru-RU" sz="2400" dirty="0" err="1"/>
              <a:t>row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599772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Массив также можно сконструировать с помощью функций </a:t>
            </a:r>
            <a:r>
              <a:rPr lang="en-US" sz="1600" dirty="0" err="1"/>
              <a:t>array_prepend</a:t>
            </a:r>
            <a:r>
              <a:rPr lang="en-US" sz="1600" dirty="0"/>
              <a:t>, </a:t>
            </a:r>
            <a:r>
              <a:rPr lang="en-US" sz="1600" dirty="0" err="1"/>
              <a:t>array_append</a:t>
            </a:r>
            <a:r>
              <a:rPr lang="en-US" sz="1600" dirty="0"/>
              <a:t> </a:t>
            </a:r>
            <a:r>
              <a:rPr lang="ru-RU" sz="1600" dirty="0"/>
              <a:t>и </a:t>
            </a:r>
            <a:r>
              <a:rPr lang="en-US" sz="1600" dirty="0" err="1"/>
              <a:t>array_cat</a:t>
            </a:r>
            <a:r>
              <a:rPr lang="en-US" sz="1600" dirty="0"/>
              <a:t>. </a:t>
            </a:r>
            <a:r>
              <a:rPr lang="ru-RU" sz="1600" dirty="0"/>
              <a:t>Первые две функции поддерживают только одномерные массивы, а </a:t>
            </a:r>
            <a:r>
              <a:rPr lang="en-US" sz="1600" dirty="0" err="1"/>
              <a:t>array_cat</a:t>
            </a:r>
            <a:r>
              <a:rPr lang="en-US" sz="1600" dirty="0"/>
              <a:t> </a:t>
            </a:r>
            <a:r>
              <a:rPr lang="ru-RU" sz="1600" dirty="0"/>
              <a:t>поддерживает и многомерные. Несколько примеров:</a:t>
            </a:r>
          </a:p>
          <a:p>
            <a:r>
              <a:rPr lang="en-US" sz="1600" dirty="0"/>
              <a:t>SELECT </a:t>
            </a:r>
            <a:r>
              <a:rPr lang="en-US" sz="1600" dirty="0" err="1"/>
              <a:t>array_prepend</a:t>
            </a:r>
            <a:r>
              <a:rPr lang="en-US" sz="1600" dirty="0"/>
              <a:t>(1, ARRAY[2,3]);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array_prepend</a:t>
            </a:r>
            <a:endParaRPr lang="en-US" sz="1600" dirty="0"/>
          </a:p>
          <a:p>
            <a:r>
              <a:rPr lang="en-US" sz="1600" dirty="0"/>
              <a:t>---------------</a:t>
            </a:r>
          </a:p>
          <a:p>
            <a:r>
              <a:rPr lang="en-US" sz="1600" dirty="0"/>
              <a:t> {1,2,3}</a:t>
            </a:r>
          </a:p>
          <a:p>
            <a:r>
              <a:rPr lang="en-US" sz="1600" dirty="0"/>
              <a:t>(1 row)</a:t>
            </a:r>
          </a:p>
          <a:p>
            <a:r>
              <a:rPr lang="en-US" sz="1600" dirty="0" smtClean="0"/>
              <a:t>SELECT </a:t>
            </a:r>
            <a:r>
              <a:rPr lang="en-US" sz="1600" dirty="0" err="1"/>
              <a:t>array_append</a:t>
            </a:r>
            <a:r>
              <a:rPr lang="en-US" sz="1600" dirty="0"/>
              <a:t>(ARRAY[1,2], 3);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array_append</a:t>
            </a:r>
            <a:endParaRPr lang="en-US" sz="1600" dirty="0"/>
          </a:p>
          <a:p>
            <a:r>
              <a:rPr lang="en-US" sz="1600" dirty="0"/>
              <a:t>--------------</a:t>
            </a:r>
          </a:p>
          <a:p>
            <a:r>
              <a:rPr lang="en-US" sz="1600" dirty="0"/>
              <a:t> {1,2,3}</a:t>
            </a:r>
          </a:p>
          <a:p>
            <a:r>
              <a:rPr lang="en-US" sz="1600" dirty="0"/>
              <a:t>(1 row)</a:t>
            </a:r>
          </a:p>
          <a:p>
            <a:r>
              <a:rPr lang="en-US" sz="1600" dirty="0" smtClean="0"/>
              <a:t>SELECT </a:t>
            </a:r>
            <a:r>
              <a:rPr lang="en-US" sz="1600" dirty="0" err="1"/>
              <a:t>array_cat</a:t>
            </a:r>
            <a:r>
              <a:rPr lang="en-US" sz="1600" dirty="0"/>
              <a:t>(ARRAY[1,2], ARRAY[3,4]);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array_cat</a:t>
            </a:r>
            <a:endParaRPr lang="en-US" sz="1600" dirty="0"/>
          </a:p>
          <a:p>
            <a:r>
              <a:rPr lang="en-US" sz="1600" dirty="0"/>
              <a:t>-----------</a:t>
            </a:r>
          </a:p>
          <a:p>
            <a:r>
              <a:rPr lang="en-US" sz="1600" dirty="0"/>
              <a:t> {1,2,3,4}</a:t>
            </a:r>
          </a:p>
          <a:p>
            <a:r>
              <a:rPr lang="en-US" sz="1600" dirty="0"/>
              <a:t>(1 row)</a:t>
            </a:r>
          </a:p>
          <a:p>
            <a:r>
              <a:rPr lang="en-US" sz="1600" dirty="0" smtClean="0"/>
              <a:t>SELECT </a:t>
            </a:r>
            <a:r>
              <a:rPr lang="en-US" sz="1600" dirty="0" err="1"/>
              <a:t>array_cat</a:t>
            </a:r>
            <a:r>
              <a:rPr lang="en-US" sz="1600" dirty="0"/>
              <a:t>(ARRAY[[1,2],[3,4]], ARRAY[5,6]);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array_cat</a:t>
            </a:r>
            <a:endParaRPr lang="en-US" sz="1600" dirty="0"/>
          </a:p>
          <a:p>
            <a:r>
              <a:rPr lang="en-US" sz="1600" dirty="0"/>
              <a:t>---------------------</a:t>
            </a:r>
          </a:p>
          <a:p>
            <a:r>
              <a:rPr lang="en-US" sz="1600" dirty="0"/>
              <a:t> {{1,2},{3,4},{5,6}}</a:t>
            </a:r>
          </a:p>
          <a:p>
            <a:r>
              <a:rPr lang="en-US" sz="1600" dirty="0"/>
              <a:t>(1 row)</a:t>
            </a:r>
          </a:p>
          <a:p>
            <a:r>
              <a:rPr lang="en-US" sz="1600" dirty="0" smtClean="0"/>
              <a:t>SELECT </a:t>
            </a:r>
            <a:r>
              <a:rPr lang="en-US" sz="1600" dirty="0" err="1"/>
              <a:t>array_cat</a:t>
            </a:r>
            <a:r>
              <a:rPr lang="en-US" sz="1600" dirty="0"/>
              <a:t>(ARRAY[5,6], ARRAY[[1,2],[3,4]]);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array_cat</a:t>
            </a:r>
            <a:endParaRPr lang="en-US" sz="1600" dirty="0"/>
          </a:p>
          <a:p>
            <a:r>
              <a:rPr lang="en-US" sz="1600" dirty="0"/>
              <a:t>---------------------</a:t>
            </a:r>
          </a:p>
          <a:p>
            <a:r>
              <a:rPr lang="en-US" sz="1600" dirty="0"/>
              <a:t> {{5,6},{1,2},{3,4}}</a:t>
            </a:r>
          </a:p>
        </p:txBody>
      </p:sp>
    </p:spTree>
    <p:extLst>
      <p:ext uri="{BB962C8B-B14F-4D97-AF65-F5344CB8AC3E}">
        <p14:creationId xmlns:p14="http://schemas.microsoft.com/office/powerpoint/2010/main" val="25802609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17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300" dirty="0"/>
              <a:t>применить одну из этих функций во избежание неоднозначности. Например, рассмотрите:</a:t>
            </a:r>
          </a:p>
          <a:p>
            <a:r>
              <a:rPr lang="en-US" sz="2300" dirty="0"/>
              <a:t>SELECT ARRAY[1, 2] || '{3, 4}';  -- </a:t>
            </a:r>
            <a:r>
              <a:rPr lang="ru-RU" sz="2300" dirty="0" err="1"/>
              <a:t>нетипизированная</a:t>
            </a:r>
            <a:r>
              <a:rPr lang="ru-RU" sz="2300" dirty="0"/>
              <a:t> строка воспринимается как массив</a:t>
            </a:r>
          </a:p>
          <a:p>
            <a:r>
              <a:rPr lang="ru-RU" sz="2300" dirty="0"/>
              <a:t> ?</a:t>
            </a:r>
            <a:r>
              <a:rPr lang="en-US" sz="2300" dirty="0"/>
              <a:t>column?</a:t>
            </a:r>
          </a:p>
          <a:p>
            <a:r>
              <a:rPr lang="en-US" sz="2300" dirty="0"/>
              <a:t>-----------</a:t>
            </a:r>
          </a:p>
          <a:p>
            <a:r>
              <a:rPr lang="en-US" sz="2300" dirty="0"/>
              <a:t> {1,2,3,4}</a:t>
            </a:r>
          </a:p>
          <a:p>
            <a:endParaRPr lang="en-US" sz="2300" dirty="0"/>
          </a:p>
          <a:p>
            <a:r>
              <a:rPr lang="en-US" sz="2300" dirty="0"/>
              <a:t>SELECT ARRAY[1, 2] || '7';                 -- </a:t>
            </a:r>
            <a:r>
              <a:rPr lang="ru-RU" sz="2300" dirty="0"/>
              <a:t>как и эта</a:t>
            </a:r>
          </a:p>
          <a:p>
            <a:r>
              <a:rPr lang="en-US" sz="2300" dirty="0"/>
              <a:t>ERROR:  malformed array literal: "7"</a:t>
            </a:r>
          </a:p>
          <a:p>
            <a:endParaRPr lang="en-US" sz="2300" dirty="0"/>
          </a:p>
          <a:p>
            <a:r>
              <a:rPr lang="en-US" sz="2300" dirty="0"/>
              <a:t>SELECT ARRAY[1, 2] || NULL;                -- </a:t>
            </a:r>
            <a:r>
              <a:rPr lang="ru-RU" sz="2300" dirty="0"/>
              <a:t>как и буквальный </a:t>
            </a:r>
            <a:r>
              <a:rPr lang="en-US" sz="2300" dirty="0"/>
              <a:t>NULL</a:t>
            </a:r>
          </a:p>
          <a:p>
            <a:r>
              <a:rPr lang="en-US" sz="2300" dirty="0"/>
              <a:t> ?column?</a:t>
            </a:r>
          </a:p>
          <a:p>
            <a:r>
              <a:rPr lang="en-US" sz="2300" dirty="0"/>
              <a:t>----------</a:t>
            </a:r>
          </a:p>
          <a:p>
            <a:r>
              <a:rPr lang="en-US" sz="2300" dirty="0"/>
              <a:t> {1,2}</a:t>
            </a:r>
          </a:p>
          <a:p>
            <a:r>
              <a:rPr lang="en-US" sz="2300" dirty="0"/>
              <a:t>(1 row)</a:t>
            </a:r>
          </a:p>
          <a:p>
            <a:endParaRPr lang="en-US" sz="2300" dirty="0"/>
          </a:p>
          <a:p>
            <a:r>
              <a:rPr lang="en-US" sz="2300" dirty="0"/>
              <a:t>SELECT </a:t>
            </a:r>
            <a:r>
              <a:rPr lang="en-US" sz="2300" dirty="0" err="1"/>
              <a:t>array_append</a:t>
            </a:r>
            <a:r>
              <a:rPr lang="en-US" sz="2300" dirty="0"/>
              <a:t>(ARRAY[1, 2], NULL);    -- </a:t>
            </a:r>
            <a:r>
              <a:rPr lang="ru-RU" sz="2300" dirty="0"/>
              <a:t>это могло иметься в виду на самом деле</a:t>
            </a:r>
          </a:p>
          <a:p>
            <a:r>
              <a:rPr lang="ru-RU" sz="2300" dirty="0"/>
              <a:t> </a:t>
            </a:r>
            <a:r>
              <a:rPr lang="en-US" sz="2300" dirty="0" err="1"/>
              <a:t>array_append</a:t>
            </a:r>
            <a:endParaRPr lang="en-US" sz="2300" dirty="0"/>
          </a:p>
          <a:p>
            <a:r>
              <a:rPr lang="en-US" sz="2300" dirty="0"/>
              <a:t>--------------</a:t>
            </a:r>
          </a:p>
          <a:p>
            <a:r>
              <a:rPr lang="en-US" sz="2300" dirty="0"/>
              <a:t> {1,2,NULL}</a:t>
            </a:r>
          </a:p>
        </p:txBody>
      </p:sp>
    </p:spTree>
    <p:extLst>
      <p:ext uri="{BB962C8B-B14F-4D97-AF65-F5344CB8AC3E}">
        <p14:creationId xmlns:p14="http://schemas.microsoft.com/office/powerpoint/2010/main" val="23550680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6558</Words>
  <Application>Microsoft Office PowerPoint</Application>
  <PresentationFormat>Широкоэкранный</PresentationFormat>
  <Paragraphs>1314</Paragraphs>
  <Slides>80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80</vt:i4>
      </vt:variant>
    </vt:vector>
  </HeadingPairs>
  <TitlesOfParts>
    <vt:vector size="86" baseType="lpstr">
      <vt:lpstr>Arial</vt:lpstr>
      <vt:lpstr>Calibri</vt:lpstr>
      <vt:lpstr>Calibri Light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cluser</cp:lastModifiedBy>
  <cp:revision>185</cp:revision>
  <dcterms:created xsi:type="dcterms:W3CDTF">2021-10-24T19:59:40Z</dcterms:created>
  <dcterms:modified xsi:type="dcterms:W3CDTF">2025-11-07T13:24:09Z</dcterms:modified>
</cp:coreProperties>
</file>