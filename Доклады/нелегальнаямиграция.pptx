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5" r:id="rId5"/>
  </p:sldMasterIdLst>
  <p:notesMasterIdLst>
    <p:notesMasterId r:id="rId15"/>
  </p:notesMasterIdLst>
  <p:sldIdLst>
    <p:sldId id="273" r:id="rId6"/>
    <p:sldId id="257" r:id="rId7"/>
    <p:sldId id="339" r:id="rId8"/>
    <p:sldId id="335" r:id="rId9"/>
    <p:sldId id="337" r:id="rId10"/>
    <p:sldId id="336" r:id="rId11"/>
    <p:sldId id="338" r:id="rId12"/>
    <p:sldId id="340" r:id="rId13"/>
    <p:sldId id="334" r:id="rId14"/>
  </p:sldIdLst>
  <p:sldSz cx="12954000" cy="6832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ACC"/>
          </a:solidFill>
        </a:fill>
      </a:tcStyle>
    </a:wholeTbl>
    <a:band2H>
      <a:tcTxStyle/>
      <a:tcStyle>
        <a:tcBdr/>
        <a:fill>
          <a:solidFill>
            <a:srgbClr val="F0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EE9"/>
          </a:solidFill>
        </a:fill>
      </a:tcStyle>
    </a:wholeTbl>
    <a:band2H>
      <a:tcTxStyle/>
      <a:tcStyle>
        <a:tcBdr/>
        <a:fill>
          <a:solidFill>
            <a:srgbClr val="EDEF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2"/>
          </a:solidFill>
        </a:fill>
      </a:tcStyle>
    </a:wholeTbl>
    <a:band2H>
      <a:tcTxStyle/>
      <a:tcStyle>
        <a:tcBdr/>
        <a:fill>
          <a:solidFill>
            <a:srgbClr val="E6F0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6" name="Straight Connector 11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19196"/>
            <a:ext cx="8649708" cy="5351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5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  <a:lvl2pPr indent="456056">
              <a:defRPr sz="3600" b="1">
                <a:solidFill>
                  <a:schemeClr val="accent1"/>
                </a:solidFill>
              </a:defRPr>
            </a:lvl2pPr>
            <a:lvl3pPr indent="912113">
              <a:defRPr sz="3600" b="1">
                <a:solidFill>
                  <a:schemeClr val="accent1"/>
                </a:solidFill>
              </a:defRPr>
            </a:lvl3pPr>
            <a:lvl4pPr indent="1368171">
              <a:defRPr sz="3600" b="1">
                <a:solidFill>
                  <a:schemeClr val="accent1"/>
                </a:solidFill>
              </a:defRPr>
            </a:lvl4pPr>
            <a:lvl5pPr indent="1824227">
              <a:defRPr sz="3600" b="1">
                <a:solidFill>
                  <a:schemeClr val="accent1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5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0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77012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  <a:lvl2pPr indent="456056">
              <a:defRPr sz="3600" b="1">
                <a:solidFill>
                  <a:srgbClr val="FFFFFF"/>
                </a:solidFill>
              </a:defRPr>
            </a:lvl2pPr>
            <a:lvl3pPr indent="912113">
              <a:defRPr sz="3600" b="1">
                <a:solidFill>
                  <a:srgbClr val="FFFFFF"/>
                </a:solidFill>
              </a:defRPr>
            </a:lvl3pPr>
            <a:lvl4pPr indent="1368171">
              <a:defRPr sz="3600" b="1">
                <a:solidFill>
                  <a:srgbClr val="FFFFFF"/>
                </a:solidFill>
              </a:defRPr>
            </a:lvl4pPr>
            <a:lvl5pPr indent="1824227">
              <a:defRPr sz="3600" b="1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5" name="Picture 16" descr="Picture 16"/>
          <p:cNvPicPr>
            <a:picLocks noChangeAspect="1"/>
          </p:cNvPicPr>
          <p:nvPr/>
        </p:nvPicPr>
        <p:blipFill>
          <a:blip r:embed="rId2"/>
          <a:srcRect t="4828"/>
          <a:stretch>
            <a:fillRect/>
          </a:stretch>
        </p:blipFill>
        <p:spPr>
          <a:xfrm>
            <a:off x="10684389" y="-1"/>
            <a:ext cx="1950722" cy="97615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67" name="Straight Connector 1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9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00000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04" name="Straight Connector 12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863999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0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TextBox 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19" name="Straight Connector 14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TextBox 1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35" name="Straight Connector 1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37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0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1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2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54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/>
            </a:lvl1pPr>
          </a:lstStyle>
          <a:p>
            <a:r>
              <a:t>Текст заголовка</a:t>
            </a:r>
          </a:p>
        </p:txBody>
      </p:sp>
      <p:sp>
        <p:nvSpPr>
          <p:cNvPr id="15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888888"/>
                </a:solidFill>
              </a:defRPr>
            </a:lvl1pPr>
            <a:lvl2pPr indent="456056">
              <a:defRPr sz="2300">
                <a:solidFill>
                  <a:srgbClr val="888888"/>
                </a:solidFill>
              </a:defRPr>
            </a:lvl2pPr>
            <a:lvl3pPr indent="912113">
              <a:defRPr sz="2300">
                <a:solidFill>
                  <a:srgbClr val="888888"/>
                </a:solidFill>
              </a:defRPr>
            </a:lvl3pPr>
            <a:lvl4pPr indent="1368171">
              <a:defRPr sz="2300">
                <a:solidFill>
                  <a:srgbClr val="888888"/>
                </a:solidFill>
              </a:defRPr>
            </a:lvl4pPr>
            <a:lvl5pPr indent="1824227">
              <a:defRPr sz="23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TextBox 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67" name="Straight Connector 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Титульный слайд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9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92" name="Рисунок 21" descr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95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Титульный слайд"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20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206" name="Рисунок 21" descr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09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21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</p:spPr>
        <p:txBody>
          <a:bodyPr lIns="25305" tIns="25305" rIns="25305" bIns="25305" anchor="b"/>
          <a:lstStyle>
            <a:lvl1pPr algn="ctr" defTabSz="291018"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3_Титульный слайд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02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643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Пустой слайд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7548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488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285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9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91128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7153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07701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72217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49577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39873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0503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6539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1582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0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9" descr="Рисунок 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1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" name="Straight Connector 16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Рисунок 7" descr="Рисунок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02203" y="0"/>
            <a:ext cx="1058147" cy="684053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Текст заголовка</a:t>
            </a:r>
          </a:p>
        </p:txBody>
      </p:sp>
      <p:sp>
        <p:nvSpPr>
          <p:cNvPr id="9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4" r:id="rId13"/>
  </p:sldLayoutIdLst>
  <p:transition spd="med"/>
  <p:txStyles>
    <p:titleStyle>
      <a:lvl1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494900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50957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07014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863071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0732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913800" y="967775"/>
            <a:ext cx="1244406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ru-RU" sz="4000" dirty="0">
                <a:solidFill>
                  <a:schemeClr val="lt1"/>
                </a:solidFill>
              </a:rPr>
              <a:t>Нелегальная и бесконтрольная миграция как проблема государственной и общественной безопасности страны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 err="1"/>
              <a:t>Выполнили</a:t>
            </a:r>
            <a:r>
              <a:rPr lang="en-US" sz="1400" dirty="0"/>
              <a:t>: 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 err="1"/>
              <a:t>Лапшов</a:t>
            </a:r>
            <a:r>
              <a:rPr lang="en-US" sz="1400" dirty="0"/>
              <a:t> </a:t>
            </a:r>
            <a:r>
              <a:rPr lang="en-US" sz="1400" dirty="0" err="1"/>
              <a:t>Артем</a:t>
            </a:r>
            <a:r>
              <a:rPr lang="ru-RU" sz="1400" dirty="0"/>
              <a:t>, 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202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467B5-FC47-EF64-3529-2AE5DDC27188}"/>
              </a:ext>
            </a:extLst>
          </p:cNvPr>
          <p:cNvSpPr txBox="1"/>
          <p:nvPr/>
        </p:nvSpPr>
        <p:spPr>
          <a:xfrm>
            <a:off x="445527" y="1116205"/>
            <a:ext cx="6161013" cy="4708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sz="2000" dirty="0">
                <a:latin typeface="+mn-lt"/>
              </a:rPr>
              <a:t>Нелегальная и бесконтрольная миграция в современных условиях превратилась в одну из наиболее серьёзных угроз национальной безопасности любого государства. Ежегодно миллионы людей пересекают границы вне правового поля, что создаёт комплекс проблем, выходящих далеко за рамки простого нарушения миграционного законодательства.</a:t>
            </a:r>
          </a:p>
          <a:p>
            <a:pPr algn="just"/>
            <a:r>
              <a:rPr lang="ru-RU" sz="2000" dirty="0">
                <a:latin typeface="+mn-lt"/>
              </a:rPr>
              <a:t>Данное явление подрывает экономическую стабильность: нелегальные мигранты работают в теневом секторе, не платят налоги и социальные взносы, создавая недобросовестную конкуренцию для легальных работников и местного бизнеса. Одновременно растёт нагрузка на социальные системы — здравоохранение, образование, правопорядок — без соответствующего вклада в бюджет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FE13D-AC9E-29DD-6442-C1B7223FBE5A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Введение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CAD7DB-4367-98C4-C2E5-A8200CCA5257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C61AA-F65C-D50D-9056-C526D1BE7B1B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AB91A4-3494-DFFA-F299-FF3D546E9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826" y="1681262"/>
            <a:ext cx="5575647" cy="347007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1D0B-5B58-6F54-92F6-B47A20376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9D7F2A-A90F-FD86-3309-7AC2BCDEEF6E}"/>
              </a:ext>
            </a:extLst>
          </p:cNvPr>
          <p:cNvSpPr txBox="1"/>
          <p:nvPr/>
        </p:nvSpPr>
        <p:spPr>
          <a:xfrm>
            <a:off x="296993" y="553979"/>
            <a:ext cx="7204403" cy="5940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2000" b="1" dirty="0">
                <a:latin typeface="+mn-lt"/>
              </a:rPr>
              <a:t>Институциональная хрупкость стран исхода миграции</a:t>
            </a:r>
            <a:r>
              <a:rPr lang="ru-RU" sz="2000" dirty="0">
                <a:latin typeface="+mn-lt"/>
              </a:rPr>
              <a:t>:</a:t>
            </a:r>
          </a:p>
          <a:p>
            <a:r>
              <a:rPr lang="ru-RU" sz="2000" dirty="0">
                <a:latin typeface="+mn-lt"/>
              </a:rPr>
              <a:t>Неэффективные паспортные и визовые службы.</a:t>
            </a:r>
          </a:p>
          <a:p>
            <a:r>
              <a:rPr lang="ru-RU" sz="2000" dirty="0">
                <a:latin typeface="+mn-lt"/>
              </a:rPr>
              <a:t>Коррупция.</a:t>
            </a:r>
          </a:p>
          <a:p>
            <a:r>
              <a:rPr lang="ru-RU" sz="2000" dirty="0">
                <a:latin typeface="+mn-lt"/>
              </a:rPr>
              <a:t>Отсутствие контроля за перемещением населения.</a:t>
            </a:r>
          </a:p>
          <a:p>
            <a:r>
              <a:rPr lang="ru-RU" sz="2000" b="1" dirty="0">
                <a:latin typeface="+mn-lt"/>
              </a:rPr>
              <a:t>Деятельность организованных преступных групп:</a:t>
            </a:r>
          </a:p>
          <a:p>
            <a:r>
              <a:rPr lang="ru-RU" sz="2000" dirty="0">
                <a:latin typeface="+mn-lt"/>
              </a:rPr>
              <a:t>"Лодки", "автобусы", "проводники" – схемы контрабанды людей.</a:t>
            </a:r>
          </a:p>
          <a:p>
            <a:r>
              <a:rPr lang="ru-RU" sz="2000" dirty="0">
                <a:latin typeface="+mn-lt"/>
              </a:rPr>
              <a:t>Использование поддельных документов.</a:t>
            </a:r>
          </a:p>
          <a:p>
            <a:r>
              <a:rPr lang="ru-RU" sz="2000" dirty="0">
                <a:latin typeface="+mn-lt"/>
              </a:rPr>
              <a:t>Вымогательство и эксплуатация мигрантов.</a:t>
            </a:r>
          </a:p>
          <a:p>
            <a:r>
              <a:rPr lang="ru-RU" sz="2000" b="1" dirty="0">
                <a:latin typeface="+mn-lt"/>
              </a:rPr>
              <a:t>Недостаточность мер пограничного контроля в странах назначения:</a:t>
            </a:r>
          </a:p>
          <a:p>
            <a:r>
              <a:rPr lang="ru-RU" sz="2000" dirty="0">
                <a:latin typeface="+mn-lt"/>
              </a:rPr>
              <a:t>Длинные и плохо охраняемые границы.</a:t>
            </a:r>
          </a:p>
          <a:p>
            <a:r>
              <a:rPr lang="ru-RU" sz="2000" dirty="0">
                <a:latin typeface="+mn-lt"/>
              </a:rPr>
              <a:t>Нехватка персонала и современного оборудования.</a:t>
            </a:r>
          </a:p>
          <a:p>
            <a:r>
              <a:rPr lang="ru-RU" sz="2000" dirty="0">
                <a:latin typeface="+mn-lt"/>
              </a:rPr>
              <a:t>Коррупция на границах.</a:t>
            </a:r>
          </a:p>
          <a:p>
            <a:r>
              <a:rPr lang="ru-RU" sz="2000" b="1" dirty="0">
                <a:latin typeface="+mn-lt"/>
              </a:rPr>
              <a:t>Привлекательность "теневых" рынков труда:</a:t>
            </a:r>
          </a:p>
          <a:p>
            <a:r>
              <a:rPr lang="ru-RU" sz="2000" dirty="0">
                <a:latin typeface="+mn-lt"/>
              </a:rPr>
              <a:t>Спрос на дешевую рабочую силу, которую не всегда готовы обеспечивать легальные работники.</a:t>
            </a:r>
          </a:p>
          <a:p>
            <a:r>
              <a:rPr lang="ru-RU" sz="2000" dirty="0">
                <a:latin typeface="+mn-lt"/>
              </a:rPr>
              <a:t>Готовность работодателей использовать нелегальный труд из-за экономии на налогах и социальных отчислениях.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6D9B2-7E95-E96D-D019-4E7B8D10BBCE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Причины и механизмы нелегальной миграции.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A661F5D-F81A-E299-46F6-B5BC5332B2D6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3FF8B-F6F2-F34F-6DE8-27364A14E59C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3CB095-F10B-07DA-BCD7-3336132EA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179" y="1653024"/>
            <a:ext cx="5289828" cy="352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3937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D7A2-9AB3-D089-632C-C4064A61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B6B36-7B6F-0BB6-65C9-EBED87A65D24}"/>
              </a:ext>
            </a:extLst>
          </p:cNvPr>
          <p:cNvSpPr txBox="1"/>
          <p:nvPr/>
        </p:nvSpPr>
        <p:spPr>
          <a:xfrm>
            <a:off x="445527" y="1369587"/>
            <a:ext cx="6031473" cy="40934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sz="2000" b="1" dirty="0">
                <a:latin typeface="+mn-lt"/>
              </a:rPr>
              <a:t>Отсутствие контроля:</a:t>
            </a:r>
          </a:p>
          <a:p>
            <a:pPr algn="just"/>
            <a:r>
              <a:rPr lang="ru-RU" sz="2000" dirty="0">
                <a:latin typeface="+mn-lt"/>
              </a:rPr>
              <a:t>Невозможность отслеживать, кто въезжает в страну.</a:t>
            </a:r>
          </a:p>
          <a:p>
            <a:pPr algn="just"/>
            <a:r>
              <a:rPr lang="ru-RU" sz="2000" dirty="0">
                <a:latin typeface="+mn-lt"/>
              </a:rPr>
              <a:t>Риск проникновения криминальных элементов, террористов, шпионов.</a:t>
            </a:r>
          </a:p>
          <a:p>
            <a:pPr algn="just"/>
            <a:r>
              <a:rPr lang="ru-RU" sz="2000" b="1" dirty="0">
                <a:latin typeface="+mn-lt"/>
              </a:rPr>
              <a:t>Подрыв суверенитета:</a:t>
            </a:r>
          </a:p>
          <a:p>
            <a:pPr algn="just"/>
            <a:r>
              <a:rPr lang="ru-RU" sz="2000" dirty="0">
                <a:latin typeface="+mn-lt"/>
              </a:rPr>
              <a:t>Ослабление контроля границ государства.</a:t>
            </a:r>
          </a:p>
          <a:p>
            <a:pPr algn="just"/>
            <a:r>
              <a:rPr lang="ru-RU" sz="2000" dirty="0">
                <a:latin typeface="+mn-lt"/>
              </a:rPr>
              <a:t>Сложность в обеспечении правопорядка и национальной безопасности.</a:t>
            </a:r>
          </a:p>
          <a:p>
            <a:pPr algn="just"/>
            <a:r>
              <a:rPr lang="ru-RU" sz="2000" b="1" dirty="0">
                <a:latin typeface="+mn-lt"/>
              </a:rPr>
              <a:t>Фискальные риски:</a:t>
            </a:r>
          </a:p>
          <a:p>
            <a:pPr algn="just"/>
            <a:r>
              <a:rPr lang="ru-RU" sz="2000" dirty="0">
                <a:latin typeface="+mn-lt"/>
              </a:rPr>
              <a:t>Масштабная неуплата налогов, теневая экономика.</a:t>
            </a:r>
          </a:p>
          <a:p>
            <a:pPr algn="just"/>
            <a:r>
              <a:rPr lang="ru-RU" sz="2000" dirty="0">
                <a:latin typeface="+mn-lt"/>
              </a:rPr>
              <a:t>Дополнительная нагрузка на бюджет (расходы на охрану границ, социальные программы для депортированных, правоохранительные органы).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DBC4A-38A8-F35B-B3E0-7999F702E25A}"/>
              </a:ext>
            </a:extLst>
          </p:cNvPr>
          <p:cNvSpPr txBox="1"/>
          <p:nvPr/>
        </p:nvSpPr>
        <p:spPr>
          <a:xfrm>
            <a:off x="14122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Угрозы государственной безопасности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400D52-99AC-F7C5-EA76-5564025613A9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409F5-B11C-B08C-AEA0-72C0B5EF30E2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D23452-AFC2-4B82-85ED-8FA19855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2" y="1892163"/>
            <a:ext cx="5797867" cy="304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429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9DE4-0657-65D4-B656-C5270C62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01AF6-DE8E-7A7F-1E09-3A9E047B361E}"/>
              </a:ext>
            </a:extLst>
          </p:cNvPr>
          <p:cNvSpPr txBox="1"/>
          <p:nvPr/>
        </p:nvSpPr>
        <p:spPr>
          <a:xfrm>
            <a:off x="502676" y="754033"/>
            <a:ext cx="7338304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2000" b="1" dirty="0">
                <a:latin typeface="+mn-lt"/>
              </a:rPr>
              <a:t>Рост преступности:</a:t>
            </a:r>
            <a:endParaRPr lang="ru-RU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Общая динамика: За I квартал 2025 года число преступлений, совершенных иностранцами, выросло на 15% (с 10,8 тыс. до 12,4 тыс. случаев).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Связь с организованной преступностью (торговля людьми, наркотиками, контрабанда).</a:t>
            </a:r>
          </a:p>
          <a:p>
            <a:r>
              <a:rPr lang="ru-RU" sz="2000" b="1" dirty="0">
                <a:latin typeface="+mn-lt"/>
              </a:rPr>
              <a:t>Социальная напряженность:</a:t>
            </a:r>
            <a:endParaRPr lang="en-US" sz="2000" b="1" dirty="0">
              <a:latin typeface="+mn-lt"/>
            </a:endParaRPr>
          </a:p>
          <a:p>
            <a:r>
              <a:rPr lang="ru-RU" sz="2000" dirty="0">
                <a:latin typeface="+mn-lt"/>
              </a:rPr>
              <a:t>Конкуренция за рабочие места (особенно на низкоквалифицированных позициях).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Перегрузка социальных служб (медицина, образование), когда мигранты не платят налоги.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Рост межнациональной напряженности,</a:t>
            </a:r>
            <a:r>
              <a:rPr lang="en-US" sz="2000" dirty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ксенофобия.</a:t>
            </a:r>
          </a:p>
          <a:p>
            <a:r>
              <a:rPr lang="ru-RU" sz="2000" dirty="0">
                <a:latin typeface="+mn-lt"/>
              </a:rPr>
              <a:t>Появление закрытых анклавов, где не действуют законы государства.</a:t>
            </a:r>
          </a:p>
          <a:p>
            <a:r>
              <a:rPr lang="ru-RU" sz="2000" b="1" dirty="0">
                <a:latin typeface="+mn-lt"/>
              </a:rPr>
              <a:t>Риски для здоровья населения:</a:t>
            </a:r>
            <a:endParaRPr lang="en-US" sz="2000" b="1" dirty="0">
              <a:latin typeface="+mn-lt"/>
            </a:endParaRPr>
          </a:p>
          <a:p>
            <a:r>
              <a:rPr lang="ru-RU" sz="2000" dirty="0">
                <a:latin typeface="+mn-lt"/>
              </a:rPr>
              <a:t>Распространение инфекционных заболеваний из-за отсутствия медицинского контроля.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8E16B-C2FE-E831-CE34-33C48E78065B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Угрозы общественной безопасности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4E4D55-903B-10DA-585C-B2774D137C04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6A45E-C4B3-9340-A7A6-A413616D77B7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37A9B5-63C3-CBD6-D216-F92ED7E7B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230" y="1872130"/>
            <a:ext cx="5144186" cy="377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7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2C51-1A3D-BDE0-0A3F-5782C3B9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C411A-BE47-5EA0-24C9-A3D60EE80D04}"/>
              </a:ext>
            </a:extLst>
          </p:cNvPr>
          <p:cNvSpPr txBox="1"/>
          <p:nvPr/>
        </p:nvSpPr>
        <p:spPr>
          <a:xfrm>
            <a:off x="625513" y="1215698"/>
            <a:ext cx="6403937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2000" b="1" dirty="0">
                <a:latin typeface="+mn-lt"/>
              </a:rPr>
              <a:t>Ущерб для легального бизнеса:</a:t>
            </a:r>
            <a:endParaRPr lang="en-US" sz="2000" b="1" dirty="0">
              <a:latin typeface="+mn-lt"/>
            </a:endParaRPr>
          </a:p>
          <a:p>
            <a:r>
              <a:rPr lang="ru-RU" sz="2000" dirty="0">
                <a:latin typeface="+mn-lt"/>
              </a:rPr>
              <a:t>Недобросовестная конкуренция со стороны работодателей, использующих нелегальный труд.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Снижение заработной платы для легальных работников.</a:t>
            </a:r>
          </a:p>
          <a:p>
            <a:r>
              <a:rPr lang="ru-RU" sz="2000" b="1" dirty="0">
                <a:latin typeface="+mn-lt"/>
              </a:rPr>
              <a:t>Скрытая экономика:</a:t>
            </a:r>
            <a:endParaRPr lang="en-US" sz="2000" b="1" dirty="0">
              <a:latin typeface="+mn-lt"/>
            </a:endParaRPr>
          </a:p>
          <a:p>
            <a:r>
              <a:rPr lang="ru-RU" sz="2000" dirty="0">
                <a:latin typeface="+mn-lt"/>
              </a:rPr>
              <a:t>Увеличение доли теневого сектора, который сложно контролировать и </a:t>
            </a:r>
            <a:r>
              <a:rPr lang="ru-RU" sz="2000" dirty="0" err="1">
                <a:latin typeface="+mn-lt"/>
              </a:rPr>
              <a:t>налогооблагать</a:t>
            </a:r>
            <a:r>
              <a:rPr lang="ru-RU" sz="2000" dirty="0">
                <a:latin typeface="+mn-lt"/>
              </a:rPr>
              <a:t>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Уклонение от уплаты налогов и социальных взносов.</a:t>
            </a:r>
          </a:p>
          <a:p>
            <a:r>
              <a:rPr lang="ru-RU" sz="2000" b="1" dirty="0">
                <a:latin typeface="+mn-lt"/>
              </a:rPr>
              <a:t>Нагрузка на социальные системы:</a:t>
            </a:r>
            <a:endParaRPr lang="en-US" sz="2000" b="1" dirty="0">
              <a:latin typeface="+mn-lt"/>
            </a:endParaRPr>
          </a:p>
          <a:p>
            <a:r>
              <a:rPr lang="ru-RU" sz="2000" dirty="0">
                <a:latin typeface="+mn-lt"/>
              </a:rPr>
              <a:t>Использование государственных социальных служб (здравоохранение, образование) без внесения вклада через налоги.</a:t>
            </a:r>
            <a:endParaRPr lang="en-US" sz="2000" dirty="0">
              <a:latin typeface="+mn-lt"/>
            </a:endParaRPr>
          </a:p>
          <a:p>
            <a:r>
              <a:rPr lang="ru-RU" sz="2000" dirty="0">
                <a:latin typeface="+mn-lt"/>
              </a:rPr>
              <a:t>Расходы на депортацию и содержание мигрантов в центрах временного содержания.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8A826-FD60-9CE8-C072-5D5378BAE440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Последствия нелегальной миграции для экономики.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1EC7D8-2F8B-9E27-B2D3-95AD5B221A75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AA1B1-6907-F0A5-F408-A3CEE4A0CD5D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500500-BC56-B207-1892-683403273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80" y="1918325"/>
            <a:ext cx="5326134" cy="29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125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3728-DE7E-8A88-FE66-8D900D6D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D08EC9-17AF-497C-2BE5-6F07B94915E0}"/>
              </a:ext>
            </a:extLst>
          </p:cNvPr>
          <p:cNvSpPr txBox="1"/>
          <p:nvPr/>
        </p:nvSpPr>
        <p:spPr>
          <a:xfrm>
            <a:off x="625513" y="1400364"/>
            <a:ext cx="6065876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/>
              <a:t>Усиление пограничного контроля:</a:t>
            </a:r>
          </a:p>
          <a:p>
            <a:r>
              <a:rPr lang="ru-RU" dirty="0"/>
              <a:t>Современные технологии, увеличение штата, международное сотрудничество.</a:t>
            </a:r>
          </a:p>
          <a:p>
            <a:r>
              <a:rPr lang="ru-RU" dirty="0"/>
              <a:t>Борьба с коррупцией в пограничных службах.</a:t>
            </a:r>
          </a:p>
          <a:p>
            <a:r>
              <a:rPr lang="ru-RU" b="1" dirty="0"/>
              <a:t>Международное сотрудничество:</a:t>
            </a:r>
          </a:p>
          <a:p>
            <a:r>
              <a:rPr lang="ru-RU" dirty="0"/>
              <a:t>Работа с странами исхода: помощь в стабилизации, создание безопасных условий для жизни.</a:t>
            </a:r>
          </a:p>
          <a:p>
            <a:r>
              <a:rPr lang="ru-RU" dirty="0"/>
              <a:t>Совместная борьба с организованной преступностью.</a:t>
            </a:r>
          </a:p>
          <a:p>
            <a:r>
              <a:rPr lang="ru-RU" dirty="0"/>
              <a:t>Обмен информацией.</a:t>
            </a:r>
          </a:p>
          <a:p>
            <a:r>
              <a:rPr lang="ru-RU" b="1" dirty="0"/>
              <a:t>Борьба с теневой экономикой:</a:t>
            </a:r>
          </a:p>
          <a:p>
            <a:r>
              <a:rPr lang="ru-RU" dirty="0"/>
              <a:t>Жесткий контроль за работодателями, использующими нелегальный труд.</a:t>
            </a:r>
          </a:p>
          <a:p>
            <a:r>
              <a:rPr lang="ru-RU" dirty="0"/>
              <a:t>Программы легализации для определенных категорий.</a:t>
            </a:r>
          </a:p>
          <a:p>
            <a:r>
              <a:rPr lang="ru-RU" b="1" dirty="0"/>
              <a:t>Эффективная система реадмиссии и депортации:</a:t>
            </a:r>
          </a:p>
          <a:p>
            <a:r>
              <a:rPr lang="ru-RU" dirty="0"/>
              <a:t>Быстрое и законное возвращение нарушителей.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78124-FCB5-8A63-A456-F420E8019F55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Меры по обеспечению безопасности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F9B7B5-A17F-B6A6-677D-2F85C4331CF3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5DB84-BF28-1DD7-E7B0-4CB32ABA51DC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1A6407-17FA-23C4-0BA8-F7D2C7276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010" y="1634636"/>
            <a:ext cx="5704256" cy="377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3656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5832-A372-2190-A4DE-901C4EFB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5FDEA-DEB9-C9AA-A7CB-7D7A28A0FF45}"/>
              </a:ext>
            </a:extLst>
          </p:cNvPr>
          <p:cNvSpPr txBox="1"/>
          <p:nvPr/>
        </p:nvSpPr>
        <p:spPr>
          <a:xfrm>
            <a:off x="784738" y="1423982"/>
            <a:ext cx="11384524" cy="40934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sz="2000" dirty="0">
                <a:latin typeface="+mn-lt"/>
              </a:rPr>
              <a:t>Нелегальная и бесконтрольная миграция представляет собой комплексную угрозу, оказывающую</a:t>
            </a:r>
            <a:r>
              <a:rPr lang="en-US" sz="2000" dirty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дальновидное воздействие на все аспекты национальной безопасности. От личной безопасности граждан, подверженных риску роста преступности, до государственного суверенитета, ослабляемого потерей контроля над границами.</a:t>
            </a:r>
          </a:p>
          <a:p>
            <a:pPr algn="just"/>
            <a:r>
              <a:rPr lang="ru-RU" sz="2000" dirty="0">
                <a:latin typeface="+mn-lt"/>
              </a:rPr>
              <a:t>Эта проблема создает благоприятную среду для развития:</a:t>
            </a:r>
          </a:p>
          <a:p>
            <a:pPr algn="just"/>
            <a:r>
              <a:rPr lang="ru-RU" sz="2000" dirty="0">
                <a:latin typeface="+mn-lt"/>
              </a:rPr>
              <a:t>Теневой экономики, подрывающей легальный бизнес и государственные доходы.</a:t>
            </a:r>
          </a:p>
          <a:p>
            <a:pPr algn="just"/>
            <a:r>
              <a:rPr lang="ru-RU" sz="2000" dirty="0">
                <a:latin typeface="+mn-lt"/>
              </a:rPr>
              <a:t>Экстремизма, который может использовать уязвимость миграционных потоков для проникновения и деятельности.</a:t>
            </a:r>
          </a:p>
          <a:p>
            <a:pPr algn="just"/>
            <a:r>
              <a:rPr lang="ru-RU" sz="2000" dirty="0">
                <a:latin typeface="+mn-lt"/>
              </a:rPr>
              <a:t>Социальной напряженности, вызванной конкуренцией за ресурсы, культурными различиями и отсутствием интеграции.</a:t>
            </a:r>
          </a:p>
          <a:p>
            <a:pPr algn="just"/>
            <a:r>
              <a:rPr lang="ru-RU" sz="2000" dirty="0">
                <a:latin typeface="+mn-lt"/>
              </a:rPr>
              <a:t>Таким образом, эффективное управление миграционными процессами является не просто вопросом порядка, но и ключевым фактором обеспечения стабильности, безопасности и устойчивого развития государства.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38D45-90DA-676F-2E80-CAD76172B5FB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Заключение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61B954-CB6D-817E-26E6-5B1AA0BFB1FC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5D80B-41C2-48BB-7715-962FE3EA23F8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3509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dirty="0">
                <a:solidFill>
                  <a:srgbClr val="FFFFFF"/>
                </a:solidFill>
                <a:ea typeface="Arial"/>
              </a:rPr>
              <a:t>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202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BB5FB11DB1E1646BC82780A61A24224" ma:contentTypeVersion="4" ma:contentTypeDescription="新建文档。" ma:contentTypeScope="" ma:versionID="d54f9aaac73cbd0e33c49a0a0505a298">
  <xsd:schema xmlns:xsd="http://www.w3.org/2001/XMLSchema" xmlns:xs="http://www.w3.org/2001/XMLSchema" xmlns:p="http://schemas.microsoft.com/office/2006/metadata/properties" xmlns:ns3="25776200-a998-4802-aa7c-f8150fa58e9b" targetNamespace="http://schemas.microsoft.com/office/2006/metadata/properties" ma:root="true" ma:fieldsID="ff6e844e2a7bab483cfb815f7223a4e1" ns3:_="">
    <xsd:import namespace="25776200-a998-4802-aa7c-f8150fa58e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76200-a998-4802-aa7c-f8150fa58e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C57BF7-EF87-4F98-ACEC-E38E13FD15DE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25776200-a998-4802-aa7c-f8150fa58e9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F7B2AF-6226-45E2-92EF-D80588D20A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81F808-A478-4884-ABFB-0D818BA688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776200-a998-4802-aa7c-f8150fa58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690</Words>
  <Application>Microsoft Office PowerPoint</Application>
  <PresentationFormat>Произвольный</PresentationFormat>
  <Paragraphs>85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Helvetica Neue</vt:lpstr>
      <vt:lpstr>Times New Roman</vt:lpstr>
      <vt:lpstr>Тема Office</vt:lpstr>
      <vt:lpstr>1_Тема Office</vt:lpstr>
      <vt:lpstr>Нелегальная и бесконтрольная миграция как проблема государственной и общественной безопасности страны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Office</cp:lastModifiedBy>
  <cp:revision>311</cp:revision>
  <dcterms:modified xsi:type="dcterms:W3CDTF">2026-04-21T12:57:02Z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0x0101008BB5FB11DB1E1646BC82780A61A24224</vt:lpwstr>
  </property>
</Properties>
</file>