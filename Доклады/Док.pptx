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5" r:id="rId5"/>
  </p:sldMasterIdLst>
  <p:notesMasterIdLst>
    <p:notesMasterId r:id="rId18"/>
  </p:notesMasterIdLst>
  <p:sldIdLst>
    <p:sldId id="273" r:id="rId6"/>
    <p:sldId id="257" r:id="rId7"/>
    <p:sldId id="269" r:id="rId8"/>
    <p:sldId id="270" r:id="rId9"/>
    <p:sldId id="272" r:id="rId10"/>
    <p:sldId id="271" r:id="rId11"/>
    <p:sldId id="268" r:id="rId12"/>
    <p:sldId id="264" r:id="rId13"/>
    <p:sldId id="265" r:id="rId14"/>
    <p:sldId id="266" r:id="rId15"/>
    <p:sldId id="267" r:id="rId16"/>
    <p:sldId id="334" r:id="rId17"/>
  </p:sldIdLst>
  <p:sldSz cx="12954000" cy="6832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19E4F-082D-4C17-BAB3-5A923599836D}" v="31" dt="2025-11-05T12:32:48.36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ACC"/>
          </a:solidFill>
        </a:fill>
      </a:tcStyle>
    </a:wholeTbl>
    <a:band2H>
      <a:tcTxStyle/>
      <a:tcStyle>
        <a:tcBdr/>
        <a:fill>
          <a:solidFill>
            <a:srgbClr val="F0E6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DEE9"/>
          </a:solidFill>
        </a:fill>
      </a:tcStyle>
    </a:wholeTbl>
    <a:band2H>
      <a:tcTxStyle/>
      <a:tcStyle>
        <a:tcBdr/>
        <a:fill>
          <a:solidFill>
            <a:srgbClr val="EDEF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2"/>
          </a:solidFill>
        </a:fill>
      </a:tcStyle>
    </a:wholeTbl>
    <a:band2H>
      <a:tcTxStyle/>
      <a:tcStyle>
        <a:tcBdr/>
        <a:fill>
          <a:solidFill>
            <a:srgbClr val="E6F0F1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9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6" name="Straight Connector 11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19196"/>
            <a:ext cx="8649708" cy="5351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5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  <a:lvl2pPr indent="456056">
              <a:defRPr sz="3600" b="1">
                <a:solidFill>
                  <a:schemeClr val="accent1"/>
                </a:solidFill>
              </a:defRPr>
            </a:lvl2pPr>
            <a:lvl3pPr indent="912113">
              <a:defRPr sz="3600" b="1">
                <a:solidFill>
                  <a:schemeClr val="accent1"/>
                </a:solidFill>
              </a:defRPr>
            </a:lvl3pPr>
            <a:lvl4pPr indent="1368171">
              <a:defRPr sz="3600" b="1">
                <a:solidFill>
                  <a:schemeClr val="accent1"/>
                </a:solidFill>
              </a:defRPr>
            </a:lvl4pPr>
            <a:lvl5pPr indent="1824227">
              <a:defRPr sz="3600" b="1">
                <a:solidFill>
                  <a:schemeClr val="accent1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5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0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77012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  <a:lvl2pPr indent="456056">
              <a:defRPr sz="3600" b="1">
                <a:solidFill>
                  <a:srgbClr val="FFFFFF"/>
                </a:solidFill>
              </a:defRPr>
            </a:lvl2pPr>
            <a:lvl3pPr indent="912113">
              <a:defRPr sz="3600" b="1">
                <a:solidFill>
                  <a:srgbClr val="FFFFFF"/>
                </a:solidFill>
              </a:defRPr>
            </a:lvl3pPr>
            <a:lvl4pPr indent="1368171">
              <a:defRPr sz="3600" b="1">
                <a:solidFill>
                  <a:srgbClr val="FFFFFF"/>
                </a:solidFill>
              </a:defRPr>
            </a:lvl4pPr>
            <a:lvl5pPr indent="1824227">
              <a:defRPr sz="3600" b="1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003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5" name="Picture 16" descr="Picture 16"/>
          <p:cNvPicPr>
            <a:picLocks noChangeAspect="1"/>
          </p:cNvPicPr>
          <p:nvPr/>
        </p:nvPicPr>
        <p:blipFill>
          <a:blip r:embed="rId2"/>
          <a:srcRect t="4828"/>
          <a:stretch>
            <a:fillRect/>
          </a:stretch>
        </p:blipFill>
        <p:spPr>
          <a:xfrm>
            <a:off x="10684389" y="-1"/>
            <a:ext cx="1950722" cy="97615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Box 1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67" name="Straight Connector 1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9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00000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9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04" name="Straight Connector 12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863999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06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9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TextBox 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19" name="Straight Connector 14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2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TextBox 1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35" name="Straight Connector 1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37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0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1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2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4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" name="TextBox 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54" name="Straight Connector 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900"/>
            </a:lvl1pPr>
          </a:lstStyle>
          <a:p>
            <a:r>
              <a:t>Текст заголовка</a:t>
            </a:r>
          </a:p>
        </p:txBody>
      </p:sp>
      <p:sp>
        <p:nvSpPr>
          <p:cNvPr id="15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888888"/>
                </a:solidFill>
              </a:defRPr>
            </a:lvl1pPr>
            <a:lvl2pPr indent="456056">
              <a:defRPr sz="2300">
                <a:solidFill>
                  <a:srgbClr val="888888"/>
                </a:solidFill>
              </a:defRPr>
            </a:lvl2pPr>
            <a:lvl3pPr indent="912113">
              <a:defRPr sz="2300">
                <a:solidFill>
                  <a:srgbClr val="888888"/>
                </a:solidFill>
              </a:defRPr>
            </a:lvl3pPr>
            <a:lvl4pPr indent="1368171">
              <a:defRPr sz="2300">
                <a:solidFill>
                  <a:srgbClr val="888888"/>
                </a:solidFill>
              </a:defRPr>
            </a:lvl4pPr>
            <a:lvl5pPr indent="1824227">
              <a:defRPr sz="23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TextBox 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67" name="Straight Connector 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Титульный слайд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9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92" name="Рисунок 21" descr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95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Титульный слайд"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20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206" name="Рисунок 21" descr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09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21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</p:spPr>
        <p:txBody>
          <a:bodyPr lIns="25305" tIns="25305" rIns="25305" bIns="25305" anchor="b"/>
          <a:lstStyle>
            <a:lvl1pPr algn="ctr" defTabSz="291018"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Титульный слайд" type="tx">
  <p:cSld name="3_Титульный слайд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" name="Google Shape;17;p2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2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026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643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Пустой слайд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7548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488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>
  <p:cSld name="Титульный слайд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2285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900000" y="919196"/>
            <a:ext cx="8649708" cy="53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849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77012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8" descr="Picture 16"/>
          <p:cNvPicPr preferRelativeResize="0"/>
          <p:nvPr/>
        </p:nvPicPr>
        <p:blipFill rotWithShape="1">
          <a:blip r:embed="rId2">
            <a:alphaModFix/>
          </a:blip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911285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7153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Рисунок с подписью">
  <p:cSld name="1_Рисунок с подписью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77" name="Google Shape;77;p10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00000" y="863999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3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07701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Рисунок с подписью">
  <p:cSld name="2_Рисунок с подписью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87" name="Google Shape;87;p1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1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72217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Рисунок с подписью">
  <p:cSld name="3_Рисунок с подписью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5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6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7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049577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39873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0" name="Google Shape;120;p14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0503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Титульный слайд">
  <p:cSld name="7_Титульный слайд">
    <p:bg>
      <p:bgPr>
        <a:solidFill>
          <a:srgbClr val="80808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6" name="Google Shape;126;p15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0" name="Google Shape;130;p15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76539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Титульный слайд">
  <p:cSld name="8_Титульный слайд">
    <p:bg>
      <p:bgPr>
        <a:solidFill>
          <a:srgbClr val="A6A6A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6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1582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" tIns="25300" rIns="25300" bIns="253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0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9" descr="Рисунок 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extBox 1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" name="Straight Connector 16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Рисунок 7" descr="Рисунок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02203" y="0"/>
            <a:ext cx="1058147" cy="684053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Текст заголовка</a:t>
            </a:r>
          </a:p>
        </p:txBody>
      </p:sp>
      <p:sp>
        <p:nvSpPr>
          <p:cNvPr id="9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4" r:id="rId13"/>
  </p:sldLayoutIdLst>
  <p:transition spd="med"/>
  <p:txStyles>
    <p:titleStyle>
      <a:lvl1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494900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950957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07014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863071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Рисунок 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Google Shape;10;p1" descr="Рисунок 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902203" y="0"/>
            <a:ext cx="1058147" cy="68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30732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827525" y="1257075"/>
            <a:ext cx="105774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ru-RU" sz="6000" dirty="0">
                <a:solidFill>
                  <a:schemeClr val="lt1"/>
                </a:solidFill>
              </a:rPr>
              <a:t>Военные конфликты</a:t>
            </a:r>
            <a:endParaRPr sz="6000" dirty="0">
              <a:solidFill>
                <a:schemeClr val="lt1"/>
              </a:solidFill>
            </a:endParaRPr>
          </a:p>
        </p:txBody>
      </p:sp>
      <p:sp>
        <p:nvSpPr>
          <p:cNvPr id="286" name="Google Shape;286;p35"/>
          <p:cNvSpPr txBox="1">
            <a:spLocks noGrp="1"/>
          </p:cNvSpPr>
          <p:nvPr>
            <p:ph type="body" idx="1"/>
          </p:nvPr>
        </p:nvSpPr>
        <p:spPr>
          <a:xfrm>
            <a:off x="8990091" y="5078387"/>
            <a:ext cx="2350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 err="1"/>
              <a:t>Выполнили</a:t>
            </a:r>
            <a:r>
              <a:rPr lang="en-US" sz="1400" dirty="0"/>
              <a:t>: 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 err="1"/>
              <a:t>Лапшов</a:t>
            </a:r>
            <a:r>
              <a:rPr lang="en-US" sz="1400" dirty="0"/>
              <a:t> </a:t>
            </a:r>
            <a:r>
              <a:rPr lang="en-US" sz="1400" dirty="0" err="1"/>
              <a:t>Артем</a:t>
            </a:r>
            <a:r>
              <a:rPr lang="ru-RU" sz="1400" dirty="0"/>
              <a:t>, Павликов Максим</a:t>
            </a:r>
            <a:endParaRPr sz="1400" dirty="0"/>
          </a:p>
        </p:txBody>
      </p:sp>
      <p:sp>
        <p:nvSpPr>
          <p:cNvPr id="287" name="Google Shape;287;p35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1223475" y="3539500"/>
            <a:ext cx="750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5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202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467B5-FC47-EF64-3529-2AE5DDC27188}"/>
              </a:ext>
            </a:extLst>
          </p:cNvPr>
          <p:cNvSpPr txBox="1"/>
          <p:nvPr/>
        </p:nvSpPr>
        <p:spPr>
          <a:xfrm>
            <a:off x="445526" y="821141"/>
            <a:ext cx="7714705" cy="5632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b="1" dirty="0">
                <a:latin typeface="+mn-lt"/>
              </a:rPr>
              <a:t>Причины:</a:t>
            </a:r>
          </a:p>
          <a:p>
            <a:r>
              <a:rPr lang="ru-RU" dirty="0">
                <a:latin typeface="+mn-lt"/>
              </a:rPr>
              <a:t>- </a:t>
            </a:r>
            <a:r>
              <a:rPr lang="ru-RU" b="1" dirty="0">
                <a:latin typeface="+mn-lt"/>
              </a:rPr>
              <a:t>Территориальный спор:</a:t>
            </a:r>
            <a:r>
              <a:rPr lang="ru-RU" dirty="0">
                <a:latin typeface="+mn-lt"/>
              </a:rPr>
              <a:t> Конфликт из-за контроля над водным путем Шатт-эль-Араб (пограничная река).</a:t>
            </a:r>
          </a:p>
          <a:p>
            <a:r>
              <a:rPr lang="ru-RU" b="1" dirty="0">
                <a:latin typeface="+mn-lt"/>
              </a:rPr>
              <a:t>- Амбиции Саддама Хусейна:</a:t>
            </a:r>
            <a:r>
              <a:rPr lang="ru-RU" dirty="0">
                <a:latin typeface="+mn-lt"/>
              </a:rPr>
              <a:t> Желание стать лидером арабского мира и остановить экспорт исламской революции из Ирана.</a:t>
            </a:r>
          </a:p>
          <a:p>
            <a:r>
              <a:rPr lang="ru-RU" b="1" dirty="0">
                <a:latin typeface="+mn-lt"/>
              </a:rPr>
              <a:t>- Религиозный и этнический фактор:</a:t>
            </a:r>
            <a:r>
              <a:rPr lang="ru-RU" dirty="0">
                <a:latin typeface="+mn-lt"/>
              </a:rPr>
              <a:t> Опасения Ирака по поводу шиитского большинства на юге страны под влиянием шиитского Ирана.</a:t>
            </a:r>
          </a:p>
          <a:p>
            <a:pPr algn="just"/>
            <a:r>
              <a:rPr lang="ru-RU" b="1" dirty="0">
                <a:latin typeface="+mn-lt"/>
              </a:rPr>
              <a:t>Ключевые события:</a:t>
            </a:r>
          </a:p>
          <a:p>
            <a:r>
              <a:rPr lang="ru-RU" dirty="0">
                <a:latin typeface="+mn-lt"/>
              </a:rPr>
              <a:t>- Сентябрь 1980: Внезапное вторжение иракских войск на территорию Ирана.</a:t>
            </a:r>
          </a:p>
          <a:p>
            <a:r>
              <a:rPr lang="ru-RU" dirty="0">
                <a:latin typeface="+mn-lt"/>
              </a:rPr>
              <a:t>- 1982–1986: Переход инициативы к Ирану, затяжные позиционные бои («Война городов»).</a:t>
            </a:r>
          </a:p>
          <a:p>
            <a:r>
              <a:rPr lang="ru-RU" dirty="0">
                <a:latin typeface="+mn-lt"/>
              </a:rPr>
              <a:t>- Применение химического оружия Ираком против иранских войск и курдов.</a:t>
            </a:r>
          </a:p>
          <a:p>
            <a:r>
              <a:rPr lang="ru-RU" dirty="0">
                <a:latin typeface="+mn-lt"/>
              </a:rPr>
              <a:t>- «Война танкеров»: атаки на нефтяные танкеры в Персидском заливе.</a:t>
            </a:r>
          </a:p>
          <a:p>
            <a:pPr algn="just"/>
            <a:r>
              <a:rPr lang="ru-RU" b="1" dirty="0">
                <a:latin typeface="+mn-lt"/>
              </a:rPr>
              <a:t>Итоги:</a:t>
            </a:r>
            <a:endParaRPr lang="ru-RU" dirty="0">
              <a:latin typeface="+mn-lt"/>
            </a:endParaRPr>
          </a:p>
          <a:p>
            <a:r>
              <a:rPr lang="ru-RU" dirty="0">
                <a:latin typeface="+mn-lt"/>
              </a:rPr>
              <a:t>- Возврат к довоенным границам (статус-кво). Ничья.</a:t>
            </a:r>
          </a:p>
          <a:p>
            <a:r>
              <a:rPr lang="ru-RU" dirty="0">
                <a:latin typeface="+mn-lt"/>
              </a:rPr>
              <a:t>- Огромные потери: около миллиона погибших с обеих сторон.</a:t>
            </a:r>
          </a:p>
          <a:p>
            <a:r>
              <a:rPr lang="ru-RU" dirty="0">
                <a:latin typeface="+mn-lt"/>
              </a:rPr>
              <a:t>- Экономика обеих стран разрушена, огромные долги.</a:t>
            </a:r>
          </a:p>
          <a:p>
            <a:r>
              <a:rPr lang="ru-RU" dirty="0">
                <a:latin typeface="+mn-lt"/>
              </a:rPr>
              <a:t>- Ирак остается с мощной армией, что позволит ему через 2 года вторгнуться в Кувейт.</a:t>
            </a:r>
          </a:p>
          <a:p>
            <a:pPr algn="just"/>
            <a:endParaRPr lang="ru-RU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FE13D-AC9E-29DD-6442-C1B7223FBE5A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Ирано-иракская война (1980–1988)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CAD7DB-4367-98C4-C2E5-A8200CCA5257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C61AA-F65C-D50D-9056-C526D1BE7B1B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578092-A405-2C11-0FEC-1F979AE76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86" y="1980587"/>
            <a:ext cx="45148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94E6-D05D-E069-B0B4-4BABE432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895F88-E7DC-B285-7706-ACFEC391284E}"/>
              </a:ext>
            </a:extLst>
          </p:cNvPr>
          <p:cNvSpPr txBox="1"/>
          <p:nvPr/>
        </p:nvSpPr>
        <p:spPr>
          <a:xfrm>
            <a:off x="625514" y="738515"/>
            <a:ext cx="6538338" cy="6186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b="1" dirty="0">
                <a:latin typeface="+mn-lt"/>
              </a:rPr>
              <a:t>Причины: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Борьба за власть между прокоммунистическим правительством (НДПА) и моджахедами.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Стремление сохранить дружественный режим у своих южных границ и не допустить распространения исламского фундаментализма из Ирана.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Ввод войск для «ограниченного контингента» с целью быстрой стабилизации обернулся ловушкой.</a:t>
            </a:r>
          </a:p>
          <a:p>
            <a:r>
              <a:rPr lang="ru-RU" b="1" dirty="0">
                <a:latin typeface="+mn-lt"/>
              </a:rPr>
              <a:t>Ключевые события:</a:t>
            </a:r>
            <a:endParaRPr lang="ru-RU" dirty="0">
              <a:latin typeface="+mn-lt"/>
            </a:endParaRPr>
          </a:p>
          <a:p>
            <a:r>
              <a:rPr lang="ru-RU" dirty="0">
                <a:latin typeface="+mn-lt"/>
              </a:rPr>
              <a:t>Декабрь 1979: Штурм дворца Амина и ввод советских войск.</a:t>
            </a:r>
          </a:p>
          <a:p>
            <a:r>
              <a:rPr lang="ru-RU" dirty="0">
                <a:latin typeface="+mn-lt"/>
              </a:rPr>
              <a:t>1980–1988: Партизанская война. Моджахеды получают поддержку от США (стингеры), Пакистана и Саудовской Аравии.</a:t>
            </a:r>
          </a:p>
          <a:p>
            <a:r>
              <a:rPr lang="ru-RU" dirty="0">
                <a:latin typeface="+mn-lt"/>
              </a:rPr>
              <a:t>Вывод советских войск (1988–1989) под руководством Горбачева.</a:t>
            </a:r>
          </a:p>
          <a:p>
            <a:pPr algn="just"/>
            <a:r>
              <a:rPr lang="ru-RU" b="1" dirty="0">
                <a:latin typeface="+mn-lt"/>
              </a:rPr>
              <a:t>Итоги:</a:t>
            </a:r>
            <a:endParaRPr lang="ru-RU" dirty="0">
              <a:latin typeface="+mn-lt"/>
            </a:endParaRPr>
          </a:p>
          <a:p>
            <a:pPr algn="just"/>
            <a:r>
              <a:rPr lang="ru-RU" dirty="0">
                <a:latin typeface="+mn-lt"/>
              </a:rPr>
              <a:t>- Вывод советских войск, провал попытки военного решения.</a:t>
            </a:r>
          </a:p>
          <a:p>
            <a:pPr algn="just"/>
            <a:r>
              <a:rPr lang="ru-RU" dirty="0">
                <a:latin typeface="+mn-lt"/>
              </a:rPr>
              <a:t>- Продолжение гражданской войны, приход к власти талибов в будущем.</a:t>
            </a:r>
          </a:p>
          <a:p>
            <a:pPr algn="just"/>
            <a:r>
              <a:rPr lang="ru-RU" dirty="0">
                <a:latin typeface="+mn-lt"/>
              </a:rPr>
              <a:t>- Огромные потери для СССР (около 15 тыс. солдат) и Афганистана (до 1 млн мирных жителей).</a:t>
            </a:r>
          </a:p>
          <a:p>
            <a:pPr algn="just"/>
            <a:br>
              <a:rPr lang="ru-RU" dirty="0">
                <a:latin typeface="+mn-lt"/>
              </a:rPr>
            </a:br>
            <a:endParaRPr lang="ru-RU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D06B9-569F-0C88-5199-2FA29D81C3C0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Война в Афганистане (1979–1989)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D4FE8F-4847-FCCD-37CA-07C57C9F7472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E46F0-DE1A-3EC6-7768-43BAC39410AB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C1C184-43F9-72E1-E152-C601534C0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486" y="2188691"/>
            <a:ext cx="4572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89790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69CD2-CD0D-C33A-A2DD-747604BA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F821D-0118-A892-556F-6E693CEBD5D5}"/>
              </a:ext>
            </a:extLst>
          </p:cNvPr>
          <p:cNvSpPr txBox="1"/>
          <p:nvPr/>
        </p:nvSpPr>
        <p:spPr>
          <a:xfrm>
            <a:off x="893267" y="846366"/>
            <a:ext cx="6080474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b="1" dirty="0">
                <a:latin typeface="+mn-lt"/>
              </a:rPr>
              <a:t>Причины: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Израильский контроль над Западным берегом и сектором Газа с 1967 года.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 Тяжелые условия жизни палестинцев, безработица, ограничения.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Отсутствие политического решения палестинской проблемы и чувство безысходности.</a:t>
            </a:r>
          </a:p>
          <a:p>
            <a:pPr algn="just"/>
            <a:r>
              <a:rPr lang="ru-RU" b="1" dirty="0">
                <a:latin typeface="+mn-lt"/>
              </a:rPr>
              <a:t>Ключевые события:</a:t>
            </a:r>
          </a:p>
          <a:p>
            <a:pPr algn="just"/>
            <a:r>
              <a:rPr lang="ru-RU" dirty="0">
                <a:latin typeface="+mn-lt"/>
              </a:rPr>
              <a:t> Декабрь 1987 - автокатастрофа в Газе (гибель палестинцев от столкновения с израильским грузовиком) стала искрой восстания. Начались массовые забастовки, бойкот израильских товаров, уличные протесты. Символ интифады - молодежь с камнями против израильской армии.</a:t>
            </a:r>
          </a:p>
          <a:p>
            <a:pPr algn="just"/>
            <a:r>
              <a:rPr lang="ru-RU" b="1" dirty="0">
                <a:latin typeface="+mn-lt"/>
              </a:rPr>
              <a:t>Итоги:</a:t>
            </a:r>
            <a:endParaRPr lang="ru-RU" dirty="0">
              <a:latin typeface="+mn-lt"/>
            </a:endParaRPr>
          </a:p>
          <a:p>
            <a:pPr algn="just"/>
            <a:r>
              <a:rPr lang="ru-RU" dirty="0">
                <a:latin typeface="+mn-lt"/>
              </a:rPr>
              <a:t>Международное признание ООП, соглашения в Осло (1993), создание Палестинской автономии.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87371-E23F-483F-E466-74AD85465735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Первая палестинская интифада (1987–1993)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4B75A0-5596-F32A-E950-A91D45F9A311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0F9D5-B5FA-E57A-E3C1-E6BECE872103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741F18-AF4A-840F-3ADF-4F4497B1A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908" y="1574733"/>
            <a:ext cx="5341104" cy="348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5939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436-E282-1AF9-1B4A-09686FC1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42476-183D-AE55-0972-04397AC4069D}"/>
              </a:ext>
            </a:extLst>
          </p:cNvPr>
          <p:cNvSpPr txBox="1"/>
          <p:nvPr/>
        </p:nvSpPr>
        <p:spPr>
          <a:xfrm>
            <a:off x="893267" y="846366"/>
            <a:ext cx="6080474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b="1" dirty="0">
                <a:latin typeface="+mn-lt"/>
              </a:rPr>
              <a:t>Причины:</a:t>
            </a:r>
          </a:p>
          <a:p>
            <a:pPr algn="just"/>
            <a:r>
              <a:rPr lang="ru-RU" dirty="0">
                <a:latin typeface="+mn-lt"/>
              </a:rPr>
              <a:t>- Саддам Хусейн обвинил Кувейт в воровстве нефти (бурение наклонных скважин) и сбивании цен на нефть, обвиняя его в заговоре с целью ослабить Ирак.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Ирак исторически считал Кувейт своей 19-й провинцией.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2 августа 1990 года иракская армия вторглась и оккупировала Кувейт.</a:t>
            </a:r>
          </a:p>
          <a:p>
            <a:pPr algn="just"/>
            <a:r>
              <a:rPr lang="ru-RU" b="1" dirty="0">
                <a:latin typeface="+mn-lt"/>
              </a:rPr>
              <a:t>Ключевые события:</a:t>
            </a:r>
          </a:p>
          <a:p>
            <a:pPr algn="just"/>
            <a:r>
              <a:rPr lang="ru-RU" dirty="0">
                <a:latin typeface="+mn-lt"/>
              </a:rPr>
              <a:t> Создание международной коалиции (34 страны) во главе с США. Январь–февраль 1991 — воздушная кампания «Буря в пустыне» и наземная операция «Меч пустыни». Освобождение Кувейта за 100 часов.</a:t>
            </a:r>
          </a:p>
          <a:p>
            <a:pPr algn="just"/>
            <a:r>
              <a:rPr lang="ru-RU" b="1" dirty="0">
                <a:latin typeface="+mn-lt"/>
              </a:rPr>
              <a:t>Итоги:</a:t>
            </a:r>
          </a:p>
          <a:p>
            <a:pPr algn="just"/>
            <a:r>
              <a:rPr lang="ru-RU" dirty="0">
                <a:latin typeface="+mn-lt"/>
              </a:rPr>
              <a:t>Кувейт освобожден. Против Ирака введены жесткие санкции. США усилили военное присутствие в Саудовской Аравии.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3BB0C-1427-8D95-A52E-CA41D3A4BAA6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Война в Персидском заливе (1990–1991)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BDE310-2077-E439-91D9-8081514E03DB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4BACE-B16B-5312-BA12-4E989D97184C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C571FD5-7991-9D59-2897-64EF41267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343" y="1431946"/>
            <a:ext cx="5326118" cy="355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6765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3C843-B1A9-3423-94A7-AE713233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3CEF9-B0F2-17D8-67BA-9BCEF556F95E}"/>
              </a:ext>
            </a:extLst>
          </p:cNvPr>
          <p:cNvSpPr txBox="1"/>
          <p:nvPr/>
        </p:nvSpPr>
        <p:spPr>
          <a:xfrm>
            <a:off x="741918" y="972490"/>
            <a:ext cx="6080474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b="1" dirty="0">
                <a:latin typeface="+mn-lt"/>
              </a:rPr>
              <a:t>Причины:</a:t>
            </a:r>
          </a:p>
          <a:p>
            <a:pPr algn="just"/>
            <a:r>
              <a:rPr lang="ru-RU" dirty="0">
                <a:latin typeface="+mn-lt"/>
              </a:rPr>
              <a:t>Рост национализма после смерти Тито, экономический кризис, стремление республик к независимости и попытка Сербии сохранить единое государство под своим контролем.</a:t>
            </a:r>
          </a:p>
          <a:p>
            <a:pPr algn="just"/>
            <a:r>
              <a:rPr lang="ru-RU" b="1" dirty="0">
                <a:latin typeface="+mn-lt"/>
              </a:rPr>
              <a:t>Ключевые события: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1991 распад Югославии, войны в Словении и Хорватии.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1992–1995 Боснийская война, осада Сараево, этнические чистки, геноцид в Сребренице.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1995 вмешательство НАТО, Дейтонские соглашения.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1998–1999 война в Косово, бомбардировки Югославии силами НАТО.</a:t>
            </a:r>
            <a:endParaRPr lang="ru-RU" b="1" dirty="0">
              <a:latin typeface="+mn-lt"/>
            </a:endParaRPr>
          </a:p>
          <a:p>
            <a:pPr algn="just"/>
            <a:r>
              <a:rPr lang="ru-RU" b="1" dirty="0">
                <a:latin typeface="+mn-lt"/>
              </a:rPr>
              <a:t>Итоги:</a:t>
            </a:r>
            <a:endParaRPr lang="ru-RU" dirty="0">
              <a:latin typeface="+mn-lt"/>
            </a:endParaRPr>
          </a:p>
          <a:p>
            <a:pPr algn="just"/>
            <a:r>
              <a:rPr lang="ru-RU" dirty="0">
                <a:latin typeface="+mn-lt"/>
              </a:rPr>
              <a:t>Распад Югославии на 7 независимых государств. Около 140 тыс. погибших. Создание трибунала в Гааге. Косово провозгласило независимость.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88D90-7170-9D7A-C415-4718196E4903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Югославские войны (1991–2001)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7909D5-9341-04E7-F0A9-C6005BEA3BF4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15EAF-F88A-4A7C-CD0E-29954A74ACC2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73C8879-1550-9563-C4B6-D5C334C57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624" y="1723708"/>
            <a:ext cx="5463957" cy="360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235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A58F-941B-EF14-9E9C-B06418AC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30A6A-9B8C-0E01-7EA3-083142ADFE17}"/>
              </a:ext>
            </a:extLst>
          </p:cNvPr>
          <p:cNvSpPr txBox="1"/>
          <p:nvPr/>
        </p:nvSpPr>
        <p:spPr>
          <a:xfrm>
            <a:off x="893267" y="846366"/>
            <a:ext cx="6080474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ru-RU" b="1" dirty="0">
                <a:latin typeface="+mn-lt"/>
              </a:rPr>
              <a:t>Причины:</a:t>
            </a:r>
          </a:p>
          <a:p>
            <a:pPr algn="just"/>
            <a:r>
              <a:rPr lang="ru-RU" dirty="0">
                <a:latin typeface="+mn-lt"/>
              </a:rPr>
              <a:t>- Провал мирных переговоров и разочарование в соглашениях в Осло.</a:t>
            </a:r>
          </a:p>
          <a:p>
            <a:pPr algn="just"/>
            <a:r>
              <a:rPr lang="ru-RU" dirty="0">
                <a:latin typeface="+mn-lt"/>
              </a:rPr>
              <a:t>- Спровоцирована визитом Ариэля Шарона на Храмовую гору в сентябре 2000 года.</a:t>
            </a:r>
          </a:p>
          <a:p>
            <a:pPr algn="just"/>
            <a:r>
              <a:rPr lang="ru-RU" b="1" dirty="0">
                <a:latin typeface="+mn-lt"/>
              </a:rPr>
              <a:t>Характер конфликта и ключевые события:</a:t>
            </a:r>
          </a:p>
          <a:p>
            <a:pPr algn="just"/>
            <a:r>
              <a:rPr lang="ru-RU" dirty="0">
                <a:latin typeface="+mn-lt"/>
              </a:rPr>
              <a:t> Беспрецедентный уровень насилия. Палестинцы использовали теракты смертников, Израиль проводил масштабные военные операции («Защитная стена») и точечные ликвидации боевиков.</a:t>
            </a:r>
          </a:p>
          <a:p>
            <a:pPr algn="just"/>
            <a:r>
              <a:rPr lang="ru-RU" b="1" dirty="0">
                <a:latin typeface="+mn-lt"/>
              </a:rPr>
              <a:t>Итоги:</a:t>
            </a:r>
            <a:endParaRPr lang="ru-RU" dirty="0">
              <a:latin typeface="+mn-lt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3000-4000 человек погибших палестинцев.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+mn-lt"/>
              </a:rPr>
              <a:t>Около 1000 погибших израильтян.</a:t>
            </a:r>
          </a:p>
          <a:p>
            <a:pPr algn="just"/>
            <a:r>
              <a:rPr lang="ru-RU" dirty="0">
                <a:latin typeface="+mn-lt"/>
              </a:rPr>
              <a:t>- Крушение мирного процесса и изоляция Ясира Арафата.</a:t>
            </a:r>
          </a:p>
          <a:p>
            <a:pPr algn="just"/>
            <a:r>
              <a:rPr lang="ru-RU" dirty="0">
                <a:latin typeface="+mn-lt"/>
              </a:rPr>
              <a:t>- Начало строительства Израилем «разделительного барьера».</a:t>
            </a:r>
          </a:p>
          <a:p>
            <a:pPr algn="just"/>
            <a:r>
              <a:rPr lang="ru-RU" dirty="0">
                <a:latin typeface="+mn-lt"/>
              </a:rPr>
              <a:t>- Односторонний уход Израиля из сектора Газа (2005).</a:t>
            </a:r>
          </a:p>
          <a:p>
            <a:pPr algn="just"/>
            <a:endParaRPr lang="ru-RU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59C07-2724-78E8-6F47-C3BE8264C65E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Times New Roman"/>
                <a:cs typeface="Times New Roman"/>
              </a:rPr>
              <a:t>Вторая палестинская интифада (2000–2005)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36F35D-8514-12F1-8C36-53177568B2E9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DE53E-8389-C9B7-BD66-2E886FAB01B9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D58651-E5F0-9E89-B43F-3DC3CB21BB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205" y="1519947"/>
            <a:ext cx="5126480" cy="34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123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11CF-63DB-5222-4E04-0012DB27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E2669-0533-25BB-208F-3E280D3F1F85}"/>
              </a:ext>
            </a:extLst>
          </p:cNvPr>
          <p:cNvSpPr txBox="1"/>
          <p:nvPr/>
        </p:nvSpPr>
        <p:spPr>
          <a:xfrm>
            <a:off x="893267" y="846366"/>
            <a:ext cx="6080474" cy="48013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b="1" dirty="0">
                <a:latin typeface="+mn-lt"/>
              </a:rPr>
              <a:t>Причины: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Теракт 11 сентября 2001 года (организатор — "Аль-Каида" Усамы бен Ладена)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Отказ движения «Талибан» выдать террористов, базировавшихся в Афганистане</a:t>
            </a:r>
          </a:p>
          <a:p>
            <a:r>
              <a:rPr lang="ru-RU" b="1" dirty="0">
                <a:latin typeface="+mn-lt"/>
              </a:rPr>
              <a:t>Ключевые события: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- 2001 — свержение режима талибов силами США и «Северного альянса»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- 2011 — ликвидация бен Ладена в Пакистане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- 2020 — соглашение США с талибами о выводе войск</a:t>
            </a:r>
          </a:p>
          <a:p>
            <a:r>
              <a:rPr lang="ru-RU" b="1" dirty="0">
                <a:latin typeface="+mn-lt"/>
              </a:rPr>
              <a:t>Итоги: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Август 2021 — стремительное падение Кабула, возвращение «Талибана» к власти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Потери: ~2500 военных США, десятки тысяч афганцев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Затраты США: около </a:t>
            </a:r>
            <a:r>
              <a:rPr lang="ru-RU" b="1" dirty="0">
                <a:latin typeface="+mn-lt"/>
              </a:rPr>
              <a:t>2,3 трлн долларов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- Гуманитарный кризис в Афганистане</a:t>
            </a:r>
          </a:p>
          <a:p>
            <a:pPr algn="just"/>
            <a:endParaRPr lang="ru-RU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7F22A-D578-9657-FBD8-A4D58C0EC0B5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Times New Roman"/>
                <a:cs typeface="Times New Roman"/>
              </a:rPr>
              <a:t>Война в Афганистане (2001–2021)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D7C5E8-6430-6532-1158-24EE80E1DB36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5342C-FA9D-E335-62AD-EF21793261A0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9B0804-DB88-8DAB-28D6-063EBBC66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187" y="1504640"/>
            <a:ext cx="5141656" cy="342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507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ABD8-EC62-BA8A-EAD8-D4B58DF2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339D97-628F-9640-3E50-3635D355989E}"/>
              </a:ext>
            </a:extLst>
          </p:cNvPr>
          <p:cNvSpPr txBox="1"/>
          <p:nvPr/>
        </p:nvSpPr>
        <p:spPr>
          <a:xfrm>
            <a:off x="428319" y="730546"/>
            <a:ext cx="7919268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b="1" dirty="0">
                <a:latin typeface="+mn-lt"/>
              </a:rPr>
              <a:t>Причины: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Официальная причина — наличие у Ирака оружия массового поражения.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Свержение режима Саддама Хусейна и борьба с терроризмом после 11 сентября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Геополитические и экономические интересы США в регионе</a:t>
            </a:r>
          </a:p>
          <a:p>
            <a:r>
              <a:rPr lang="ru-RU" b="1" dirty="0">
                <a:latin typeface="+mn-lt"/>
              </a:rPr>
              <a:t>Ключевые события: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20 марта 2003 — вторжение сил США и коалиции (операция «Иракская свобода»)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9 апреля 2003 — падение Багдада, свержение статуи Саддама Хусейна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Декабрь 2003 — пленение Саддама Хусейна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2004–2007 — партизанская война и межконфессиональное насилие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30 декабря 2006 — казнь Саддама Хусейна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15 декабря 2011 — официальное завершение миссии США, вывод войск</a:t>
            </a:r>
          </a:p>
          <a:p>
            <a:r>
              <a:rPr lang="ru-RU" b="1" dirty="0">
                <a:latin typeface="+mn-lt"/>
              </a:rPr>
              <a:t>Итоги: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Режим Саддама Хусейна уничтожен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Оружие массового поражения не обнаружено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Потери США: около 4500 военнослужащих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Потери иракцев: от 150 000 до 300 000 человек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Финансовые затраты США: около 2 трлн долларов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• Дестабилизация региона, рост терроризма, возникновение ИГИЛ</a:t>
            </a:r>
          </a:p>
          <a:p>
            <a:pPr algn="just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F3855-2BF7-98A8-659C-1FA2CFC965C0}"/>
              </a:ext>
            </a:extLst>
          </p:cNvPr>
          <p:cNvSpPr txBox="1"/>
          <p:nvPr/>
        </p:nvSpPr>
        <p:spPr>
          <a:xfrm>
            <a:off x="1869460" y="154001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Times New Roman"/>
                <a:cs typeface="Times New Roman"/>
              </a:rPr>
              <a:t>Иракская война (2003–2011)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6D531C-67F1-F325-98AB-58A6F430A8EA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8876B-D4EB-6251-E89D-65A8404A1ABD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27CAD0-7C10-AC53-745C-CFA45EBE5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001" y="2011513"/>
            <a:ext cx="4907441" cy="299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222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621C-D1D3-CDE1-B078-881F08B0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45A693-AA42-A7B0-119D-BED002167F74}"/>
              </a:ext>
            </a:extLst>
          </p:cNvPr>
          <p:cNvSpPr txBox="1"/>
          <p:nvPr/>
        </p:nvSpPr>
        <p:spPr>
          <a:xfrm>
            <a:off x="428318" y="730546"/>
            <a:ext cx="7181849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b="1" dirty="0">
                <a:latin typeface="+mn-lt"/>
              </a:rPr>
              <a:t>Причины: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После свержения и убийства Муаммара Каддафи в 2011 году в стране образовался вакуум власти. Началась борьба за нефтяные ресурсы между многочисленными вооруженными группировками. Сформировалось двоевластие: Правительство национального согласия в Триполи (запад) и Ливийская национальная армия Халифы Хафтара на востоке. В конфликт вмешались внешние силы: Турция поддержала Триполи, Египет, ОАЭ и Россия — Хафтара.</a:t>
            </a:r>
          </a:p>
          <a:p>
            <a:r>
              <a:rPr lang="ru-RU" b="1" dirty="0">
                <a:latin typeface="+mn-lt"/>
              </a:rPr>
              <a:t>Ключевые события: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2014 — начало активной фазы войны. 2015 — создание Правительства национального согласия в Триполи при поддержке ООН. Апрель 2019 — наступление Хафтара на Триполи. 2019–2020 — вмешательство Турции переломило ход войны. Июнь 2020 — силы Хафтара отступили. Октябрь 2020 — подписание соглашения о прекращении огня.</a:t>
            </a:r>
          </a:p>
          <a:p>
            <a:r>
              <a:rPr lang="ru-RU" b="1" dirty="0">
                <a:latin typeface="+mn-lt"/>
              </a:rPr>
              <a:t>Итоги: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Боевые действия прекращены, но страна остается расколотой. Сохраняется политический кризис и двоевластие. Экономика разрушена, продолжается борьба за контроль над нефтяными месторождениями. В стране сохраняется присутствие иностранных наемников и военных.</a:t>
            </a:r>
          </a:p>
          <a:p>
            <a:pPr algn="just"/>
            <a:endParaRPr lang="ru-RU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56087-8507-FCE4-4DB8-F8BB66E2C9DB}"/>
              </a:ext>
            </a:extLst>
          </p:cNvPr>
          <p:cNvSpPr txBox="1"/>
          <p:nvPr/>
        </p:nvSpPr>
        <p:spPr>
          <a:xfrm>
            <a:off x="1661772" y="106986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Гражданская война в Ливии </a:t>
            </a:r>
            <a:endParaRPr lang="ru-RU" sz="2800" b="1" dirty="0">
              <a:latin typeface="+mn-lt"/>
              <a:cs typeface="Times New Roman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E5B3E1-9D48-C1C9-D31C-2F3D351136CD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AC609-AE25-0112-1D4A-228B98548AEB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2C486D-CCBC-A98E-D469-32D353AFAC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483" y="1637046"/>
            <a:ext cx="4986390" cy="332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588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43B3-B23F-59CF-478F-3357A446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51ACB-0105-823D-134D-980CD29DD520}"/>
              </a:ext>
            </a:extLst>
          </p:cNvPr>
          <p:cNvSpPr txBox="1"/>
          <p:nvPr/>
        </p:nvSpPr>
        <p:spPr>
          <a:xfrm>
            <a:off x="428318" y="730546"/>
            <a:ext cx="6464095" cy="5632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b="1" dirty="0">
                <a:latin typeface="+mn-lt"/>
              </a:rPr>
              <a:t>Причины: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После смены власти в Киеве в феврале 2014 года на востоке Украины начались пророссийские протесты. Россия аннексировала Крым. В апреле 2014 при поддержке России были провозглашены ДНР и ЛНР. Начались бои между украинской армией и пророссийскими силами. Украина и Запад обвиняли Россию в поставках техники и отправке военных.</a:t>
            </a:r>
          </a:p>
          <a:p>
            <a:r>
              <a:rPr lang="ru-RU" b="1" dirty="0">
                <a:latin typeface="+mn-lt"/>
              </a:rPr>
              <a:t>Ключевые события: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Апрель 2014 — провозглашение ДНР и ЛНР, начало боев. Лето 2014 — окружение украинских войск под Иловайском. Февраль 2015 — подписание Минских соглашений о прекращении огня. 2015–2021 — позиционная война, обстрелы, соглашения не выполнялись. 21 февраля 2022 — Россия признала независимость ДНР и ЛНР. 24 февраля 2022 — начало полномасштабного вторжения России в Украину.</a:t>
            </a:r>
          </a:p>
          <a:p>
            <a:r>
              <a:rPr lang="ru-RU" b="1" dirty="0">
                <a:latin typeface="+mn-lt"/>
              </a:rPr>
              <a:t>Итоги: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За 8 лет погибло около 14 000 человек. Экономика Донбасса разрушена. Минские соглашения провалились. Конфликт перерос в полномасштабную войну с 24 февраля 2022 года.</a:t>
            </a:r>
          </a:p>
          <a:p>
            <a:pPr algn="just"/>
            <a:endParaRPr lang="ru-RU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D002D-B36A-D579-595C-3163EF343EC9}"/>
              </a:ext>
            </a:extLst>
          </p:cNvPr>
          <p:cNvSpPr txBox="1"/>
          <p:nvPr/>
        </p:nvSpPr>
        <p:spPr>
          <a:xfrm>
            <a:off x="1661772" y="106986"/>
            <a:ext cx="92150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>
                <a:latin typeface="+mn-lt"/>
              </a:rPr>
              <a:t>Война на Донбассе (2014–2022)</a:t>
            </a:r>
            <a:endParaRPr lang="ru-RU" sz="2800" b="1" dirty="0">
              <a:latin typeface="+mn-lt"/>
              <a:cs typeface="Times New Roman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FEB88B-0E4E-0327-E1AB-5E8BD5B62A93}"/>
              </a:ext>
            </a:extLst>
          </p:cNvPr>
          <p:cNvSpPr/>
          <p:nvPr/>
        </p:nvSpPr>
        <p:spPr>
          <a:xfrm>
            <a:off x="625513" y="6317497"/>
            <a:ext cx="535508" cy="422699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35229-C1B5-59B9-117F-7561C61E5981}"/>
              </a:ext>
            </a:extLst>
          </p:cNvPr>
          <p:cNvSpPr txBox="1"/>
          <p:nvPr/>
        </p:nvSpPr>
        <p:spPr>
          <a:xfrm>
            <a:off x="628102" y="6370824"/>
            <a:ext cx="206734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2026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37EEFE-210B-F8B2-B147-751F6528F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554" y="1576131"/>
            <a:ext cx="5559421" cy="368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22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</a:pPr>
            <a:r>
              <a:rPr lang="en-US"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/>
          </a:p>
        </p:txBody>
      </p:sp>
      <p:sp>
        <p:nvSpPr>
          <p:cNvPr id="942" name="Google Shape;942;p112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dirty="0">
                <a:solidFill>
                  <a:srgbClr val="FFFFFF"/>
                </a:solidFill>
                <a:ea typeface="Arial"/>
              </a:rPr>
              <a:t>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43" name="Google Shape;943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2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202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8BB5FB11DB1E1646BC82780A61A24224" ma:contentTypeVersion="4" ma:contentTypeDescription="新建文档。" ma:contentTypeScope="" ma:versionID="d54f9aaac73cbd0e33c49a0a0505a298">
  <xsd:schema xmlns:xsd="http://www.w3.org/2001/XMLSchema" xmlns:xs="http://www.w3.org/2001/XMLSchema" xmlns:p="http://schemas.microsoft.com/office/2006/metadata/properties" xmlns:ns3="25776200-a998-4802-aa7c-f8150fa58e9b" targetNamespace="http://schemas.microsoft.com/office/2006/metadata/properties" ma:root="true" ma:fieldsID="ff6e844e2a7bab483cfb815f7223a4e1" ns3:_="">
    <xsd:import namespace="25776200-a998-4802-aa7c-f8150fa58e9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76200-a998-4802-aa7c-f8150fa58e9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F7B2AF-6226-45E2-92EF-D80588D20A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C57BF7-EF87-4F98-ACEC-E38E13FD15DE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25776200-a998-4802-aa7c-f8150fa58e9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81F808-A478-4884-ABFB-0D818BA688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776200-a998-4802-aa7c-f8150fa58e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1363</Words>
  <Application>Microsoft Office PowerPoint</Application>
  <PresentationFormat>Произвольный</PresentationFormat>
  <Paragraphs>103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Helvetica Neue</vt:lpstr>
      <vt:lpstr>Times New Roman</vt:lpstr>
      <vt:lpstr>Тема Office</vt:lpstr>
      <vt:lpstr>1_Тема Office</vt:lpstr>
      <vt:lpstr>Военные конфликты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Arti</cp:lastModifiedBy>
  <cp:revision>305</cp:revision>
  <dcterms:modified xsi:type="dcterms:W3CDTF">2026-03-10T09:30:42Z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0x0101008BB5FB11DB1E1646BC82780A61A24224</vt:lpwstr>
  </property>
</Properties>
</file>